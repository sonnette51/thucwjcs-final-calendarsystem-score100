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5"/>
  </p:notesMasterIdLst>
  <p:handoutMasterIdLst>
    <p:handoutMasterId r:id="rId56"/>
  </p:handoutMasterIdLst>
  <p:sldIdLst>
    <p:sldId id="398" r:id="rId2"/>
    <p:sldId id="409" r:id="rId3"/>
    <p:sldId id="410" r:id="rId4"/>
    <p:sldId id="500" r:id="rId5"/>
    <p:sldId id="499" r:id="rId6"/>
    <p:sldId id="501" r:id="rId7"/>
    <p:sldId id="502" r:id="rId8"/>
    <p:sldId id="503" r:id="rId9"/>
    <p:sldId id="504" r:id="rId10"/>
    <p:sldId id="505" r:id="rId11"/>
    <p:sldId id="506" r:id="rId12"/>
    <p:sldId id="507" r:id="rId13"/>
    <p:sldId id="508" r:id="rId14"/>
    <p:sldId id="509" r:id="rId15"/>
    <p:sldId id="510" r:id="rId16"/>
    <p:sldId id="511" r:id="rId17"/>
    <p:sldId id="512" r:id="rId18"/>
    <p:sldId id="513" r:id="rId19"/>
    <p:sldId id="514" r:id="rId20"/>
    <p:sldId id="515" r:id="rId21"/>
    <p:sldId id="516" r:id="rId22"/>
    <p:sldId id="517" r:id="rId23"/>
    <p:sldId id="518" r:id="rId24"/>
    <p:sldId id="519" r:id="rId25"/>
    <p:sldId id="520" r:id="rId26"/>
    <p:sldId id="521" r:id="rId27"/>
    <p:sldId id="522" r:id="rId28"/>
    <p:sldId id="523" r:id="rId29"/>
    <p:sldId id="524" r:id="rId30"/>
    <p:sldId id="525" r:id="rId31"/>
    <p:sldId id="526" r:id="rId32"/>
    <p:sldId id="527" r:id="rId33"/>
    <p:sldId id="528" r:id="rId34"/>
    <p:sldId id="529" r:id="rId35"/>
    <p:sldId id="530" r:id="rId36"/>
    <p:sldId id="531" r:id="rId37"/>
    <p:sldId id="532" r:id="rId38"/>
    <p:sldId id="533" r:id="rId39"/>
    <p:sldId id="534" r:id="rId40"/>
    <p:sldId id="535" r:id="rId41"/>
    <p:sldId id="536" r:id="rId42"/>
    <p:sldId id="537" r:id="rId43"/>
    <p:sldId id="538" r:id="rId44"/>
    <p:sldId id="539" r:id="rId45"/>
    <p:sldId id="540" r:id="rId46"/>
    <p:sldId id="541" r:id="rId47"/>
    <p:sldId id="542" r:id="rId48"/>
    <p:sldId id="543" r:id="rId49"/>
    <p:sldId id="544" r:id="rId50"/>
    <p:sldId id="545" r:id="rId51"/>
    <p:sldId id="546" r:id="rId52"/>
    <p:sldId id="547" r:id="rId53"/>
    <p:sldId id="438" r:id="rId54"/>
  </p:sldIdLst>
  <p:sldSz cx="12192000" cy="6858000"/>
  <p:notesSz cx="6858000" cy="9144000"/>
  <p:custDataLst>
    <p:tags r:id="rId5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388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308E"/>
    <a:srgbClr val="D1D1F0"/>
    <a:srgbClr val="0000FF"/>
    <a:srgbClr val="005825"/>
    <a:srgbClr val="0086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9" d="100"/>
          <a:sy n="89" d="100"/>
        </p:scale>
        <p:origin x="304" y="32"/>
      </p:cViewPr>
      <p:guideLst>
        <p:guide orient="horz" pos="2164"/>
        <p:guide pos="388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3752"/>
    </p:cViewPr>
  </p:sorterViewPr>
  <p:notesViewPr>
    <p:cSldViewPr snapToGrid="0">
      <p:cViewPr varScale="1">
        <p:scale>
          <a:sx n="50" d="100"/>
          <a:sy n="50" d="100"/>
        </p:scale>
        <p:origin x="2472" y="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gs" Target="tags/tag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E977C3-5D49-4AE3-94A3-4A850F718679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3FDB9-DDE0-4054-8528-4EF247FF79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0268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922EB3-8BB3-4D7C-920D-99B3A498A38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5631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37C1142-F811-4A5F-9F2B-FD8FFE6CA8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22160" y="1717964"/>
            <a:ext cx="4347422" cy="434742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2DB7E10-9DCA-46E6-AF35-0DEC12E9EC98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93325" y="137811"/>
            <a:ext cx="1701209" cy="54871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107B553-E0FC-09D8-D059-B7F87DA052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1544" y="869784"/>
            <a:ext cx="5028111" cy="5028111"/>
          </a:xfrm>
          <a:prstGeom prst="rect">
            <a:avLst/>
          </a:prstGeom>
        </p:spPr>
      </p:pic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8BA2A0A-9BC3-4B9E-93E4-A416F8D93E95}"/>
              </a:ext>
            </a:extLst>
          </p:cNvPr>
          <p:cNvSpPr txBox="1"/>
          <p:nvPr userDrawn="1"/>
        </p:nvSpPr>
        <p:spPr>
          <a:xfrm>
            <a:off x="109146" y="6433625"/>
            <a:ext cx="254608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自强不息，厚德载物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0BC47D6-6CDB-0EC7-BA7E-7BDE5C57F759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93325" y="137811"/>
            <a:ext cx="1701209" cy="548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455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706545C-F379-4254-89DB-67815911527C}"/>
              </a:ext>
            </a:extLst>
          </p:cNvPr>
          <p:cNvSpPr txBox="1"/>
          <p:nvPr userDrawn="1"/>
        </p:nvSpPr>
        <p:spPr>
          <a:xfrm>
            <a:off x="109146" y="6433625"/>
            <a:ext cx="254608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自强不息，厚德载物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34A283B-A7C5-23BE-ACA9-C971DA503B9D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93325" y="137811"/>
            <a:ext cx="1701209" cy="548714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11599363" y="6477007"/>
            <a:ext cx="558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35A5ECB-3606-4A97-BFD1-55C7127585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4" r:id="rId4"/>
    <p:sldLayoutId id="2147483655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5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7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6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8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7.e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1337" y="110465"/>
            <a:ext cx="11809309" cy="522678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91337" y="110465"/>
            <a:ext cx="11809309" cy="5226782"/>
          </a:xfrm>
          <a:prstGeom prst="rect">
            <a:avLst/>
          </a:prstGeom>
          <a:solidFill>
            <a:schemeClr val="accent2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平行四边形 9"/>
          <p:cNvSpPr/>
          <p:nvPr/>
        </p:nvSpPr>
        <p:spPr>
          <a:xfrm>
            <a:off x="4886156" y="4721323"/>
            <a:ext cx="2451398" cy="452970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平行四边形 10"/>
          <p:cNvSpPr/>
          <p:nvPr/>
        </p:nvSpPr>
        <p:spPr>
          <a:xfrm>
            <a:off x="2743200" y="5694633"/>
            <a:ext cx="3021054" cy="691606"/>
          </a:xfrm>
          <a:prstGeom prst="parallelogram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6427748" y="5694633"/>
            <a:ext cx="3020400" cy="691200"/>
          </a:xfrm>
          <a:prstGeom prst="parallelogram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占位符 30"/>
          <p:cNvSpPr txBox="1"/>
          <p:nvPr/>
        </p:nvSpPr>
        <p:spPr>
          <a:xfrm>
            <a:off x="2968031" y="5825643"/>
            <a:ext cx="2609850" cy="4866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谌卫军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占位符 31"/>
          <p:cNvSpPr txBox="1"/>
          <p:nvPr/>
        </p:nvSpPr>
        <p:spPr>
          <a:xfrm>
            <a:off x="6623172" y="5825643"/>
            <a:ext cx="2609850" cy="4866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计算机系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占位符 32"/>
          <p:cNvSpPr txBox="1"/>
          <p:nvPr/>
        </p:nvSpPr>
        <p:spPr>
          <a:xfrm>
            <a:off x="4791075" y="4778558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2025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年秋季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学期</a:t>
            </a:r>
          </a:p>
        </p:txBody>
      </p:sp>
      <p:sp>
        <p:nvSpPr>
          <p:cNvPr id="24" name="文本占位符 24"/>
          <p:cNvSpPr txBox="1"/>
          <p:nvPr/>
        </p:nvSpPr>
        <p:spPr>
          <a:xfrm>
            <a:off x="515378" y="2218964"/>
            <a:ext cx="11161239" cy="2133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25000"/>
              </a:lnSpc>
              <a:defRPr/>
            </a:pPr>
            <a:r>
              <a:rPr lang="zh-CN" altLang="en-US">
                <a:solidFill>
                  <a:sysClr val="window" lastClr="FFFFFF"/>
                </a:solidFill>
              </a:rPr>
              <a:t>计算机程序设计基础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文本占位符 27"/>
          <p:cNvSpPr txBox="1"/>
          <p:nvPr/>
        </p:nvSpPr>
        <p:spPr>
          <a:xfrm>
            <a:off x="1166827" y="3528421"/>
            <a:ext cx="9858345" cy="5909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800"/>
              <a:t>Introduction to Computer Programming</a:t>
            </a:r>
            <a:endParaRPr lang="en-US" altLang="zh-CN" sz="2800" dirty="0"/>
          </a:p>
        </p:txBody>
      </p:sp>
      <p:cxnSp>
        <p:nvCxnSpPr>
          <p:cNvPr id="31" name="直接连接符 30"/>
          <p:cNvCxnSpPr/>
          <p:nvPr/>
        </p:nvCxnSpPr>
        <p:spPr>
          <a:xfrm>
            <a:off x="2207568" y="4392452"/>
            <a:ext cx="763284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6158" y="792175"/>
            <a:ext cx="3664780" cy="118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881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3"/>
          <p:cNvSpPr txBox="1"/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9900" b="1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36000">
                      <a:schemeClr val="accent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  <a:tileRect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rPr>
              <a:t>02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36000">
                    <a:schemeClr val="accent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  <a:tileRect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66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简单程序设计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/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chemeClr val="accent2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/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chemeClr val="accent2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6258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562644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简单程序设计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7048300" y="1809580"/>
            <a:ext cx="1819616" cy="1819616"/>
            <a:chOff x="1699695" y="2430291"/>
            <a:chExt cx="1819616" cy="1819616"/>
          </a:xfrm>
        </p:grpSpPr>
        <p:sp>
          <p:nvSpPr>
            <p:cNvPr id="17" name="椭圆 16"/>
            <p:cNvSpPr/>
            <p:nvPr/>
          </p:nvSpPr>
          <p:spPr>
            <a:xfrm>
              <a:off x="1870075" y="2600673"/>
              <a:ext cx="1478853" cy="1478853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/>
                  <a:ea typeface="微软雅黑 Light" panose="020B0502040204020203" charset="-122"/>
                </a:rPr>
                <a:t>02</a:t>
              </a:r>
              <a:endPara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/>
                <a:ea typeface="微软雅黑 Light" panose="020B0502040204020203" charset="-122"/>
              </a:endParaRPr>
            </a:p>
          </p:txBody>
        </p:sp>
        <p:sp>
          <p:nvSpPr>
            <p:cNvPr id="18" name="弧形 17"/>
            <p:cNvSpPr/>
            <p:nvPr/>
          </p:nvSpPr>
          <p:spPr>
            <a:xfrm rot="2784046" flipH="1">
              <a:off x="1699695" y="2430291"/>
              <a:ext cx="1819616" cy="1819616"/>
            </a:xfrm>
            <a:prstGeom prst="arc">
              <a:avLst>
                <a:gd name="adj1" fmla="val 14586031"/>
                <a:gd name="adj2" fmla="val 1762864"/>
              </a:avLst>
            </a:prstGeom>
            <a:noFill/>
            <a:ln w="1905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miter lim="800000"/>
              <a:headEnd type="stealth" w="lg" len="me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EA5504"/>
                </a:solidFill>
                <a:effectLst/>
                <a:uLnTx/>
                <a:uFillTx/>
                <a:latin typeface="Segoe UI" panose="020B0502040204020203"/>
                <a:ea typeface="微软雅黑 Light" panose="020B0502040204020203" charset="-122"/>
              </a:endParaRPr>
            </a:p>
          </p:txBody>
        </p:sp>
      </p:grpSp>
      <p:sp>
        <p:nvSpPr>
          <p:cNvPr id="13" name="文本占位符 50"/>
          <p:cNvSpPr txBox="1"/>
          <p:nvPr/>
        </p:nvSpPr>
        <p:spPr>
          <a:xfrm>
            <a:off x="1978436" y="1971649"/>
            <a:ext cx="3724101" cy="689689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顺序结构程序设计</a:t>
            </a:r>
            <a:endParaRPr lang="zh-CN" altLang="en-US" sz="32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占位符 50"/>
          <p:cNvSpPr txBox="1"/>
          <p:nvPr/>
        </p:nvSpPr>
        <p:spPr>
          <a:xfrm>
            <a:off x="6314366" y="4080325"/>
            <a:ext cx="3710773" cy="54176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b="1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选择结构程序设计</a:t>
            </a:r>
            <a:endParaRPr lang="zh-CN" altLang="en-US" sz="32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2837815" y="2839842"/>
            <a:ext cx="1819616" cy="1819616"/>
            <a:chOff x="1699695" y="2430291"/>
            <a:chExt cx="1819616" cy="1819616"/>
          </a:xfrm>
        </p:grpSpPr>
        <p:sp>
          <p:nvSpPr>
            <p:cNvPr id="22" name="椭圆 21"/>
            <p:cNvSpPr/>
            <p:nvPr/>
          </p:nvSpPr>
          <p:spPr>
            <a:xfrm>
              <a:off x="1870075" y="2600673"/>
              <a:ext cx="1478853" cy="1478853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altLang="zh-CN" sz="3600" kern="0" dirty="0">
                  <a:solidFill>
                    <a:srgbClr val="FFFFFF"/>
                  </a:solidFill>
                  <a:latin typeface="Segoe UI" panose="020B0502040204020203"/>
                  <a:ea typeface="微软雅黑 Light" panose="020B0502040204020203" charset="-122"/>
                </a:rPr>
                <a:t>01</a:t>
              </a:r>
              <a:endParaRPr lang="zh-CN" altLang="en-US" sz="3600" kern="0" dirty="0">
                <a:solidFill>
                  <a:srgbClr val="FFFFFF"/>
                </a:solidFill>
                <a:latin typeface="Segoe UI" panose="020B0502040204020203"/>
                <a:ea typeface="微软雅黑 Light" panose="020B0502040204020203" charset="-122"/>
              </a:endParaRPr>
            </a:p>
          </p:txBody>
        </p:sp>
        <p:sp>
          <p:nvSpPr>
            <p:cNvPr id="23" name="弧形 22"/>
            <p:cNvSpPr/>
            <p:nvPr/>
          </p:nvSpPr>
          <p:spPr>
            <a:xfrm rot="7941625">
              <a:off x="1699695" y="2430291"/>
              <a:ext cx="1819616" cy="1819616"/>
            </a:xfrm>
            <a:prstGeom prst="arc">
              <a:avLst>
                <a:gd name="adj1" fmla="val 14586031"/>
                <a:gd name="adj2" fmla="val 1762864"/>
              </a:avLst>
            </a:prstGeom>
            <a:noFill/>
            <a:ln w="19050" cap="flat" cmpd="sng" algn="ctr">
              <a:solidFill>
                <a:schemeClr val="accent2"/>
              </a:solidFill>
              <a:prstDash val="solid"/>
              <a:miter lim="800000"/>
              <a:headEnd type="stealth" w="lg" len="me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kern="0" dirty="0">
                <a:solidFill>
                  <a:srgbClr val="EA5504"/>
                </a:solidFill>
                <a:latin typeface="Segoe UI Semilight" panose="020B0402040204020203"/>
                <a:ea typeface="微软雅黑 Light" panose="020B0502040204020203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4484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2.1 </a:t>
            </a:r>
            <a:r>
              <a:rPr lang="zh-CN" altLang="en-US" sz="4800" noProof="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顺序结构</a:t>
            </a: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程序设计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Freeform 10"/>
          <p:cNvSpPr>
            <a:spLocks noChangeArrowheads="1"/>
          </p:cNvSpPr>
          <p:nvPr/>
        </p:nvSpPr>
        <p:spPr bwMode="auto">
          <a:xfrm>
            <a:off x="867302" y="2033502"/>
            <a:ext cx="6073833" cy="2438746"/>
          </a:xfrm>
          <a:custGeom>
            <a:avLst/>
            <a:gdLst>
              <a:gd name="T0" fmla="*/ 0 w 8942"/>
              <a:gd name="T1" fmla="*/ 0 h 3094"/>
              <a:gd name="T2" fmla="*/ 1 w 8942"/>
              <a:gd name="T3" fmla="*/ 0 h 3094"/>
              <a:gd name="T4" fmla="*/ 1 w 8942"/>
              <a:gd name="T5" fmla="*/ 0 h 3094"/>
              <a:gd name="T6" fmla="*/ 0 w 8942"/>
              <a:gd name="T7" fmla="*/ 0 h 3094"/>
              <a:gd name="T8" fmla="*/ 0 w 8942"/>
              <a:gd name="T9" fmla="*/ 0 h 3094"/>
              <a:gd name="T10" fmla="*/ 0 w 8942"/>
              <a:gd name="T11" fmla="*/ 0 h 3094"/>
              <a:gd name="T12" fmla="*/ 0 w 8942"/>
              <a:gd name="T13" fmla="*/ 0 h 3094"/>
              <a:gd name="T14" fmla="*/ 0 w 8942"/>
              <a:gd name="T15" fmla="*/ 0 h 3094"/>
              <a:gd name="T16" fmla="*/ 0 w 8942"/>
              <a:gd name="T17" fmla="*/ 0 h 3094"/>
              <a:gd name="T18" fmla="*/ 0 w 8942"/>
              <a:gd name="T19" fmla="*/ 0 h 3094"/>
              <a:gd name="T20" fmla="*/ 0 w 8942"/>
              <a:gd name="T21" fmla="*/ 0 h 309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8942"/>
              <a:gd name="T34" fmla="*/ 0 h 3094"/>
              <a:gd name="T35" fmla="*/ 8942 w 8942"/>
              <a:gd name="T36" fmla="*/ 3094 h 309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8942" h="3094">
                <a:moveTo>
                  <a:pt x="0" y="0"/>
                </a:moveTo>
                <a:lnTo>
                  <a:pt x="8942" y="0"/>
                </a:lnTo>
                <a:lnTo>
                  <a:pt x="8942" y="3094"/>
                </a:lnTo>
                <a:lnTo>
                  <a:pt x="0" y="3094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72095" tIns="30480" rIns="170688" bIns="30480"/>
          <a:lstStyle/>
          <a:p>
            <a:pPr lvl="1" indent="-457200" defTabSz="1066800">
              <a:lnSpc>
                <a:spcPct val="150000"/>
              </a:lnSpc>
              <a:buSzPct val="100000"/>
              <a:buFont typeface="Symbol" pitchFamily="18" charset="2"/>
              <a:buChar char=""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  <a:cs typeface="等线" pitchFamily="2" charset="-122"/>
              </a:rPr>
              <a:t>语句一条接一条地执行，没有分支、跳转等结构</a:t>
            </a:r>
            <a:endParaRPr lang="zh-CN" altLang="zh-CN" sz="3200">
              <a:latin typeface="微软雅黑" pitchFamily="34" charset="-122"/>
              <a:ea typeface="微软雅黑" pitchFamily="34" charset="-122"/>
              <a:cs typeface="等线" pitchFamily="2" charset="-122"/>
            </a:endParaRPr>
          </a:p>
          <a:p>
            <a:pPr lvl="1" indent="-457200" defTabSz="1066800">
              <a:lnSpc>
                <a:spcPct val="150000"/>
              </a:lnSpc>
              <a:buSzPct val="100000"/>
              <a:buFont typeface="Symbol" pitchFamily="18" charset="2"/>
              <a:buChar char=""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  <a:cs typeface="等线" pitchFamily="2" charset="-122"/>
              </a:rPr>
              <a:t>最简单的一种程序结构</a:t>
            </a:r>
            <a:endParaRPr lang="zh-CN" altLang="zh-CN" sz="3200">
              <a:latin typeface="微软雅黑" pitchFamily="34" charset="-122"/>
              <a:ea typeface="微软雅黑" pitchFamily="34" charset="-122"/>
              <a:cs typeface="等线" pitchFamily="2" charset="-122"/>
            </a:endParaRPr>
          </a:p>
        </p:txBody>
      </p:sp>
      <p:pic>
        <p:nvPicPr>
          <p:cNvPr id="9" name="Picture 9" descr="1a1db251c586d5a48d54300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8252" y="1964577"/>
            <a:ext cx="3317472" cy="2488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文本框 1"/>
          <p:cNvSpPr txBox="1">
            <a:spLocks noChangeArrowheads="1"/>
          </p:cNvSpPr>
          <p:nvPr/>
        </p:nvSpPr>
        <p:spPr bwMode="auto">
          <a:xfrm>
            <a:off x="8146874" y="4606639"/>
            <a:ext cx="15970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US" altLang="zh-CN" i="1">
                <a:solidFill>
                  <a:srgbClr val="FF0AFF"/>
                </a:solidFill>
                <a:ea typeface="宋体" charset="-122"/>
              </a:rPr>
              <a:t>Straight</a:t>
            </a:r>
            <a:endParaRPr lang="zh-CN" altLang="en-US" i="1">
              <a:solidFill>
                <a:srgbClr val="FF0AFF"/>
              </a:solidFill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643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5"/>
          <p:cNvSpPr txBox="1"/>
          <p:nvPr/>
        </p:nvSpPr>
        <p:spPr>
          <a:xfrm>
            <a:off x="1237564" y="98987"/>
            <a:ext cx="562644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例题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1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：打印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4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位数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237564" y="1544147"/>
            <a:ext cx="9319600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defTabSz="850900" eaLnBrk="1" hangingPunct="1">
              <a:spcBef>
                <a:spcPct val="50000"/>
              </a:spcBef>
              <a:buClr>
                <a:srgbClr val="FFFF66"/>
              </a:buClr>
              <a:buFont typeface="Wingdings" pitchFamily="2" charset="2"/>
              <a:buNone/>
            </a:pPr>
            <a:r>
              <a:rPr kumimoji="1" lang="zh-CN" altLang="en-US" sz="36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问题描述：</a:t>
            </a:r>
          </a:p>
          <a:p>
            <a:pPr defTabSz="850900">
              <a:spcBef>
                <a:spcPct val="50000"/>
              </a:spcBef>
              <a:buClr>
                <a:srgbClr val="FFFF66"/>
              </a:buClr>
            </a:pPr>
            <a:r>
              <a:rPr kumimoji="1" lang="zh-CN" altLang="en-US" sz="3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	</a:t>
            </a:r>
            <a:r>
              <a:rPr kumimoji="1" lang="zh-CN" altLang="en-US" sz="3200" b="1">
                <a:latin typeface="宋体" pitchFamily="2" charset="-122"/>
                <a:ea typeface="宋体" pitchFamily="2" charset="-122"/>
              </a:rPr>
              <a:t>输入一个</a:t>
            </a:r>
            <a:r>
              <a:rPr kumimoji="1" lang="en-US" altLang="zh-CN" sz="3200" b="1">
                <a:latin typeface="宋体" pitchFamily="2" charset="-122"/>
                <a:ea typeface="宋体" pitchFamily="2" charset="-122"/>
              </a:rPr>
              <a:t>4</a:t>
            </a:r>
            <a:r>
              <a:rPr kumimoji="1" lang="zh-CN" altLang="en-US" sz="3200" b="1">
                <a:latin typeface="宋体" pitchFamily="2" charset="-122"/>
                <a:ea typeface="宋体" pitchFamily="2" charset="-122"/>
              </a:rPr>
              <a:t>位数，然后把它的千位、百位、十位和个位数分别打印出来。</a:t>
            </a:r>
            <a:endParaRPr kumimoji="1" lang="en-US" altLang="zh-CN" sz="3200" b="1">
              <a:latin typeface="宋体" pitchFamily="2" charset="-122"/>
              <a:ea typeface="宋体" pitchFamily="2" charset="-122"/>
            </a:endParaRPr>
          </a:p>
          <a:p>
            <a:pPr defTabSz="850900">
              <a:spcBef>
                <a:spcPts val="2400"/>
              </a:spcBef>
              <a:buClr>
                <a:srgbClr val="FFFF66"/>
              </a:buClr>
            </a:pPr>
            <a:r>
              <a:rPr kumimoji="1" lang="en-US" altLang="zh-CN" sz="3200" b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	</a:t>
            </a:r>
            <a:r>
              <a:rPr kumimoji="1" lang="zh-CN" altLang="en-US" sz="3200" b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例如，假设输入为</a:t>
            </a:r>
            <a:r>
              <a:rPr kumimoji="1" lang="en-US" altLang="zh-CN" sz="3200" b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1024</a:t>
            </a:r>
            <a:r>
              <a:rPr kumimoji="1" lang="zh-CN" altLang="en-US" sz="3200" b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，则相应的输出为：</a:t>
            </a:r>
            <a:br>
              <a:rPr kumimoji="1" lang="en-US" altLang="zh-CN" sz="3200" b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</a:br>
            <a:r>
              <a:rPr kumimoji="1" lang="en-US" altLang="zh-CN" sz="3200" b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1 0 2 4</a:t>
            </a:r>
            <a:endParaRPr kumimoji="1" lang="zh-CN" altLang="en-US" sz="3200" b="1">
              <a:solidFill>
                <a:schemeClr val="tx1"/>
              </a:solidFill>
              <a:latin typeface="宋体" pitchFamily="2" charset="-122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426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5"/>
          <p:cNvSpPr txBox="1"/>
          <p:nvPr/>
        </p:nvSpPr>
        <p:spPr>
          <a:xfrm>
            <a:off x="1237564" y="98987"/>
            <a:ext cx="562644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复习</a:t>
            </a: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：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算术运算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10" name="Group 14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1444144"/>
              </p:ext>
            </p:extLst>
          </p:nvPr>
        </p:nvGraphicFramePr>
        <p:xfrm>
          <a:off x="1432587" y="1386192"/>
          <a:ext cx="8001000" cy="3624072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运算符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1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功能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1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运算对象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1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运算结果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1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举例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>
                          <a:solidFill>
                            <a:srgbClr val="973095"/>
                          </a:solidFill>
                          <a:latin typeface="Times New Roman" pitchFamily="18" charset="0"/>
                          <a:ea typeface="宋体" charset="-122"/>
                        </a:rPr>
                        <a:t>/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73095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除法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整数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实数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实数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实数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5 / 2 = 2.5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12.5 / 2.5 = 5.0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973095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//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取整除法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整数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实数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整数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实数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5 // 3 =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5.6 // 2.0 = 2.0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>
                          <a:solidFill>
                            <a:srgbClr val="973095"/>
                          </a:solidFill>
                          <a:latin typeface="Times New Roman" pitchFamily="18" charset="0"/>
                          <a:ea typeface="宋体" charset="-122"/>
                        </a:rPr>
                        <a:t>%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73095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求余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整数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实数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整数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实数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12 % 7 = 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3.6 % 2.5 = 1.1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ectangle 214"/>
          <p:cNvSpPr>
            <a:spLocks noChangeArrowheads="1"/>
          </p:cNvSpPr>
          <p:nvPr/>
        </p:nvSpPr>
        <p:spPr bwMode="auto">
          <a:xfrm>
            <a:off x="1311357" y="5227314"/>
            <a:ext cx="9528438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相同数据类型的算术运算，除了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/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，</a:t>
            </a:r>
            <a:r>
              <a:rPr kumimoji="1" lang="zh-CN" altLang="en-US" sz="2800" b="1">
                <a:latin typeface="Times New Roman" pitchFamily="18" charset="0"/>
                <a:ea typeface="宋体" charset="-122"/>
              </a:rPr>
              <a:t>其他都不会改变结果的数据类型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63088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5"/>
          <p:cNvSpPr txBox="1"/>
          <p:nvPr/>
        </p:nvSpPr>
        <p:spPr>
          <a:xfrm>
            <a:off x="1237564" y="98987"/>
            <a:ext cx="562644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参考代码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1875898" y="1504771"/>
            <a:ext cx="8594725" cy="415498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spcBef>
                <a:spcPts val="600"/>
              </a:spcBef>
            </a:pPr>
            <a:r>
              <a:rPr kumimoji="1" lang="en-US" altLang="zh-CN" sz="3200" b="1">
                <a:latin typeface="Times New Roman" pitchFamily="18" charset="0"/>
                <a:ea typeface="宋体" charset="-122"/>
                <a:cs typeface="Times New Roman" pitchFamily="18" charset="0"/>
              </a:rPr>
              <a:t>#_*_ coding: gbk _*_</a:t>
            </a:r>
          </a:p>
          <a:p>
            <a:pPr eaLnBrk="1" hangingPunct="1">
              <a:spcBef>
                <a:spcPts val="6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num = int(input(</a:t>
            </a:r>
            <a:r>
              <a:rPr kumimoji="1" lang="en-US" altLang="zh-CN" sz="3200" b="1">
                <a:latin typeface="Times New Roman" pitchFamily="18" charset="0"/>
                <a:ea typeface="宋体" charset="-122"/>
                <a:cs typeface="Times New Roman" pitchFamily="18" charset="0"/>
              </a:rPr>
              <a:t>'</a:t>
            </a:r>
            <a:r>
              <a:rPr kumimoji="1" lang="zh-CN" altLang="en-US" sz="3200" b="1">
                <a:solidFill>
                  <a:srgbClr val="0000FF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请输入一个</a:t>
            </a:r>
            <a:r>
              <a:rPr kumimoji="1" lang="en-US" altLang="zh-CN" sz="3200" b="1">
                <a:solidFill>
                  <a:srgbClr val="0000FF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4</a:t>
            </a:r>
            <a:r>
              <a:rPr kumimoji="1" lang="zh-CN" altLang="en-US" sz="3200" b="1">
                <a:solidFill>
                  <a:srgbClr val="0000FF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位整数：</a:t>
            </a:r>
            <a:r>
              <a:rPr kumimoji="1" lang="en-US" altLang="zh-CN" sz="3200" b="1">
                <a:latin typeface="Times New Roman" pitchFamily="18" charset="0"/>
                <a:ea typeface="宋体" charset="-122"/>
                <a:cs typeface="Times New Roman" pitchFamily="18" charset="0"/>
              </a:rPr>
              <a:t>'))</a:t>
            </a:r>
            <a:endParaRPr kumimoji="1" lang="en-US" altLang="zh-CN" sz="3200" b="1">
              <a:solidFill>
                <a:schemeClr val="tx1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>
              <a:spcBef>
                <a:spcPts val="1800"/>
              </a:spcBef>
            </a:pPr>
            <a:r>
              <a:rPr kumimoji="1" lang="en-US" altLang="zh-CN" sz="3200" b="1">
                <a:latin typeface="Times New Roman" pitchFamily="18" charset="0"/>
                <a:ea typeface="宋体" charset="-122"/>
                <a:cs typeface="Times New Roman" pitchFamily="18" charset="0"/>
              </a:rPr>
              <a:t>ge = num % 10</a:t>
            </a:r>
          </a:p>
          <a:p>
            <a:pPr>
              <a:spcBef>
                <a:spcPts val="6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shi = (num % 100) // 10</a:t>
            </a:r>
          </a:p>
          <a:p>
            <a:pPr>
              <a:spcBef>
                <a:spcPts val="6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bai = (num // 100 ) % 10</a:t>
            </a:r>
          </a:p>
          <a:p>
            <a:pPr>
              <a:spcBef>
                <a:spcPts val="6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qian = num // 1000</a:t>
            </a:r>
          </a:p>
          <a:p>
            <a:pPr>
              <a:spcBef>
                <a:spcPts val="6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print(qian, bai, shi, ge)</a:t>
            </a:r>
          </a:p>
        </p:txBody>
      </p:sp>
    </p:spTree>
    <p:extLst>
      <p:ext uri="{BB962C8B-B14F-4D97-AF65-F5344CB8AC3E}">
        <p14:creationId xmlns:p14="http://schemas.microsoft.com/office/powerpoint/2010/main" val="2416801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5"/>
          <p:cNvSpPr txBox="1"/>
          <p:nvPr/>
        </p:nvSpPr>
        <p:spPr>
          <a:xfrm>
            <a:off x="1237564" y="98987"/>
            <a:ext cx="562644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例题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2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：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BMI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计算器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237563" y="1544147"/>
            <a:ext cx="9868241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defTabSz="850900" eaLnBrk="1" hangingPunct="1">
              <a:spcBef>
                <a:spcPct val="50000"/>
              </a:spcBef>
              <a:buClr>
                <a:srgbClr val="FFFF66"/>
              </a:buClr>
              <a:buFont typeface="Wingdings" pitchFamily="2" charset="2"/>
              <a:buNone/>
            </a:pPr>
            <a:r>
              <a:rPr kumimoji="1" lang="zh-CN" altLang="en-US" sz="36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问题描述：</a:t>
            </a:r>
          </a:p>
          <a:p>
            <a:pPr defTabSz="850900">
              <a:spcBef>
                <a:spcPct val="50000"/>
              </a:spcBef>
              <a:buClr>
                <a:srgbClr val="FFFF66"/>
              </a:buClr>
            </a:pPr>
            <a:r>
              <a:rPr kumimoji="1" lang="zh-CN" altLang="en-US" sz="3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	小明的女朋友总是抱怨自己太胖了，需要减肥。为了客观地描述一个人的胖瘦程度，小明请你帮忙编写一个程序，</a:t>
            </a:r>
            <a:r>
              <a:rPr kumimoji="1" lang="zh-CN" altLang="en-US" sz="3200" b="1">
                <a:latin typeface="宋体" pitchFamily="2" charset="-122"/>
                <a:ea typeface="宋体" pitchFamily="2" charset="-122"/>
              </a:rPr>
              <a:t>输入一个人的身高和体重，然后计算相应的</a:t>
            </a:r>
            <a:r>
              <a:rPr kumimoji="1" lang="en-US" altLang="zh-CN" sz="3200" b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BMI</a:t>
            </a:r>
            <a:r>
              <a:rPr kumimoji="1" lang="zh-CN" altLang="en-US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</a:t>
            </a:r>
            <a:r>
              <a:rPr kumimoji="1"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Body Mass Index</a:t>
            </a:r>
            <a:r>
              <a:rPr kumimoji="1" lang="zh-CN" altLang="en-US" sz="3200" b="1">
                <a:latin typeface="宋体" pitchFamily="2" charset="-122"/>
                <a:ea typeface="宋体" pitchFamily="2" charset="-122"/>
              </a:rPr>
              <a:t>，身体质量指数）。</a:t>
            </a:r>
            <a:endParaRPr kumimoji="1" lang="en-US" altLang="zh-CN" sz="3200" b="1">
              <a:latin typeface="宋体" pitchFamily="2" charset="-122"/>
              <a:ea typeface="宋体" pitchFamily="2" charset="-122"/>
            </a:endParaRPr>
          </a:p>
          <a:p>
            <a:pPr defTabSz="850900">
              <a:spcBef>
                <a:spcPts val="2400"/>
              </a:spcBef>
              <a:buClr>
                <a:srgbClr val="FFFF66"/>
              </a:buClr>
            </a:pPr>
            <a:r>
              <a:rPr kumimoji="1" lang="en-US" altLang="zh-CN" sz="3200" b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	</a:t>
            </a:r>
            <a:r>
              <a:rPr kumimoji="1"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BMI</a:t>
            </a:r>
            <a:r>
              <a:rPr kumimoji="1" lang="zh-CN" altLang="en-US" sz="3200" b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的计算公式为：体重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kg</a:t>
            </a:r>
            <a:r>
              <a:rPr kumimoji="1" lang="en-US" altLang="zh-CN" sz="3200" b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/</a:t>
            </a:r>
            <a:r>
              <a:rPr kumimoji="1" lang="zh-CN" altLang="en-US" sz="3200" b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身高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</a:t>
            </a:r>
            <a:r>
              <a:rPr kumimoji="1" lang="zh-CN" altLang="en-US" sz="3200" b="1">
                <a:latin typeface="宋体" pitchFamily="2" charset="-122"/>
                <a:ea typeface="宋体" pitchFamily="2" charset="-122"/>
                <a:cs typeface="Times New Roman" pitchFamily="18" charset="0"/>
              </a:rPr>
              <a:t>的平方。</a:t>
            </a:r>
            <a:r>
              <a:rPr kumimoji="1" lang="zh-CN" altLang="en-US" sz="3200" b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例如，</a:t>
            </a:r>
            <a:r>
              <a:rPr kumimoji="1" lang="zh-CN" altLang="en-US" sz="3200" b="1">
                <a:latin typeface="宋体" pitchFamily="2" charset="-122"/>
                <a:ea typeface="宋体" pitchFamily="2" charset="-122"/>
                <a:cs typeface="Times New Roman" pitchFamily="18" charset="0"/>
              </a:rPr>
              <a:t>若</a:t>
            </a:r>
            <a:r>
              <a:rPr kumimoji="1" lang="zh-CN" altLang="en-US" sz="3200" b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身高为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168cm</a:t>
            </a:r>
            <a:r>
              <a:rPr kumimoji="1" lang="zh-CN" altLang="en-US" sz="3200" b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，体重为</a:t>
            </a:r>
            <a:r>
              <a:rPr kumimoji="1"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72kg</a:t>
            </a:r>
            <a:r>
              <a:rPr kumimoji="1" lang="zh-CN" altLang="en-US" sz="3200" b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，则相应的</a:t>
            </a:r>
            <a:r>
              <a:rPr kumimoji="1"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BMI</a:t>
            </a:r>
            <a:r>
              <a:rPr kumimoji="1" lang="zh-CN" altLang="en-US" sz="3200" b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为</a:t>
            </a:r>
            <a:r>
              <a:rPr kumimoji="1"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25.51</a:t>
            </a:r>
            <a:endParaRPr kumimoji="1" lang="zh-CN" altLang="en-US" sz="3200" b="1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3596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5"/>
          <p:cNvSpPr txBox="1"/>
          <p:nvPr/>
        </p:nvSpPr>
        <p:spPr>
          <a:xfrm>
            <a:off x="1237564" y="98987"/>
            <a:ext cx="562644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参考代码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1875898" y="1264337"/>
            <a:ext cx="8722829" cy="483209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ts val="300"/>
              </a:spcBef>
            </a:pPr>
            <a:r>
              <a:rPr kumimoji="1" lang="en-US" altLang="zh-CN" sz="3200" b="1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height = int(input(</a:t>
            </a:r>
            <a:r>
              <a:rPr kumimoji="1" lang="en-US" altLang="zh-CN" sz="3200" b="1" dirty="0">
                <a:latin typeface="Times New Roman" pitchFamily="18" charset="0"/>
                <a:ea typeface="宋体" charset="-122"/>
                <a:cs typeface="Times New Roman" pitchFamily="18" charset="0"/>
              </a:rPr>
              <a:t>'</a:t>
            </a:r>
            <a:r>
              <a:rPr kumimoji="1" lang="zh-CN" altLang="en-US" sz="3200" b="1" dirty="0">
                <a:latin typeface="Times New Roman" pitchFamily="18" charset="0"/>
                <a:ea typeface="宋体" charset="-122"/>
                <a:cs typeface="Times New Roman" pitchFamily="18" charset="0"/>
              </a:rPr>
              <a:t>请输入身高</a:t>
            </a:r>
            <a:r>
              <a:rPr kumimoji="1" lang="en-US" altLang="zh-CN" sz="3200" b="1" dirty="0">
                <a:latin typeface="Times New Roman" pitchFamily="18" charset="0"/>
                <a:ea typeface="宋体" charset="-122"/>
                <a:cs typeface="Times New Roman" pitchFamily="18" charset="0"/>
              </a:rPr>
              <a:t>(cm)</a:t>
            </a:r>
            <a:r>
              <a:rPr kumimoji="1" lang="zh-CN" altLang="en-US" sz="3200" b="1" dirty="0">
                <a:latin typeface="Times New Roman" pitchFamily="18" charset="0"/>
                <a:ea typeface="宋体" charset="-122"/>
                <a:cs typeface="Times New Roman" pitchFamily="18" charset="0"/>
              </a:rPr>
              <a:t>：</a:t>
            </a:r>
            <a:r>
              <a:rPr kumimoji="1" lang="en-US" altLang="zh-CN" sz="3200" b="1" dirty="0">
                <a:latin typeface="Times New Roman" pitchFamily="18" charset="0"/>
                <a:ea typeface="宋体" charset="-122"/>
                <a:cs typeface="Times New Roman" pitchFamily="18" charset="0"/>
              </a:rPr>
              <a:t>'))</a:t>
            </a:r>
          </a:p>
          <a:p>
            <a:pPr eaLnBrk="1" hangingPunct="1">
              <a:spcBef>
                <a:spcPts val="300"/>
              </a:spcBef>
            </a:pPr>
            <a:r>
              <a:rPr kumimoji="1" lang="en-US" altLang="zh-CN" sz="3200" b="1" dirty="0">
                <a:latin typeface="Times New Roman" pitchFamily="18" charset="0"/>
                <a:ea typeface="宋体" charset="-122"/>
                <a:cs typeface="Times New Roman" pitchFamily="18" charset="0"/>
              </a:rPr>
              <a:t>height = height / 100    </a:t>
            </a:r>
            <a:r>
              <a:rPr kumimoji="1" lang="en-US" altLang="zh-CN" sz="3200" b="1" dirty="0">
                <a:solidFill>
                  <a:srgbClr val="0000FF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# -&gt; float</a:t>
            </a:r>
          </a:p>
          <a:p>
            <a:pPr>
              <a:spcBef>
                <a:spcPts val="300"/>
              </a:spcBef>
            </a:pPr>
            <a:r>
              <a:rPr kumimoji="1" lang="en-US" altLang="zh-CN" sz="3200" b="1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weight = int(input</a:t>
            </a:r>
            <a:r>
              <a:rPr kumimoji="1" lang="en-US" altLang="zh-CN" sz="3200" b="1" dirty="0">
                <a:latin typeface="Times New Roman" pitchFamily="18" charset="0"/>
                <a:ea typeface="宋体" charset="-122"/>
                <a:cs typeface="Times New Roman" pitchFamily="18" charset="0"/>
              </a:rPr>
              <a:t>('</a:t>
            </a:r>
            <a:r>
              <a:rPr kumimoji="1" lang="zh-CN" altLang="en-US" sz="3200" b="1" dirty="0">
                <a:latin typeface="Times New Roman" pitchFamily="18" charset="0"/>
                <a:ea typeface="宋体" charset="-122"/>
                <a:cs typeface="Times New Roman" pitchFamily="18" charset="0"/>
              </a:rPr>
              <a:t>请输入体重</a:t>
            </a:r>
            <a:r>
              <a:rPr kumimoji="1" lang="en-US" altLang="zh-CN" sz="3200" b="1" dirty="0">
                <a:latin typeface="Times New Roman" pitchFamily="18" charset="0"/>
                <a:ea typeface="宋体" charset="-122"/>
                <a:cs typeface="Times New Roman" pitchFamily="18" charset="0"/>
              </a:rPr>
              <a:t>(kg)</a:t>
            </a:r>
            <a:r>
              <a:rPr kumimoji="1" lang="zh-CN" altLang="en-US" sz="3200" b="1" dirty="0">
                <a:latin typeface="Times New Roman" pitchFamily="18" charset="0"/>
                <a:ea typeface="宋体" charset="-122"/>
                <a:cs typeface="Times New Roman" pitchFamily="18" charset="0"/>
              </a:rPr>
              <a:t>：</a:t>
            </a:r>
            <a:r>
              <a:rPr kumimoji="1" lang="en-US" altLang="zh-CN" sz="3200" b="1" dirty="0">
                <a:latin typeface="Times New Roman" pitchFamily="18" charset="0"/>
                <a:ea typeface="宋体" charset="-122"/>
                <a:cs typeface="Times New Roman" pitchFamily="18" charset="0"/>
              </a:rPr>
              <a:t>'))</a:t>
            </a:r>
            <a:endParaRPr kumimoji="1" lang="en-US" altLang="zh-CN" sz="3200" b="1" dirty="0">
              <a:solidFill>
                <a:schemeClr val="tx1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>
              <a:spcBef>
                <a:spcPts val="300"/>
              </a:spcBef>
            </a:pPr>
            <a:r>
              <a:rPr kumimoji="1" lang="en-US" altLang="zh-CN" sz="3200" b="1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bmi</a:t>
            </a:r>
            <a:r>
              <a:rPr kumimoji="1" lang="en-US" altLang="zh-CN" sz="3200" b="1" dirty="0">
                <a:latin typeface="Times New Roman" pitchFamily="18" charset="0"/>
                <a:ea typeface="宋体" charset="-122"/>
                <a:cs typeface="Times New Roman" pitchFamily="18" charset="0"/>
              </a:rPr>
              <a:t> = weight / (height ** 2)    </a:t>
            </a:r>
            <a:r>
              <a:rPr kumimoji="1" lang="en-US" altLang="zh-CN" sz="3200" b="1" dirty="0">
                <a:solidFill>
                  <a:srgbClr val="0000FF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#</a:t>
            </a:r>
            <a:r>
              <a:rPr kumimoji="1" lang="zh-CN" altLang="en-US" sz="3200" b="1" dirty="0">
                <a:solidFill>
                  <a:srgbClr val="0000FF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乘方</a:t>
            </a:r>
            <a:endParaRPr kumimoji="1" lang="en-US" altLang="zh-CN" sz="3200" b="1" dirty="0">
              <a:solidFill>
                <a:srgbClr val="0000FF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>
              <a:spcBef>
                <a:spcPts val="300"/>
              </a:spcBef>
            </a:pPr>
            <a:r>
              <a:rPr kumimoji="1" lang="fr-FR" altLang="zh-CN" sz="3200" b="1" dirty="0">
                <a:latin typeface="Times New Roman" pitchFamily="18" charset="0"/>
                <a:ea typeface="宋体" charset="-122"/>
                <a:cs typeface="Times New Roman" pitchFamily="18" charset="0"/>
              </a:rPr>
              <a:t>print("</a:t>
            </a:r>
            <a:r>
              <a:rPr kumimoji="1" lang="en-US" altLang="zh-CN" sz="3200" b="1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bmi</a:t>
            </a:r>
            <a:r>
              <a:rPr kumimoji="1" lang="en-US" altLang="zh-CN" sz="3200" b="1" dirty="0">
                <a:latin typeface="Times New Roman" pitchFamily="18" charset="0"/>
                <a:ea typeface="宋体" charset="-122"/>
                <a:cs typeface="Times New Roman" pitchFamily="18" charset="0"/>
              </a:rPr>
              <a:t>:</a:t>
            </a:r>
            <a:r>
              <a:rPr kumimoji="1" lang="fr-FR" altLang="zh-CN" sz="3200" b="1" dirty="0">
                <a:latin typeface="Times New Roman" pitchFamily="18" charset="0"/>
                <a:ea typeface="宋体" charset="-122"/>
                <a:cs typeface="Times New Roman" pitchFamily="18" charset="0"/>
              </a:rPr>
              <a:t>%.2f" % bmi) </a:t>
            </a:r>
            <a:r>
              <a:rPr kumimoji="1" lang="fr-FR" altLang="zh-CN" sz="3200" b="1" dirty="0">
                <a:solidFill>
                  <a:srgbClr val="0000FF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# print(round(bmi, 2))</a:t>
            </a:r>
            <a:endParaRPr kumimoji="1" lang="fr-FR" altLang="zh-CN" sz="3200" b="1" dirty="0"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>
              <a:spcBef>
                <a:spcPts val="300"/>
              </a:spcBef>
            </a:pPr>
            <a:r>
              <a:rPr kumimoji="1" lang="fr-FR" altLang="zh-CN" sz="3200" b="1" dirty="0">
                <a:latin typeface="Times New Roman" pitchFamily="18" charset="0"/>
                <a:ea typeface="宋体" charset="-122"/>
                <a:cs typeface="Times New Roman" pitchFamily="18" charset="0"/>
              </a:rPr>
              <a:t>if bmi &gt; 24:</a:t>
            </a:r>
          </a:p>
          <a:p>
            <a:pPr>
              <a:spcBef>
                <a:spcPts val="300"/>
              </a:spcBef>
            </a:pPr>
            <a:r>
              <a:rPr kumimoji="1" lang="fr-FR" altLang="zh-CN" sz="3200" b="1" dirty="0">
                <a:latin typeface="Times New Roman" pitchFamily="18" charset="0"/>
                <a:ea typeface="宋体" charset="-122"/>
                <a:cs typeface="Times New Roman" pitchFamily="18" charset="0"/>
              </a:rPr>
              <a:t>      print("</a:t>
            </a:r>
            <a:r>
              <a:rPr kumimoji="1" lang="zh-CN" altLang="en-US" sz="3200" b="1" dirty="0">
                <a:latin typeface="Times New Roman" pitchFamily="18" charset="0"/>
                <a:ea typeface="宋体" charset="-122"/>
                <a:cs typeface="Times New Roman" pitchFamily="18" charset="0"/>
              </a:rPr>
              <a:t>太胖了，少吃点！</a:t>
            </a:r>
            <a:r>
              <a:rPr kumimoji="1" lang="fr-FR" altLang="zh-CN" sz="3200" b="1" dirty="0">
                <a:latin typeface="Times New Roman" pitchFamily="18" charset="0"/>
                <a:ea typeface="宋体" charset="-122"/>
                <a:cs typeface="Times New Roman" pitchFamily="18" charset="0"/>
              </a:rPr>
              <a:t>")</a:t>
            </a:r>
          </a:p>
          <a:p>
            <a:pPr>
              <a:spcBef>
                <a:spcPts val="300"/>
              </a:spcBef>
            </a:pPr>
            <a:r>
              <a:rPr kumimoji="1" lang="fr-FR" altLang="zh-CN" sz="3200" b="1" dirty="0">
                <a:latin typeface="Times New Roman" pitchFamily="18" charset="0"/>
                <a:ea typeface="宋体" charset="-122"/>
                <a:cs typeface="Times New Roman" pitchFamily="18" charset="0"/>
              </a:rPr>
              <a:t>elif bmi &lt; 19:</a:t>
            </a:r>
          </a:p>
          <a:p>
            <a:pPr>
              <a:spcBef>
                <a:spcPts val="300"/>
              </a:spcBef>
            </a:pPr>
            <a:r>
              <a:rPr kumimoji="1" lang="fr-FR" altLang="zh-CN" sz="3200" b="1" dirty="0">
                <a:latin typeface="Times New Roman" pitchFamily="18" charset="0"/>
                <a:ea typeface="宋体" charset="-122"/>
                <a:cs typeface="Times New Roman" pitchFamily="18" charset="0"/>
              </a:rPr>
              <a:t>      print("</a:t>
            </a:r>
            <a:r>
              <a:rPr kumimoji="1" lang="zh-CN" altLang="en-US" sz="3200" b="1" dirty="0">
                <a:latin typeface="Times New Roman" pitchFamily="18" charset="0"/>
                <a:ea typeface="宋体" charset="-122"/>
                <a:cs typeface="Times New Roman" pitchFamily="18" charset="0"/>
              </a:rPr>
              <a:t>太痩了，多吃点！</a:t>
            </a:r>
            <a:r>
              <a:rPr kumimoji="1" lang="fr-FR" altLang="zh-CN" sz="3200" b="1" dirty="0">
                <a:latin typeface="Times New Roman" pitchFamily="18" charset="0"/>
                <a:ea typeface="宋体" charset="-122"/>
                <a:cs typeface="Times New Roman" pitchFamily="18" charset="0"/>
              </a:rPr>
              <a:t>")</a:t>
            </a:r>
            <a:endParaRPr kumimoji="1" lang="en-US" altLang="zh-CN" sz="3200" b="1" dirty="0">
              <a:latin typeface="Times New Roman" pitchFamily="18" charset="0"/>
              <a:ea typeface="宋体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6136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5"/>
          <p:cNvSpPr txBox="1"/>
          <p:nvPr/>
        </p:nvSpPr>
        <p:spPr>
          <a:xfrm>
            <a:off x="1237564" y="98987"/>
            <a:ext cx="562644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例题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3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：</a:t>
            </a: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公式计算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237564" y="1544147"/>
            <a:ext cx="9319600" cy="2185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defTabSz="850900" eaLnBrk="1" hangingPunct="1">
              <a:spcBef>
                <a:spcPct val="50000"/>
              </a:spcBef>
              <a:buClr>
                <a:srgbClr val="FFFF66"/>
              </a:buClr>
              <a:buFont typeface="Wingdings" pitchFamily="2" charset="2"/>
              <a:buNone/>
            </a:pPr>
            <a:r>
              <a:rPr kumimoji="1" lang="zh-CN" altLang="en-US" sz="36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问题描述：</a:t>
            </a:r>
          </a:p>
          <a:p>
            <a:pPr defTabSz="850900">
              <a:spcBef>
                <a:spcPct val="50000"/>
              </a:spcBef>
              <a:buClr>
                <a:srgbClr val="FFFF66"/>
              </a:buClr>
            </a:pPr>
            <a:r>
              <a:rPr kumimoji="1" lang="zh-CN" altLang="en-US" sz="3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	</a:t>
            </a:r>
            <a:r>
              <a:rPr kumimoji="1" lang="zh-CN" altLang="en-US" sz="3200" b="1">
                <a:latin typeface="宋体" pitchFamily="2" charset="-122"/>
                <a:ea typeface="宋体" pitchFamily="2" charset="-122"/>
              </a:rPr>
              <a:t>输入一个角度</a:t>
            </a:r>
            <a:r>
              <a:rPr kumimoji="1" lang="zh-CN" altLang="en-US" sz="3200" b="1">
                <a:latin typeface="Times New Roman" pitchFamily="18" charset="0"/>
                <a:ea typeface="宋体" charset="-122"/>
                <a:sym typeface="Symbol" pitchFamily="18" charset="2"/>
              </a:rPr>
              <a:t></a:t>
            </a:r>
            <a:r>
              <a:rPr kumimoji="1" lang="zh-CN" altLang="en-US" sz="3200" b="1">
                <a:latin typeface="宋体" pitchFamily="2" charset="-122"/>
                <a:ea typeface="宋体" pitchFamily="2" charset="-122"/>
              </a:rPr>
              <a:t>，计算下列 </a:t>
            </a:r>
            <a:r>
              <a:rPr kumimoji="1" lang="en-US" altLang="zh-CN" sz="3200" b="1" i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y</a:t>
            </a:r>
            <a:r>
              <a:rPr kumimoji="1" lang="en-US" altLang="zh-CN" sz="3200" b="1">
                <a:latin typeface="宋体" pitchFamily="2" charset="-122"/>
                <a:ea typeface="宋体" pitchFamily="2" charset="-122"/>
              </a:rPr>
              <a:t> </a:t>
            </a:r>
            <a:r>
              <a:rPr kumimoji="1" lang="zh-CN" altLang="en-US" sz="3200" b="1">
                <a:latin typeface="宋体" pitchFamily="2" charset="-122"/>
                <a:ea typeface="宋体" pitchFamily="2" charset="-122"/>
              </a:rPr>
              <a:t>的值：</a:t>
            </a:r>
            <a:endParaRPr kumimoji="1" lang="en-US" altLang="zh-CN" sz="3200" b="1">
              <a:latin typeface="宋体" pitchFamily="2" charset="-122"/>
              <a:ea typeface="宋体" pitchFamily="2" charset="-122"/>
            </a:endParaRPr>
          </a:p>
          <a:p>
            <a:pPr defTabSz="850900">
              <a:spcBef>
                <a:spcPts val="2400"/>
              </a:spcBef>
              <a:buClr>
                <a:srgbClr val="FFFF66"/>
              </a:buClr>
            </a:pPr>
            <a:r>
              <a:rPr kumimoji="1" lang="en-US" altLang="zh-CN" sz="3200" b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	</a:t>
            </a:r>
            <a:endParaRPr kumimoji="1" lang="zh-CN" altLang="en-US" sz="3200" b="1">
              <a:solidFill>
                <a:schemeClr val="tx1"/>
              </a:solidFill>
              <a:latin typeface="宋体" pitchFamily="2" charset="-122"/>
              <a:ea typeface="宋体" pitchFamily="2" charset="-122"/>
              <a:cs typeface="Times New Roman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9902827"/>
              </p:ext>
            </p:extLst>
          </p:nvPr>
        </p:nvGraphicFramePr>
        <p:xfrm>
          <a:off x="3122270" y="3329190"/>
          <a:ext cx="3741738" cy="147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" name="公式" r:id="rId3" imgW="655408" imgH="213376" progId="Equation.3">
                  <p:embed/>
                </p:oleObj>
              </mc:Choice>
              <mc:Fallback>
                <p:oleObj name="公式" r:id="rId3" imgW="655408" imgH="213376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2270" y="3329190"/>
                        <a:ext cx="3741738" cy="1470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54570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5"/>
          <p:cNvSpPr txBox="1"/>
          <p:nvPr/>
        </p:nvSpPr>
        <p:spPr>
          <a:xfrm>
            <a:off x="1237564" y="98987"/>
            <a:ext cx="562644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内置函数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0" name="内容占位符 2"/>
          <p:cNvSpPr txBox="1">
            <a:spLocks/>
          </p:cNvSpPr>
          <p:nvPr/>
        </p:nvSpPr>
        <p:spPr>
          <a:xfrm>
            <a:off x="1069580" y="1422861"/>
            <a:ext cx="10011285" cy="440436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6400" indent="-446400">
              <a:spcAft>
                <a:spcPts val="600"/>
              </a:spcAft>
              <a:buSzPct val="90000"/>
              <a:buFont typeface="Wingdings 2" pitchFamily="18" charset="2"/>
              <a:buChar char="ö"/>
            </a:pPr>
            <a:r>
              <a:rPr lang="en-US" altLang="zh-CN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Python</a:t>
            </a:r>
            <a:r>
              <a:rPr lang="zh-CN" altLang="en-US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内置函数，可直接调用</a:t>
            </a:r>
            <a:endParaRPr lang="en-US" altLang="zh-CN" b="1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903600" lvl="1" indent="-4464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J"/>
            </a:pP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部分数学函数：</a:t>
            </a:r>
            <a:r>
              <a:rPr lang="en-US" altLang="zh-CN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round(), max(), pow()</a:t>
            </a:r>
          </a:p>
          <a:p>
            <a:pPr marL="903600" lvl="1" indent="-4464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J"/>
            </a:pP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强制类型转换：</a:t>
            </a:r>
            <a:r>
              <a:rPr lang="en-US" altLang="zh-CN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int(), float(), bool()</a:t>
            </a:r>
          </a:p>
          <a:p>
            <a:pPr marL="903600" lvl="1" indent="-4464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J"/>
            </a:pP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输入输出函数：</a:t>
            </a:r>
            <a:r>
              <a:rPr lang="en-US" altLang="zh-CN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input(), print() </a:t>
            </a:r>
          </a:p>
          <a:p>
            <a:pPr marL="446400" indent="-446400">
              <a:spcBef>
                <a:spcPts val="1800"/>
              </a:spcBef>
              <a:buSzPct val="90000"/>
              <a:buFont typeface="Wingdings 2" pitchFamily="18" charset="2"/>
              <a:buChar char="ö"/>
            </a:pPr>
            <a:r>
              <a:rPr lang="zh-CN" altLang="en-US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完整的内置函数列表</a:t>
            </a:r>
            <a:endParaRPr lang="en-US" altLang="zh-CN" b="1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903600" lvl="1" indent="-446400">
              <a:spcBef>
                <a:spcPts val="1200"/>
              </a:spcBef>
              <a:buSzPct val="90000"/>
              <a:buFont typeface="Wingdings" pitchFamily="2" charset="2"/>
              <a:buChar char="J"/>
            </a:pPr>
            <a:r>
              <a:rPr lang="en-US" altLang="zh-CN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https://docs.python.org/3/library/functions.html</a:t>
            </a:r>
            <a:endParaRPr lang="en-US" altLang="zh-CN" sz="3200" b="1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1304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5"/>
          <p:cNvSpPr txBox="1"/>
          <p:nvPr/>
        </p:nvSpPr>
        <p:spPr>
          <a:xfrm>
            <a:off x="1237564" y="98987"/>
            <a:ext cx="562644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模块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0" name="内容占位符 2"/>
          <p:cNvSpPr txBox="1">
            <a:spLocks/>
          </p:cNvSpPr>
          <p:nvPr/>
        </p:nvSpPr>
        <p:spPr>
          <a:xfrm>
            <a:off x="1069580" y="1422861"/>
            <a:ext cx="10011285" cy="440436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6400" indent="-446400">
              <a:spcAft>
                <a:spcPts val="600"/>
              </a:spcAft>
              <a:buSzPct val="90000"/>
              <a:buFont typeface="Wingdings 2" pitchFamily="18" charset="2"/>
              <a:buChar char="ö"/>
            </a:pPr>
            <a:r>
              <a:rPr lang="zh-CN" altLang="en-US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内置函数数量太少，缺少很多常用函数</a:t>
            </a:r>
            <a:endParaRPr lang="en-US" altLang="zh-CN" b="1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903600" lvl="1" indent="-4464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J"/>
            </a:pP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如缺少数学函数：</a:t>
            </a:r>
            <a:r>
              <a:rPr lang="en-US" altLang="zh-CN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cos(), sqrt()</a:t>
            </a:r>
          </a:p>
          <a:p>
            <a:pPr marL="446400" indent="-446400">
              <a:spcBef>
                <a:spcPts val="1800"/>
              </a:spcBef>
              <a:buSzPct val="90000"/>
              <a:buFont typeface="Wingdings 2" pitchFamily="18" charset="2"/>
              <a:buChar char="ö"/>
            </a:pPr>
            <a:r>
              <a:rPr lang="zh-CN" altLang="en-US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模块（</a:t>
            </a:r>
            <a:r>
              <a:rPr lang="en-US" altLang="zh-CN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module</a:t>
            </a:r>
            <a:r>
              <a:rPr lang="zh-CN" altLang="en-US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）：包含源代码的文件</a:t>
            </a:r>
            <a:endParaRPr lang="en-US" altLang="zh-CN" b="1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903600" lvl="1" indent="-446400">
              <a:spcBef>
                <a:spcPts val="1200"/>
              </a:spcBef>
              <a:buSzPct val="90000"/>
              <a:buFont typeface="Wingdings" pitchFamily="2" charset="2"/>
              <a:buChar char="J"/>
            </a:pP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包括</a:t>
            </a:r>
            <a:r>
              <a:rPr lang="en-US" altLang="zh-CN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math, OS, random</a:t>
            </a: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等，通过此方式，</a:t>
            </a:r>
            <a:r>
              <a:rPr lang="en-US" altLang="zh-CN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Python</a:t>
            </a: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可以提供更多的函数</a:t>
            </a:r>
            <a:endParaRPr lang="en-US" altLang="zh-CN" sz="3200" b="1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903600" lvl="1" indent="-446400">
              <a:spcBef>
                <a:spcPts val="1200"/>
              </a:spcBef>
              <a:buSzPct val="90000"/>
              <a:buFont typeface="Wingdings" pitchFamily="2" charset="2"/>
              <a:buChar char="J"/>
            </a:pP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若要访问某个模块，可用</a:t>
            </a:r>
            <a:r>
              <a:rPr lang="en-US" altLang="zh-CN" sz="3200" b="1">
                <a:solidFill>
                  <a:srgbClr val="FF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import</a:t>
            </a: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命令</a:t>
            </a:r>
            <a:endParaRPr lang="en-US" altLang="zh-CN" sz="3200" b="1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903600" lvl="1" indent="-446400">
              <a:spcBef>
                <a:spcPts val="1200"/>
              </a:spcBef>
              <a:buSzPct val="90000"/>
              <a:buFont typeface="Wingdings" pitchFamily="2" charset="2"/>
              <a:buChar char="J"/>
            </a:pP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在调用相关函数时，用</a:t>
            </a:r>
            <a:r>
              <a:rPr lang="zh-CN" altLang="en-US" sz="3200" b="1">
                <a:solidFill>
                  <a:srgbClr val="FF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模块名</a:t>
            </a: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作前缀</a:t>
            </a:r>
            <a:endParaRPr lang="en-US" altLang="zh-CN" sz="3200" b="1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893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5"/>
          <p:cNvSpPr txBox="1"/>
          <p:nvPr/>
        </p:nvSpPr>
        <p:spPr>
          <a:xfrm>
            <a:off x="1237564" y="98987"/>
            <a:ext cx="562644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余弦函数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1818450" y="1364109"/>
            <a:ext cx="8034338" cy="3228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850900" lvl="1" indent="-371475" defTabSz="850900" eaLnBrk="1" hangingPunct="1">
              <a:spcBef>
                <a:spcPct val="70000"/>
              </a:spcBef>
              <a:buClr>
                <a:srgbClr val="FFFF66"/>
              </a:buClr>
              <a:buFont typeface="Wingdings" pitchFamily="2" charset="2"/>
              <a:buNone/>
            </a:pPr>
            <a:r>
              <a:rPr kumimoji="1" lang="en-US" altLang="zh-CN" sz="40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import math</a:t>
            </a:r>
          </a:p>
          <a:p>
            <a:pPr marL="850900" lvl="1" indent="-371475" defTabSz="850900" eaLnBrk="1" hangingPunct="1">
              <a:spcBef>
                <a:spcPts val="1200"/>
              </a:spcBef>
              <a:buClr>
                <a:srgbClr val="FFFF66"/>
              </a:buClr>
              <a:buFont typeface="Wingdings" pitchFamily="2" charset="2"/>
              <a:buNone/>
            </a:pPr>
            <a:r>
              <a:rPr kumimoji="1" lang="en-US" altLang="zh-CN" sz="40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math.cos( x )</a:t>
            </a:r>
          </a:p>
          <a:p>
            <a:pPr marL="850900" lvl="1" indent="-371475" defTabSz="850900" eaLnBrk="1" hangingPunct="1">
              <a:spcBef>
                <a:spcPct val="70000"/>
              </a:spcBef>
              <a:buClr>
                <a:schemeClr val="tx1"/>
              </a:buClr>
              <a:buFont typeface="Wingdings" pitchFamily="2" charset="2"/>
              <a:buChar char=""/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功能：计算 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x 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的余弦值</a:t>
            </a:r>
          </a:p>
          <a:p>
            <a:pPr marL="850900" lvl="1" indent="-371475" defTabSz="850900" eaLnBrk="1" hangingPunct="1">
              <a:spcBef>
                <a:spcPct val="70000"/>
              </a:spcBef>
              <a:buClr>
                <a:schemeClr val="tx1"/>
              </a:buClr>
              <a:buFont typeface="Wingdings" pitchFamily="2" charset="2"/>
              <a:buChar char=""/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说明：</a:t>
            </a:r>
            <a:r>
              <a:rPr kumimoji="1" lang="en-US" altLang="zh-CN" sz="3200" b="1">
                <a:solidFill>
                  <a:srgbClr val="0000FF"/>
                </a:solidFill>
                <a:latin typeface="Times New Roman" pitchFamily="18" charset="0"/>
                <a:ea typeface="宋体" charset="-122"/>
              </a:rPr>
              <a:t>x </a:t>
            </a:r>
            <a:r>
              <a:rPr kumimoji="1" lang="zh-CN" altLang="en-US" sz="3200" b="1">
                <a:solidFill>
                  <a:srgbClr val="0000FF"/>
                </a:solidFill>
                <a:latin typeface="Times New Roman" pitchFamily="18" charset="0"/>
                <a:ea typeface="宋体" charset="-122"/>
              </a:rPr>
              <a:t>是弧度值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。</a:t>
            </a: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4544670" y="4829810"/>
            <a:ext cx="46386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r>
              <a:rPr kumimoji="1" lang="zh-CN" altLang="en-US" sz="36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弧度  </a:t>
            </a:r>
            <a:r>
              <a:rPr kumimoji="1" lang="en-US" altLang="zh-CN" sz="36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=  </a:t>
            </a:r>
            <a:r>
              <a:rPr kumimoji="1" lang="zh-CN" altLang="en-US" sz="36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角度 * </a:t>
            </a:r>
            <a:r>
              <a:rPr kumimoji="1" lang="zh-CN" altLang="en-US" sz="36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</a:t>
            </a:r>
            <a:r>
              <a:rPr kumimoji="1" lang="zh-CN" altLang="en-US" sz="36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36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/ 180</a:t>
            </a:r>
            <a:r>
              <a:rPr kumimoji="1" lang="en-US" altLang="zh-CN" sz="3600" b="1" baseline="3000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123736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5"/>
          <p:cNvSpPr txBox="1"/>
          <p:nvPr/>
        </p:nvSpPr>
        <p:spPr>
          <a:xfrm>
            <a:off x="1237564" y="98987"/>
            <a:ext cx="562644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参考代码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1783027" y="1669079"/>
            <a:ext cx="8594725" cy="332398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spcBef>
                <a:spcPts val="600"/>
              </a:spcBef>
            </a:pPr>
            <a:r>
              <a:rPr kumimoji="1" lang="en-US" altLang="zh-CN" sz="3600" b="1" dirty="0">
                <a:latin typeface="Times New Roman" pitchFamily="18" charset="0"/>
                <a:ea typeface="宋体" charset="-122"/>
                <a:cs typeface="Times New Roman" pitchFamily="18" charset="0"/>
              </a:rPr>
              <a:t>import math</a:t>
            </a:r>
          </a:p>
          <a:p>
            <a:pPr>
              <a:spcBef>
                <a:spcPts val="600"/>
              </a:spcBef>
            </a:pPr>
            <a:r>
              <a:rPr kumimoji="1" lang="en-US" altLang="zh-CN" sz="3600" b="1" dirty="0">
                <a:latin typeface="Times New Roman" pitchFamily="18" charset="0"/>
                <a:ea typeface="宋体" charset="-122"/>
                <a:cs typeface="Times New Roman" pitchFamily="18" charset="0"/>
              </a:rPr>
              <a:t>alpha = float(input("</a:t>
            </a:r>
            <a:r>
              <a:rPr kumimoji="1" lang="zh-CN" altLang="en-US" sz="3600" b="1" dirty="0">
                <a:latin typeface="Times New Roman" pitchFamily="18" charset="0"/>
                <a:ea typeface="宋体" charset="-122"/>
                <a:cs typeface="Times New Roman" pitchFamily="18" charset="0"/>
              </a:rPr>
              <a:t>请输入一个角度：</a:t>
            </a:r>
            <a:r>
              <a:rPr kumimoji="1" lang="en-US" altLang="zh-CN" sz="3600" b="1" dirty="0">
                <a:latin typeface="Times New Roman" pitchFamily="18" charset="0"/>
                <a:ea typeface="宋体" charset="-122"/>
                <a:cs typeface="Times New Roman" pitchFamily="18" charset="0"/>
              </a:rPr>
              <a:t>"))</a:t>
            </a:r>
            <a:endParaRPr kumimoji="1" lang="en-US" altLang="zh-CN" sz="3600" b="1" dirty="0">
              <a:solidFill>
                <a:schemeClr val="tx1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>
              <a:spcBef>
                <a:spcPts val="1800"/>
              </a:spcBef>
            </a:pPr>
            <a:r>
              <a:rPr kumimoji="1" lang="es-ES" altLang="zh-CN" sz="3600" b="1" dirty="0">
                <a:latin typeface="Times New Roman" pitchFamily="18" charset="0"/>
                <a:ea typeface="宋体" charset="-122"/>
                <a:cs typeface="Times New Roman" pitchFamily="18" charset="0"/>
              </a:rPr>
              <a:t>x = alpha/180 * 3.14159</a:t>
            </a:r>
            <a:endParaRPr kumimoji="1" lang="en-US" altLang="zh-CN" sz="3600" b="1" dirty="0"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>
              <a:spcBef>
                <a:spcPts val="600"/>
              </a:spcBef>
            </a:pPr>
            <a:r>
              <a:rPr kumimoji="1" lang="es-ES" altLang="zh-CN" sz="3600" b="1" dirty="0">
                <a:latin typeface="Times New Roman" pitchFamily="18" charset="0"/>
                <a:ea typeface="宋体" charset="-122"/>
                <a:cs typeface="Times New Roman" pitchFamily="18" charset="0"/>
              </a:rPr>
              <a:t>y = math.sqrt((1 - math.cos(x)) / 2.0)</a:t>
            </a:r>
            <a:endParaRPr kumimoji="1" lang="en-US" altLang="zh-CN" sz="3600" b="1" dirty="0">
              <a:solidFill>
                <a:schemeClr val="tx1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>
              <a:spcBef>
                <a:spcPts val="600"/>
              </a:spcBef>
            </a:pPr>
            <a:r>
              <a:rPr kumimoji="1" lang="en-US" altLang="zh-CN" sz="3600" b="1" dirty="0">
                <a:latin typeface="Times New Roman" pitchFamily="18" charset="0"/>
                <a:ea typeface="宋体" charset="-122"/>
                <a:cs typeface="Times New Roman" pitchFamily="18" charset="0"/>
              </a:rPr>
              <a:t>print("y = %.2f" % y)</a:t>
            </a:r>
            <a:endParaRPr kumimoji="1" lang="en-US" altLang="zh-CN" sz="3600" b="1" dirty="0">
              <a:solidFill>
                <a:schemeClr val="tx1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277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2.2 </a:t>
            </a:r>
            <a:r>
              <a:rPr lang="zh-CN" altLang="en-US" sz="4800" noProof="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选择结构</a:t>
            </a: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程序设计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12" name="Picture 11" descr="20065198353122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878" y="1662180"/>
            <a:ext cx="5105400" cy="3268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5625716" y="5083242"/>
            <a:ext cx="4054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US" altLang="zh-CN" sz="36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Where to go?!</a:t>
            </a:r>
          </a:p>
        </p:txBody>
      </p:sp>
      <p:pic>
        <p:nvPicPr>
          <p:cNvPr id="14" name="Picture 13" descr="1a1db251c586d5a48d54300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856" y="2992591"/>
            <a:ext cx="2570018" cy="1927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44983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5"/>
          <p:cNvSpPr txBox="1"/>
          <p:nvPr/>
        </p:nvSpPr>
        <p:spPr>
          <a:xfrm>
            <a:off x="1237564" y="98987"/>
            <a:ext cx="562644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假币问题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9" name="Picture 3" descr="JPT-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5102" y="1576473"/>
            <a:ext cx="3951088" cy="2721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204738" y="1516728"/>
            <a:ext cx="4240098" cy="2763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30000"/>
              </a:spcBef>
            </a:pP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有五枚硬币，但其中有一</a:t>
            </a:r>
            <a:endParaRPr kumimoji="1" lang="en-US" altLang="zh-CN" sz="2800" b="1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  <a:p>
            <a:pPr>
              <a:spcBef>
                <a:spcPct val="30000"/>
              </a:spcBef>
            </a:pP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枚是假币。已知假币比真</a:t>
            </a:r>
            <a:endParaRPr kumimoji="1" lang="en-US" altLang="zh-CN" sz="2800" b="1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  <a:p>
            <a:pPr>
              <a:spcBef>
                <a:spcPct val="30000"/>
              </a:spcBef>
            </a:pP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币要轻。现有一架天平，</a:t>
            </a:r>
            <a:endParaRPr kumimoji="1" lang="en-US" altLang="zh-CN" sz="2800" b="1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  <a:p>
            <a:pPr>
              <a:spcBef>
                <a:spcPct val="30000"/>
              </a:spcBef>
            </a:pP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请问：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itchFamily="18" charset="0"/>
                <a:ea typeface="宋体" charset="-122"/>
              </a:rPr>
              <a:t>最多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需要称几次就</a:t>
            </a:r>
            <a:endParaRPr kumimoji="1" lang="en-US" altLang="zh-CN" sz="2800" b="1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  <a:p>
            <a:pPr>
              <a:spcBef>
                <a:spcPct val="30000"/>
              </a:spcBef>
            </a:pP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能把假币找出来？</a:t>
            </a:r>
          </a:p>
        </p:txBody>
      </p:sp>
      <p:pic>
        <p:nvPicPr>
          <p:cNvPr id="12" name="Picture 2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771" y="4471988"/>
            <a:ext cx="1600200" cy="154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3777" y="4471988"/>
            <a:ext cx="1600200" cy="154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9025" y="4471988"/>
            <a:ext cx="1600200" cy="154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2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4273" y="4471988"/>
            <a:ext cx="1600200" cy="154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3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22" y="4471988"/>
            <a:ext cx="1600200" cy="154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11400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5"/>
          <p:cNvSpPr txBox="1"/>
          <p:nvPr/>
        </p:nvSpPr>
        <p:spPr>
          <a:xfrm>
            <a:off x="1237564" y="98987"/>
            <a:ext cx="562644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答案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1654233" y="2104939"/>
            <a:ext cx="9144000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8925" indent="-288925" eaLnBrk="1" hangingPunct="1">
              <a:spcBef>
                <a:spcPct val="70000"/>
              </a:spcBef>
              <a:buClr>
                <a:srgbClr val="FFFF66"/>
              </a:buClr>
              <a:buFont typeface="Wingdings" pitchFamily="2" charset="2"/>
              <a:buNone/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任取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4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枚硬币，放在天平上，一边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2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枚：</a:t>
            </a:r>
          </a:p>
          <a:p>
            <a:pPr marL="288925" indent="-288925"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Char char=""/>
            </a:pPr>
            <a:r>
              <a:rPr kumimoji="1" lang="en-US" altLang="zh-CN" sz="3200" b="1" i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if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左边的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2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枚比较轻，则把它们再称一次，轻者即为假币；</a:t>
            </a:r>
          </a:p>
          <a:p>
            <a:pPr marL="288925" indent="-288925"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Char char=""/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否则，</a:t>
            </a:r>
            <a:r>
              <a:rPr kumimoji="1" lang="en-US" altLang="zh-CN" sz="3200" b="1" i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if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右边的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2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枚比较轻，则把它们再称一次即可；</a:t>
            </a:r>
          </a:p>
          <a:p>
            <a:pPr marL="288925" indent="-288925"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Char char=""/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否则，剩下的那枚硬币是假币。</a:t>
            </a: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1157775" y="1077796"/>
            <a:ext cx="895508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>
            <a:spAutoFit/>
          </a:bodyPr>
          <a:lstStyle>
            <a:lvl1pPr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r>
              <a:rPr kumimoji="1" lang="zh-CN" altLang="en-US" sz="4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二次即可</a:t>
            </a:r>
          </a:p>
        </p:txBody>
      </p:sp>
    </p:spTree>
    <p:extLst>
      <p:ext uri="{BB962C8B-B14F-4D97-AF65-F5344CB8AC3E}">
        <p14:creationId xmlns:p14="http://schemas.microsoft.com/office/powerpoint/2010/main" val="1497791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5"/>
          <p:cNvSpPr txBox="1"/>
          <p:nvPr/>
        </p:nvSpPr>
        <p:spPr>
          <a:xfrm>
            <a:off x="1237564" y="98987"/>
            <a:ext cx="562644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另一例子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9" name="图片 3" descr="IMG_20160715_111816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1517" y="76200"/>
            <a:ext cx="4991100" cy="665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26148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3" y="98987"/>
            <a:ext cx="7615491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2.2.1 </a:t>
            </a: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关系运算符与表达式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1344814" y="1371600"/>
            <a:ext cx="84185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所谓的“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关系运算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”实际上是“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比较运算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”。</a:t>
            </a:r>
          </a:p>
        </p:txBody>
      </p: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1373389" y="2024063"/>
            <a:ext cx="5319712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Python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语言提供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6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种关系运算符：</a:t>
            </a:r>
            <a:b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</a:b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(1)  &lt;		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（小于）</a:t>
            </a:r>
            <a:b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</a:b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(2)  &lt;=	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（小于或等于）</a:t>
            </a:r>
            <a:b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</a:b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(3)  &gt;		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（大于）</a:t>
            </a:r>
            <a:b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</a:b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(4)  &gt;=	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（大于或等于）</a:t>
            </a:r>
            <a:b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</a:b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(5)  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宋体" pitchFamily="2" charset="-122"/>
              </a:rPr>
              <a:t>==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	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（等于）</a:t>
            </a:r>
            <a:b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</a:b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(6)  !=	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（不等于）</a:t>
            </a:r>
          </a:p>
        </p:txBody>
      </p:sp>
      <p:sp>
        <p:nvSpPr>
          <p:cNvPr id="16" name="Rectangle 13"/>
          <p:cNvSpPr>
            <a:spLocks noChangeArrowheads="1"/>
          </p:cNvSpPr>
          <p:nvPr/>
        </p:nvSpPr>
        <p:spPr bwMode="auto">
          <a:xfrm>
            <a:off x="6399908" y="3005138"/>
            <a:ext cx="30416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优先级相同（高）</a:t>
            </a:r>
          </a:p>
        </p:txBody>
      </p: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6399908" y="4271963"/>
            <a:ext cx="30416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优先级相同（低）</a:t>
            </a:r>
          </a:p>
        </p:txBody>
      </p:sp>
      <p:sp>
        <p:nvSpPr>
          <p:cNvPr id="18" name="Rectangle 15"/>
          <p:cNvSpPr>
            <a:spLocks noChangeArrowheads="1"/>
          </p:cNvSpPr>
          <p:nvPr/>
        </p:nvSpPr>
        <p:spPr bwMode="auto">
          <a:xfrm>
            <a:off x="1373389" y="5149850"/>
            <a:ext cx="7869237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例如：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a  &gt;  b  ==  c              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等价于 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(a  &gt;  b)  ==  c</a:t>
            </a:r>
            <a:b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</a:b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           a  ==  b  &lt;  c              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等价于 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a  ==  (b  &lt;  c) </a:t>
            </a:r>
          </a:p>
        </p:txBody>
      </p:sp>
      <p:sp>
        <p:nvSpPr>
          <p:cNvPr id="19" name="AutoShape 11"/>
          <p:cNvSpPr>
            <a:spLocks/>
          </p:cNvSpPr>
          <p:nvPr/>
        </p:nvSpPr>
        <p:spPr bwMode="auto">
          <a:xfrm>
            <a:off x="6023670" y="2667000"/>
            <a:ext cx="350838" cy="1466850"/>
          </a:xfrm>
          <a:prstGeom prst="rightBrace">
            <a:avLst>
              <a:gd name="adj1" fmla="val 34842"/>
              <a:gd name="adj2" fmla="val 50000"/>
            </a:avLst>
          </a:prstGeom>
          <a:noFill/>
          <a:ln w="222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>
              <a:ea typeface="宋体" pitchFamily="2" charset="-122"/>
            </a:endParaRPr>
          </a:p>
        </p:txBody>
      </p:sp>
      <p:sp>
        <p:nvSpPr>
          <p:cNvPr id="20" name="AutoShape 12"/>
          <p:cNvSpPr>
            <a:spLocks/>
          </p:cNvSpPr>
          <p:nvPr/>
        </p:nvSpPr>
        <p:spPr bwMode="auto">
          <a:xfrm>
            <a:off x="6023670" y="4267200"/>
            <a:ext cx="350838" cy="593725"/>
          </a:xfrm>
          <a:prstGeom prst="rightBrace">
            <a:avLst>
              <a:gd name="adj1" fmla="val 14103"/>
              <a:gd name="adj2" fmla="val 50000"/>
            </a:avLst>
          </a:prstGeom>
          <a:noFill/>
          <a:ln w="222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72820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5"/>
          <p:cNvSpPr txBox="1"/>
          <p:nvPr/>
        </p:nvSpPr>
        <p:spPr>
          <a:xfrm>
            <a:off x="1237564" y="98987"/>
            <a:ext cx="562644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关系表达式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0" name="内容占位符 2"/>
          <p:cNvSpPr txBox="1">
            <a:spLocks/>
          </p:cNvSpPr>
          <p:nvPr/>
        </p:nvSpPr>
        <p:spPr>
          <a:xfrm>
            <a:off x="1069580" y="1422861"/>
            <a:ext cx="10011285" cy="440436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6400" indent="-446400">
              <a:spcAft>
                <a:spcPts val="600"/>
              </a:spcAft>
              <a:buSzPct val="90000"/>
              <a:buFont typeface="Wingdings 2" pitchFamily="18" charset="2"/>
              <a:buChar char="ö"/>
            </a:pPr>
            <a:r>
              <a:rPr lang="zh-CN" altLang="en-US" sz="3600" b="1" kern="0">
                <a:latin typeface="宋体" pitchFamily="2" charset="-122"/>
                <a:ea typeface="宋体" pitchFamily="2" charset="-122"/>
              </a:rPr>
              <a:t>关系表达式</a:t>
            </a:r>
            <a:endParaRPr lang="en-US" altLang="zh-CN" sz="3600" b="1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903600" lvl="1" indent="-4464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J"/>
            </a:pP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用关系运算符将两个操作数连接起来的式子</a:t>
            </a:r>
            <a:r>
              <a:rPr lang="en-US" altLang="zh-CN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</a:p>
          <a:p>
            <a:pPr marL="446400" indent="-446400">
              <a:spcBef>
                <a:spcPts val="1800"/>
              </a:spcBef>
              <a:buSzPct val="90000"/>
              <a:buFont typeface="Wingdings 2" pitchFamily="18" charset="2"/>
              <a:buChar char="ö"/>
            </a:pPr>
            <a:r>
              <a:rPr lang="zh-CN" altLang="en-US" sz="36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关系表达式的值</a:t>
            </a:r>
            <a:endParaRPr lang="en-US" altLang="zh-CN" sz="3600" b="1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903600" lvl="1" indent="-446400">
              <a:spcBef>
                <a:spcPts val="1200"/>
              </a:spcBef>
              <a:buSzPct val="90000"/>
              <a:buFont typeface="Wingdings" pitchFamily="2" charset="2"/>
              <a:buChar char="J"/>
            </a:pP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布尔类型的逻辑值“真”（</a:t>
            </a:r>
            <a:r>
              <a:rPr lang="en-US" altLang="zh-CN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True</a:t>
            </a: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）或“假”（</a:t>
            </a:r>
            <a:r>
              <a:rPr lang="en-US" altLang="zh-CN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False</a:t>
            </a: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）</a:t>
            </a:r>
            <a:endParaRPr lang="en-US" altLang="zh-CN" sz="3200" b="1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2093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5"/>
          <p:cNvSpPr txBox="1"/>
          <p:nvPr/>
        </p:nvSpPr>
        <p:spPr>
          <a:xfrm>
            <a:off x="1237564" y="98987"/>
            <a:ext cx="562644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关系表达式举例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2803385" y="1137458"/>
            <a:ext cx="6091238" cy="5312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y = 5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x = (y &lt; 4)		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print(x)	</a:t>
            </a:r>
          </a:p>
          <a:p>
            <a:pPr eaLnBrk="1" hangingPunct="1">
              <a:spcBef>
                <a:spcPts val="600"/>
              </a:spcBef>
              <a:buNone/>
            </a:pPr>
            <a:endParaRPr kumimoji="1" lang="en-US" altLang="zh-CN" sz="3200" b="1">
              <a:solidFill>
                <a:schemeClr val="tx1"/>
              </a:solidFill>
              <a:latin typeface="Courier New" pitchFamily="49" charset="0"/>
              <a:ea typeface="宋体" charset="-122"/>
            </a:endParaRP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flower = "flower"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kong = 0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se = 1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print(flower != flower)</a:t>
            </a:r>
            <a:endParaRPr kumimoji="1" lang="zh-CN" altLang="en-US" sz="3200" b="1">
              <a:solidFill>
                <a:schemeClr val="tx1"/>
              </a:solidFill>
              <a:latin typeface="Courier New" pitchFamily="49" charset="0"/>
              <a:ea typeface="宋体" charset="-122"/>
            </a:endParaRP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print(kong == se)</a:t>
            </a:r>
          </a:p>
        </p:txBody>
      </p:sp>
    </p:spTree>
    <p:extLst>
      <p:ext uri="{BB962C8B-B14F-4D97-AF65-F5344CB8AC3E}">
        <p14:creationId xmlns:p14="http://schemas.microsoft.com/office/powerpoint/2010/main" val="3988413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5"/>
          <p:cNvSpPr txBox="1"/>
          <p:nvPr/>
        </p:nvSpPr>
        <p:spPr>
          <a:xfrm>
            <a:off x="1237564" y="98987"/>
            <a:ext cx="562644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局限性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0" name="Rectangle 2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1546150" y="1504603"/>
            <a:ext cx="8769928" cy="391529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0850" indent="-450850">
              <a:spcBef>
                <a:spcPct val="500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</a:pPr>
            <a:r>
              <a:rPr lang="zh-CN" altLang="en-US" sz="3600" b="1">
                <a:ea typeface="宋体" charset="-122"/>
              </a:rPr>
              <a:t>关系表达式的局限性</a:t>
            </a:r>
            <a:endParaRPr lang="en-US" altLang="zh-CN" sz="3600" b="1">
              <a:ea typeface="宋体" charset="-122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</a:pPr>
            <a:r>
              <a:rPr lang="zh-CN" altLang="en-US" sz="3200" b="1">
                <a:ea typeface="楷体_GB2312" pitchFamily="49" charset="-122"/>
              </a:rPr>
              <a:t>只能描述一个条件；</a:t>
            </a: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</a:pPr>
            <a:r>
              <a:rPr lang="zh-CN" altLang="en-US" sz="3200" b="1">
                <a:ea typeface="楷体_GB2312" pitchFamily="49" charset="-122"/>
              </a:rPr>
              <a:t>例如，报纸上的征婚广告，女征男，年龄大于</a:t>
            </a:r>
            <a:r>
              <a:rPr lang="en-US" altLang="zh-CN" sz="3200" b="1">
                <a:ea typeface="楷体_GB2312" pitchFamily="49" charset="-122"/>
              </a:rPr>
              <a:t>30</a:t>
            </a:r>
            <a:r>
              <a:rPr lang="zh-CN" altLang="en-US" sz="3200" b="1">
                <a:ea typeface="楷体_GB2312" pitchFamily="49" charset="-122"/>
              </a:rPr>
              <a:t>，有车、有房、年薪大于</a:t>
            </a:r>
            <a:r>
              <a:rPr lang="en-US" altLang="zh-CN" sz="3200" b="1">
                <a:ea typeface="楷体_GB2312" pitchFamily="49" charset="-122"/>
              </a:rPr>
              <a:t>30</a:t>
            </a:r>
            <a:r>
              <a:rPr lang="zh-CN" altLang="en-US" sz="3200" b="1">
                <a:ea typeface="楷体_GB2312" pitchFamily="49" charset="-122"/>
              </a:rPr>
              <a:t>万</a:t>
            </a:r>
            <a:r>
              <a:rPr lang="zh-CN" altLang="en-US" sz="2400" b="1">
                <a:solidFill>
                  <a:srgbClr val="0000FF"/>
                </a:solidFill>
                <a:ea typeface="楷体_GB2312" pitchFamily="49" charset="-122"/>
              </a:rPr>
              <a:t>（纯属虚构</a:t>
            </a:r>
            <a:r>
              <a:rPr lang="en-US" altLang="zh-CN" sz="2400" b="1">
                <a:solidFill>
                  <a:srgbClr val="0000FF"/>
                </a:solidFill>
                <a:ea typeface="楷体_GB2312" pitchFamily="49" charset="-122"/>
              </a:rPr>
              <a:t>...</a:t>
            </a:r>
            <a:r>
              <a:rPr lang="zh-CN" altLang="en-US" sz="2400" b="1">
                <a:solidFill>
                  <a:srgbClr val="0000FF"/>
                </a:solidFill>
                <a:ea typeface="楷体_GB2312" pitchFamily="49" charset="-122"/>
              </a:rPr>
              <a:t>）</a:t>
            </a: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</a:pPr>
            <a:endParaRPr lang="zh-CN" altLang="en-US" sz="3200" b="1"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455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3" y="98987"/>
            <a:ext cx="7615491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2.2.2 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逻辑</a:t>
            </a: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运算符与表达式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1093887" y="1623753"/>
            <a:ext cx="9712658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       用逻辑运算符将关系表达式或逻辑量连接起来的式子，就是逻辑表达式。</a:t>
            </a:r>
          </a:p>
        </p:txBody>
      </p:sp>
      <p:sp>
        <p:nvSpPr>
          <p:cNvPr id="21" name="Text Box 13"/>
          <p:cNvSpPr txBox="1">
            <a:spLocks noChangeArrowheads="1"/>
          </p:cNvSpPr>
          <p:nvPr/>
        </p:nvSpPr>
        <p:spPr bwMode="auto">
          <a:xfrm>
            <a:off x="1936938" y="3170613"/>
            <a:ext cx="8026556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Python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语言提供了 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3 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种逻辑运算符，包括：</a:t>
            </a:r>
          </a:p>
          <a:p>
            <a:pPr>
              <a:spcBef>
                <a:spcPct val="500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(1)     </a:t>
            </a:r>
            <a:r>
              <a:rPr kumimoji="1" lang="en-US" altLang="zh-CN" sz="3200" b="1">
                <a:solidFill>
                  <a:srgbClr val="990000"/>
                </a:solidFill>
                <a:latin typeface="Times New Roman" pitchFamily="18" charset="0"/>
                <a:ea typeface="宋体" pitchFamily="2" charset="-122"/>
              </a:rPr>
              <a:t>and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		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（逻辑与，双目运算符）</a:t>
            </a:r>
            <a:b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</a:b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(2)     </a:t>
            </a:r>
            <a:r>
              <a:rPr kumimoji="1" lang="en-US" altLang="zh-CN" sz="3200" b="1">
                <a:solidFill>
                  <a:srgbClr val="990000"/>
                </a:solidFill>
                <a:latin typeface="Times New Roman" pitchFamily="18" charset="0"/>
                <a:ea typeface="宋体" pitchFamily="2" charset="-122"/>
              </a:rPr>
              <a:t>or 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		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（逻辑或，双目运算符）</a:t>
            </a:r>
            <a:b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</a:b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(3)     </a:t>
            </a:r>
            <a:r>
              <a:rPr kumimoji="1" lang="en-US" altLang="zh-CN" sz="3200" b="1">
                <a:solidFill>
                  <a:srgbClr val="990000"/>
                </a:solidFill>
                <a:latin typeface="Times New Roman" pitchFamily="18" charset="0"/>
                <a:ea typeface="宋体" pitchFamily="2" charset="-122"/>
              </a:rPr>
              <a:t>not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		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（逻辑非，单目运算符）</a:t>
            </a:r>
          </a:p>
        </p:txBody>
      </p:sp>
    </p:spTree>
    <p:extLst>
      <p:ext uri="{BB962C8B-B14F-4D97-AF65-F5344CB8AC3E}">
        <p14:creationId xmlns:p14="http://schemas.microsoft.com/office/powerpoint/2010/main" val="3387403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5"/>
          <p:cNvSpPr txBox="1"/>
          <p:nvPr/>
        </p:nvSpPr>
        <p:spPr>
          <a:xfrm>
            <a:off x="1237564" y="98987"/>
            <a:ext cx="562644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逻辑运算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9" name="Group 12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371504"/>
              </p:ext>
            </p:extLst>
          </p:nvPr>
        </p:nvGraphicFramePr>
        <p:xfrm>
          <a:off x="1752630" y="1989394"/>
          <a:ext cx="3200400" cy="228600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a  b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lToBr>
                    <a:lnBlToTr>
                      <a:noFill/>
                    </a:lnBlToTr>
                    <a:solidFill>
                      <a:srgbClr val="A2C1F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真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2C1F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假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2C1FE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真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2C1F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真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假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假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2C1F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假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假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Box 37"/>
          <p:cNvSpPr txBox="1">
            <a:spLocks noChangeArrowheads="1"/>
          </p:cNvSpPr>
          <p:nvPr/>
        </p:nvSpPr>
        <p:spPr bwMode="auto">
          <a:xfrm>
            <a:off x="2438430" y="1195644"/>
            <a:ext cx="1646605" cy="646331"/>
          </a:xfrm>
          <a:prstGeom prst="rect">
            <a:avLst/>
          </a:prstGeom>
          <a:noFill/>
          <a:ln w="508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a </a:t>
            </a:r>
            <a:r>
              <a:rPr lang="en-US" altLang="zh-CN" sz="3600" b="1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and</a:t>
            </a:r>
            <a:r>
              <a:rPr lang="en-US" altLang="zh-CN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b</a:t>
            </a:r>
          </a:p>
        </p:txBody>
      </p:sp>
      <p:grpSp>
        <p:nvGrpSpPr>
          <p:cNvPr id="12" name="Group 153"/>
          <p:cNvGrpSpPr>
            <a:grpSpLocks/>
          </p:cNvGrpSpPr>
          <p:nvPr/>
        </p:nvGrpSpPr>
        <p:grpSpPr bwMode="auto">
          <a:xfrm>
            <a:off x="6438261" y="1195644"/>
            <a:ext cx="3276600" cy="3079750"/>
            <a:chOff x="3024" y="700"/>
            <a:chExt cx="2064" cy="1940"/>
          </a:xfrm>
        </p:grpSpPr>
        <p:sp>
          <p:nvSpPr>
            <p:cNvPr id="13" name="Text Box 84"/>
            <p:cNvSpPr txBox="1">
              <a:spLocks noChangeArrowheads="1"/>
            </p:cNvSpPr>
            <p:nvPr/>
          </p:nvSpPr>
          <p:spPr bwMode="auto">
            <a:xfrm>
              <a:off x="3696" y="700"/>
              <a:ext cx="838" cy="407"/>
            </a:xfrm>
            <a:prstGeom prst="rect">
              <a:avLst/>
            </a:prstGeom>
            <a:noFill/>
            <a:ln w="508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>
                <a:buNone/>
              </a:pPr>
              <a:r>
                <a:rPr lang="en-US" altLang="zh-CN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a </a:t>
              </a:r>
              <a:r>
                <a:rPr lang="en-US" altLang="zh-CN" sz="3600" b="1">
                  <a:solidFill>
                    <a:srgbClr val="C00000"/>
                  </a:solidFill>
                  <a:latin typeface="Times New Roman" pitchFamily="18" charset="0"/>
                  <a:ea typeface="宋体" pitchFamily="2" charset="-122"/>
                </a:rPr>
                <a:t>or</a:t>
              </a:r>
              <a:r>
                <a:rPr lang="en-US" altLang="zh-CN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 b</a:t>
              </a:r>
            </a:p>
          </p:txBody>
        </p:sp>
        <p:sp>
          <p:nvSpPr>
            <p:cNvPr id="14" name="Rectangle 86"/>
            <p:cNvSpPr>
              <a:spLocks noChangeArrowheads="1"/>
            </p:cNvSpPr>
            <p:nvPr/>
          </p:nvSpPr>
          <p:spPr bwMode="auto">
            <a:xfrm>
              <a:off x="4400" y="2160"/>
              <a:ext cx="688" cy="480"/>
            </a:xfrm>
            <a:prstGeom prst="rect">
              <a:avLst/>
            </a:prstGeom>
            <a:noFill/>
            <a:ln w="50800">
              <a:noFill/>
              <a:miter lim="800000"/>
              <a:headEnd type="none" w="sm" len="sm"/>
              <a:tailEnd type="none" w="sm" len="sm"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zh-CN" altLang="en-US" sz="3200" b="1">
                  <a:solidFill>
                    <a:schemeClr val="tx1"/>
                  </a:solidFill>
                  <a:ea typeface="宋体" pitchFamily="2" charset="-122"/>
                </a:rPr>
                <a:t>假</a:t>
              </a:r>
            </a:p>
          </p:txBody>
        </p:sp>
        <p:sp>
          <p:nvSpPr>
            <p:cNvPr id="15" name="Rectangle 87"/>
            <p:cNvSpPr>
              <a:spLocks noChangeArrowheads="1"/>
            </p:cNvSpPr>
            <p:nvPr/>
          </p:nvSpPr>
          <p:spPr bwMode="auto">
            <a:xfrm>
              <a:off x="3712" y="2160"/>
              <a:ext cx="688" cy="480"/>
            </a:xfrm>
            <a:prstGeom prst="rect">
              <a:avLst/>
            </a:prstGeom>
            <a:noFill/>
            <a:ln w="50800">
              <a:noFill/>
              <a:miter lim="800000"/>
              <a:headEnd type="none" w="sm" len="sm"/>
              <a:tailEnd type="none" w="sm" len="sm"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zh-CN" altLang="en-US" sz="3200" b="1">
                  <a:solidFill>
                    <a:schemeClr val="tx1"/>
                  </a:solidFill>
                  <a:ea typeface="宋体" pitchFamily="2" charset="-122"/>
                </a:rPr>
                <a:t>真</a:t>
              </a:r>
            </a:p>
          </p:txBody>
        </p:sp>
        <p:sp>
          <p:nvSpPr>
            <p:cNvPr id="16" name="Rectangle 88"/>
            <p:cNvSpPr>
              <a:spLocks noChangeArrowheads="1"/>
            </p:cNvSpPr>
            <p:nvPr/>
          </p:nvSpPr>
          <p:spPr bwMode="auto">
            <a:xfrm>
              <a:off x="3024" y="2160"/>
              <a:ext cx="688" cy="480"/>
            </a:xfrm>
            <a:prstGeom prst="rect">
              <a:avLst/>
            </a:prstGeom>
            <a:solidFill>
              <a:srgbClr val="A2C1FE">
                <a:alpha val="50195"/>
              </a:srgbClr>
            </a:solidFill>
            <a:ln w="50800">
              <a:noFill/>
              <a:miter lim="800000"/>
              <a:headEnd type="none" w="sm" len="sm"/>
              <a:tailEnd type="none" w="sm" len="sm"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zh-CN" altLang="en-US" sz="3200" b="1">
                  <a:solidFill>
                    <a:schemeClr val="tx1"/>
                  </a:solidFill>
                  <a:ea typeface="宋体" pitchFamily="2" charset="-122"/>
                </a:rPr>
                <a:t>假</a:t>
              </a:r>
            </a:p>
          </p:txBody>
        </p:sp>
        <p:sp>
          <p:nvSpPr>
            <p:cNvPr id="17" name="Rectangle 89"/>
            <p:cNvSpPr>
              <a:spLocks noChangeArrowheads="1"/>
            </p:cNvSpPr>
            <p:nvPr/>
          </p:nvSpPr>
          <p:spPr bwMode="auto">
            <a:xfrm>
              <a:off x="4400" y="1680"/>
              <a:ext cx="688" cy="480"/>
            </a:xfrm>
            <a:prstGeom prst="rect">
              <a:avLst/>
            </a:prstGeom>
            <a:noFill/>
            <a:ln w="50800">
              <a:noFill/>
              <a:miter lim="800000"/>
              <a:headEnd type="none" w="sm" len="sm"/>
              <a:tailEnd type="none" w="sm" len="sm"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zh-CN" altLang="en-US" sz="3200" b="1">
                  <a:solidFill>
                    <a:schemeClr val="tx1"/>
                  </a:solidFill>
                  <a:ea typeface="宋体" pitchFamily="2" charset="-122"/>
                </a:rPr>
                <a:t>真</a:t>
              </a:r>
            </a:p>
          </p:txBody>
        </p:sp>
        <p:sp>
          <p:nvSpPr>
            <p:cNvPr id="18" name="Rectangle 90"/>
            <p:cNvSpPr>
              <a:spLocks noChangeArrowheads="1"/>
            </p:cNvSpPr>
            <p:nvPr/>
          </p:nvSpPr>
          <p:spPr bwMode="auto">
            <a:xfrm>
              <a:off x="3712" y="1680"/>
              <a:ext cx="688" cy="480"/>
            </a:xfrm>
            <a:prstGeom prst="rect">
              <a:avLst/>
            </a:prstGeom>
            <a:noFill/>
            <a:ln w="50800">
              <a:noFill/>
              <a:miter lim="800000"/>
              <a:headEnd type="none" w="sm" len="sm"/>
              <a:tailEnd type="none" w="sm" len="sm"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zh-CN" altLang="en-US" sz="3200" b="1">
                  <a:solidFill>
                    <a:schemeClr val="tx1"/>
                  </a:solidFill>
                  <a:ea typeface="宋体" pitchFamily="2" charset="-122"/>
                </a:rPr>
                <a:t>真</a:t>
              </a:r>
            </a:p>
          </p:txBody>
        </p:sp>
        <p:sp>
          <p:nvSpPr>
            <p:cNvPr id="19" name="Rectangle 91"/>
            <p:cNvSpPr>
              <a:spLocks noChangeArrowheads="1"/>
            </p:cNvSpPr>
            <p:nvPr/>
          </p:nvSpPr>
          <p:spPr bwMode="auto">
            <a:xfrm>
              <a:off x="3024" y="1680"/>
              <a:ext cx="688" cy="480"/>
            </a:xfrm>
            <a:prstGeom prst="rect">
              <a:avLst/>
            </a:prstGeom>
            <a:solidFill>
              <a:srgbClr val="A2C1FE">
                <a:alpha val="50195"/>
              </a:srgbClr>
            </a:solidFill>
            <a:ln w="50800">
              <a:noFill/>
              <a:miter lim="800000"/>
              <a:headEnd type="none" w="sm" len="sm"/>
              <a:tailEnd type="none" w="sm" len="sm"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zh-CN" altLang="en-US" sz="3200" b="1">
                  <a:solidFill>
                    <a:schemeClr val="tx1"/>
                  </a:solidFill>
                  <a:ea typeface="宋体" pitchFamily="2" charset="-122"/>
                </a:rPr>
                <a:t>真</a:t>
              </a:r>
            </a:p>
          </p:txBody>
        </p:sp>
        <p:sp>
          <p:nvSpPr>
            <p:cNvPr id="20" name="Rectangle 92"/>
            <p:cNvSpPr>
              <a:spLocks noChangeArrowheads="1"/>
            </p:cNvSpPr>
            <p:nvPr/>
          </p:nvSpPr>
          <p:spPr bwMode="auto">
            <a:xfrm>
              <a:off x="4400" y="1200"/>
              <a:ext cx="688" cy="480"/>
            </a:xfrm>
            <a:prstGeom prst="rect">
              <a:avLst/>
            </a:prstGeom>
            <a:solidFill>
              <a:srgbClr val="A2C1FE">
                <a:alpha val="50195"/>
              </a:srgbClr>
            </a:solidFill>
            <a:ln w="50800">
              <a:noFill/>
              <a:miter lim="800000"/>
              <a:headEnd type="none" w="sm" len="sm"/>
              <a:tailEnd type="none" w="sm" len="sm"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zh-CN" altLang="en-US" sz="3200" b="1">
                  <a:solidFill>
                    <a:schemeClr val="tx1"/>
                  </a:solidFill>
                  <a:ea typeface="宋体" pitchFamily="2" charset="-122"/>
                </a:rPr>
                <a:t>假</a:t>
              </a:r>
            </a:p>
          </p:txBody>
        </p:sp>
        <p:sp>
          <p:nvSpPr>
            <p:cNvPr id="21" name="Rectangle 93"/>
            <p:cNvSpPr>
              <a:spLocks noChangeArrowheads="1"/>
            </p:cNvSpPr>
            <p:nvPr/>
          </p:nvSpPr>
          <p:spPr bwMode="auto">
            <a:xfrm>
              <a:off x="3712" y="1200"/>
              <a:ext cx="688" cy="480"/>
            </a:xfrm>
            <a:prstGeom prst="rect">
              <a:avLst/>
            </a:prstGeom>
            <a:solidFill>
              <a:srgbClr val="A2C1FE">
                <a:alpha val="50195"/>
              </a:srgbClr>
            </a:solidFill>
            <a:ln w="50800">
              <a:noFill/>
              <a:miter lim="800000"/>
              <a:headEnd type="none" w="sm" len="sm"/>
              <a:tailEnd type="none" w="sm" len="sm"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zh-CN" altLang="en-US" sz="3200" b="1">
                  <a:solidFill>
                    <a:schemeClr val="tx1"/>
                  </a:solidFill>
                  <a:ea typeface="宋体" pitchFamily="2" charset="-122"/>
                </a:rPr>
                <a:t>真</a:t>
              </a:r>
            </a:p>
          </p:txBody>
        </p:sp>
        <p:sp>
          <p:nvSpPr>
            <p:cNvPr id="22" name="Rectangle 94"/>
            <p:cNvSpPr>
              <a:spLocks noChangeArrowheads="1"/>
            </p:cNvSpPr>
            <p:nvPr/>
          </p:nvSpPr>
          <p:spPr bwMode="auto">
            <a:xfrm>
              <a:off x="3024" y="1200"/>
              <a:ext cx="688" cy="480"/>
            </a:xfrm>
            <a:prstGeom prst="rect">
              <a:avLst/>
            </a:prstGeom>
            <a:solidFill>
              <a:srgbClr val="A2C1FE">
                <a:alpha val="50195"/>
              </a:srgbClr>
            </a:solidFill>
            <a:ln w="50800">
              <a:noFill/>
              <a:miter lim="800000"/>
              <a:headEnd type="none" w="sm" len="sm"/>
              <a:tailEnd type="none" w="sm" len="sm"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zh-CN" sz="3200" b="1">
                  <a:solidFill>
                    <a:schemeClr val="tx1"/>
                  </a:solidFill>
                  <a:ea typeface="宋体" pitchFamily="2" charset="-122"/>
                </a:rPr>
                <a:t> a  b</a:t>
              </a:r>
            </a:p>
          </p:txBody>
        </p:sp>
        <p:sp>
          <p:nvSpPr>
            <p:cNvPr id="23" name="Line 95"/>
            <p:cNvSpPr>
              <a:spLocks noChangeShapeType="1"/>
            </p:cNvSpPr>
            <p:nvPr/>
          </p:nvSpPr>
          <p:spPr bwMode="auto">
            <a:xfrm>
              <a:off x="3024" y="1200"/>
              <a:ext cx="206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" name="Line 96"/>
            <p:cNvSpPr>
              <a:spLocks noChangeShapeType="1"/>
            </p:cNvSpPr>
            <p:nvPr/>
          </p:nvSpPr>
          <p:spPr bwMode="auto">
            <a:xfrm>
              <a:off x="3024" y="1680"/>
              <a:ext cx="20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" name="Line 97"/>
            <p:cNvSpPr>
              <a:spLocks noChangeShapeType="1"/>
            </p:cNvSpPr>
            <p:nvPr/>
          </p:nvSpPr>
          <p:spPr bwMode="auto">
            <a:xfrm>
              <a:off x="3024" y="2160"/>
              <a:ext cx="20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" name="Line 98"/>
            <p:cNvSpPr>
              <a:spLocks noChangeShapeType="1"/>
            </p:cNvSpPr>
            <p:nvPr/>
          </p:nvSpPr>
          <p:spPr bwMode="auto">
            <a:xfrm>
              <a:off x="3024" y="2640"/>
              <a:ext cx="206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" name="Line 99"/>
            <p:cNvSpPr>
              <a:spLocks noChangeShapeType="1"/>
            </p:cNvSpPr>
            <p:nvPr/>
          </p:nvSpPr>
          <p:spPr bwMode="auto">
            <a:xfrm>
              <a:off x="3024" y="1200"/>
              <a:ext cx="0" cy="144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" name="Line 100"/>
            <p:cNvSpPr>
              <a:spLocks noChangeShapeType="1"/>
            </p:cNvSpPr>
            <p:nvPr/>
          </p:nvSpPr>
          <p:spPr bwMode="auto">
            <a:xfrm>
              <a:off x="3712" y="1200"/>
              <a:ext cx="0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" name="Line 101"/>
            <p:cNvSpPr>
              <a:spLocks noChangeShapeType="1"/>
            </p:cNvSpPr>
            <p:nvPr/>
          </p:nvSpPr>
          <p:spPr bwMode="auto">
            <a:xfrm>
              <a:off x="4400" y="1200"/>
              <a:ext cx="0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" name="Line 102"/>
            <p:cNvSpPr>
              <a:spLocks noChangeShapeType="1"/>
            </p:cNvSpPr>
            <p:nvPr/>
          </p:nvSpPr>
          <p:spPr bwMode="auto">
            <a:xfrm>
              <a:off x="5088" y="1200"/>
              <a:ext cx="0" cy="144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" name="Line 103"/>
            <p:cNvSpPr>
              <a:spLocks noChangeShapeType="1"/>
            </p:cNvSpPr>
            <p:nvPr/>
          </p:nvSpPr>
          <p:spPr bwMode="auto">
            <a:xfrm>
              <a:off x="3024" y="1200"/>
              <a:ext cx="688" cy="480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2" name="Group 154"/>
          <p:cNvGrpSpPr>
            <a:grpSpLocks/>
          </p:cNvGrpSpPr>
          <p:nvPr/>
        </p:nvGrpSpPr>
        <p:grpSpPr bwMode="auto">
          <a:xfrm>
            <a:off x="3800334" y="4386229"/>
            <a:ext cx="3657600" cy="1876425"/>
            <a:chOff x="1776" y="2812"/>
            <a:chExt cx="2304" cy="1182"/>
          </a:xfrm>
        </p:grpSpPr>
        <p:sp>
          <p:nvSpPr>
            <p:cNvPr id="33" name="Rectangle 112"/>
            <p:cNvSpPr>
              <a:spLocks noChangeArrowheads="1"/>
            </p:cNvSpPr>
            <p:nvPr/>
          </p:nvSpPr>
          <p:spPr bwMode="auto">
            <a:xfrm>
              <a:off x="3312" y="3629"/>
              <a:ext cx="768" cy="365"/>
            </a:xfrm>
            <a:prstGeom prst="rect">
              <a:avLst/>
            </a:prstGeom>
            <a:noFill/>
            <a:ln w="50800">
              <a:noFill/>
              <a:miter lim="800000"/>
              <a:headEnd type="none" w="sm" len="sm"/>
              <a:tailEnd type="none" w="sm" len="sm"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zh-CN" altLang="en-US"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rPr>
                <a:t>真</a:t>
              </a:r>
            </a:p>
          </p:txBody>
        </p:sp>
        <p:sp>
          <p:nvSpPr>
            <p:cNvPr id="34" name="Rectangle 111"/>
            <p:cNvSpPr>
              <a:spLocks noChangeArrowheads="1"/>
            </p:cNvSpPr>
            <p:nvPr/>
          </p:nvSpPr>
          <p:spPr bwMode="auto">
            <a:xfrm>
              <a:off x="2544" y="3629"/>
              <a:ext cx="768" cy="365"/>
            </a:xfrm>
            <a:prstGeom prst="rect">
              <a:avLst/>
            </a:prstGeom>
            <a:noFill/>
            <a:ln w="50800">
              <a:noFill/>
              <a:miter lim="800000"/>
              <a:headEnd type="none" w="sm" len="sm"/>
              <a:tailEnd type="none" w="sm" len="sm"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zh-CN" altLang="en-US"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rPr>
                <a:t>假</a:t>
              </a:r>
            </a:p>
          </p:txBody>
        </p:sp>
        <p:sp>
          <p:nvSpPr>
            <p:cNvPr id="35" name="Rectangle 110"/>
            <p:cNvSpPr>
              <a:spLocks noChangeArrowheads="1"/>
            </p:cNvSpPr>
            <p:nvPr/>
          </p:nvSpPr>
          <p:spPr bwMode="auto">
            <a:xfrm>
              <a:off x="1776" y="3629"/>
              <a:ext cx="768" cy="365"/>
            </a:xfrm>
            <a:prstGeom prst="rect">
              <a:avLst/>
            </a:prstGeom>
            <a:solidFill>
              <a:srgbClr val="A2C1FE">
                <a:alpha val="50195"/>
              </a:srgbClr>
            </a:solidFill>
            <a:ln w="50800">
              <a:noFill/>
              <a:miter lim="800000"/>
              <a:headEnd type="none" w="sm" len="sm"/>
              <a:tailEnd type="none" w="sm" len="sm"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zh-CN" sz="3200" b="1">
                  <a:solidFill>
                    <a:schemeClr val="tx1"/>
                  </a:solidFill>
                  <a:ea typeface="宋体" pitchFamily="2" charset="-122"/>
                </a:rPr>
                <a:t>!a</a:t>
              </a:r>
            </a:p>
          </p:txBody>
        </p:sp>
        <p:sp>
          <p:nvSpPr>
            <p:cNvPr id="36" name="Rectangle 109"/>
            <p:cNvSpPr>
              <a:spLocks noChangeArrowheads="1"/>
            </p:cNvSpPr>
            <p:nvPr/>
          </p:nvSpPr>
          <p:spPr bwMode="auto">
            <a:xfrm>
              <a:off x="3312" y="3264"/>
              <a:ext cx="768" cy="365"/>
            </a:xfrm>
            <a:prstGeom prst="rect">
              <a:avLst/>
            </a:prstGeom>
            <a:solidFill>
              <a:srgbClr val="A2C1FE">
                <a:alpha val="50195"/>
              </a:srgbClr>
            </a:solidFill>
            <a:ln w="50800">
              <a:noFill/>
              <a:miter lim="800000"/>
              <a:headEnd type="none" w="sm" len="sm"/>
              <a:tailEnd type="none" w="sm" len="sm"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zh-CN" altLang="en-US"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rPr>
                <a:t>假</a:t>
              </a:r>
            </a:p>
          </p:txBody>
        </p:sp>
        <p:sp>
          <p:nvSpPr>
            <p:cNvPr id="37" name="Rectangle 108"/>
            <p:cNvSpPr>
              <a:spLocks noChangeArrowheads="1"/>
            </p:cNvSpPr>
            <p:nvPr/>
          </p:nvSpPr>
          <p:spPr bwMode="auto">
            <a:xfrm>
              <a:off x="2544" y="3264"/>
              <a:ext cx="768" cy="365"/>
            </a:xfrm>
            <a:prstGeom prst="rect">
              <a:avLst/>
            </a:prstGeom>
            <a:solidFill>
              <a:srgbClr val="A2C1FE">
                <a:alpha val="50195"/>
              </a:srgbClr>
            </a:solidFill>
            <a:ln w="50800">
              <a:noFill/>
              <a:miter lim="800000"/>
              <a:headEnd type="none" w="sm" len="sm"/>
              <a:tailEnd type="none" w="sm" len="sm"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zh-CN" altLang="en-US"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rPr>
                <a:t>真</a:t>
              </a:r>
            </a:p>
          </p:txBody>
        </p:sp>
        <p:sp>
          <p:nvSpPr>
            <p:cNvPr id="38" name="Rectangle 107"/>
            <p:cNvSpPr>
              <a:spLocks noChangeArrowheads="1"/>
            </p:cNvSpPr>
            <p:nvPr/>
          </p:nvSpPr>
          <p:spPr bwMode="auto">
            <a:xfrm>
              <a:off x="1776" y="3264"/>
              <a:ext cx="768" cy="365"/>
            </a:xfrm>
            <a:prstGeom prst="rect">
              <a:avLst/>
            </a:prstGeom>
            <a:solidFill>
              <a:srgbClr val="A2C1FE">
                <a:alpha val="50195"/>
              </a:srgbClr>
            </a:solidFill>
            <a:ln w="50800">
              <a:noFill/>
              <a:miter lim="800000"/>
              <a:headEnd type="none" w="sm" len="sm"/>
              <a:tailEnd type="none" w="sm" len="sm"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zh-CN" sz="3200" b="1">
                  <a:solidFill>
                    <a:schemeClr val="tx1"/>
                  </a:solidFill>
                  <a:ea typeface="宋体" pitchFamily="2" charset="-122"/>
                </a:rPr>
                <a:t>a</a:t>
              </a:r>
            </a:p>
          </p:txBody>
        </p:sp>
        <p:sp>
          <p:nvSpPr>
            <p:cNvPr id="39" name="Line 113"/>
            <p:cNvSpPr>
              <a:spLocks noChangeShapeType="1"/>
            </p:cNvSpPr>
            <p:nvPr/>
          </p:nvSpPr>
          <p:spPr bwMode="auto">
            <a:xfrm>
              <a:off x="1776" y="3264"/>
              <a:ext cx="230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0" name="Line 114"/>
            <p:cNvSpPr>
              <a:spLocks noChangeShapeType="1"/>
            </p:cNvSpPr>
            <p:nvPr/>
          </p:nvSpPr>
          <p:spPr bwMode="auto">
            <a:xfrm>
              <a:off x="1776" y="3629"/>
              <a:ext cx="23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" name="Line 115"/>
            <p:cNvSpPr>
              <a:spLocks noChangeShapeType="1"/>
            </p:cNvSpPr>
            <p:nvPr/>
          </p:nvSpPr>
          <p:spPr bwMode="auto">
            <a:xfrm>
              <a:off x="1776" y="3994"/>
              <a:ext cx="230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2" name="Line 116"/>
            <p:cNvSpPr>
              <a:spLocks noChangeShapeType="1"/>
            </p:cNvSpPr>
            <p:nvPr/>
          </p:nvSpPr>
          <p:spPr bwMode="auto">
            <a:xfrm>
              <a:off x="1776" y="3264"/>
              <a:ext cx="0" cy="73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3" name="Line 117"/>
            <p:cNvSpPr>
              <a:spLocks noChangeShapeType="1"/>
            </p:cNvSpPr>
            <p:nvPr/>
          </p:nvSpPr>
          <p:spPr bwMode="auto">
            <a:xfrm>
              <a:off x="2544" y="3264"/>
              <a:ext cx="0" cy="7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" name="Line 118"/>
            <p:cNvSpPr>
              <a:spLocks noChangeShapeType="1"/>
            </p:cNvSpPr>
            <p:nvPr/>
          </p:nvSpPr>
          <p:spPr bwMode="auto">
            <a:xfrm>
              <a:off x="3312" y="3264"/>
              <a:ext cx="0" cy="7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" name="Line 119"/>
            <p:cNvSpPr>
              <a:spLocks noChangeShapeType="1"/>
            </p:cNvSpPr>
            <p:nvPr/>
          </p:nvSpPr>
          <p:spPr bwMode="auto">
            <a:xfrm>
              <a:off x="4080" y="3264"/>
              <a:ext cx="0" cy="73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6" name="Text Box 124"/>
            <p:cNvSpPr txBox="1">
              <a:spLocks noChangeArrowheads="1"/>
            </p:cNvSpPr>
            <p:nvPr/>
          </p:nvSpPr>
          <p:spPr bwMode="auto">
            <a:xfrm>
              <a:off x="2688" y="2812"/>
              <a:ext cx="738" cy="407"/>
            </a:xfrm>
            <a:prstGeom prst="rect">
              <a:avLst/>
            </a:prstGeom>
            <a:noFill/>
            <a:ln w="508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>
                <a:buNone/>
              </a:pPr>
              <a:r>
                <a:rPr lang="en-US" altLang="zh-CN" sz="3600" b="1">
                  <a:solidFill>
                    <a:srgbClr val="C00000"/>
                  </a:solidFill>
                  <a:latin typeface="Times New Roman" pitchFamily="18" charset="0"/>
                  <a:ea typeface="宋体" pitchFamily="2" charset="-122"/>
                </a:rPr>
                <a:t>not</a:t>
              </a:r>
              <a:r>
                <a:rPr lang="en-US" altLang="zh-CN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 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0205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5"/>
          <p:cNvSpPr txBox="1"/>
          <p:nvPr/>
        </p:nvSpPr>
        <p:spPr>
          <a:xfrm>
            <a:off x="1237564" y="98987"/>
            <a:ext cx="562644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模拟问题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10" name="图片 39" descr="无标题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277" y="985060"/>
            <a:ext cx="6482542" cy="530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709303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5"/>
          <p:cNvSpPr txBox="1"/>
          <p:nvPr/>
        </p:nvSpPr>
        <p:spPr>
          <a:xfrm>
            <a:off x="1237564" y="98987"/>
            <a:ext cx="562644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逻辑运算举例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587727" y="1537855"/>
            <a:ext cx="9069186" cy="2215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if (Age &gt;= 30) </a:t>
            </a:r>
            <a:r>
              <a:rPr kumimoji="1" lang="en-US" altLang="zh-CN" sz="3200" b="1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and</a:t>
            </a: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(NumOfCars &gt; 0) \</a:t>
            </a:r>
            <a:endParaRPr kumimoji="1" lang="en-US" altLang="zh-CN" sz="3200" b="1">
              <a:solidFill>
                <a:srgbClr val="0000FF"/>
              </a:solidFill>
              <a:latin typeface="Courier New" pitchFamily="49" charset="0"/>
              <a:ea typeface="宋体" charset="-122"/>
            </a:endParaRPr>
          </a:p>
          <a:p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</a:t>
            </a:r>
            <a:r>
              <a:rPr kumimoji="1" lang="en-US" altLang="zh-CN" sz="3200" b="1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and </a:t>
            </a: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(NumOfHouses &gt; 0) \</a:t>
            </a:r>
          </a:p>
          <a:p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</a:t>
            </a:r>
            <a:r>
              <a:rPr kumimoji="1" lang="en-US" altLang="zh-CN" sz="3200" b="1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and </a:t>
            </a: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(Salary &gt; 300000) :</a:t>
            </a:r>
          </a:p>
          <a:p>
            <a:pPr>
              <a:spcBef>
                <a:spcPts val="12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print("arrange a meeting...</a:t>
            </a:r>
            <a:r>
              <a:rPr kumimoji="1" lang="en-US" altLang="zh-CN" sz="3200" b="1">
                <a:latin typeface="Courier New" pitchFamily="49" charset="0"/>
                <a:ea typeface="宋体" charset="-122"/>
              </a:rPr>
              <a:t> ")</a:t>
            </a:r>
            <a:endParaRPr kumimoji="1" lang="en-US" altLang="zh-CN" sz="3200" b="1">
              <a:solidFill>
                <a:schemeClr val="tx1"/>
              </a:solidFill>
              <a:latin typeface="Courier New" pitchFamily="49" charset="0"/>
              <a:ea typeface="宋体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806956" y="4547887"/>
            <a:ext cx="82237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/>
              <a:t>用</a:t>
            </a:r>
            <a:r>
              <a:rPr lang="en-US" altLang="zh-CN" sz="2800" b="1"/>
              <a:t>\</a:t>
            </a:r>
            <a:r>
              <a:rPr lang="zh-CN" altLang="en-US" sz="2800" b="1"/>
              <a:t>字符可以把两个或多个物理行连接成一个逻辑行</a:t>
            </a:r>
          </a:p>
        </p:txBody>
      </p:sp>
    </p:spTree>
    <p:extLst>
      <p:ext uri="{BB962C8B-B14F-4D97-AF65-F5344CB8AC3E}">
        <p14:creationId xmlns:p14="http://schemas.microsoft.com/office/powerpoint/2010/main" val="9923661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3" y="98987"/>
            <a:ext cx="7615491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2.2.3 if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语句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367013" y="2254250"/>
            <a:ext cx="9181839" cy="1865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30000"/>
              </a:spcBef>
              <a:buNone/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       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if  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语句是一种分支语句，它用来判定所给出</a:t>
            </a:r>
            <a:endParaRPr kumimoji="1" lang="en-US" altLang="zh-CN" sz="3200" b="1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  <a:p>
            <a:pPr>
              <a:spcBef>
                <a:spcPct val="30000"/>
              </a:spcBef>
              <a:buNone/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的条件是否满足，然后根据判定的结果（真或假）</a:t>
            </a:r>
            <a:endParaRPr kumimoji="1" lang="en-US" altLang="zh-CN" sz="3200" b="1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  <a:p>
            <a:pPr>
              <a:spcBef>
                <a:spcPct val="30000"/>
              </a:spcBef>
              <a:buNone/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来决定执行相应的操作。</a:t>
            </a:r>
          </a:p>
        </p:txBody>
      </p:sp>
    </p:spTree>
    <p:extLst>
      <p:ext uri="{BB962C8B-B14F-4D97-AF65-F5344CB8AC3E}">
        <p14:creationId xmlns:p14="http://schemas.microsoft.com/office/powerpoint/2010/main" val="7029556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3" y="98987"/>
            <a:ext cx="7615491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if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语句的形式之一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468605" y="1197027"/>
            <a:ext cx="9105184" cy="26037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if </a:t>
            </a:r>
            <a:r>
              <a:rPr kumimoji="1" lang="zh-CN" altLang="en-US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表达式</a:t>
            </a:r>
            <a:r>
              <a:rPr kumimoji="1" lang="en-US" altLang="zh-CN" sz="32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:</a:t>
            </a:r>
            <a:r>
              <a:rPr kumimoji="1"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	</a:t>
            </a:r>
            <a:r>
              <a:rPr kumimoji="1" lang="en-US" altLang="zh-CN" sz="2800" b="1">
                <a:solidFill>
                  <a:srgbClr val="00B050"/>
                </a:solidFill>
                <a:latin typeface="宋体" pitchFamily="2" charset="-122"/>
                <a:ea typeface="宋体" pitchFamily="2" charset="-122"/>
              </a:rPr>
              <a:t>#</a:t>
            </a:r>
            <a:r>
              <a:rPr kumimoji="1" lang="zh-CN" altLang="en-US" sz="2800" b="1">
                <a:solidFill>
                  <a:srgbClr val="00B050"/>
                </a:solidFill>
                <a:latin typeface="宋体" pitchFamily="2" charset="-122"/>
                <a:ea typeface="宋体" pitchFamily="2" charset="-122"/>
              </a:rPr>
              <a:t>如果表达式为真，则执行每条语句</a:t>
            </a:r>
            <a:endParaRPr kumimoji="1" lang="en-US" altLang="zh-CN" sz="2800" b="1">
              <a:solidFill>
                <a:srgbClr val="00B050"/>
              </a:solidFill>
              <a:latin typeface="宋体" pitchFamily="2" charset="-122"/>
              <a:ea typeface="宋体" pitchFamily="2" charset="-122"/>
            </a:endParaRP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  <a:buNone/>
              <a:defRPr/>
            </a:pPr>
            <a:r>
              <a:rPr kumimoji="1"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</a:rPr>
              <a:t>     </a:t>
            </a:r>
            <a:r>
              <a:rPr kumimoji="1" lang="zh-CN" altLang="en-US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语句</a:t>
            </a:r>
            <a:r>
              <a:rPr kumimoji="1"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1	</a:t>
            </a:r>
            <a:r>
              <a:rPr kumimoji="1" lang="en-US" altLang="zh-CN" sz="2800" b="1">
                <a:solidFill>
                  <a:srgbClr val="00B050"/>
                </a:solidFill>
                <a:latin typeface="宋体" pitchFamily="2" charset="-122"/>
                <a:ea typeface="宋体" pitchFamily="2" charset="-122"/>
              </a:rPr>
              <a:t>#</a:t>
            </a:r>
            <a:r>
              <a:rPr kumimoji="1" lang="zh-CN" altLang="en-US" sz="2800" b="1">
                <a:solidFill>
                  <a:srgbClr val="00B050"/>
                </a:solidFill>
                <a:latin typeface="宋体" pitchFamily="2" charset="-122"/>
                <a:ea typeface="宋体" pitchFamily="2" charset="-122"/>
              </a:rPr>
              <a:t>语句前面有缩进</a:t>
            </a:r>
          </a:p>
          <a:p>
            <a:pPr>
              <a:spcBef>
                <a:spcPct val="30000"/>
              </a:spcBef>
              <a:buClr>
                <a:schemeClr val="tx2"/>
              </a:buClr>
              <a:buSzPct val="75000"/>
              <a:buNone/>
              <a:defRPr/>
            </a:pPr>
            <a:r>
              <a:rPr kumimoji="1" lang="en-US" altLang="zh-CN" sz="32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     </a:t>
            </a:r>
            <a:r>
              <a:rPr kumimoji="1" lang="zh-CN" altLang="en-US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</a:rPr>
              <a:t>语句</a:t>
            </a:r>
            <a:r>
              <a:rPr kumimoji="1"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</a:rPr>
              <a:t>2	</a:t>
            </a:r>
            <a:r>
              <a:rPr kumimoji="1" lang="en-US" altLang="zh-CN" sz="2800" b="1">
                <a:solidFill>
                  <a:srgbClr val="00B050"/>
                </a:solidFill>
                <a:latin typeface="宋体" pitchFamily="2" charset="-122"/>
                <a:ea typeface="宋体" pitchFamily="2" charset="-122"/>
              </a:rPr>
              <a:t>#</a:t>
            </a:r>
            <a:r>
              <a:rPr kumimoji="1" lang="zh-CN" altLang="en-US" sz="2800" b="1">
                <a:solidFill>
                  <a:srgbClr val="00B050"/>
                </a:solidFill>
                <a:latin typeface="宋体" pitchFamily="2" charset="-122"/>
                <a:ea typeface="宋体" pitchFamily="2" charset="-122"/>
              </a:rPr>
              <a:t>语句前面有缩进</a:t>
            </a:r>
            <a:endParaRPr kumimoji="1" lang="en-US" altLang="zh-CN" sz="2800" b="1">
              <a:solidFill>
                <a:srgbClr val="00B050"/>
              </a:solidFill>
              <a:latin typeface="宋体" pitchFamily="2" charset="-122"/>
              <a:ea typeface="宋体" pitchFamily="2" charset="-122"/>
            </a:endParaRPr>
          </a:p>
          <a:p>
            <a:pPr>
              <a:spcBef>
                <a:spcPct val="30000"/>
              </a:spcBef>
              <a:buClr>
                <a:schemeClr val="tx2"/>
              </a:buClr>
              <a:buSzPct val="75000"/>
              <a:buNone/>
              <a:defRPr/>
            </a:pPr>
            <a:r>
              <a:rPr kumimoji="1"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隶书" pitchFamily="49" charset="-122"/>
              </a:rPr>
              <a:t>     ……</a:t>
            </a:r>
            <a:endParaRPr kumimoji="1" lang="zh-CN" altLang="en-US" sz="3200" b="1">
              <a:solidFill>
                <a:schemeClr val="tx1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1584987" y="3903258"/>
            <a:ext cx="79248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Clr>
                <a:schemeClr val="tx2"/>
              </a:buClr>
              <a:buSzPct val="75000"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if </a:t>
            </a:r>
            <a:r>
              <a:rPr kumimoji="1" lang="en-US" altLang="zh-CN" sz="2800" b="1">
                <a:latin typeface="Times New Roman" pitchFamily="18" charset="0"/>
                <a:ea typeface="宋体" pitchFamily="2" charset="-122"/>
              </a:rPr>
              <a:t>Columbus_had_a_jealous_wife() :</a:t>
            </a:r>
          </a:p>
          <a:p>
            <a:pPr>
              <a:spcBef>
                <a:spcPts val="0"/>
              </a:spcBef>
              <a:buClr>
                <a:schemeClr val="tx2"/>
              </a:buClr>
              <a:buSzPct val="75000"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	</a:t>
            </a:r>
            <a:r>
              <a:rPr kumimoji="1" lang="en-US" altLang="zh-CN" sz="2800" b="1">
                <a:latin typeface="Times New Roman" pitchFamily="18" charset="0"/>
                <a:ea typeface="宋体" pitchFamily="2" charset="-122"/>
              </a:rPr>
              <a:t>print("</a:t>
            </a:r>
            <a:r>
              <a:rPr kumimoji="1" lang="zh-CN" altLang="en-US" sz="2800" b="1">
                <a:latin typeface="Times New Roman" pitchFamily="18" charset="0"/>
                <a:ea typeface="宋体" pitchFamily="2" charset="-122"/>
              </a:rPr>
              <a:t>你上哪儿去？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")</a:t>
            </a:r>
          </a:p>
          <a:p>
            <a:pPr>
              <a:spcBef>
                <a:spcPts val="0"/>
              </a:spcBef>
              <a:buClr>
                <a:schemeClr val="tx2"/>
              </a:buClr>
              <a:buSzPct val="75000"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	</a:t>
            </a:r>
            <a:r>
              <a:rPr kumimoji="1" lang="en-US" altLang="zh-CN" sz="2800" b="1">
                <a:latin typeface="Times New Roman" pitchFamily="18" charset="0"/>
                <a:ea typeface="宋体" pitchFamily="2" charset="-122"/>
              </a:rPr>
              <a:t>print("</a:t>
            </a:r>
            <a:r>
              <a:rPr kumimoji="1" lang="zh-CN" altLang="en-US" sz="2800" b="1">
                <a:latin typeface="Times New Roman" pitchFamily="18" charset="0"/>
                <a:ea typeface="宋体" pitchFamily="2" charset="-122"/>
              </a:rPr>
              <a:t>和谁一起去？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")</a:t>
            </a:r>
          </a:p>
          <a:p>
            <a:pPr>
              <a:spcBef>
                <a:spcPts val="0"/>
              </a:spcBef>
              <a:buClr>
                <a:schemeClr val="tx2"/>
              </a:buClr>
              <a:buSzPct val="75000"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	</a:t>
            </a:r>
            <a:r>
              <a:rPr kumimoji="1" lang="en-US" altLang="zh-CN" sz="2800" b="1">
                <a:latin typeface="Times New Roman" pitchFamily="18" charset="0"/>
                <a:ea typeface="宋体" pitchFamily="2" charset="-122"/>
              </a:rPr>
              <a:t>print("</a:t>
            </a:r>
            <a:r>
              <a:rPr kumimoji="1" lang="zh-CN" altLang="en-US" sz="2800" b="1">
                <a:latin typeface="Times New Roman" pitchFamily="18" charset="0"/>
                <a:ea typeface="宋体" pitchFamily="2" charset="-122"/>
              </a:rPr>
              <a:t>去干什么？</a:t>
            </a:r>
            <a:r>
              <a:rPr kumimoji="1" lang="en-US" altLang="zh-CN" sz="2800" b="1">
                <a:latin typeface="Times New Roman" pitchFamily="18" charset="0"/>
                <a:ea typeface="宋体" pitchFamily="2" charset="-122"/>
              </a:rPr>
              <a:t>")</a:t>
            </a:r>
          </a:p>
          <a:p>
            <a:pPr>
              <a:spcBef>
                <a:spcPts val="0"/>
              </a:spcBef>
              <a:buClr>
                <a:schemeClr val="tx2"/>
              </a:buClr>
              <a:buSzPct val="75000"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	print("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什么时候回来</a:t>
            </a:r>
            <a:r>
              <a:rPr kumimoji="1" lang="zh-CN" altLang="en-US" sz="2800" b="1">
                <a:latin typeface="Times New Roman" pitchFamily="18" charset="0"/>
                <a:ea typeface="宋体" pitchFamily="2" charset="-122"/>
              </a:rPr>
              <a:t>？</a:t>
            </a:r>
            <a:r>
              <a:rPr kumimoji="1" lang="en-US" altLang="zh-CN" sz="2800" b="1">
                <a:latin typeface="Times New Roman" pitchFamily="18" charset="0"/>
                <a:ea typeface="宋体" pitchFamily="2" charset="-122"/>
              </a:rPr>
              <a:t>")</a:t>
            </a:r>
            <a:endParaRPr kumimoji="1" lang="en-US" altLang="zh-CN" sz="2800" b="1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2" name="圆角矩形 11"/>
          <p:cNvSpPr/>
          <p:nvPr/>
        </p:nvSpPr>
        <p:spPr bwMode="auto">
          <a:xfrm>
            <a:off x="1587738" y="1882827"/>
            <a:ext cx="943518" cy="1752600"/>
          </a:xfrm>
          <a:prstGeom prst="roundRect">
            <a:avLst/>
          </a:prstGeom>
          <a:solidFill>
            <a:srgbClr val="D1D1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0371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3" y="98987"/>
            <a:ext cx="7615491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if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语句的形式之二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1599873" y="1447800"/>
            <a:ext cx="8832600" cy="4278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if </a:t>
            </a:r>
            <a:r>
              <a:rPr kumimoji="1" lang="zh-CN" altLang="en-US" sz="32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表达式</a:t>
            </a:r>
            <a:r>
              <a:rPr kumimoji="1" lang="zh-CN" altLang="en-US" sz="3200" b="1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：</a:t>
            </a:r>
            <a:endParaRPr kumimoji="1" lang="en-US" altLang="zh-CN" sz="3200" b="1">
              <a:solidFill>
                <a:srgbClr val="99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itchFamily="49" charset="-122"/>
              <a:ea typeface="黑体" pitchFamily="49" charset="-122"/>
            </a:endParaRP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</a:rPr>
              <a:t>    </a:t>
            </a:r>
            <a:r>
              <a:rPr kumimoji="1" lang="zh-CN" altLang="en-US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语句块</a:t>
            </a:r>
            <a:r>
              <a:rPr kumimoji="1"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1</a:t>
            </a:r>
            <a:br>
              <a:rPr kumimoji="1" lang="zh-CN" altLang="en-US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</a:br>
            <a:r>
              <a:rPr kumimoji="1"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else</a:t>
            </a:r>
            <a:r>
              <a:rPr kumimoji="1" lang="zh-CN" altLang="en-US" sz="3200" b="1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：</a:t>
            </a:r>
            <a:endParaRPr kumimoji="1" lang="en-US" altLang="zh-CN" sz="3200" b="1">
              <a:solidFill>
                <a:srgbClr val="99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itchFamily="49" charset="-122"/>
              <a:ea typeface="黑体" pitchFamily="49" charset="-122"/>
            </a:endParaRP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</a:rPr>
              <a:t>    </a:t>
            </a:r>
            <a:r>
              <a:rPr kumimoji="1" lang="zh-CN" altLang="en-US" sz="32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语句块</a:t>
            </a:r>
            <a:r>
              <a:rPr kumimoji="1"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2</a:t>
            </a:r>
            <a:endParaRPr kumimoji="1" lang="zh-CN" altLang="en-US" sz="32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itchFamily="49" charset="-122"/>
              <a:ea typeface="黑体" pitchFamily="49" charset="-122"/>
            </a:endParaRP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kumimoji="1" lang="zh-CN" altLang="en-US"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如果表达式为真，执行语句块</a:t>
            </a:r>
            <a:r>
              <a:rPr kumimoji="1" lang="en-US" altLang="zh-CN"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1</a:t>
            </a:r>
            <a:r>
              <a:rPr kumimoji="1" lang="zh-CN" altLang="en-US"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；否则执行语句块</a:t>
            </a:r>
            <a:r>
              <a:rPr kumimoji="1" lang="en-US" altLang="zh-CN"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2</a:t>
            </a: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kumimoji="1" lang="zh-CN" altLang="en-US" sz="2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其中，语句块</a:t>
            </a:r>
            <a:r>
              <a:rPr kumimoji="1" lang="en-US" altLang="zh-CN" sz="2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1</a:t>
            </a:r>
            <a:r>
              <a:rPr kumimoji="1" lang="zh-CN" altLang="en-US" sz="2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和语句块</a:t>
            </a:r>
            <a:r>
              <a:rPr kumimoji="1" lang="en-US" altLang="zh-CN" sz="2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kumimoji="1" lang="zh-CN" altLang="en-US" sz="2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可以是单条语句，也可以是复合语句。</a:t>
            </a:r>
          </a:p>
        </p:txBody>
      </p:sp>
      <p:sp>
        <p:nvSpPr>
          <p:cNvPr id="14" name="圆角矩形 13"/>
          <p:cNvSpPr/>
          <p:nvPr/>
        </p:nvSpPr>
        <p:spPr bwMode="auto">
          <a:xfrm>
            <a:off x="1733223" y="2057400"/>
            <a:ext cx="762000" cy="762000"/>
          </a:xfrm>
          <a:prstGeom prst="roundRect">
            <a:avLst/>
          </a:prstGeom>
          <a:solidFill>
            <a:srgbClr val="D1D1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5" name="圆角矩形 14"/>
          <p:cNvSpPr/>
          <p:nvPr/>
        </p:nvSpPr>
        <p:spPr bwMode="auto">
          <a:xfrm>
            <a:off x="1733223" y="3276600"/>
            <a:ext cx="762000" cy="762000"/>
          </a:xfrm>
          <a:prstGeom prst="roundRect">
            <a:avLst/>
          </a:prstGeom>
          <a:solidFill>
            <a:srgbClr val="D1D1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33872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3" y="98987"/>
            <a:ext cx="7615491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一个老段子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1079268" y="1678192"/>
            <a:ext cx="9735589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tx2"/>
              </a:buClr>
              <a:buSzPct val="75000"/>
              <a:buNone/>
              <a:defRPr/>
            </a:pPr>
            <a:r>
              <a:rPr kumimoji="1" lang="zh-CN" altLang="en-US" sz="2800" b="1">
                <a:latin typeface="宋体" pitchFamily="2" charset="-122"/>
                <a:ea typeface="宋体" pitchFamily="2" charset="-122"/>
              </a:rPr>
              <a:t>    老婆给当程序员的老公打电话：“下班顺路买一斤包子</a:t>
            </a:r>
            <a:r>
              <a:rPr kumimoji="1" lang="en-US" altLang="zh-CN" sz="2800" b="1">
                <a:latin typeface="宋体" pitchFamily="2" charset="-122"/>
                <a:ea typeface="宋体" pitchFamily="2" charset="-122"/>
              </a:rPr>
              <a:t>(10</a:t>
            </a:r>
            <a:r>
              <a:rPr kumimoji="1" lang="zh-CN" altLang="en-US" sz="2800" b="1">
                <a:latin typeface="宋体" pitchFamily="2" charset="-122"/>
                <a:ea typeface="宋体" pitchFamily="2" charset="-122"/>
              </a:rPr>
              <a:t>个</a:t>
            </a:r>
            <a:r>
              <a:rPr kumimoji="1" lang="en-US" altLang="zh-CN" sz="2800" b="1">
                <a:latin typeface="宋体" pitchFamily="2" charset="-122"/>
                <a:ea typeface="宋体" pitchFamily="2" charset="-122"/>
              </a:rPr>
              <a:t>)</a:t>
            </a:r>
            <a:r>
              <a:rPr kumimoji="1" lang="zh-CN" altLang="en-US" sz="2800" b="1">
                <a:latin typeface="宋体" pitchFamily="2" charset="-122"/>
                <a:ea typeface="宋体" pitchFamily="2" charset="-122"/>
              </a:rPr>
              <a:t>带回来，如果看到卖西瓜的，买一个。”</a:t>
            </a:r>
            <a:endParaRPr kumimoji="1" lang="en-US" altLang="zh-CN" sz="2800" b="1">
              <a:latin typeface="宋体" pitchFamily="2" charset="-122"/>
              <a:ea typeface="宋体" pitchFamily="2" charset="-122"/>
            </a:endParaRP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  <a:buNone/>
              <a:defRPr/>
            </a:pPr>
            <a:r>
              <a:rPr kumimoji="1" lang="zh-CN" altLang="en-US" sz="2800" b="1">
                <a:latin typeface="宋体" pitchFamily="2" charset="-122"/>
                <a:ea typeface="宋体" pitchFamily="2" charset="-122"/>
              </a:rPr>
              <a:t>    当晚，程序员老公手捧着一个包子进了家门。。。 </a:t>
            </a:r>
            <a:endParaRPr kumimoji="1" lang="en-US" altLang="zh-CN" sz="2800" b="1">
              <a:latin typeface="宋体" pitchFamily="2" charset="-122"/>
              <a:ea typeface="宋体" pitchFamily="2" charset="-122"/>
            </a:endParaRP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  <a:buNone/>
              <a:defRPr/>
            </a:pPr>
            <a:r>
              <a:rPr kumimoji="1" lang="en-US" altLang="zh-CN" sz="2800" b="1"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zh-CN" altLang="en-US" sz="2800" b="1">
                <a:latin typeface="宋体" pitchFamily="2" charset="-122"/>
                <a:ea typeface="宋体" pitchFamily="2" charset="-122"/>
              </a:rPr>
              <a:t>老婆怒道：“你怎么就买了一个包子？！” 老公答曰：“因为看到了卖西瓜的。”</a:t>
            </a:r>
            <a:endParaRPr kumimoji="1" lang="zh-CN" altLang="en-US" sz="2800" b="1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26686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3" y="98987"/>
            <a:ext cx="7615491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一个老段子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130553" y="1307862"/>
            <a:ext cx="8229600" cy="206210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kumimoji="1" lang="en-US" altLang="zh-CN" sz="3200" b="1">
                <a:solidFill>
                  <a:srgbClr val="00B05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# what the wife thought</a:t>
            </a:r>
          </a:p>
          <a:p>
            <a:pPr>
              <a:buNone/>
            </a:pPr>
            <a:r>
              <a:rPr kumimoji="1" lang="en-US" altLang="zh-CN" sz="3200" b="1">
                <a:latin typeface="Courier New" pitchFamily="49" charset="0"/>
                <a:ea typeface="宋体" pitchFamily="2" charset="-122"/>
                <a:cs typeface="Courier New" pitchFamily="49" charset="0"/>
              </a:rPr>
              <a:t>BuyBaoZi(10)</a:t>
            </a:r>
            <a:endParaRPr kumimoji="1" lang="en-US" altLang="zh-CN" sz="3200" b="1">
              <a:solidFill>
                <a:schemeClr val="tx1"/>
              </a:solidFill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if see_watermelon() :</a:t>
            </a:r>
          </a:p>
          <a:p>
            <a:pPr>
              <a:buNone/>
            </a:pPr>
            <a:r>
              <a:rPr kumimoji="1" lang="en-US" altLang="zh-CN" sz="3200" b="1">
                <a:latin typeface="Courier New" pitchFamily="49" charset="0"/>
                <a:ea typeface="宋体" pitchFamily="2" charset="-122"/>
                <a:cs typeface="Courier New" pitchFamily="49" charset="0"/>
              </a:rPr>
              <a:t>    BuyWatermelon(1</a:t>
            </a: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)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130553" y="3603161"/>
            <a:ext cx="8229600" cy="255454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kumimoji="1" lang="en-US" altLang="zh-CN" sz="3200" b="1">
                <a:solidFill>
                  <a:srgbClr val="00B05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# what the husband thought</a:t>
            </a:r>
          </a:p>
          <a:p>
            <a:pPr>
              <a:buNone/>
            </a:pPr>
            <a:r>
              <a:rPr kumimoji="1" lang="en-US" altLang="zh-CN" sz="3200" b="1">
                <a:latin typeface="Courier New" pitchFamily="49" charset="0"/>
                <a:ea typeface="宋体" pitchFamily="2" charset="-122"/>
                <a:cs typeface="Courier New" pitchFamily="49" charset="0"/>
              </a:rPr>
              <a:t>if see_watermelon() :</a:t>
            </a:r>
          </a:p>
          <a:p>
            <a:pPr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kumimoji="1" lang="en-US" altLang="zh-CN" sz="3200" b="1">
                <a:latin typeface="Courier New" pitchFamily="49" charset="0"/>
                <a:ea typeface="宋体" pitchFamily="2" charset="-122"/>
                <a:cs typeface="Courier New" pitchFamily="49" charset="0"/>
              </a:rPr>
              <a:t>    BuyBaoZi(1</a:t>
            </a: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kumimoji="1" lang="en-US" altLang="zh-CN" sz="3200" b="1">
                <a:latin typeface="Courier New" pitchFamily="49" charset="0"/>
                <a:ea typeface="宋体" pitchFamily="2" charset="-122"/>
                <a:cs typeface="Courier New" pitchFamily="49" charset="0"/>
              </a:rPr>
              <a:t>else :</a:t>
            </a:r>
          </a:p>
          <a:p>
            <a:pPr>
              <a:buNone/>
            </a:pPr>
            <a:r>
              <a:rPr kumimoji="1" lang="en-US" altLang="zh-CN" sz="3200" b="1">
                <a:latin typeface="Courier New" pitchFamily="49" charset="0"/>
                <a:ea typeface="宋体" pitchFamily="2" charset="-122"/>
                <a:cs typeface="Courier New" pitchFamily="49" charset="0"/>
              </a:rPr>
              <a:t>    BuyBaoZi(10)</a:t>
            </a:r>
            <a:endParaRPr kumimoji="1" lang="en-US" altLang="zh-CN" sz="3200" b="1">
              <a:solidFill>
                <a:schemeClr val="tx1"/>
              </a:solidFill>
              <a:latin typeface="Courier New" pitchFamily="49" charset="0"/>
              <a:ea typeface="宋体" pitchFamily="2" charset="-122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099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3" y="98987"/>
            <a:ext cx="7615491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计算绝对值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978836" y="1428393"/>
            <a:ext cx="9262436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defTabSz="850900" eaLnBrk="1" hangingPunct="1">
              <a:spcBef>
                <a:spcPct val="50000"/>
              </a:spcBef>
              <a:buClr>
                <a:srgbClr val="FFFF66"/>
              </a:buClr>
              <a:buFont typeface="Wingdings" pitchFamily="2" charset="2"/>
              <a:buNone/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问题描述：</a:t>
            </a:r>
          </a:p>
          <a:p>
            <a:pPr defTabSz="850900" eaLnBrk="1" hangingPunct="1">
              <a:spcBef>
                <a:spcPct val="50000"/>
              </a:spcBef>
              <a:buClr>
                <a:srgbClr val="FFFF66"/>
              </a:buClr>
            </a:pP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     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计算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x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的绝对值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|x|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，把结果保存在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abs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变量中。</a:t>
            </a: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842379" y="3246114"/>
            <a:ext cx="3413725" cy="2246769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kumimoji="1" lang="zh-CN" altLang="en-US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 方案</a:t>
            </a: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1</a:t>
            </a:r>
          </a:p>
          <a:p>
            <a:pPr eaLnBrk="1" hangingPunct="1"/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if (x &gt;= 0)</a:t>
            </a:r>
            <a:r>
              <a:rPr kumimoji="1" lang="en-US" altLang="zh-CN" sz="2800" b="1">
                <a:latin typeface="Courier New" pitchFamily="49" charset="0"/>
                <a:ea typeface="宋体" charset="-122"/>
              </a:rPr>
              <a:t>:</a:t>
            </a:r>
          </a:p>
          <a:p>
            <a:pPr eaLnBrk="1" hangingPunct="1"/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abs = x</a:t>
            </a:r>
          </a:p>
          <a:p>
            <a:pPr eaLnBrk="1" hangingPunct="1"/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if (x &lt; 0 ):</a:t>
            </a:r>
          </a:p>
          <a:p>
            <a:pPr eaLnBrk="1" hangingPunct="1"/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abs = -x</a:t>
            </a: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4574789" y="3241952"/>
            <a:ext cx="3294575" cy="181588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kumimoji="1" lang="zh-CN" altLang="en-US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 方案</a:t>
            </a: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2</a:t>
            </a:r>
          </a:p>
          <a:p>
            <a:pPr eaLnBrk="1" hangingPunct="1"/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abs = x</a:t>
            </a:r>
          </a:p>
          <a:p>
            <a:pPr eaLnBrk="1" hangingPunct="1"/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if (x &lt; 0): </a:t>
            </a:r>
          </a:p>
          <a:p>
            <a:pPr eaLnBrk="1" hangingPunct="1"/>
            <a:r>
              <a:rPr kumimoji="1" lang="en-US" altLang="zh-CN" sz="2800" b="1">
                <a:latin typeface="Courier New" pitchFamily="49" charset="0"/>
                <a:ea typeface="宋体" charset="-122"/>
              </a:rPr>
              <a:t>    </a:t>
            </a: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abs = -x</a:t>
            </a:r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8188050" y="3213622"/>
            <a:ext cx="3250277" cy="2246769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kumimoji="1" lang="zh-CN" altLang="en-US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 方案</a:t>
            </a: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3</a:t>
            </a:r>
          </a:p>
          <a:p>
            <a:pPr eaLnBrk="1" hangingPunct="1"/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if(x &gt;= 0):</a:t>
            </a:r>
          </a:p>
          <a:p>
            <a:pPr eaLnBrk="1" hangingPunct="1"/>
            <a:r>
              <a:rPr kumimoji="1" lang="en-US" altLang="zh-CN" sz="2800" b="1">
                <a:latin typeface="Courier New" pitchFamily="49" charset="0"/>
                <a:ea typeface="宋体" charset="-122"/>
              </a:rPr>
              <a:t> </a:t>
            </a: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abs = x</a:t>
            </a:r>
          </a:p>
          <a:p>
            <a:pPr eaLnBrk="1" hangingPunct="1"/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else:</a:t>
            </a:r>
          </a:p>
          <a:p>
            <a:pPr eaLnBrk="1" hangingPunct="1"/>
            <a:r>
              <a:rPr kumimoji="1" lang="en-US" altLang="zh-CN" sz="2800" b="1">
                <a:latin typeface="Courier New" pitchFamily="49" charset="0"/>
                <a:ea typeface="宋体" charset="-122"/>
              </a:rPr>
              <a:t> </a:t>
            </a: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abs = -x</a:t>
            </a:r>
          </a:p>
        </p:txBody>
      </p:sp>
      <p:sp>
        <p:nvSpPr>
          <p:cNvPr id="15" name="Text Box 12"/>
          <p:cNvSpPr txBox="1">
            <a:spLocks noChangeArrowheads="1"/>
          </p:cNvSpPr>
          <p:nvPr/>
        </p:nvSpPr>
        <p:spPr bwMode="auto">
          <a:xfrm>
            <a:off x="4945552" y="5492883"/>
            <a:ext cx="26225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哪一个正确？</a:t>
            </a:r>
          </a:p>
        </p:txBody>
      </p:sp>
    </p:spTree>
    <p:extLst>
      <p:ext uri="{BB962C8B-B14F-4D97-AF65-F5344CB8AC3E}">
        <p14:creationId xmlns:p14="http://schemas.microsoft.com/office/powerpoint/2010/main" val="1897945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5"/>
          <p:cNvSpPr txBox="1"/>
          <p:nvPr/>
        </p:nvSpPr>
        <p:spPr>
          <a:xfrm>
            <a:off x="1237564" y="98987"/>
            <a:ext cx="562644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另一个例子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7789" y="1433929"/>
            <a:ext cx="8305800" cy="45858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import random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target = random.randint(1, 5) </a:t>
            </a:r>
            <a:r>
              <a:rPr lang="en-US" altLang="zh-CN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#1~5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guess = input("input a number: ")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guess = int(guess) 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if guess != target: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print("Hello")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else: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print("Good-bye")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print("World")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6701" y="3121767"/>
            <a:ext cx="3517653" cy="2779923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0100997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3" y="98987"/>
            <a:ext cx="7615491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if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语句的形式之三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1015298" y="1070949"/>
            <a:ext cx="10256760" cy="55245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  </a:t>
            </a: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if </a:t>
            </a: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表达式</a:t>
            </a: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1</a:t>
            </a: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：</a:t>
            </a:r>
            <a:b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</a:rPr>
            </a:b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</a:rPr>
              <a:t>	  </a:t>
            </a: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语句块</a:t>
            </a: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1</a:t>
            </a:r>
            <a:b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</a:b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  </a:t>
            </a: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elif </a:t>
            </a: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表达式</a:t>
            </a: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2</a:t>
            </a: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：</a:t>
            </a:r>
            <a:b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</a:b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	  </a:t>
            </a: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语句块</a:t>
            </a: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2</a:t>
            </a:r>
            <a:b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</a:b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  </a:t>
            </a: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elif </a:t>
            </a: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表达式</a:t>
            </a: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3</a:t>
            </a: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：</a:t>
            </a:r>
            <a:b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</a:b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	  </a:t>
            </a: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语句块</a:t>
            </a: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3</a:t>
            </a:r>
            <a:b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</a:b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  </a:t>
            </a: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……</a:t>
            </a:r>
            <a:b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</a:b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  else</a:t>
            </a: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：</a:t>
            </a:r>
            <a:b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</a:b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	  </a:t>
            </a: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语句块</a:t>
            </a: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m</a:t>
            </a:r>
            <a:endParaRPr kumimoji="1" lang="zh-CN" altLang="en-US" sz="2800" b="1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kumimoji="1" lang="zh-CN" altLang="en-US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  如果表达式</a:t>
            </a:r>
            <a:r>
              <a:rPr kumimoji="1" lang="en-US" altLang="zh-CN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1</a:t>
            </a:r>
            <a:r>
              <a:rPr kumimoji="1" lang="zh-CN" altLang="en-US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为真，执行语句块</a:t>
            </a:r>
            <a:r>
              <a:rPr kumimoji="1" lang="en-US" altLang="zh-CN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1</a:t>
            </a:r>
            <a:r>
              <a:rPr kumimoji="1" lang="zh-CN" altLang="en-US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；否则如果表达式</a:t>
            </a:r>
            <a:r>
              <a:rPr kumimoji="1" lang="en-US" altLang="zh-CN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2</a:t>
            </a:r>
            <a:r>
              <a:rPr kumimoji="1" lang="zh-CN" altLang="en-US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为真，执行语句块</a:t>
            </a:r>
            <a:r>
              <a:rPr kumimoji="1" lang="en-US" altLang="zh-CN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2</a:t>
            </a:r>
            <a:r>
              <a:rPr kumimoji="1" lang="zh-CN" altLang="en-US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；</a:t>
            </a:r>
            <a:endParaRPr kumimoji="1" lang="en-US" altLang="zh-CN" sz="2400" b="1">
              <a:solidFill>
                <a:schemeClr val="tx1"/>
              </a:solidFill>
              <a:latin typeface="隶书" pitchFamily="49" charset="-122"/>
              <a:ea typeface="隶书" pitchFamily="49" charset="-122"/>
            </a:endParaRPr>
          </a:p>
          <a:p>
            <a:pPr>
              <a:spcBef>
                <a:spcPts val="6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kumimoji="1" lang="zh-CN" altLang="en-US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否则如果表达式</a:t>
            </a:r>
            <a:r>
              <a:rPr kumimoji="1" lang="en-US" altLang="zh-CN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3</a:t>
            </a:r>
            <a:r>
              <a:rPr kumimoji="1" lang="zh-CN" altLang="en-US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为真，执行语句</a:t>
            </a:r>
            <a:r>
              <a:rPr kumimoji="1" lang="en-US" altLang="zh-CN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3</a:t>
            </a:r>
            <a:r>
              <a:rPr kumimoji="1" lang="zh-CN" altLang="en-US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；否则</a:t>
            </a:r>
            <a:r>
              <a:rPr kumimoji="1" lang="en-US" altLang="zh-CN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,</a:t>
            </a:r>
            <a:r>
              <a:rPr kumimoji="1" lang="en-US" altLang="zh-CN" sz="2400" b="1">
                <a:latin typeface="隶书" pitchFamily="49" charset="-122"/>
                <a:ea typeface="隶书" pitchFamily="49" charset="-122"/>
              </a:rPr>
              <a:t> </a:t>
            </a:r>
            <a:r>
              <a:rPr kumimoji="1" lang="en-US" altLang="zh-CN" sz="2400" b="1">
                <a:solidFill>
                  <a:schemeClr val="tx1"/>
                </a:solidFill>
                <a:latin typeface="Times New Roman"/>
                <a:ea typeface="隶书" pitchFamily="49" charset="-122"/>
              </a:rPr>
              <a:t>…</a:t>
            </a:r>
            <a:r>
              <a:rPr kumimoji="1" lang="zh-CN" altLang="en-US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，如果所有表达式均为假，则执行语句</a:t>
            </a:r>
            <a:r>
              <a:rPr kumimoji="1" lang="en-US" altLang="zh-CN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m</a:t>
            </a:r>
            <a:r>
              <a:rPr kumimoji="1" lang="zh-CN" altLang="en-US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。</a:t>
            </a: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5178316" y="1889613"/>
            <a:ext cx="2809884" cy="584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kumimoji="1" lang="zh-CN" altLang="en-US" sz="3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层叠的</a:t>
            </a:r>
            <a:r>
              <a:rPr kumimoji="1" lang="en-US" altLang="zh-CN" sz="3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if</a:t>
            </a:r>
            <a:r>
              <a:rPr kumimoji="1" lang="zh-CN" altLang="en-US" sz="3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语句</a:t>
            </a:r>
          </a:p>
        </p:txBody>
      </p:sp>
      <p:sp>
        <p:nvSpPr>
          <p:cNvPr id="16" name="圆角矩形 15"/>
          <p:cNvSpPr/>
          <p:nvPr/>
        </p:nvSpPr>
        <p:spPr bwMode="auto">
          <a:xfrm>
            <a:off x="1496310" y="1528149"/>
            <a:ext cx="762000" cy="533400"/>
          </a:xfrm>
          <a:prstGeom prst="roundRect">
            <a:avLst/>
          </a:prstGeom>
          <a:solidFill>
            <a:srgbClr val="D1D1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7" name="圆角矩形 16"/>
          <p:cNvSpPr/>
          <p:nvPr/>
        </p:nvSpPr>
        <p:spPr bwMode="auto">
          <a:xfrm>
            <a:off x="1496310" y="2366349"/>
            <a:ext cx="762000" cy="533400"/>
          </a:xfrm>
          <a:prstGeom prst="roundRect">
            <a:avLst/>
          </a:prstGeom>
          <a:solidFill>
            <a:srgbClr val="D1D1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8" name="圆角矩形 17"/>
          <p:cNvSpPr/>
          <p:nvPr/>
        </p:nvSpPr>
        <p:spPr bwMode="auto">
          <a:xfrm>
            <a:off x="1496310" y="3274749"/>
            <a:ext cx="762000" cy="533400"/>
          </a:xfrm>
          <a:prstGeom prst="roundRect">
            <a:avLst/>
          </a:prstGeom>
          <a:solidFill>
            <a:srgbClr val="D1D1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9" name="圆角矩形 18"/>
          <p:cNvSpPr/>
          <p:nvPr/>
        </p:nvSpPr>
        <p:spPr bwMode="auto">
          <a:xfrm>
            <a:off x="1496310" y="4576149"/>
            <a:ext cx="762000" cy="533400"/>
          </a:xfrm>
          <a:prstGeom prst="roundRect">
            <a:avLst/>
          </a:prstGeom>
          <a:solidFill>
            <a:srgbClr val="D1D1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33602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3" y="98987"/>
            <a:ext cx="7615491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寻找死代码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1193303" y="1497528"/>
            <a:ext cx="9289045" cy="440120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eaLnBrk="1" hangingPunct="1"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	if (speed &gt;= 0): </a:t>
            </a:r>
          </a:p>
          <a:p>
            <a:pPr eaLnBrk="1" hangingPunct="1"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2	        print("You don</a:t>
            </a:r>
            <a:r>
              <a:rPr kumimoji="1" lang="en-US" altLang="zh-CN" sz="2800" b="1">
                <a:latin typeface="Times New Roman" pitchFamily="18" charset="0"/>
                <a:ea typeface="宋体" charset="-122"/>
              </a:rPr>
              <a:t>'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t go backward.")</a:t>
            </a:r>
          </a:p>
          <a:p>
            <a:pPr eaLnBrk="1" hangingPunct="1"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3	        if (speed == -1):</a:t>
            </a:r>
          </a:p>
          <a:p>
            <a:pPr eaLnBrk="1" hangingPunct="1"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4	                print("Wait! I was wrong!")</a:t>
            </a:r>
          </a:p>
          <a:p>
            <a:pPr eaLnBrk="1" hangingPunct="1"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5	elif (speed &gt; 0):</a:t>
            </a:r>
          </a:p>
          <a:p>
            <a:pPr eaLnBrk="1" hangingPunct="1"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6	        print("You go forward.")</a:t>
            </a:r>
          </a:p>
          <a:p>
            <a:pPr eaLnBrk="1" hangingPunct="1"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7	elif (speed &lt; 0):</a:t>
            </a:r>
          </a:p>
          <a:p>
            <a:pPr eaLnBrk="1" hangingPunct="1"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8	        print("You go backward.")</a:t>
            </a:r>
          </a:p>
          <a:p>
            <a:pPr eaLnBrk="1" hangingPunct="1"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9	else:</a:t>
            </a:r>
          </a:p>
          <a:p>
            <a:pPr eaLnBrk="1" hangingPunct="1"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10	        printf("What did you do?!")</a:t>
            </a:r>
          </a:p>
        </p:txBody>
      </p:sp>
      <p:sp>
        <p:nvSpPr>
          <p:cNvPr id="14" name="Line 6"/>
          <p:cNvSpPr>
            <a:spLocks noChangeShapeType="1"/>
          </p:cNvSpPr>
          <p:nvPr/>
        </p:nvSpPr>
        <p:spPr bwMode="auto">
          <a:xfrm flipH="1">
            <a:off x="8351897" y="3945774"/>
            <a:ext cx="1314450" cy="0"/>
          </a:xfrm>
          <a:prstGeom prst="line">
            <a:avLst/>
          </a:prstGeom>
          <a:noFill/>
          <a:ln w="53975">
            <a:solidFill>
              <a:srgbClr val="C205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15" name="Line 7"/>
          <p:cNvSpPr>
            <a:spLocks noChangeShapeType="1"/>
          </p:cNvSpPr>
          <p:nvPr/>
        </p:nvSpPr>
        <p:spPr bwMode="auto">
          <a:xfrm flipH="1">
            <a:off x="8351897" y="5607309"/>
            <a:ext cx="1314450" cy="0"/>
          </a:xfrm>
          <a:prstGeom prst="line">
            <a:avLst/>
          </a:prstGeom>
          <a:noFill/>
          <a:ln w="53975">
            <a:solidFill>
              <a:srgbClr val="C205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0" name="Line 8"/>
          <p:cNvSpPr>
            <a:spLocks noChangeShapeType="1"/>
          </p:cNvSpPr>
          <p:nvPr/>
        </p:nvSpPr>
        <p:spPr bwMode="auto">
          <a:xfrm flipH="1">
            <a:off x="8351897" y="3046615"/>
            <a:ext cx="1314450" cy="0"/>
          </a:xfrm>
          <a:prstGeom prst="line">
            <a:avLst/>
          </a:prstGeom>
          <a:noFill/>
          <a:ln w="53975">
            <a:solidFill>
              <a:srgbClr val="C205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4040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2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3" y="98987"/>
            <a:ext cx="7615491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代码是否正确？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1757886" y="1759153"/>
            <a:ext cx="8708708" cy="1200329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eaLnBrk="1" hangingPunct="1"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kumimoji="1" lang="en-US" altLang="zh-CN" sz="36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if  (0 &lt;= x &lt;= 10)</a:t>
            </a:r>
            <a:r>
              <a:rPr kumimoji="1" lang="en-US" altLang="zh-CN" sz="3600" b="1">
                <a:latin typeface="Times New Roman" pitchFamily="18" charset="0"/>
                <a:ea typeface="宋体" charset="-122"/>
              </a:rPr>
              <a:t>:</a:t>
            </a:r>
            <a:r>
              <a:rPr kumimoji="1" lang="en-US" altLang="zh-CN" sz="36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</a:p>
          <a:p>
            <a:pPr eaLnBrk="1" hangingPunct="1"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kumimoji="1" lang="en-US" altLang="zh-CN" sz="36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   print(x, "is between 0 and 10. ")</a:t>
            </a: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1757886" y="3732040"/>
            <a:ext cx="8708708" cy="1200329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eaLnBrk="1" hangingPunct="1"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kumimoji="1" lang="en-US" altLang="zh-CN" sz="36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if  (0 &lt;= x) and (x&lt;= 10)</a:t>
            </a:r>
            <a:r>
              <a:rPr kumimoji="1" lang="en-US" altLang="zh-CN" sz="3600" b="1">
                <a:latin typeface="Times New Roman" pitchFamily="18" charset="0"/>
                <a:ea typeface="宋体" charset="-122"/>
              </a:rPr>
              <a:t>:</a:t>
            </a:r>
            <a:r>
              <a:rPr kumimoji="1" lang="en-US" altLang="zh-CN" sz="36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</a:p>
          <a:p>
            <a:pPr eaLnBrk="1" hangingPunct="1"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kumimoji="1" lang="en-US" altLang="zh-CN" sz="36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   print(x, "is between 0 and 10. ")</a:t>
            </a:r>
          </a:p>
        </p:txBody>
      </p:sp>
    </p:spTree>
    <p:extLst>
      <p:ext uri="{BB962C8B-B14F-4D97-AF65-F5344CB8AC3E}">
        <p14:creationId xmlns:p14="http://schemas.microsoft.com/office/powerpoint/2010/main" val="8097387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3" y="98987"/>
            <a:ext cx="7615491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世界上最后一个</a:t>
            </a:r>
            <a:r>
              <a:rPr lang="en-US" altLang="zh-CN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C bug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2001779" y="1429768"/>
            <a:ext cx="6859588" cy="2547938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eaLnBrk="1" hangingPunct="1"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status = check_radar ( ) ;</a:t>
            </a:r>
          </a:p>
          <a:p>
            <a:pPr eaLnBrk="1" hangingPunct="1"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if (status = 1) </a:t>
            </a:r>
          </a:p>
          <a:p>
            <a:pPr eaLnBrk="1" hangingPunct="1"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{</a:t>
            </a:r>
          </a:p>
          <a:p>
            <a:pPr eaLnBrk="1" hangingPunct="1"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     launch_nuclear_missile</a:t>
            </a:r>
            <a:r>
              <a:rPr kumimoji="1" lang="en-US" altLang="zh-CN" sz="3200" b="1">
                <a:solidFill>
                  <a:srgbClr val="0000FF"/>
                </a:solidFill>
                <a:latin typeface="Times New Roman" pitchFamily="18" charset="0"/>
                <a:ea typeface="宋体" charset="-122"/>
              </a:rPr>
              <a:t>s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( ) ;</a:t>
            </a:r>
          </a:p>
          <a:p>
            <a:pPr eaLnBrk="1" hangingPunct="1"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}</a:t>
            </a:r>
          </a:p>
        </p:txBody>
      </p:sp>
      <p:pic>
        <p:nvPicPr>
          <p:cNvPr id="13" name="图片 12" descr="无标题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666" y="4348919"/>
            <a:ext cx="10296621" cy="164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1802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3" y="98987"/>
            <a:ext cx="7615491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改为</a:t>
            </a:r>
            <a:r>
              <a:rPr lang="en-US" altLang="zh-CN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Python?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2001778" y="1521211"/>
            <a:ext cx="7715799" cy="156966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eaLnBrk="1" hangingPunct="1"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kumimoji="1" lang="en-US" altLang="zh-CN" sz="3200" b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status = False</a:t>
            </a:r>
          </a:p>
          <a:p>
            <a:pPr eaLnBrk="1" hangingPunct="1"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kumimoji="1" lang="en-US" altLang="zh-CN" sz="3200" b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if (status = True):</a:t>
            </a:r>
          </a:p>
          <a:p>
            <a:pPr eaLnBrk="1" hangingPunct="1"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kumimoji="1" lang="en-US" altLang="zh-CN" sz="3200" b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     print("</a:t>
            </a:r>
            <a:r>
              <a:rPr kumimoji="1" lang="en-US" altLang="zh-CN" sz="3200" b="1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launch_nuclear_missile</a:t>
            </a:r>
            <a:r>
              <a:rPr kumimoji="1" lang="en-US" altLang="zh-CN" sz="3200" b="1" dirty="0" err="1">
                <a:latin typeface="Times New Roman" pitchFamily="18" charset="0"/>
                <a:ea typeface="宋体" charset="-122"/>
              </a:rPr>
              <a:t>s</a:t>
            </a:r>
            <a:r>
              <a:rPr kumimoji="1" lang="en-US" altLang="zh-CN" sz="3200" b="1" dirty="0">
                <a:latin typeface="Times New Roman" pitchFamily="18" charset="0"/>
                <a:ea typeface="宋体" charset="-122"/>
              </a:rPr>
              <a:t>"</a:t>
            </a:r>
            <a:r>
              <a:rPr kumimoji="1" lang="en-US" altLang="zh-CN" sz="3200" b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)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511328" y="3931919"/>
            <a:ext cx="8541121" cy="181588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zh-CN" sz="28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if (status = True):</a:t>
            </a:r>
          </a:p>
          <a:p>
            <a:r>
              <a:rPr lang="en-US" altLang="zh-CN" sz="28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^^^^^^^^^^^^^</a:t>
            </a:r>
          </a:p>
          <a:p>
            <a:r>
              <a:rPr lang="en-US" altLang="zh-CN" sz="28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SyntaxError: invalid syntax. Maybe you meant '==' or ':=' </a:t>
            </a:r>
          </a:p>
          <a:p>
            <a:r>
              <a:rPr lang="en-US" altLang="zh-CN" sz="28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instead of '='?</a:t>
            </a:r>
            <a:endParaRPr lang="zh-CN" altLang="en-US" sz="280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789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3" y="98987"/>
            <a:ext cx="7615491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2.2.4 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今天星期几？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310059" y="1895271"/>
            <a:ext cx="9197253" cy="297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defTabSz="850900" eaLnBrk="1" hangingPunct="1">
              <a:spcBef>
                <a:spcPct val="50000"/>
              </a:spcBef>
              <a:buClr>
                <a:srgbClr val="FFFF66"/>
              </a:buClr>
              <a:buFont typeface="Wingdings" pitchFamily="2" charset="2"/>
              <a:buNone/>
            </a:pPr>
            <a:r>
              <a:rPr kumimoji="1" lang="zh-CN" altLang="en-US" sz="36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问题描述：</a:t>
            </a:r>
          </a:p>
          <a:p>
            <a:pPr defTabSz="850900" eaLnBrk="1" hangingPunct="1">
              <a:spcBef>
                <a:spcPct val="80000"/>
              </a:spcBef>
              <a:buClr>
                <a:srgbClr val="FFFF66"/>
              </a:buClr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	我们经常想知道历史上一些重要的日子是星期</a:t>
            </a:r>
            <a:endParaRPr kumimoji="1" lang="en-US" altLang="zh-CN" sz="3200" b="1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  <a:p>
            <a:pPr defTabSz="850900" eaLnBrk="1" hangingPunct="1">
              <a:spcBef>
                <a:spcPts val="1800"/>
              </a:spcBef>
              <a:buClr>
                <a:srgbClr val="FFFF66"/>
              </a:buClr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几，或想知道将来的某一天是星期几，那么，怎样</a:t>
            </a:r>
            <a:endParaRPr kumimoji="1" lang="en-US" altLang="zh-CN" sz="3200" b="1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  <a:p>
            <a:pPr defTabSz="850900" eaLnBrk="1" hangingPunct="1">
              <a:spcBef>
                <a:spcPts val="1800"/>
              </a:spcBef>
              <a:buClr>
                <a:srgbClr val="FFFF66"/>
              </a:buClr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计算任意一天是星期几呢？</a:t>
            </a:r>
          </a:p>
        </p:txBody>
      </p:sp>
    </p:spTree>
    <p:extLst>
      <p:ext uri="{BB962C8B-B14F-4D97-AF65-F5344CB8AC3E}">
        <p14:creationId xmlns:p14="http://schemas.microsoft.com/office/powerpoint/2010/main" val="13744270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3" y="98987"/>
            <a:ext cx="7615491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历法公式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260151" y="1127991"/>
            <a:ext cx="9338576" cy="5195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defTabSz="850900" eaLnBrk="1" hangingPunct="1">
              <a:spcBef>
                <a:spcPct val="60000"/>
              </a:spcBef>
              <a:buClr>
                <a:srgbClr val="FFFF66"/>
              </a:buClr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	根据历法，可按以下方法计算某年某月某日是</a:t>
            </a:r>
            <a:endParaRPr kumimoji="1" lang="en-US" altLang="zh-CN" sz="3200" b="1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  <a:p>
            <a:pPr defTabSz="850900" eaLnBrk="1" hangingPunct="1">
              <a:spcBef>
                <a:spcPts val="1200"/>
              </a:spcBef>
              <a:buClr>
                <a:srgbClr val="FFFF66"/>
              </a:buClr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星期几。首先，根据下列公式计算</a:t>
            </a:r>
            <a:r>
              <a:rPr kumimoji="1" lang="en-US" altLang="zh-CN" sz="3200" b="1" i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S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：</a:t>
            </a:r>
          </a:p>
          <a:p>
            <a:pPr defTabSz="850900" eaLnBrk="1" hangingPunct="1">
              <a:spcBef>
                <a:spcPct val="80000"/>
              </a:spcBef>
              <a:buClr>
                <a:srgbClr val="FFFF66"/>
              </a:buClr>
            </a:pPr>
            <a:endParaRPr kumimoji="1" lang="zh-CN" altLang="en-US" sz="3200" b="1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  <a:p>
            <a:pPr defTabSz="850900" eaLnBrk="1" hangingPunct="1">
              <a:spcBef>
                <a:spcPts val="3600"/>
              </a:spcBef>
              <a:buClr>
                <a:srgbClr val="FFFF66"/>
              </a:buClr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这里</a:t>
            </a:r>
            <a:r>
              <a:rPr kumimoji="1" lang="en-US" altLang="zh-CN" sz="3200" b="1" i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y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是公元的年数，</a:t>
            </a:r>
            <a:r>
              <a:rPr kumimoji="1" lang="en-US" altLang="zh-CN" sz="3200" b="1" i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C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是从这一年的元旦算起到这</a:t>
            </a:r>
            <a:endParaRPr kumimoji="1" lang="en-US" altLang="zh-CN" sz="3200" b="1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  <a:p>
            <a:pPr defTabSz="850900" eaLnBrk="1" hangingPunct="1">
              <a:spcBef>
                <a:spcPts val="1200"/>
              </a:spcBef>
              <a:buClr>
                <a:srgbClr val="FFFF66"/>
              </a:buClr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天为止（包括这天在内）的天数，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 </a:t>
            </a:r>
            <a:r>
              <a:rPr kumimoji="1" lang="zh-CN" altLang="en-US" sz="3200" b="1">
                <a:solidFill>
                  <a:srgbClr val="0000FF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表示向下取整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。</a:t>
            </a:r>
          </a:p>
          <a:p>
            <a:pPr defTabSz="850900" eaLnBrk="1" hangingPunct="1">
              <a:spcBef>
                <a:spcPct val="50000"/>
              </a:spcBef>
              <a:buClr>
                <a:srgbClr val="FFFF66"/>
              </a:buClr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	得到</a:t>
            </a:r>
            <a:r>
              <a:rPr kumimoji="1" lang="en-US" altLang="zh-CN" sz="3200" b="1" i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S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后，再用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7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除，取余数。</a:t>
            </a:r>
            <a:r>
              <a:rPr kumimoji="1" lang="zh-CN" altLang="en-US" sz="3200" b="1">
                <a:solidFill>
                  <a:srgbClr val="0000FF"/>
                </a:solidFill>
                <a:latin typeface="Times New Roman" pitchFamily="18" charset="0"/>
                <a:ea typeface="宋体" charset="-122"/>
              </a:rPr>
              <a:t>余数是几就是星</a:t>
            </a:r>
            <a:endParaRPr kumimoji="1" lang="en-US" altLang="zh-CN" sz="3200" b="1">
              <a:solidFill>
                <a:srgbClr val="0000FF"/>
              </a:solidFill>
              <a:latin typeface="Times New Roman" pitchFamily="18" charset="0"/>
              <a:ea typeface="宋体" charset="-122"/>
            </a:endParaRPr>
          </a:p>
          <a:p>
            <a:pPr defTabSz="850900" eaLnBrk="1" hangingPunct="1">
              <a:spcBef>
                <a:spcPts val="1200"/>
              </a:spcBef>
              <a:buClr>
                <a:srgbClr val="FFFF66"/>
              </a:buClr>
            </a:pPr>
            <a:r>
              <a:rPr kumimoji="1" lang="zh-CN" altLang="en-US" sz="3200" b="1">
                <a:solidFill>
                  <a:srgbClr val="0000FF"/>
                </a:solidFill>
                <a:latin typeface="Times New Roman" pitchFamily="18" charset="0"/>
                <a:ea typeface="宋体" charset="-122"/>
              </a:rPr>
              <a:t>期几。若余数为零，则为星期日。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8215714"/>
              </p:ext>
            </p:extLst>
          </p:nvPr>
        </p:nvGraphicFramePr>
        <p:xfrm>
          <a:off x="1434733" y="2314035"/>
          <a:ext cx="7154863" cy="1239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" name="Equation" r:id="rId3" imgW="2423319" imgH="365666" progId="Equation.3">
                  <p:embed/>
                </p:oleObj>
              </mc:Choice>
              <mc:Fallback>
                <p:oleObj name="Equation" r:id="rId3" imgW="2423319" imgH="36566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4733" y="2314035"/>
                        <a:ext cx="7154863" cy="1239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56054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3" y="98987"/>
            <a:ext cx="7615491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1949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年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10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月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1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日是星期几？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1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3529597"/>
              </p:ext>
            </p:extLst>
          </p:nvPr>
        </p:nvGraphicFramePr>
        <p:xfrm>
          <a:off x="1052100" y="973855"/>
          <a:ext cx="7154863" cy="1239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Equation" r:id="rId3" imgW="2430930" imgH="373301" progId="Equation.3">
                  <p:embed/>
                </p:oleObj>
              </mc:Choice>
              <mc:Fallback>
                <p:oleObj name="Equation" r:id="rId3" imgW="2430930" imgH="3733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2100" y="973855"/>
                        <a:ext cx="7154863" cy="1239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1009238" y="2312118"/>
            <a:ext cx="8396287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r>
              <a:rPr kumimoji="1" lang="en-US" altLang="zh-CN" b="1" i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C</a:t>
            </a:r>
            <a:r>
              <a:rPr kumimoji="1"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＝</a:t>
            </a:r>
            <a:r>
              <a:rPr kumimoji="1" lang="en-US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31</a:t>
            </a:r>
            <a:r>
              <a:rPr kumimoji="1"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＋</a:t>
            </a:r>
            <a:r>
              <a:rPr kumimoji="1" lang="en-US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28</a:t>
            </a:r>
            <a:r>
              <a:rPr kumimoji="1"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＋</a:t>
            </a:r>
            <a:r>
              <a:rPr kumimoji="1" lang="en-US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31</a:t>
            </a:r>
            <a:r>
              <a:rPr kumimoji="1"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＋</a:t>
            </a:r>
            <a:r>
              <a:rPr kumimoji="1" lang="en-US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30</a:t>
            </a:r>
            <a:r>
              <a:rPr kumimoji="1"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＋</a:t>
            </a:r>
            <a:r>
              <a:rPr kumimoji="1" lang="en-US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31</a:t>
            </a:r>
            <a:r>
              <a:rPr kumimoji="1"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＋</a:t>
            </a:r>
            <a:r>
              <a:rPr kumimoji="1" lang="en-US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30</a:t>
            </a:r>
            <a:r>
              <a:rPr kumimoji="1"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＋</a:t>
            </a:r>
            <a:r>
              <a:rPr kumimoji="1" lang="en-US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31</a:t>
            </a:r>
            <a:r>
              <a:rPr kumimoji="1"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＋</a:t>
            </a:r>
            <a:r>
              <a:rPr kumimoji="1" lang="en-US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31</a:t>
            </a:r>
            <a:r>
              <a:rPr kumimoji="1"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＋</a:t>
            </a:r>
            <a:r>
              <a:rPr kumimoji="1" lang="en-US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30</a:t>
            </a:r>
            <a:r>
              <a:rPr kumimoji="1"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＋</a:t>
            </a:r>
            <a:r>
              <a:rPr kumimoji="1" lang="en-US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</a:t>
            </a:r>
            <a:br>
              <a:rPr kumimoji="1" lang="en-US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</a:br>
            <a:r>
              <a:rPr kumimoji="1" lang="en-US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</a:t>
            </a:r>
            <a:r>
              <a:rPr kumimoji="1"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＝</a:t>
            </a:r>
            <a:r>
              <a:rPr kumimoji="1" lang="en-US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274</a:t>
            </a:r>
          </a:p>
        </p:txBody>
      </p:sp>
      <p:graphicFrame>
        <p:nvGraphicFramePr>
          <p:cNvPr id="1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9158724"/>
              </p:ext>
            </p:extLst>
          </p:nvPr>
        </p:nvGraphicFramePr>
        <p:xfrm>
          <a:off x="964275" y="3344368"/>
          <a:ext cx="8807450" cy="118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Equation" r:id="rId5" imgW="3230950" imgH="373301" progId="Equation.3">
                  <p:embed/>
                </p:oleObj>
              </mc:Choice>
              <mc:Fallback>
                <p:oleObj name="Equation" r:id="rId5" imgW="3230950" imgH="3733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4275" y="3344368"/>
                        <a:ext cx="8807450" cy="1189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1101346" y="4567119"/>
            <a:ext cx="4865688" cy="15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r>
              <a:rPr kumimoji="1"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＝</a:t>
            </a:r>
            <a:r>
              <a:rPr kumimoji="1" lang="en-US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1948</a:t>
            </a:r>
            <a:r>
              <a:rPr kumimoji="1"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＋</a:t>
            </a:r>
            <a:r>
              <a:rPr kumimoji="1" lang="en-US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487</a:t>
            </a:r>
            <a:r>
              <a:rPr kumimoji="1"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－</a:t>
            </a:r>
            <a:r>
              <a:rPr kumimoji="1" lang="en-US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19</a:t>
            </a:r>
            <a:r>
              <a:rPr kumimoji="1"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＋</a:t>
            </a:r>
            <a:r>
              <a:rPr kumimoji="1" lang="en-US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4</a:t>
            </a:r>
            <a:r>
              <a:rPr kumimoji="1"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＋</a:t>
            </a:r>
            <a:r>
              <a:rPr kumimoji="1" lang="en-US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274</a:t>
            </a:r>
            <a:br>
              <a:rPr kumimoji="1" lang="en-US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</a:br>
            <a:r>
              <a:rPr kumimoji="1"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＝</a:t>
            </a:r>
            <a:r>
              <a:rPr kumimoji="1" lang="en-US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2694</a:t>
            </a:r>
          </a:p>
          <a:p>
            <a:r>
              <a:rPr kumimoji="1"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＝</a:t>
            </a:r>
            <a:r>
              <a:rPr kumimoji="1" lang="en-US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384×7</a:t>
            </a:r>
            <a:r>
              <a:rPr kumimoji="1"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＋</a:t>
            </a:r>
            <a:r>
              <a:rPr kumimoji="1" lang="en-US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6</a:t>
            </a:r>
          </a:p>
        </p:txBody>
      </p:sp>
      <p:sp>
        <p:nvSpPr>
          <p:cNvPr id="15" name="Text Box 8"/>
          <p:cNvSpPr txBox="1">
            <a:spLocks noChangeArrowheads="1"/>
          </p:cNvSpPr>
          <p:nvPr/>
        </p:nvSpPr>
        <p:spPr bwMode="auto">
          <a:xfrm>
            <a:off x="6245248" y="4871595"/>
            <a:ext cx="4462462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r>
              <a:rPr kumimoji="1"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所以，</a:t>
            </a:r>
            <a:r>
              <a:rPr kumimoji="1" lang="en-US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1949</a:t>
            </a:r>
            <a:r>
              <a:rPr kumimoji="1"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年</a:t>
            </a:r>
            <a:r>
              <a:rPr kumimoji="1" lang="en-US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10</a:t>
            </a:r>
            <a:r>
              <a:rPr kumimoji="1"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月</a:t>
            </a:r>
            <a:r>
              <a:rPr kumimoji="1" lang="en-US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</a:t>
            </a:r>
            <a:r>
              <a:rPr kumimoji="1"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日是</a:t>
            </a:r>
            <a:br>
              <a:rPr kumimoji="1"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</a:br>
            <a:r>
              <a:rPr kumimoji="1"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星期六。</a:t>
            </a:r>
          </a:p>
        </p:txBody>
      </p:sp>
    </p:spTree>
    <p:extLst>
      <p:ext uri="{BB962C8B-B14F-4D97-AF65-F5344CB8AC3E}">
        <p14:creationId xmlns:p14="http://schemas.microsoft.com/office/powerpoint/2010/main" val="2722299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3" y="98987"/>
            <a:ext cx="7615491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思考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945328" y="1156057"/>
            <a:ext cx="10077348" cy="4585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defTabSz="850900" eaLnBrk="1" hangingPunct="1">
              <a:spcBef>
                <a:spcPct val="50000"/>
              </a:spcBef>
              <a:buClr>
                <a:srgbClr val="FFFF66"/>
              </a:buClr>
              <a:buFont typeface="Wingdings" pitchFamily="2" charset="2"/>
              <a:buNone/>
            </a:pPr>
            <a:r>
              <a:rPr kumimoji="1" lang="zh-CN" altLang="en-US" sz="36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问题分析：</a:t>
            </a:r>
          </a:p>
          <a:p>
            <a:pPr defTabSz="850900" eaLnBrk="1" hangingPunct="1">
              <a:spcBef>
                <a:spcPct val="60000"/>
              </a:spcBef>
              <a:buClr>
                <a:srgbClr val="FFFF66"/>
              </a:buClr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	本问题的关键在于如何计算</a:t>
            </a:r>
            <a:r>
              <a:rPr kumimoji="1" lang="en-US" altLang="zh-CN" sz="3200" b="1" i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S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，而计算</a:t>
            </a:r>
            <a:r>
              <a:rPr kumimoji="1" lang="en-US" altLang="zh-CN" sz="3200" b="1" i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S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的关键在于如何计算</a:t>
            </a:r>
            <a:r>
              <a:rPr kumimoji="1" lang="en-US" altLang="zh-CN" sz="3200" b="1" i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C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。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不妨令这一天为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y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年、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m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月、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d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日，则本问题的关键在于如何计算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从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y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年的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月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日开始，到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m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月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d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日为止的天数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。</a:t>
            </a:r>
          </a:p>
          <a:p>
            <a:pPr defTabSz="850900" eaLnBrk="1" hangingPunct="1">
              <a:spcBef>
                <a:spcPct val="60000"/>
              </a:spcBef>
              <a:buClr>
                <a:srgbClr val="FFFF66"/>
              </a:buClr>
            </a:pPr>
            <a:r>
              <a:rPr kumimoji="1" lang="zh-CN" altLang="en-US" sz="36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  <a:sym typeface="Symbol" pitchFamily="18" charset="2"/>
              </a:rPr>
              <a:t>基本思路：</a:t>
            </a:r>
          </a:p>
          <a:p>
            <a:pPr defTabSz="850900" eaLnBrk="1" hangingPunct="1">
              <a:spcBef>
                <a:spcPct val="60000"/>
              </a:spcBef>
              <a:buClr>
                <a:srgbClr val="FFFF66"/>
              </a:buClr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	</a:t>
            </a:r>
            <a:r>
              <a:rPr kumimoji="1" lang="en-US" altLang="zh-CN" sz="3200" b="1" i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C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 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＝ 前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m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  <a:sym typeface="Symbol" pitchFamily="18" charset="2"/>
              </a:rPr>
              <a:t>–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1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个月的总天数 ＋ 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d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255807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3" y="98987"/>
            <a:ext cx="7615491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思考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980142" y="1470810"/>
            <a:ext cx="9909533" cy="321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8925" indent="-288925" eaLnBrk="1" hangingPunct="1">
              <a:spcBef>
                <a:spcPct val="70000"/>
              </a:spcBef>
              <a:spcAft>
                <a:spcPct val="20000"/>
              </a:spcAft>
              <a:buClr>
                <a:srgbClr val="FFFF66"/>
              </a:buClr>
              <a:buFont typeface="Wingdings" pitchFamily="2" charset="2"/>
              <a:buNone/>
            </a:pPr>
            <a:r>
              <a:rPr kumimoji="1" lang="zh-CN" altLang="en-US" sz="36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有两点需要注意：</a:t>
            </a:r>
          </a:p>
          <a:p>
            <a:pPr marL="288925" indent="-288925"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Char char=""/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每个月的天数是固定的：一、三、五、七、八、十和十二月份是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31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天，四、六、九和十一月份是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30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天，二月份一般是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28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天；</a:t>
            </a:r>
          </a:p>
          <a:p>
            <a:pPr marL="288925" indent="-288925"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Char char=""/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如果是闰年，则二月份是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29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天。</a:t>
            </a:r>
          </a:p>
        </p:txBody>
      </p:sp>
    </p:spTree>
    <p:extLst>
      <p:ext uri="{BB962C8B-B14F-4D97-AF65-F5344CB8AC3E}">
        <p14:creationId xmlns:p14="http://schemas.microsoft.com/office/powerpoint/2010/main" val="30197185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3" y="98987"/>
            <a:ext cx="7615491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一种方法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1313405" y="1173135"/>
            <a:ext cx="9526389" cy="5016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8925" indent="-288925"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Char char=""/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把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m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分为十二种情形来讨论，即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m=1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、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m=2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、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m=3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、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…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、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m=12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，事先计算出在每一种情形下，前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m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  <a:sym typeface="Symbol" pitchFamily="18" charset="2"/>
              </a:rPr>
              <a:t>–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个月的总天数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；</a:t>
            </a:r>
          </a:p>
          <a:p>
            <a:pPr marL="288925" indent="-288925" eaLnBrk="1" hangingPunct="1">
              <a:spcBef>
                <a:spcPct val="40000"/>
              </a:spcBef>
              <a:buClr>
                <a:schemeClr val="tx1"/>
              </a:buClr>
              <a:buFont typeface="Wingdings" pitchFamily="2" charset="2"/>
              <a:buChar char=""/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m = 1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：</a:t>
            </a:r>
            <a:r>
              <a:rPr kumimoji="1" lang="en-US" altLang="zh-CN" sz="3200" b="1" i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C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＝ 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0 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＋ 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d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；</a:t>
            </a:r>
          </a:p>
          <a:p>
            <a:pPr marL="288925" indent="-288925" eaLnBrk="1" hangingPunct="1">
              <a:spcBef>
                <a:spcPct val="40000"/>
              </a:spcBef>
              <a:buClr>
                <a:schemeClr val="tx1"/>
              </a:buClr>
              <a:buFont typeface="Wingdings" pitchFamily="2" charset="2"/>
              <a:buChar char=""/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m = 2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：</a:t>
            </a:r>
            <a:r>
              <a:rPr kumimoji="1" lang="en-US" altLang="zh-CN" sz="3200" b="1" i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C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＝ 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31 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＋ 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d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；</a:t>
            </a:r>
          </a:p>
          <a:p>
            <a:pPr marL="288925" indent="-288925" eaLnBrk="1" hangingPunct="1">
              <a:spcBef>
                <a:spcPct val="40000"/>
              </a:spcBef>
              <a:buClr>
                <a:schemeClr val="tx1"/>
              </a:buClr>
              <a:buFont typeface="Wingdings" pitchFamily="2" charset="2"/>
              <a:buChar char=""/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m = 3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：</a:t>
            </a:r>
            <a:r>
              <a:rPr kumimoji="1" lang="en-US" altLang="zh-CN" sz="3200" b="1" i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C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＝ 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31 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＋ 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28 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＋ 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d 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＝ 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59 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＋ 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d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；</a:t>
            </a:r>
          </a:p>
          <a:p>
            <a:pPr marL="288925" indent="-288925" eaLnBrk="1" hangingPunct="1">
              <a:spcBef>
                <a:spcPct val="40000"/>
              </a:spcBef>
              <a:buClr>
                <a:schemeClr val="tx1"/>
              </a:buClr>
              <a:buFont typeface="Wingdings" pitchFamily="2" charset="2"/>
              <a:buChar char=""/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m = 4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：</a:t>
            </a:r>
            <a:r>
              <a:rPr kumimoji="1" lang="en-US" altLang="zh-CN" sz="3200" b="1" i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C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＝ 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31 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＋ 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28 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＋ 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31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＋ 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d 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＝ 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90 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＋ 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d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；</a:t>
            </a:r>
          </a:p>
          <a:p>
            <a:pPr marL="288925" indent="-288925" eaLnBrk="1" hangingPunct="1">
              <a:spcBef>
                <a:spcPct val="40000"/>
              </a:spcBef>
              <a:buClr>
                <a:schemeClr val="tx1"/>
              </a:buClr>
              <a:buFont typeface="Wingdings" pitchFamily="2" charset="2"/>
              <a:buChar char=""/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8739882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3" y="98987"/>
            <a:ext cx="7615491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可能的程序片段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2802302" y="1032104"/>
            <a:ext cx="6619875" cy="5693866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ts val="4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kumimoji="1" lang="en-US" altLang="zh-CN" sz="36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if (m == 1):</a:t>
            </a:r>
          </a:p>
          <a:p>
            <a:pPr eaLnBrk="1" hangingPunct="1">
              <a:spcBef>
                <a:spcPts val="4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kumimoji="1" lang="en-US" altLang="zh-CN" sz="36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C = d</a:t>
            </a:r>
          </a:p>
          <a:p>
            <a:pPr eaLnBrk="1" hangingPunct="1">
              <a:spcBef>
                <a:spcPts val="4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kumimoji="1" lang="en-US" altLang="zh-CN" sz="36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elif (m == 2):</a:t>
            </a:r>
          </a:p>
          <a:p>
            <a:pPr eaLnBrk="1" hangingPunct="1">
              <a:spcBef>
                <a:spcPts val="4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kumimoji="1" lang="en-US" altLang="zh-CN" sz="36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C = 31 + d</a:t>
            </a:r>
          </a:p>
          <a:p>
            <a:pPr eaLnBrk="1" hangingPunct="1">
              <a:spcBef>
                <a:spcPts val="4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kumimoji="1" lang="en-US" altLang="zh-CN" sz="36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elif (m == 3):</a:t>
            </a:r>
          </a:p>
          <a:p>
            <a:pPr eaLnBrk="1" hangingPunct="1">
              <a:spcBef>
                <a:spcPts val="4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kumimoji="1" lang="en-US" altLang="zh-CN" sz="36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C = 59 + d</a:t>
            </a:r>
          </a:p>
          <a:p>
            <a:pPr eaLnBrk="1" hangingPunct="1">
              <a:spcBef>
                <a:spcPts val="4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kumimoji="1" lang="en-US" altLang="zh-CN" sz="36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elif (m == 4):</a:t>
            </a:r>
          </a:p>
          <a:p>
            <a:pPr eaLnBrk="1" hangingPunct="1">
              <a:spcBef>
                <a:spcPts val="4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kumimoji="1" lang="en-US" altLang="zh-CN" sz="36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C = 90 + d</a:t>
            </a:r>
          </a:p>
          <a:p>
            <a:pPr eaLnBrk="1" hangingPunct="1">
              <a:spcBef>
                <a:spcPts val="4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kumimoji="1" lang="en-US" altLang="zh-CN" sz="36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3389995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3" y="98987"/>
            <a:ext cx="7615491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思路分析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971052" y="1039092"/>
            <a:ext cx="9660926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defTabSz="850900" eaLnBrk="1" hangingPunct="1">
              <a:spcBef>
                <a:spcPct val="50000"/>
              </a:spcBef>
              <a:buClr>
                <a:srgbClr val="FFFF66"/>
              </a:buClr>
            </a:pP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	计算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前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m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  <a:sym typeface="Symbol" pitchFamily="18" charset="2"/>
              </a:rPr>
              <a:t>–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1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个月的总天数，实际上是统计在前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m–1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个月当中，有多少个月份是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31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天，多少个月份是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30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天，以及二月份是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28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天还是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29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天。不妨令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day31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、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day30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和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day28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分别表示在前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m–1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个月中，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31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天、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30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天和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28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天的月份个数，它们的具体数目如下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(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找规律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)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：</a:t>
            </a:r>
          </a:p>
        </p:txBody>
      </p:sp>
      <p:graphicFrame>
        <p:nvGraphicFramePr>
          <p:cNvPr id="11" name="Group 1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2579"/>
              </p:ext>
            </p:extLst>
          </p:nvPr>
        </p:nvGraphicFramePr>
        <p:xfrm>
          <a:off x="1230120" y="3395748"/>
          <a:ext cx="8969375" cy="3048000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2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29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10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19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46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81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151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24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699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762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m=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day31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day30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day28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Line 79"/>
          <p:cNvSpPr>
            <a:spLocks noChangeShapeType="1"/>
          </p:cNvSpPr>
          <p:nvPr/>
        </p:nvSpPr>
        <p:spPr bwMode="auto">
          <a:xfrm>
            <a:off x="1230120" y="3395748"/>
            <a:ext cx="10287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13" name="Rectangle 183"/>
          <p:cNvSpPr>
            <a:spLocks noChangeArrowheads="1"/>
          </p:cNvSpPr>
          <p:nvPr/>
        </p:nvSpPr>
        <p:spPr bwMode="auto">
          <a:xfrm>
            <a:off x="3670107" y="4284748"/>
            <a:ext cx="3733800" cy="533400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/>
            <a:endParaRPr lang="zh-CN" altLang="en-US">
              <a:ea typeface="宋体" charset="-122"/>
            </a:endParaRPr>
          </a:p>
        </p:txBody>
      </p:sp>
      <p:sp>
        <p:nvSpPr>
          <p:cNvPr id="14" name="Rectangle 184"/>
          <p:cNvSpPr>
            <a:spLocks noChangeArrowheads="1"/>
          </p:cNvSpPr>
          <p:nvPr/>
        </p:nvSpPr>
        <p:spPr bwMode="auto">
          <a:xfrm>
            <a:off x="7632507" y="4310148"/>
            <a:ext cx="2438400" cy="533400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/>
            <a:endParaRPr lang="zh-CN" altLang="en-US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6640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3" y="98987"/>
            <a:ext cx="7615491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程序片段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2151035" y="1036982"/>
            <a:ext cx="8243888" cy="533992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if (m  ==  1)</a:t>
            </a:r>
            <a:r>
              <a:rPr kumimoji="1" lang="en-US" altLang="zh-CN" sz="2400" b="1">
                <a:latin typeface="Times New Roman" pitchFamily="18" charset="0"/>
                <a:ea typeface="宋体" charset="-122"/>
              </a:rPr>
              <a:t>:</a:t>
            </a:r>
          </a:p>
          <a:p>
            <a:pPr eaLnBrk="1" hangingPunct="1"/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     day31 = day30 = day28 = 0</a:t>
            </a:r>
          </a:p>
          <a:p>
            <a:pPr eaLnBrk="1" hangingPunct="1"/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elif (m  ==  2):</a:t>
            </a:r>
          </a:p>
          <a:p>
            <a:pPr eaLnBrk="1" hangingPunct="1"/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     day31 = 1</a:t>
            </a:r>
          </a:p>
          <a:p>
            <a:pPr eaLnBrk="1" hangingPunct="1"/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     day30 = day28 = 0</a:t>
            </a:r>
          </a:p>
          <a:p>
            <a:pPr eaLnBrk="1" hangingPunct="1"/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elif (m  &lt;=  8):</a:t>
            </a:r>
          </a:p>
          <a:p>
            <a:pPr eaLnBrk="1" hangingPunct="1"/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     day31  =  m // 2     </a:t>
            </a:r>
          </a:p>
          <a:p>
            <a:pPr eaLnBrk="1" hangingPunct="1"/>
            <a:r>
              <a:rPr kumimoji="1" lang="en-US" altLang="zh-CN" sz="2400" b="1">
                <a:latin typeface="Times New Roman" pitchFamily="18" charset="0"/>
                <a:ea typeface="宋体" charset="-122"/>
              </a:rPr>
              <a:t>        </a:t>
            </a:r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day28 = 1</a:t>
            </a:r>
          </a:p>
          <a:p>
            <a:pPr eaLnBrk="1" hangingPunct="1"/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     day30  =  m -1 - day31 - day28 </a:t>
            </a:r>
          </a:p>
          <a:p>
            <a:pPr eaLnBrk="1" hangingPunct="1"/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else:</a:t>
            </a:r>
          </a:p>
          <a:p>
            <a:pPr eaLnBrk="1" hangingPunct="1"/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     day31  =  (m + 1) // 2</a:t>
            </a:r>
          </a:p>
          <a:p>
            <a:pPr eaLnBrk="1" hangingPunct="1"/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     day28 = 1 </a:t>
            </a:r>
          </a:p>
          <a:p>
            <a:pPr eaLnBrk="1" hangingPunct="1"/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     day30  =  m -1 - day31 - day28 </a:t>
            </a:r>
            <a:endParaRPr kumimoji="1" lang="en-US" altLang="zh-CN" sz="2400" b="1">
              <a:latin typeface="Times New Roman" pitchFamily="18" charset="0"/>
              <a:ea typeface="宋体" charset="-122"/>
            </a:endParaRPr>
          </a:p>
          <a:p>
            <a:pPr eaLnBrk="1" hangingPunct="1">
              <a:spcBef>
                <a:spcPts val="600"/>
              </a:spcBef>
            </a:pPr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C  =  day31 * 31 + day28 * 28 + day30 * 30 + d   </a:t>
            </a:r>
            <a:r>
              <a:rPr kumimoji="1" lang="en-US" altLang="zh-CN" sz="2400" b="1">
                <a:solidFill>
                  <a:srgbClr val="00B050"/>
                </a:solidFill>
                <a:latin typeface="Times New Roman" pitchFamily="18" charset="0"/>
                <a:ea typeface="宋体" charset="-122"/>
              </a:rPr>
              <a:t># </a:t>
            </a:r>
            <a:r>
              <a:rPr kumimoji="1" lang="zh-CN" altLang="en-US" sz="2400" b="1">
                <a:solidFill>
                  <a:srgbClr val="00B050"/>
                </a:solidFill>
                <a:latin typeface="Times New Roman" pitchFamily="18" charset="0"/>
                <a:ea typeface="宋体" charset="-122"/>
              </a:rPr>
              <a:t>闰年？</a:t>
            </a:r>
          </a:p>
        </p:txBody>
      </p:sp>
    </p:spTree>
    <p:extLst>
      <p:ext uri="{BB962C8B-B14F-4D97-AF65-F5344CB8AC3E}">
        <p14:creationId xmlns:p14="http://schemas.microsoft.com/office/powerpoint/2010/main" val="33755671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3" y="98987"/>
            <a:ext cx="7615491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闰年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247875" y="1502068"/>
            <a:ext cx="9583618" cy="3847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defTabSz="850900" eaLnBrk="1" hangingPunct="1">
              <a:spcBef>
                <a:spcPct val="50000"/>
              </a:spcBef>
              <a:buClr>
                <a:srgbClr val="FFFF66"/>
              </a:buClr>
            </a:pPr>
            <a:r>
              <a:rPr kumimoji="1" lang="zh-CN" altLang="en-US" sz="36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闰年的规则：</a:t>
            </a:r>
          </a:p>
          <a:p>
            <a:pPr marL="514350" indent="-514350" defTabSz="850900" eaLnBrk="1" hangingPunct="1">
              <a:spcBef>
                <a:spcPct val="50000"/>
              </a:spcBef>
              <a:buFont typeface="+mj-lt"/>
              <a:buAutoNum type="arabicPeriod"/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Wingdings" pitchFamily="2" charset="2"/>
              </a:rPr>
              <a:t>能被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Wingdings" pitchFamily="2" charset="2"/>
              </a:rPr>
              <a:t>4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Wingdings" pitchFamily="2" charset="2"/>
              </a:rPr>
              <a:t>整除，但不能被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Wingdings" pitchFamily="2" charset="2"/>
              </a:rPr>
              <a:t>100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Wingdings" pitchFamily="2" charset="2"/>
              </a:rPr>
              <a:t>整除的年份都是闰年，如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Wingdings" pitchFamily="2" charset="2"/>
              </a:rPr>
              <a:t>1996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Wingdings" pitchFamily="2" charset="2"/>
              </a:rPr>
              <a:t>年、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Wingdings" pitchFamily="2" charset="2"/>
              </a:rPr>
              <a:t>2004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Wingdings" pitchFamily="2" charset="2"/>
              </a:rPr>
              <a:t>年；</a:t>
            </a:r>
            <a:endParaRPr kumimoji="1" lang="en-US" altLang="zh-CN" sz="3200" b="1">
              <a:solidFill>
                <a:schemeClr val="tx1"/>
              </a:solidFill>
              <a:latin typeface="Times New Roman" pitchFamily="18" charset="0"/>
              <a:ea typeface="宋体" charset="-122"/>
              <a:sym typeface="Wingdings" pitchFamily="2" charset="2"/>
            </a:endParaRPr>
          </a:p>
          <a:p>
            <a:pPr marL="514350" indent="-514350" defTabSz="850900">
              <a:spcBef>
                <a:spcPct val="50000"/>
              </a:spcBef>
              <a:buFont typeface="+mj-lt"/>
              <a:buAutoNum type="arabicPeriod"/>
            </a:pPr>
            <a:r>
              <a:rPr kumimoji="1" lang="zh-CN" altLang="en-US" sz="3200" b="1">
                <a:latin typeface="Times New Roman" pitchFamily="18" charset="0"/>
                <a:ea typeface="宋体" charset="-122"/>
                <a:sym typeface="Wingdings" pitchFamily="2" charset="2"/>
              </a:rPr>
              <a:t>能被</a:t>
            </a:r>
            <a:r>
              <a:rPr kumimoji="1" lang="en-US" altLang="zh-CN" sz="3200" b="1">
                <a:latin typeface="Times New Roman" pitchFamily="18" charset="0"/>
                <a:ea typeface="宋体" charset="-122"/>
                <a:sym typeface="Wingdings" pitchFamily="2" charset="2"/>
              </a:rPr>
              <a:t>100</a:t>
            </a:r>
            <a:r>
              <a:rPr kumimoji="1" lang="zh-CN" altLang="en-US" sz="3200" b="1">
                <a:latin typeface="Times New Roman" pitchFamily="18" charset="0"/>
                <a:ea typeface="宋体" charset="-122"/>
                <a:sym typeface="Wingdings" pitchFamily="2" charset="2"/>
              </a:rPr>
              <a:t>整除，又能被</a:t>
            </a:r>
            <a:r>
              <a:rPr kumimoji="1" lang="en-US" altLang="zh-CN" sz="3200" b="1">
                <a:latin typeface="Times New Roman" pitchFamily="18" charset="0"/>
                <a:ea typeface="宋体" charset="-122"/>
                <a:sym typeface="Wingdings" pitchFamily="2" charset="2"/>
              </a:rPr>
              <a:t>400</a:t>
            </a:r>
            <a:r>
              <a:rPr kumimoji="1" lang="zh-CN" altLang="en-US" sz="3200" b="1">
                <a:latin typeface="Times New Roman" pitchFamily="18" charset="0"/>
                <a:ea typeface="宋体" charset="-122"/>
                <a:sym typeface="Wingdings" pitchFamily="2" charset="2"/>
              </a:rPr>
              <a:t>整除的年份是闰年，如</a:t>
            </a:r>
            <a:r>
              <a:rPr kumimoji="1" lang="en-US" altLang="zh-CN" sz="3200" b="1">
                <a:latin typeface="Times New Roman" pitchFamily="18" charset="0"/>
                <a:ea typeface="宋体" charset="-122"/>
                <a:sym typeface="Wingdings" pitchFamily="2" charset="2"/>
              </a:rPr>
              <a:t>1600</a:t>
            </a:r>
            <a:r>
              <a:rPr kumimoji="1" lang="zh-CN" altLang="en-US" sz="3200" b="1">
                <a:latin typeface="Times New Roman" pitchFamily="18" charset="0"/>
                <a:ea typeface="宋体" charset="-122"/>
                <a:sym typeface="Wingdings" pitchFamily="2" charset="2"/>
              </a:rPr>
              <a:t>年、</a:t>
            </a:r>
            <a:r>
              <a:rPr kumimoji="1" lang="en-US" altLang="zh-CN" sz="3200" b="1">
                <a:latin typeface="Times New Roman" pitchFamily="18" charset="0"/>
                <a:ea typeface="宋体" charset="-122"/>
                <a:sym typeface="Wingdings" pitchFamily="2" charset="2"/>
              </a:rPr>
              <a:t>2000</a:t>
            </a:r>
            <a:r>
              <a:rPr kumimoji="1" lang="zh-CN" altLang="en-US" sz="3200" b="1">
                <a:latin typeface="Times New Roman" pitchFamily="18" charset="0"/>
                <a:ea typeface="宋体" charset="-122"/>
                <a:sym typeface="Wingdings" pitchFamily="2" charset="2"/>
              </a:rPr>
              <a:t>年；</a:t>
            </a:r>
            <a:endParaRPr kumimoji="1" lang="en-US" altLang="zh-CN" sz="3200" b="1">
              <a:latin typeface="Times New Roman" pitchFamily="18" charset="0"/>
              <a:ea typeface="宋体" charset="-122"/>
              <a:sym typeface="Wingdings" pitchFamily="2" charset="2"/>
            </a:endParaRPr>
          </a:p>
          <a:p>
            <a:pPr marL="514350" indent="-514350" defTabSz="850900">
              <a:spcBef>
                <a:spcPct val="50000"/>
              </a:spcBef>
              <a:buFont typeface="+mj-lt"/>
              <a:buAutoNum type="arabicPeriod"/>
            </a:pPr>
            <a:r>
              <a:rPr kumimoji="1" lang="zh-CN" altLang="en-US" sz="3200" b="1">
                <a:latin typeface="Times New Roman" pitchFamily="18" charset="0"/>
                <a:ea typeface="宋体" charset="-122"/>
                <a:sym typeface="Wingdings" pitchFamily="2" charset="2"/>
              </a:rPr>
              <a:t>除此之外的所有年份都不是闰年。</a:t>
            </a:r>
            <a:endParaRPr kumimoji="1" lang="en-US" altLang="zh-CN" sz="3200" b="1">
              <a:solidFill>
                <a:schemeClr val="tx1"/>
              </a:solidFill>
              <a:latin typeface="Times New Roman" pitchFamily="18" charset="0"/>
              <a:ea typeface="宋体" charset="-122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1097229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3" y="98987"/>
            <a:ext cx="7615491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1776253" y="358604"/>
            <a:ext cx="8345488" cy="6254750"/>
          </a:xfrm>
          <a:prstGeom prst="rect">
            <a:avLst/>
          </a:prstGeom>
          <a:solidFill>
            <a:srgbClr val="0CFEF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eaLnBrk="1" hangingPunct="1"/>
            <a:endParaRPr lang="zh-CN" altLang="en-US">
              <a:ea typeface="宋体" charset="-122"/>
            </a:endParaRPr>
          </a:p>
        </p:txBody>
      </p:sp>
      <p:sp>
        <p:nvSpPr>
          <p:cNvPr id="11" name="Oval 4"/>
          <p:cNvSpPr>
            <a:spLocks noChangeArrowheads="1"/>
          </p:cNvSpPr>
          <p:nvPr/>
        </p:nvSpPr>
        <p:spPr bwMode="auto">
          <a:xfrm>
            <a:off x="2328703" y="1519067"/>
            <a:ext cx="7038975" cy="4848225"/>
          </a:xfrm>
          <a:prstGeom prst="ellipse">
            <a:avLst/>
          </a:prstGeom>
          <a:solidFill>
            <a:srgbClr val="FFFF66"/>
          </a:solidFill>
          <a:ln w="57150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endParaRPr kumimoji="1" lang="zh-CN" altLang="en-US" sz="2800" b="1">
              <a:solidFill>
                <a:srgbClr val="FFFFFF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4444841" y="1973092"/>
            <a:ext cx="2862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能被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4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整除的年份</a:t>
            </a:r>
          </a:p>
        </p:txBody>
      </p:sp>
      <p:grpSp>
        <p:nvGrpSpPr>
          <p:cNvPr id="13" name="Group 6"/>
          <p:cNvGrpSpPr>
            <a:grpSpLocks/>
          </p:cNvGrpSpPr>
          <p:nvPr/>
        </p:nvGrpSpPr>
        <p:grpSpPr bwMode="auto">
          <a:xfrm>
            <a:off x="3739991" y="2730329"/>
            <a:ext cx="4514850" cy="3149600"/>
            <a:chOff x="1539" y="1678"/>
            <a:chExt cx="2844" cy="1984"/>
          </a:xfrm>
        </p:grpSpPr>
        <p:sp>
          <p:nvSpPr>
            <p:cNvPr id="14" name="Oval 7"/>
            <p:cNvSpPr>
              <a:spLocks noChangeArrowheads="1"/>
            </p:cNvSpPr>
            <p:nvPr/>
          </p:nvSpPr>
          <p:spPr bwMode="auto">
            <a:xfrm>
              <a:off x="1539" y="1678"/>
              <a:ext cx="2844" cy="1984"/>
            </a:xfrm>
            <a:prstGeom prst="ellipse">
              <a:avLst/>
            </a:prstGeom>
            <a:solidFill>
              <a:srgbClr val="0CFEFE"/>
            </a:solidFill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endParaRPr lang="zh-CN" altLang="en-US">
                <a:ea typeface="宋体" charset="-122"/>
              </a:endParaRPr>
            </a:p>
          </p:txBody>
        </p:sp>
        <p:sp>
          <p:nvSpPr>
            <p:cNvPr id="15" name="Text Box 8"/>
            <p:cNvSpPr txBox="1">
              <a:spLocks noChangeArrowheads="1"/>
            </p:cNvSpPr>
            <p:nvPr/>
          </p:nvSpPr>
          <p:spPr bwMode="auto">
            <a:xfrm>
              <a:off x="1949" y="1913"/>
              <a:ext cx="202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rgbClr val="CC0066"/>
                  </a:solidFill>
                  <a:latin typeface="Tahoma" pitchFamily="34" charset="0"/>
                </a:defRPr>
              </a:lvl1pPr>
              <a:lvl2pPr marL="742950" indent="-285750">
                <a:defRPr sz="3200">
                  <a:solidFill>
                    <a:srgbClr val="CC0066"/>
                  </a:solidFill>
                  <a:latin typeface="Tahoma" pitchFamily="34" charset="0"/>
                </a:defRPr>
              </a:lvl2pPr>
              <a:lvl3pPr marL="1143000" indent="-228600">
                <a:defRPr sz="3200">
                  <a:solidFill>
                    <a:srgbClr val="CC0066"/>
                  </a:solidFill>
                  <a:latin typeface="Tahoma" pitchFamily="34" charset="0"/>
                </a:defRPr>
              </a:lvl3pPr>
              <a:lvl4pPr marL="1600200" indent="-228600">
                <a:defRPr sz="3200">
                  <a:solidFill>
                    <a:srgbClr val="CC0066"/>
                  </a:solidFill>
                  <a:latin typeface="Tahoma" pitchFamily="34" charset="0"/>
                </a:defRPr>
              </a:lvl4pPr>
              <a:lvl5pPr marL="2057400" indent="-228600">
                <a:defRPr sz="3200">
                  <a:solidFill>
                    <a:srgbClr val="CC0066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ahoma" pitchFamily="34" charset="0"/>
                </a:defRPr>
              </a:lvl9pPr>
            </a:lstStyle>
            <a:p>
              <a:r>
                <a:rPr kumimoji="1" lang="zh-CN" altLang="en-US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能被</a:t>
              </a:r>
              <a:r>
                <a:rPr kumimoji="1" lang="en-US" altLang="zh-CN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100</a:t>
              </a:r>
              <a:r>
                <a:rPr kumimoji="1" lang="zh-CN" altLang="en-US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整除的年份</a:t>
              </a:r>
            </a:p>
          </p:txBody>
        </p:sp>
      </p:grpSp>
      <p:grpSp>
        <p:nvGrpSpPr>
          <p:cNvPr id="16" name="Group 9"/>
          <p:cNvGrpSpPr>
            <a:grpSpLocks/>
          </p:cNvGrpSpPr>
          <p:nvPr/>
        </p:nvGrpSpPr>
        <p:grpSpPr bwMode="auto">
          <a:xfrm>
            <a:off x="4854416" y="3765379"/>
            <a:ext cx="2395537" cy="1597025"/>
            <a:chOff x="2241" y="2330"/>
            <a:chExt cx="1509" cy="1006"/>
          </a:xfrm>
        </p:grpSpPr>
        <p:sp>
          <p:nvSpPr>
            <p:cNvPr id="17" name="Oval 10"/>
            <p:cNvSpPr>
              <a:spLocks noChangeArrowheads="1"/>
            </p:cNvSpPr>
            <p:nvPr/>
          </p:nvSpPr>
          <p:spPr bwMode="auto">
            <a:xfrm>
              <a:off x="2241" y="2330"/>
              <a:ext cx="1509" cy="1006"/>
            </a:xfrm>
            <a:prstGeom prst="ellipse">
              <a:avLst/>
            </a:prstGeom>
            <a:solidFill>
              <a:srgbClr val="FFFF66"/>
            </a:solidFill>
            <a:ln w="57150">
              <a:solidFill>
                <a:srgbClr val="80008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1" hangingPunct="1"/>
              <a:endParaRPr lang="zh-CN" altLang="en-US">
                <a:ea typeface="宋体" charset="-122"/>
              </a:endParaRPr>
            </a:p>
          </p:txBody>
        </p:sp>
        <p:sp>
          <p:nvSpPr>
            <p:cNvPr id="18" name="Text Box 11"/>
            <p:cNvSpPr txBox="1">
              <a:spLocks noChangeArrowheads="1"/>
            </p:cNvSpPr>
            <p:nvPr/>
          </p:nvSpPr>
          <p:spPr bwMode="auto">
            <a:xfrm>
              <a:off x="2253" y="2712"/>
              <a:ext cx="148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rgbClr val="CC0066"/>
                  </a:solidFill>
                  <a:latin typeface="Tahoma" pitchFamily="34" charset="0"/>
                </a:defRPr>
              </a:lvl1pPr>
              <a:lvl2pPr marL="742950" indent="-285750">
                <a:defRPr sz="3200">
                  <a:solidFill>
                    <a:srgbClr val="CC0066"/>
                  </a:solidFill>
                  <a:latin typeface="Tahoma" pitchFamily="34" charset="0"/>
                </a:defRPr>
              </a:lvl2pPr>
              <a:lvl3pPr marL="1143000" indent="-228600">
                <a:defRPr sz="3200">
                  <a:solidFill>
                    <a:srgbClr val="CC0066"/>
                  </a:solidFill>
                  <a:latin typeface="Tahoma" pitchFamily="34" charset="0"/>
                </a:defRPr>
              </a:lvl3pPr>
              <a:lvl4pPr marL="1600200" indent="-228600">
                <a:defRPr sz="3200">
                  <a:solidFill>
                    <a:srgbClr val="CC0066"/>
                  </a:solidFill>
                  <a:latin typeface="Tahoma" pitchFamily="34" charset="0"/>
                </a:defRPr>
              </a:lvl4pPr>
              <a:lvl5pPr marL="2057400" indent="-228600">
                <a:defRPr sz="3200">
                  <a:solidFill>
                    <a:srgbClr val="CC0066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ahoma" pitchFamily="34" charset="0"/>
                </a:defRPr>
              </a:lvl9pPr>
            </a:lstStyle>
            <a:p>
              <a:r>
                <a:rPr kumimoji="1" lang="zh-CN" altLang="en-US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能被</a:t>
              </a: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400</a:t>
              </a:r>
              <a:r>
                <a:rPr kumimoji="1" lang="zh-CN" altLang="en-US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整除的年份</a:t>
              </a:r>
            </a:p>
          </p:txBody>
        </p:sp>
      </p:grpSp>
      <p:sp>
        <p:nvSpPr>
          <p:cNvPr id="19" name="Text Box 12"/>
          <p:cNvSpPr txBox="1">
            <a:spLocks noChangeArrowheads="1"/>
          </p:cNvSpPr>
          <p:nvPr/>
        </p:nvSpPr>
        <p:spPr bwMode="auto">
          <a:xfrm>
            <a:off x="4854416" y="652292"/>
            <a:ext cx="19700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所有的年份</a:t>
            </a:r>
          </a:p>
        </p:txBody>
      </p:sp>
    </p:spTree>
    <p:extLst>
      <p:ext uri="{BB962C8B-B14F-4D97-AF65-F5344CB8AC3E}">
        <p14:creationId xmlns:p14="http://schemas.microsoft.com/office/powerpoint/2010/main" val="2725880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3" y="98987"/>
            <a:ext cx="7615491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判断是否闰年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998927" y="1313439"/>
            <a:ext cx="9990497" cy="4585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defTabSz="850900" eaLnBrk="1" hangingPunct="1">
              <a:spcBef>
                <a:spcPct val="50000"/>
              </a:spcBef>
              <a:buClr>
                <a:srgbClr val="FFFF66"/>
              </a:buClr>
            </a:pPr>
            <a:r>
              <a:rPr kumimoji="1" lang="zh-CN" altLang="en-US" sz="36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规则分析：</a:t>
            </a:r>
          </a:p>
          <a:p>
            <a:pPr defTabSz="850900" eaLnBrk="1" hangingPunct="1">
              <a:spcBef>
                <a:spcPct val="50000"/>
              </a:spcBef>
              <a:buClr>
                <a:srgbClr val="FFFF66"/>
              </a:buClr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Wingdings" pitchFamily="2" charset="2"/>
              </a:rPr>
              <a:t></a:t>
            </a:r>
            <a:r>
              <a:rPr kumimoji="1"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Wingdings" pitchFamily="2" charset="2"/>
              </a:rPr>
              <a:t> 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Wingdings" pitchFamily="2" charset="2"/>
              </a:rPr>
              <a:t>能被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Wingdings" pitchFamily="2" charset="2"/>
              </a:rPr>
              <a:t>4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Wingdings" pitchFamily="2" charset="2"/>
              </a:rPr>
              <a:t>整除，但不能被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Wingdings" pitchFamily="2" charset="2"/>
              </a:rPr>
              <a:t>100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Wingdings" pitchFamily="2" charset="2"/>
              </a:rPr>
              <a:t>整除的年份都是闰年；写成逻辑表达式就是：</a:t>
            </a:r>
          </a:p>
          <a:p>
            <a:pPr defTabSz="850900" eaLnBrk="1" hangingPunct="1">
              <a:spcBef>
                <a:spcPct val="50000"/>
              </a:spcBef>
              <a:buClr>
                <a:srgbClr val="FFFF66"/>
              </a:buClr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Wingdings" pitchFamily="2" charset="2"/>
              </a:rPr>
              <a:t>	 </a:t>
            </a:r>
          </a:p>
          <a:p>
            <a:pPr defTabSz="850900" eaLnBrk="1" hangingPunct="1">
              <a:spcBef>
                <a:spcPct val="50000"/>
              </a:spcBef>
              <a:buClr>
                <a:srgbClr val="FFFF66"/>
              </a:buClr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Wingdings" pitchFamily="2" charset="2"/>
              </a:rPr>
              <a:t> 能被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Wingdings" pitchFamily="2" charset="2"/>
              </a:rPr>
              <a:t>100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Wingdings" pitchFamily="2" charset="2"/>
              </a:rPr>
              <a:t>整除，又能被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Wingdings" pitchFamily="2" charset="2"/>
              </a:rPr>
              <a:t>400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Wingdings" pitchFamily="2" charset="2"/>
              </a:rPr>
              <a:t>整除的年份是闰年；写成关系表达式就是：</a:t>
            </a:r>
          </a:p>
          <a:p>
            <a:pPr defTabSz="850900" eaLnBrk="1" hangingPunct="1">
              <a:spcBef>
                <a:spcPct val="50000"/>
              </a:spcBef>
              <a:buClr>
                <a:srgbClr val="FFFF66"/>
              </a:buClr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Wingdings" pitchFamily="2" charset="2"/>
              </a:rPr>
              <a:t>	</a:t>
            </a:r>
            <a:endParaRPr kumimoji="1" lang="zh-CN" altLang="en-US" sz="3200" b="1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628671" y="3210918"/>
            <a:ext cx="67757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 b="1">
                <a:solidFill>
                  <a:srgbClr val="82308E"/>
                </a:solidFill>
                <a:latin typeface="Times New Roman" pitchFamily="18" charset="0"/>
                <a:ea typeface="宋体" charset="-122"/>
                <a:sym typeface="Wingdings" pitchFamily="2" charset="2"/>
              </a:rPr>
              <a:t>(year % 4 == 0  and  year % 100 != 0)</a:t>
            </a: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1628671" y="5169978"/>
            <a:ext cx="34131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 b="1">
                <a:solidFill>
                  <a:srgbClr val="82308E"/>
                </a:solidFill>
                <a:latin typeface="Times New Roman" pitchFamily="18" charset="0"/>
                <a:ea typeface="宋体" charset="-122"/>
                <a:sym typeface="Wingdings" pitchFamily="2" charset="2"/>
              </a:rPr>
              <a:t>(year % 400  == 0)</a:t>
            </a:r>
          </a:p>
        </p:txBody>
      </p:sp>
    </p:spTree>
    <p:extLst>
      <p:ext uri="{BB962C8B-B14F-4D97-AF65-F5344CB8AC3E}">
        <p14:creationId xmlns:p14="http://schemas.microsoft.com/office/powerpoint/2010/main" val="3308565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3" y="98987"/>
            <a:ext cx="7615491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 noProof="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参考代码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2037999" y="997151"/>
            <a:ext cx="8243888" cy="5401479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r>
              <a:rPr lang="en-US" altLang="zh-CN" sz="2000"/>
              <a:t>#_*_ coding: gbk _*_</a:t>
            </a:r>
            <a:endParaRPr kumimoji="1" lang="en-US" altLang="zh-CN" sz="2000" b="1">
              <a:solidFill>
                <a:schemeClr val="tx1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 eaLnBrk="1" hangingPunct="1"/>
            <a:r>
              <a:rPr kumimoji="1" lang="en-US" altLang="zh-CN" sz="20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y = int(input())</a:t>
            </a:r>
          </a:p>
          <a:p>
            <a:pPr eaLnBrk="1" hangingPunct="1"/>
            <a:r>
              <a:rPr kumimoji="1" lang="en-US" altLang="zh-CN" sz="2000" b="1">
                <a:latin typeface="Courier New" pitchFamily="49" charset="0"/>
                <a:ea typeface="宋体" charset="-122"/>
                <a:cs typeface="Courier New" pitchFamily="49" charset="0"/>
              </a:rPr>
              <a:t>m = </a:t>
            </a:r>
            <a:r>
              <a:rPr kumimoji="1" lang="en-US" altLang="zh-CN" sz="20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int(input())</a:t>
            </a:r>
          </a:p>
          <a:p>
            <a:pPr eaLnBrk="1" hangingPunct="1"/>
            <a:r>
              <a:rPr kumimoji="1" lang="en-US" altLang="zh-CN" sz="2000" b="1">
                <a:latin typeface="Courier New" pitchFamily="49" charset="0"/>
                <a:ea typeface="宋体" charset="-122"/>
                <a:cs typeface="Courier New" pitchFamily="49" charset="0"/>
              </a:rPr>
              <a:t>d = int(input())</a:t>
            </a:r>
          </a:p>
          <a:p>
            <a:pPr eaLnBrk="1" hangingPunct="1">
              <a:spcAft>
                <a:spcPts val="600"/>
              </a:spcAft>
            </a:pPr>
            <a:r>
              <a:rPr kumimoji="1" lang="en-US" altLang="zh-CN" sz="20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if (m == 1):</a:t>
            </a:r>
          </a:p>
          <a:p>
            <a:pPr eaLnBrk="1" hangingPunct="1"/>
            <a:r>
              <a:rPr kumimoji="1" lang="en-US" altLang="zh-CN" sz="20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day31 = day30 = day28 = 0</a:t>
            </a:r>
          </a:p>
          <a:p>
            <a:pPr eaLnBrk="1" hangingPunct="1"/>
            <a:r>
              <a:rPr kumimoji="1" lang="en-US" altLang="zh-CN" sz="20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elif (m == 2):</a:t>
            </a:r>
          </a:p>
          <a:p>
            <a:pPr eaLnBrk="1" hangingPunct="1"/>
            <a:r>
              <a:rPr kumimoji="1" lang="en-US" altLang="zh-CN" sz="20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day31 = 1</a:t>
            </a:r>
          </a:p>
          <a:p>
            <a:pPr eaLnBrk="1" hangingPunct="1"/>
            <a:r>
              <a:rPr kumimoji="1" lang="en-US" altLang="zh-CN" sz="20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day30 = day28 = 0</a:t>
            </a:r>
          </a:p>
          <a:p>
            <a:pPr eaLnBrk="1" hangingPunct="1"/>
            <a:r>
              <a:rPr kumimoji="1" lang="en-US" altLang="zh-CN" sz="20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elif (m &lt;= 8):</a:t>
            </a:r>
          </a:p>
          <a:p>
            <a:pPr eaLnBrk="1" hangingPunct="1"/>
            <a:r>
              <a:rPr kumimoji="1" lang="en-US" altLang="zh-CN" sz="20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day31 = m // 2</a:t>
            </a:r>
          </a:p>
          <a:p>
            <a:pPr eaLnBrk="1" hangingPunct="1"/>
            <a:r>
              <a:rPr kumimoji="1" lang="en-US" altLang="zh-CN" sz="20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day28 = 1 </a:t>
            </a:r>
          </a:p>
          <a:p>
            <a:pPr eaLnBrk="1" hangingPunct="1"/>
            <a:r>
              <a:rPr kumimoji="1" lang="en-US" altLang="zh-CN" sz="20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day30 = m - 1 - day31 - day28</a:t>
            </a:r>
          </a:p>
          <a:p>
            <a:pPr eaLnBrk="1" hangingPunct="1"/>
            <a:r>
              <a:rPr kumimoji="1" lang="en-US" altLang="zh-CN" sz="20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else:</a:t>
            </a:r>
          </a:p>
          <a:p>
            <a:pPr eaLnBrk="1" hangingPunct="1"/>
            <a:r>
              <a:rPr kumimoji="1" lang="en-US" altLang="zh-CN" sz="20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day31 = (m + 1) // 2</a:t>
            </a:r>
          </a:p>
          <a:p>
            <a:pPr eaLnBrk="1" hangingPunct="1"/>
            <a:r>
              <a:rPr kumimoji="1" lang="en-US" altLang="zh-CN" sz="20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day28 = 1 </a:t>
            </a:r>
          </a:p>
          <a:p>
            <a:pPr eaLnBrk="1" hangingPunct="1"/>
            <a:r>
              <a:rPr kumimoji="1" lang="en-US" altLang="zh-CN" sz="20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day30  =  m -1 - day31 - day28</a:t>
            </a:r>
          </a:p>
        </p:txBody>
      </p:sp>
    </p:spTree>
    <p:extLst>
      <p:ext uri="{BB962C8B-B14F-4D97-AF65-F5344CB8AC3E}">
        <p14:creationId xmlns:p14="http://schemas.microsoft.com/office/powerpoint/2010/main" val="12104018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3" y="98987"/>
            <a:ext cx="7615491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 noProof="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参考代码</a:t>
            </a:r>
            <a:r>
              <a:rPr lang="en-US" altLang="zh-CN" sz="4800" noProof="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422856" y="1371231"/>
            <a:ext cx="9234060" cy="403187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kumimoji="1" lang="en-US" altLang="zh-CN" sz="2400" b="1">
                <a:latin typeface="Courier New" pitchFamily="49" charset="0"/>
                <a:ea typeface="宋体" charset="-122"/>
                <a:cs typeface="Courier New" pitchFamily="49" charset="0"/>
              </a:rPr>
              <a:t>C = day31*31 + day28*28 + day30*30 + d</a:t>
            </a:r>
          </a:p>
          <a:p>
            <a:pPr>
              <a:spcBef>
                <a:spcPts val="600"/>
              </a:spcBef>
            </a:pPr>
            <a:r>
              <a:rPr kumimoji="1" lang="en-US" altLang="zh-CN" sz="2400" b="1">
                <a:latin typeface="Courier New" pitchFamily="49" charset="0"/>
                <a:ea typeface="宋体" charset="-122"/>
                <a:cs typeface="Courier New" pitchFamily="49" charset="0"/>
              </a:rPr>
              <a:t>if((y%4 == 0 and y%100 != 0) or (y%400 == 0)):</a:t>
            </a:r>
          </a:p>
          <a:p>
            <a:pPr>
              <a:spcBef>
                <a:spcPts val="600"/>
              </a:spcBef>
            </a:pPr>
            <a:r>
              <a:rPr kumimoji="1" lang="en-US" altLang="zh-CN" sz="2400" b="1">
                <a:latin typeface="Courier New" pitchFamily="49" charset="0"/>
                <a:ea typeface="宋体" charset="-122"/>
                <a:cs typeface="Courier New" pitchFamily="49" charset="0"/>
              </a:rPr>
              <a:t>    if(m &gt; 2):</a:t>
            </a:r>
          </a:p>
          <a:p>
            <a:pPr>
              <a:spcBef>
                <a:spcPts val="600"/>
              </a:spcBef>
            </a:pPr>
            <a:r>
              <a:rPr kumimoji="1" lang="en-US" altLang="zh-CN" sz="2400" b="1">
                <a:latin typeface="Courier New" pitchFamily="49" charset="0"/>
                <a:ea typeface="宋体" charset="-122"/>
                <a:cs typeface="Courier New" pitchFamily="49" charset="0"/>
              </a:rPr>
              <a:t>        C = C + 1</a:t>
            </a:r>
          </a:p>
          <a:p>
            <a:pPr>
              <a:spcBef>
                <a:spcPts val="600"/>
              </a:spcBef>
            </a:pPr>
            <a:r>
              <a:rPr kumimoji="1" lang="en-US" altLang="zh-CN" sz="2400" b="1">
                <a:latin typeface="Courier New" pitchFamily="49" charset="0"/>
                <a:ea typeface="宋体" charset="-122"/>
                <a:cs typeface="Courier New" pitchFamily="49" charset="0"/>
              </a:rPr>
              <a:t>S = y-1 + (y-1)//4 - (y-1)//100 + (y-1)//400 + C</a:t>
            </a:r>
          </a:p>
          <a:p>
            <a:pPr>
              <a:spcBef>
                <a:spcPts val="600"/>
              </a:spcBef>
            </a:pPr>
            <a:r>
              <a:rPr kumimoji="1" lang="en-US" altLang="zh-CN" sz="2400" b="1">
                <a:latin typeface="Courier New" pitchFamily="49" charset="0"/>
                <a:ea typeface="宋体" charset="-122"/>
                <a:cs typeface="Courier New" pitchFamily="49" charset="0"/>
              </a:rPr>
              <a:t>if(S%7 == 0):</a:t>
            </a:r>
          </a:p>
          <a:p>
            <a:pPr>
              <a:spcBef>
                <a:spcPts val="600"/>
              </a:spcBef>
            </a:pPr>
            <a:r>
              <a:rPr kumimoji="1" lang="en-US" altLang="zh-CN" sz="2400" b="1">
                <a:latin typeface="Courier New" pitchFamily="49" charset="0"/>
                <a:ea typeface="宋体" charset="-122"/>
                <a:cs typeface="Courier New" pitchFamily="49" charset="0"/>
              </a:rPr>
              <a:t>    print(y, "</a:t>
            </a:r>
            <a:r>
              <a:rPr kumimoji="1" lang="zh-CN" altLang="en-US" sz="2400" b="1">
                <a:latin typeface="Courier New" pitchFamily="49" charset="0"/>
                <a:ea typeface="宋体" charset="-122"/>
                <a:cs typeface="Courier New" pitchFamily="49" charset="0"/>
              </a:rPr>
              <a:t>年</a:t>
            </a:r>
            <a:r>
              <a:rPr kumimoji="1" lang="en-US" altLang="zh-CN" sz="2400" b="1">
                <a:latin typeface="Courier New" pitchFamily="49" charset="0"/>
                <a:ea typeface="宋体" charset="-122"/>
                <a:cs typeface="Courier New" pitchFamily="49" charset="0"/>
              </a:rPr>
              <a:t>", m, "</a:t>
            </a:r>
            <a:r>
              <a:rPr kumimoji="1" lang="zh-CN" altLang="en-US" sz="2400" b="1">
                <a:latin typeface="Courier New" pitchFamily="49" charset="0"/>
                <a:ea typeface="宋体" charset="-122"/>
                <a:cs typeface="Courier New" pitchFamily="49" charset="0"/>
              </a:rPr>
              <a:t>月</a:t>
            </a:r>
            <a:r>
              <a:rPr kumimoji="1" lang="en-US" altLang="zh-CN" sz="2400" b="1">
                <a:latin typeface="Courier New" pitchFamily="49" charset="0"/>
                <a:ea typeface="宋体" charset="-122"/>
                <a:cs typeface="Courier New" pitchFamily="49" charset="0"/>
              </a:rPr>
              <a:t>", d, "</a:t>
            </a:r>
            <a:r>
              <a:rPr kumimoji="1" lang="zh-CN" altLang="en-US" sz="2400" b="1">
                <a:latin typeface="Courier New" pitchFamily="49" charset="0"/>
                <a:ea typeface="宋体" charset="-122"/>
                <a:cs typeface="Courier New" pitchFamily="49" charset="0"/>
              </a:rPr>
              <a:t>日是星期日</a:t>
            </a:r>
            <a:r>
              <a:rPr kumimoji="1" lang="en-US" altLang="zh-CN" sz="2400" b="1">
                <a:latin typeface="Courier New" pitchFamily="49" charset="0"/>
                <a:ea typeface="宋体" charset="-122"/>
                <a:cs typeface="Courier New" pitchFamily="49" charset="0"/>
              </a:rPr>
              <a:t>")</a:t>
            </a:r>
          </a:p>
          <a:p>
            <a:pPr>
              <a:spcBef>
                <a:spcPts val="600"/>
              </a:spcBef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else:</a:t>
            </a:r>
          </a:p>
          <a:p>
            <a:pPr>
              <a:spcBef>
                <a:spcPts val="600"/>
              </a:spcBef>
            </a:pPr>
            <a:r>
              <a:rPr kumimoji="1" lang="en-US" altLang="zh-CN" sz="2400" b="1">
                <a:latin typeface="Courier New" pitchFamily="49" charset="0"/>
                <a:ea typeface="宋体" charset="-122"/>
                <a:cs typeface="Courier New" pitchFamily="49" charset="0"/>
              </a:rPr>
              <a:t>    print(y, "</a:t>
            </a:r>
            <a:r>
              <a:rPr kumimoji="1" lang="zh-CN" altLang="en-US" sz="2400" b="1">
                <a:latin typeface="Courier New" pitchFamily="49" charset="0"/>
                <a:ea typeface="宋体" charset="-122"/>
                <a:cs typeface="Courier New" pitchFamily="49" charset="0"/>
              </a:rPr>
              <a:t>年</a:t>
            </a:r>
            <a:r>
              <a:rPr kumimoji="1" lang="en-US" altLang="zh-CN" sz="2400" b="1">
                <a:latin typeface="Courier New" pitchFamily="49" charset="0"/>
                <a:ea typeface="宋体" charset="-122"/>
                <a:cs typeface="Courier New" pitchFamily="49" charset="0"/>
              </a:rPr>
              <a:t>", m, "</a:t>
            </a:r>
            <a:r>
              <a:rPr kumimoji="1" lang="zh-CN" altLang="en-US" sz="2400" b="1">
                <a:latin typeface="Courier New" pitchFamily="49" charset="0"/>
                <a:ea typeface="宋体" charset="-122"/>
                <a:cs typeface="Courier New" pitchFamily="49" charset="0"/>
              </a:rPr>
              <a:t>月</a:t>
            </a:r>
            <a:r>
              <a:rPr kumimoji="1" lang="en-US" altLang="zh-CN" sz="2400" b="1">
                <a:latin typeface="Courier New" pitchFamily="49" charset="0"/>
                <a:ea typeface="宋体" charset="-122"/>
                <a:cs typeface="Courier New" pitchFamily="49" charset="0"/>
              </a:rPr>
              <a:t>", d, "</a:t>
            </a:r>
            <a:r>
              <a:rPr kumimoji="1" lang="zh-CN" altLang="en-US" sz="2400" b="1">
                <a:latin typeface="Courier New" pitchFamily="49" charset="0"/>
                <a:ea typeface="宋体" charset="-122"/>
                <a:cs typeface="Courier New" pitchFamily="49" charset="0"/>
              </a:rPr>
              <a:t>日是星期</a:t>
            </a:r>
            <a:r>
              <a:rPr kumimoji="1" lang="en-US" altLang="zh-CN" sz="2400" b="1">
                <a:latin typeface="Courier New" pitchFamily="49" charset="0"/>
                <a:ea typeface="宋体" charset="-122"/>
                <a:cs typeface="Courier New" pitchFamily="49" charset="0"/>
              </a:rPr>
              <a:t>", S%7)</a:t>
            </a:r>
            <a:endParaRPr kumimoji="1" lang="en-US" altLang="zh-CN" sz="2400" b="1">
              <a:solidFill>
                <a:schemeClr val="tx1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</p:txBody>
      </p:sp>
      <p:sp>
        <p:nvSpPr>
          <p:cNvPr id="9" name="Text Box 12"/>
          <p:cNvSpPr txBox="1">
            <a:spLocks noChangeArrowheads="1"/>
          </p:cNvSpPr>
          <p:nvPr/>
        </p:nvSpPr>
        <p:spPr bwMode="auto">
          <a:xfrm>
            <a:off x="7289737" y="5635636"/>
            <a:ext cx="22445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其他方法？</a:t>
            </a:r>
          </a:p>
        </p:txBody>
      </p:sp>
    </p:spTree>
    <p:extLst>
      <p:ext uri="{BB962C8B-B14F-4D97-AF65-F5344CB8AC3E}">
        <p14:creationId xmlns:p14="http://schemas.microsoft.com/office/powerpoint/2010/main" val="4008407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54190" y="49109"/>
            <a:ext cx="5994422" cy="6127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6082" y="371475"/>
            <a:ext cx="6076950" cy="611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9690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f2660095-1412-4de3-82c3-8cc48b93c150"/>
  <p:tag name="COMMONDATA" val="eyJoZGlkIjoiNWRkODIxNmNlMWQwOGQ5ZWM2NDdjYjliN2MxOTE4YT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主题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A550DE"/>
      </a:accent1>
      <a:accent2>
        <a:srgbClr val="81308C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A550DE"/>
    </a:accent1>
    <a:accent2>
      <a:srgbClr val="81308C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2678</TotalTime>
  <Words>3091</Words>
  <Application>Microsoft Office PowerPoint</Application>
  <PresentationFormat>宽屏</PresentationFormat>
  <Paragraphs>439</Paragraphs>
  <Slides>53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53</vt:i4>
      </vt:variant>
    </vt:vector>
  </HeadingPairs>
  <TitlesOfParts>
    <vt:vector size="74" baseType="lpstr">
      <vt:lpstr>等线</vt:lpstr>
      <vt:lpstr>方正舒体</vt:lpstr>
      <vt:lpstr>黑体</vt:lpstr>
      <vt:lpstr>楷体_GB2312</vt:lpstr>
      <vt:lpstr>隶书</vt:lpstr>
      <vt:lpstr>宋体</vt:lpstr>
      <vt:lpstr>微软雅黑</vt:lpstr>
      <vt:lpstr>Arial</vt:lpstr>
      <vt:lpstr>Arial Black</vt:lpstr>
      <vt:lpstr>Calibri</vt:lpstr>
      <vt:lpstr>Courier New</vt:lpstr>
      <vt:lpstr>Segoe UI</vt:lpstr>
      <vt:lpstr>Segoe UI Semilight</vt:lpstr>
      <vt:lpstr>Symbol</vt:lpstr>
      <vt:lpstr>Tahoma</vt:lpstr>
      <vt:lpstr>Times New Roman</vt:lpstr>
      <vt:lpstr>Wingdings</vt:lpstr>
      <vt:lpstr>Wingdings 2</vt:lpstr>
      <vt:lpstr>1_Office 主题</vt:lpstr>
      <vt:lpstr>公式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CWJ</cp:lastModifiedBy>
  <cp:revision>258</cp:revision>
  <dcterms:created xsi:type="dcterms:W3CDTF">2020-07-27T01:08:00Z</dcterms:created>
  <dcterms:modified xsi:type="dcterms:W3CDTF">2025-09-27T13:02:12Z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F2ED8728BD3849908EBCAD75A285C632_13</vt:lpwstr>
  </property>
  <property fmtid="{D5CDD505-2E9C-101B-9397-08002B2CF9AE}" pid="3" name="KSOProductBuildVer">
    <vt:lpwstr>2052-11.1.0.14309</vt:lpwstr>
  </property>
</Properties>
</file>