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5.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7"/>
  </p:notesMasterIdLst>
  <p:handoutMasterIdLst>
    <p:handoutMasterId r:id="rId98"/>
  </p:handoutMasterIdLst>
  <p:sldIdLst>
    <p:sldId id="398" r:id="rId2"/>
    <p:sldId id="409" r:id="rId3"/>
    <p:sldId id="410" r:id="rId4"/>
    <p:sldId id="518" r:id="rId5"/>
    <p:sldId id="519" r:id="rId6"/>
    <p:sldId id="520" r:id="rId7"/>
    <p:sldId id="521" r:id="rId8"/>
    <p:sldId id="517" r:id="rId9"/>
    <p:sldId id="500" r:id="rId10"/>
    <p:sldId id="523" r:id="rId11"/>
    <p:sldId id="499" r:id="rId12"/>
    <p:sldId id="522" r:id="rId13"/>
    <p:sldId id="524" r:id="rId14"/>
    <p:sldId id="525" r:id="rId15"/>
    <p:sldId id="526" r:id="rId16"/>
    <p:sldId id="527" r:id="rId17"/>
    <p:sldId id="528" r:id="rId18"/>
    <p:sldId id="529" r:id="rId19"/>
    <p:sldId id="531" r:id="rId20"/>
    <p:sldId id="532" r:id="rId21"/>
    <p:sldId id="533" r:id="rId22"/>
    <p:sldId id="530" r:id="rId23"/>
    <p:sldId id="535" r:id="rId24"/>
    <p:sldId id="534" r:id="rId25"/>
    <p:sldId id="536" r:id="rId26"/>
    <p:sldId id="538" r:id="rId27"/>
    <p:sldId id="539" r:id="rId28"/>
    <p:sldId id="540" r:id="rId29"/>
    <p:sldId id="541" r:id="rId30"/>
    <p:sldId id="542" r:id="rId31"/>
    <p:sldId id="537" r:id="rId32"/>
    <p:sldId id="502" r:id="rId33"/>
    <p:sldId id="543" r:id="rId34"/>
    <p:sldId id="503" r:id="rId35"/>
    <p:sldId id="544" r:id="rId36"/>
    <p:sldId id="545" r:id="rId37"/>
    <p:sldId id="549" r:id="rId38"/>
    <p:sldId id="504" r:id="rId39"/>
    <p:sldId id="546" r:id="rId40"/>
    <p:sldId id="547" r:id="rId41"/>
    <p:sldId id="505" r:id="rId42"/>
    <p:sldId id="506" r:id="rId43"/>
    <p:sldId id="548" r:id="rId44"/>
    <p:sldId id="550" r:id="rId45"/>
    <p:sldId id="551" r:id="rId46"/>
    <p:sldId id="552" r:id="rId47"/>
    <p:sldId id="553" r:id="rId48"/>
    <p:sldId id="554" r:id="rId49"/>
    <p:sldId id="555" r:id="rId50"/>
    <p:sldId id="507" r:id="rId51"/>
    <p:sldId id="556" r:id="rId52"/>
    <p:sldId id="557" r:id="rId53"/>
    <p:sldId id="558" r:id="rId54"/>
    <p:sldId id="559" r:id="rId55"/>
    <p:sldId id="560" r:id="rId56"/>
    <p:sldId id="561" r:id="rId57"/>
    <p:sldId id="562" r:id="rId58"/>
    <p:sldId id="563" r:id="rId59"/>
    <p:sldId id="564" r:id="rId60"/>
    <p:sldId id="508" r:id="rId61"/>
    <p:sldId id="509" r:id="rId62"/>
    <p:sldId id="510" r:id="rId63"/>
    <p:sldId id="511" r:id="rId64"/>
    <p:sldId id="512" r:id="rId65"/>
    <p:sldId id="513" r:id="rId66"/>
    <p:sldId id="514" r:id="rId67"/>
    <p:sldId id="515" r:id="rId68"/>
    <p:sldId id="516" r:id="rId69"/>
    <p:sldId id="565" r:id="rId70"/>
    <p:sldId id="566" r:id="rId71"/>
    <p:sldId id="567" r:id="rId72"/>
    <p:sldId id="568" r:id="rId73"/>
    <p:sldId id="569" r:id="rId74"/>
    <p:sldId id="570" r:id="rId75"/>
    <p:sldId id="571" r:id="rId76"/>
    <p:sldId id="572" r:id="rId77"/>
    <p:sldId id="573" r:id="rId78"/>
    <p:sldId id="574" r:id="rId79"/>
    <p:sldId id="575" r:id="rId80"/>
    <p:sldId id="576" r:id="rId81"/>
    <p:sldId id="577" r:id="rId82"/>
    <p:sldId id="578" r:id="rId83"/>
    <p:sldId id="579" r:id="rId84"/>
    <p:sldId id="580" r:id="rId85"/>
    <p:sldId id="581" r:id="rId86"/>
    <p:sldId id="582" r:id="rId87"/>
    <p:sldId id="583" r:id="rId88"/>
    <p:sldId id="584" r:id="rId89"/>
    <p:sldId id="585" r:id="rId90"/>
    <p:sldId id="586" r:id="rId91"/>
    <p:sldId id="587" r:id="rId92"/>
    <p:sldId id="588" r:id="rId93"/>
    <p:sldId id="589" r:id="rId94"/>
    <p:sldId id="590" r:id="rId95"/>
    <p:sldId id="438" r:id="rId96"/>
  </p:sldIdLst>
  <p:sldSz cx="12192000" cy="6858000"/>
  <p:notesSz cx="6858000" cy="9144000"/>
  <p:custDataLst>
    <p:tags r:id="rId9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4" userDrawn="1">
          <p15:clr>
            <a:srgbClr val="A4A3A4"/>
          </p15:clr>
        </p15:guide>
        <p15:guide id="2" pos="388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1D1F0"/>
    <a:srgbClr val="82308E"/>
    <a:srgbClr val="005825"/>
    <a:srgbClr val="0086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9" d="100"/>
          <a:sy n="89" d="100"/>
        </p:scale>
        <p:origin x="304" y="64"/>
      </p:cViewPr>
      <p:guideLst>
        <p:guide orient="horz" pos="2164"/>
        <p:guide pos="3886"/>
      </p:guideLst>
    </p:cSldViewPr>
  </p:slideViewPr>
  <p:notesTextViewPr>
    <p:cViewPr>
      <p:scale>
        <a:sx n="1" d="1"/>
        <a:sy n="1" d="1"/>
      </p:scale>
      <p:origin x="0" y="0"/>
    </p:cViewPr>
  </p:notesTextViewPr>
  <p:sorterViewPr>
    <p:cViewPr varScale="1">
      <p:scale>
        <a:sx n="100" d="100"/>
        <a:sy n="100" d="100"/>
      </p:scale>
      <p:origin x="0" y="-13752"/>
    </p:cViewPr>
  </p:sorterViewPr>
  <p:notesViewPr>
    <p:cSldViewPr snapToGrid="0">
      <p:cViewPr varScale="1">
        <p:scale>
          <a:sx n="50" d="100"/>
          <a:sy n="50" d="100"/>
        </p:scale>
        <p:origin x="2472" y="2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gs" Target="tags/tag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handoutMaster" Target="handoutMasters/handout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2025/10/14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E977C3-5D49-4AE3-94A3-4A850F718679}" type="datetimeFigureOut">
              <a:rPr lang="zh-CN" altLang="en-US" smtClean="0"/>
              <a:t>2025/10/14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D3FDB9-DDE0-4054-8528-4EF247FF7996}" type="slidenum">
              <a:rPr lang="zh-CN" altLang="en-US" smtClean="0"/>
              <a:t>‹#›</a:t>
            </a:fld>
            <a:endParaRPr lang="zh-CN" altLang="en-US"/>
          </a:p>
        </p:txBody>
      </p:sp>
    </p:spTree>
    <p:extLst>
      <p:ext uri="{BB962C8B-B14F-4D97-AF65-F5344CB8AC3E}">
        <p14:creationId xmlns:p14="http://schemas.microsoft.com/office/powerpoint/2010/main" val="3790268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8922EB3-8BB3-4D7C-920D-99B3A498A38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9156319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2025/10/14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pic>
        <p:nvPicPr>
          <p:cNvPr id="8" name="图片 7">
            <a:extLst>
              <a:ext uri="{FF2B5EF4-FFF2-40B4-BE49-F238E27FC236}">
                <a16:creationId xmlns:a16="http://schemas.microsoft.com/office/drawing/2014/main" id="{F37C1142-F811-4A5F-9F2B-FD8FFE6CA83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222160" y="1717964"/>
            <a:ext cx="4347422" cy="4347422"/>
          </a:xfrm>
          <a:prstGeom prst="rect">
            <a:avLst/>
          </a:prstGeom>
        </p:spPr>
      </p:pic>
      <p:pic>
        <p:nvPicPr>
          <p:cNvPr id="7" name="图片 6">
            <a:extLst>
              <a:ext uri="{FF2B5EF4-FFF2-40B4-BE49-F238E27FC236}">
                <a16:creationId xmlns:a16="http://schemas.microsoft.com/office/drawing/2014/main" id="{02DB7E10-9DCA-46E6-AF35-0DEC12E9EC98}"/>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rcRect/>
          <a:stretch/>
        </p:blipFill>
        <p:spPr>
          <a:xfrm>
            <a:off x="10393325" y="137811"/>
            <a:ext cx="1701209" cy="54871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107B553-E0FC-09D8-D059-B7F87DA0525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651544" y="869784"/>
            <a:ext cx="5028111" cy="5028111"/>
          </a:xfrm>
          <a:prstGeom prst="rect">
            <a:avLst/>
          </a:prstGeom>
        </p:spPr>
      </p:pic>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文本框 6">
            <a:extLst>
              <a:ext uri="{FF2B5EF4-FFF2-40B4-BE49-F238E27FC236}">
                <a16:creationId xmlns:a16="http://schemas.microsoft.com/office/drawing/2014/main" id="{78BA2A0A-9BC3-4B9E-93E4-A416F8D93E95}"/>
              </a:ext>
            </a:extLst>
          </p:cNvPr>
          <p:cNvSpPr txBox="1"/>
          <p:nvPr userDrawn="1"/>
        </p:nvSpPr>
        <p:spPr>
          <a:xfrm>
            <a:off x="109146" y="6433625"/>
            <a:ext cx="2546083" cy="398780"/>
          </a:xfrm>
          <a:prstGeom prst="rect">
            <a:avLst/>
          </a:prstGeom>
          <a:noFill/>
        </p:spPr>
        <p:txBody>
          <a:bodyPr wrap="square" rtlCol="0">
            <a:spAutoFit/>
          </a:bodyPr>
          <a:lstStyle/>
          <a:p>
            <a:r>
              <a:rPr lang="zh-CN" altLang="en-US" sz="2000" dirty="0">
                <a:solidFill>
                  <a:schemeClr val="accent2"/>
                </a:solidFill>
                <a:latin typeface="方正舒体" panose="02010601030101010101" pitchFamily="2" charset="-122"/>
                <a:ea typeface="方正舒体" panose="02010601030101010101" pitchFamily="2" charset="-122"/>
              </a:rPr>
              <a:t>自强不息，厚德载物</a:t>
            </a:r>
          </a:p>
        </p:txBody>
      </p:sp>
      <p:pic>
        <p:nvPicPr>
          <p:cNvPr id="3" name="图片 2">
            <a:extLst>
              <a:ext uri="{FF2B5EF4-FFF2-40B4-BE49-F238E27FC236}">
                <a16:creationId xmlns:a16="http://schemas.microsoft.com/office/drawing/2014/main" id="{C0BC47D6-6CDB-0EC7-BA7E-7BDE5C57F759}"/>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rcRect/>
          <a:stretch/>
        </p:blipFill>
        <p:spPr>
          <a:xfrm>
            <a:off x="10393325" y="137811"/>
            <a:ext cx="1701209" cy="548714"/>
          </a:xfrm>
          <a:prstGeom prst="rect">
            <a:avLst/>
          </a:prstGeom>
        </p:spPr>
      </p:pic>
    </p:spTree>
    <p:extLst>
      <p:ext uri="{BB962C8B-B14F-4D97-AF65-F5344CB8AC3E}">
        <p14:creationId xmlns:p14="http://schemas.microsoft.com/office/powerpoint/2010/main" val="1150455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706545C-F379-4254-89DB-67815911527C}"/>
              </a:ext>
            </a:extLst>
          </p:cNvPr>
          <p:cNvSpPr txBox="1"/>
          <p:nvPr userDrawn="1"/>
        </p:nvSpPr>
        <p:spPr>
          <a:xfrm>
            <a:off x="109146" y="6433625"/>
            <a:ext cx="2546083" cy="398780"/>
          </a:xfrm>
          <a:prstGeom prst="rect">
            <a:avLst/>
          </a:prstGeom>
          <a:noFill/>
        </p:spPr>
        <p:txBody>
          <a:bodyPr wrap="square" rtlCol="0">
            <a:spAutoFit/>
          </a:bodyPr>
          <a:lstStyle/>
          <a:p>
            <a:r>
              <a:rPr lang="zh-CN" altLang="en-US" sz="2000" dirty="0">
                <a:solidFill>
                  <a:schemeClr val="accent2"/>
                </a:solidFill>
                <a:latin typeface="方正舒体" panose="02010601030101010101" pitchFamily="2" charset="-122"/>
                <a:ea typeface="方正舒体" panose="02010601030101010101" pitchFamily="2" charset="-122"/>
              </a:rPr>
              <a:t>自强不息，厚德载物</a:t>
            </a:r>
          </a:p>
        </p:txBody>
      </p:sp>
      <p:pic>
        <p:nvPicPr>
          <p:cNvPr id="2" name="图片 1">
            <a:extLst>
              <a:ext uri="{FF2B5EF4-FFF2-40B4-BE49-F238E27FC236}">
                <a16:creationId xmlns:a16="http://schemas.microsoft.com/office/drawing/2014/main" id="{B34A283B-A7C5-23BE-ACA9-C971DA503B9D}"/>
              </a:ext>
            </a:extLst>
          </p:cNvPr>
          <p:cNvPicPr>
            <a:picLocks noChangeAspect="1"/>
          </p:cNvPicPr>
          <p:nvPr userDrawn="1">
            <p:custDataLst>
              <p:tags r:id="rId1"/>
            </p:custDataLst>
          </p:nvPr>
        </p:nvPicPr>
        <p:blipFill>
          <a:blip r:embed="rId3" cstate="print">
            <a:extLst>
              <a:ext uri="{28A0092B-C50C-407E-A947-70E740481C1C}">
                <a14:useLocalDpi xmlns:a14="http://schemas.microsoft.com/office/drawing/2010/main" val="0"/>
              </a:ext>
            </a:extLst>
          </a:blip>
          <a:srcRect/>
          <a:stretch/>
        </p:blipFill>
        <p:spPr>
          <a:xfrm>
            <a:off x="10393325" y="137811"/>
            <a:ext cx="1701209" cy="548714"/>
          </a:xfrm>
          <a:prstGeom prst="rect">
            <a:avLst/>
          </a:prstGeom>
        </p:spPr>
      </p:pic>
      <p:sp>
        <p:nvSpPr>
          <p:cNvPr id="3" name="TextBox 2"/>
          <p:cNvSpPr txBox="1"/>
          <p:nvPr userDrawn="1"/>
        </p:nvSpPr>
        <p:spPr>
          <a:xfrm>
            <a:off x="11599363" y="6477007"/>
            <a:ext cx="558775" cy="369332"/>
          </a:xfrm>
          <a:prstGeom prst="rect">
            <a:avLst/>
          </a:prstGeom>
          <a:noFill/>
        </p:spPr>
        <p:txBody>
          <a:bodyPr wrap="square" rtlCol="0">
            <a:spAutoFit/>
          </a:bodyPr>
          <a:lstStyle/>
          <a:p>
            <a:fld id="{A35A5ECB-3606-4A97-BFD1-55C7127585F2}" type="slidenum">
              <a:rPr lang="zh-CN" altLang="en-US" smtClean="0"/>
              <a:t>‹#›</a:t>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2025/10/14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2025/10/14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2025/10/14</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4" r:id="rId4"/>
    <p:sldLayoutId id="2147483655"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xml"/><Relationship Id="rId1" Type="http://schemas.openxmlformats.org/officeDocument/2006/relationships/themeOverride" Target="../theme/themeOverride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5">
            <a:extLst>
              <a:ext uri="{28A0092B-C50C-407E-A947-70E740481C1C}">
                <a14:useLocalDpi xmlns:a14="http://schemas.microsoft.com/office/drawing/2010/main" val="0"/>
              </a:ext>
            </a:extLst>
          </a:blip>
          <a:srcRect/>
          <a:stretch/>
        </p:blipFill>
        <p:spPr>
          <a:xfrm>
            <a:off x="191337" y="110465"/>
            <a:ext cx="11809309" cy="5226782"/>
          </a:xfrm>
          <a:prstGeom prst="rect">
            <a:avLst/>
          </a:prstGeom>
        </p:spPr>
      </p:pic>
      <p:sp>
        <p:nvSpPr>
          <p:cNvPr id="7" name="矩形 6"/>
          <p:cNvSpPr/>
          <p:nvPr/>
        </p:nvSpPr>
        <p:spPr>
          <a:xfrm>
            <a:off x="191337" y="110465"/>
            <a:ext cx="11809309" cy="5226782"/>
          </a:xfrm>
          <a:prstGeom prst="rect">
            <a:avLst/>
          </a:prstGeom>
          <a:solidFill>
            <a:schemeClr val="accent2">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0" name="平行四边形 9"/>
          <p:cNvSpPr/>
          <p:nvPr/>
        </p:nvSpPr>
        <p:spPr>
          <a:xfrm>
            <a:off x="4886156" y="4721323"/>
            <a:ext cx="2451398" cy="45297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平行四边形 10"/>
          <p:cNvSpPr/>
          <p:nvPr/>
        </p:nvSpPr>
        <p:spPr>
          <a:xfrm>
            <a:off x="2743200" y="5694633"/>
            <a:ext cx="3021054" cy="691606"/>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平行四边形 11"/>
          <p:cNvSpPr/>
          <p:nvPr/>
        </p:nvSpPr>
        <p:spPr>
          <a:xfrm>
            <a:off x="6427748" y="5694633"/>
            <a:ext cx="3020400" cy="691200"/>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文本占位符 30"/>
          <p:cNvSpPr txBox="1"/>
          <p:nvPr/>
        </p:nvSpPr>
        <p:spPr>
          <a:xfrm>
            <a:off x="2968031" y="5825643"/>
            <a:ext cx="2609850" cy="48665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zh-CN" altLang="en-US" sz="280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谌卫军</a:t>
            </a:r>
            <a:endParaRPr kumimoji="0" lang="zh-CN" altLang="en-US" sz="2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6" name="文本占位符 31"/>
          <p:cNvSpPr txBox="1"/>
          <p:nvPr/>
        </p:nvSpPr>
        <p:spPr>
          <a:xfrm>
            <a:off x="6623172" y="5825643"/>
            <a:ext cx="2609850" cy="48665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zh-CN" altLang="en-US" sz="280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计算机系</a:t>
            </a:r>
            <a:endParaRPr kumimoji="0" lang="zh-CN" altLang="en-US" sz="2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7" name="文本占位符 32"/>
          <p:cNvSpPr txBox="1"/>
          <p:nvPr/>
        </p:nvSpPr>
        <p:spPr>
          <a:xfrm>
            <a:off x="4791075" y="4778558"/>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altLang="zh-CN" sz="24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2025</a:t>
            </a:r>
            <a:r>
              <a:rPr kumimoji="0" lang="zh-CN" altLang="en-US" sz="2400" b="0"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年秋季</a:t>
            </a:r>
            <a:r>
              <a:rPr kumimoji="0" lang="zh-CN" altLang="en-US" sz="2400" b="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学期</a:t>
            </a:r>
          </a:p>
        </p:txBody>
      </p:sp>
      <p:sp>
        <p:nvSpPr>
          <p:cNvPr id="24" name="文本占位符 24"/>
          <p:cNvSpPr txBox="1"/>
          <p:nvPr/>
        </p:nvSpPr>
        <p:spPr>
          <a:xfrm>
            <a:off x="515378" y="2218964"/>
            <a:ext cx="11161239" cy="213371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25000"/>
              </a:lnSpc>
              <a:defRPr/>
            </a:pPr>
            <a:r>
              <a:rPr lang="zh-CN" altLang="en-US">
                <a:solidFill>
                  <a:sysClr val="window" lastClr="FFFFFF"/>
                </a:solidFill>
              </a:rPr>
              <a:t>计算机程序设计基础</a:t>
            </a:r>
            <a:endParaRPr kumimoji="0" lang="zh-CN" altLang="en-US"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25" name="文本占位符 27"/>
          <p:cNvSpPr txBox="1"/>
          <p:nvPr/>
        </p:nvSpPr>
        <p:spPr>
          <a:xfrm>
            <a:off x="1166827" y="3528421"/>
            <a:ext cx="9858345" cy="59090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600" b="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tLang="zh-CN" sz="2800"/>
              <a:t>Introduction to Computer Programming</a:t>
            </a:r>
            <a:endParaRPr lang="en-US" altLang="zh-CN" sz="2800" dirty="0"/>
          </a:p>
        </p:txBody>
      </p:sp>
      <p:cxnSp>
        <p:nvCxnSpPr>
          <p:cNvPr id="31" name="直接连接符 30"/>
          <p:cNvCxnSpPr/>
          <p:nvPr/>
        </p:nvCxnSpPr>
        <p:spPr>
          <a:xfrm>
            <a:off x="2207568" y="4392452"/>
            <a:ext cx="763284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rcRect/>
          <a:stretch/>
        </p:blipFill>
        <p:spPr>
          <a:xfrm>
            <a:off x="4236158" y="792175"/>
            <a:ext cx="3664780" cy="1182051"/>
          </a:xfrm>
          <a:prstGeom prst="rect">
            <a:avLst/>
          </a:prstGeom>
        </p:spPr>
      </p:pic>
    </p:spTree>
    <p:extLst>
      <p:ext uri="{BB962C8B-B14F-4D97-AF65-F5344CB8AC3E}">
        <p14:creationId xmlns:p14="http://schemas.microsoft.com/office/powerpoint/2010/main" val="339888191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3"/>
          <p:cNvSpPr txBox="1"/>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9900" b="1" i="0" u="none" strike="noStrike" kern="1200" cap="none" spc="0" normalizeH="0" baseline="0" noProof="0">
                <a:ln>
                  <a:noFill/>
                </a:ln>
                <a:gradFill flip="none" rotWithShape="1">
                  <a:gsLst>
                    <a:gs pos="36000">
                      <a:schemeClr val="accent2"/>
                    </a:gs>
                    <a:gs pos="100000">
                      <a:srgbClr val="2764A7">
                        <a:lumMod val="15000"/>
                        <a:lumOff val="85000"/>
                        <a:alpha val="27000"/>
                      </a:srgbClr>
                    </a:gs>
                  </a:gsLst>
                  <a:lin ang="5400000" scaled="0"/>
                  <a:tileRect/>
                </a:gradFill>
                <a:effectLst/>
                <a:uLnTx/>
                <a:uFillTx/>
                <a:latin typeface="Arial Black" panose="020B0A04020102020204" pitchFamily="34" charset="0"/>
                <a:ea typeface="微软雅黑" panose="020B0503020204020204" pitchFamily="34" charset="-122"/>
                <a:cs typeface="+mn-cs"/>
              </a:rPr>
              <a:t>03</a:t>
            </a:r>
            <a:endParaRPr kumimoji="0" lang="zh-CN" altLang="en-US" sz="19900" b="1" i="0" u="none" strike="noStrike" kern="1200" cap="none" spc="0" normalizeH="0" baseline="0" noProof="0" dirty="0">
              <a:ln>
                <a:noFill/>
              </a:ln>
              <a:gradFill flip="none" rotWithShape="1">
                <a:gsLst>
                  <a:gs pos="36000">
                    <a:schemeClr val="accent2"/>
                  </a:gs>
                  <a:gs pos="100000">
                    <a:srgbClr val="2764A7">
                      <a:lumMod val="15000"/>
                      <a:lumOff val="85000"/>
                      <a:alpha val="27000"/>
                    </a:srgbClr>
                  </a:gs>
                </a:gsLst>
                <a:lin ang="5400000" scaled="0"/>
                <a:tileRect/>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p:cNvSpPr txBox="1"/>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66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mn-cs"/>
              </a:rPr>
              <a:t>循环控制</a:t>
            </a:r>
            <a:endParaRPr kumimoji="0" lang="zh-CN" altLang="en-US" sz="66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grpSp>
        <p:nvGrpSpPr>
          <p:cNvPr id="4" name="组合 3"/>
          <p:cNvGrpSpPr/>
          <p:nvPr/>
        </p:nvGrpSpPr>
        <p:grpSpPr>
          <a:xfrm>
            <a:off x="-3049556" y="-2033814"/>
            <a:ext cx="7489372" cy="4795157"/>
            <a:chOff x="-3802743" y="-2148114"/>
            <a:chExt cx="7489372" cy="4795157"/>
          </a:xfrm>
        </p:grpSpPr>
        <p:sp>
          <p:nvSpPr>
            <p:cNvPr id="5" name="平行四边形 4"/>
            <p:cNvSpPr/>
            <p:nvPr/>
          </p:nvSpPr>
          <p:spPr>
            <a:xfrm>
              <a:off x="-3802743" y="-2148114"/>
              <a:ext cx="7489372" cy="4795157"/>
            </a:xfrm>
            <a:prstGeom prst="parallelogram">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483429" y="-1482271"/>
              <a:ext cx="6429829" cy="3628571"/>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7" name="组合 6"/>
          <p:cNvGrpSpPr/>
          <p:nvPr/>
        </p:nvGrpSpPr>
        <p:grpSpPr>
          <a:xfrm flipH="1" flipV="1">
            <a:off x="7824192" y="4149080"/>
            <a:ext cx="7489372" cy="4651141"/>
            <a:chOff x="-3802743" y="-2004098"/>
            <a:chExt cx="7489372" cy="4651141"/>
          </a:xfrm>
        </p:grpSpPr>
        <p:sp>
          <p:nvSpPr>
            <p:cNvPr id="8" name="平行四边形 7"/>
            <p:cNvSpPr/>
            <p:nvPr/>
          </p:nvSpPr>
          <p:spPr>
            <a:xfrm>
              <a:off x="-3802743" y="-2004098"/>
              <a:ext cx="7489372" cy="4651141"/>
            </a:xfrm>
            <a:prstGeom prst="parallelogram">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平行四边形 8"/>
            <p:cNvSpPr/>
            <p:nvPr/>
          </p:nvSpPr>
          <p:spPr>
            <a:xfrm>
              <a:off x="-3483429" y="-1482271"/>
              <a:ext cx="6429829" cy="3628571"/>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16" name="直接连接符 15"/>
          <p:cNvCxnSpPr/>
          <p:nvPr/>
        </p:nvCxnSpPr>
        <p:spPr>
          <a:xfrm>
            <a:off x="2156111" y="4293096"/>
            <a:ext cx="669674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62587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5626444"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循环控制</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pic>
        <p:nvPicPr>
          <p:cNvPr id="23" name="Picture 6" descr="1a1db251c586d5a48d54300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2831" y="3480246"/>
            <a:ext cx="17526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Box 8"/>
          <p:cNvSpPr txBox="1">
            <a:spLocks noChangeArrowheads="1"/>
          </p:cNvSpPr>
          <p:nvPr/>
        </p:nvSpPr>
        <p:spPr bwMode="auto">
          <a:xfrm>
            <a:off x="1529541" y="4851846"/>
            <a:ext cx="14381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squar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r>
              <a:rPr lang="zh-CN" altLang="en-US" sz="2400" b="1">
                <a:latin typeface="宋体" charset="-122"/>
                <a:ea typeface="宋体" charset="-122"/>
              </a:rPr>
              <a:t>顺序结构</a:t>
            </a:r>
          </a:p>
        </p:txBody>
      </p:sp>
      <p:grpSp>
        <p:nvGrpSpPr>
          <p:cNvPr id="36" name="Group 13"/>
          <p:cNvGrpSpPr>
            <a:grpSpLocks/>
          </p:cNvGrpSpPr>
          <p:nvPr/>
        </p:nvGrpSpPr>
        <p:grpSpPr bwMode="auto">
          <a:xfrm>
            <a:off x="3986001" y="3480247"/>
            <a:ext cx="2057400" cy="1833563"/>
            <a:chOff x="1584" y="2496"/>
            <a:chExt cx="1296" cy="1155"/>
          </a:xfrm>
        </p:grpSpPr>
        <p:pic>
          <p:nvPicPr>
            <p:cNvPr id="37" name="Picture 7" descr="2006519835312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4" y="2496"/>
              <a:ext cx="1296" cy="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11"/>
            <p:cNvSpPr txBox="1">
              <a:spLocks noChangeArrowheads="1"/>
            </p:cNvSpPr>
            <p:nvPr/>
          </p:nvSpPr>
          <p:spPr bwMode="auto">
            <a:xfrm>
              <a:off x="1803" y="3360"/>
              <a:ext cx="9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squar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r>
                <a:rPr lang="zh-CN" altLang="en-US" sz="2400" b="1">
                  <a:latin typeface="宋体" charset="-122"/>
                  <a:ea typeface="宋体" charset="-122"/>
                </a:rPr>
                <a:t>选择结构</a:t>
              </a:r>
            </a:p>
          </p:txBody>
        </p:sp>
      </p:grpSp>
      <p:grpSp>
        <p:nvGrpSpPr>
          <p:cNvPr id="39" name="Group 14"/>
          <p:cNvGrpSpPr>
            <a:grpSpLocks/>
          </p:cNvGrpSpPr>
          <p:nvPr/>
        </p:nvGrpSpPr>
        <p:grpSpPr bwMode="auto">
          <a:xfrm>
            <a:off x="6948120" y="1422846"/>
            <a:ext cx="2714625" cy="3886200"/>
            <a:chOff x="3120" y="1200"/>
            <a:chExt cx="1710" cy="2448"/>
          </a:xfrm>
        </p:grpSpPr>
        <p:pic>
          <p:nvPicPr>
            <p:cNvPr id="40" name="Picture 10" descr="200705231909544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0" y="1200"/>
              <a:ext cx="1710" cy="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12"/>
            <p:cNvSpPr txBox="1">
              <a:spLocks noChangeArrowheads="1"/>
            </p:cNvSpPr>
            <p:nvPr/>
          </p:nvSpPr>
          <p:spPr bwMode="auto">
            <a:xfrm>
              <a:off x="3605" y="3360"/>
              <a:ext cx="10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r>
                <a:rPr lang="zh-CN" altLang="en-US" sz="2400" b="1">
                  <a:latin typeface="宋体" charset="-122"/>
                  <a:ea typeface="宋体" charset="-122"/>
                </a:rPr>
                <a:t>循环控制 </a:t>
              </a:r>
            </a:p>
          </p:txBody>
        </p:sp>
      </p:grpSp>
    </p:spTree>
    <p:extLst>
      <p:ext uri="{BB962C8B-B14F-4D97-AF65-F5344CB8AC3E}">
        <p14:creationId xmlns:p14="http://schemas.microsoft.com/office/powerpoint/2010/main" val="67448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dissolve">
                                      <p:cBhvr>
                                        <p:cTn id="1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5626444"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why</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循环</a:t>
            </a:r>
            <a:r>
              <a:rPr lang="zh-CN" altLang="en-US" sz="4800">
                <a:solidFill>
                  <a:schemeClr val="accent2"/>
                </a:solidFill>
                <a:latin typeface="隶书" pitchFamily="49" charset="-122"/>
                <a:ea typeface="隶书" pitchFamily="49" charset="-122"/>
              </a:rPr>
              <a:t>结构</a:t>
            </a: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5" name="Text Box 9"/>
          <p:cNvSpPr txBox="1">
            <a:spLocks noChangeArrowheads="1"/>
          </p:cNvSpPr>
          <p:nvPr/>
        </p:nvSpPr>
        <p:spPr bwMode="auto">
          <a:xfrm>
            <a:off x="2266604" y="2213957"/>
            <a:ext cx="7141699"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non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Aft>
                <a:spcPct val="50000"/>
              </a:spcAft>
            </a:pPr>
            <a:r>
              <a:rPr lang="zh-CN" altLang="en-US" sz="5400" b="1">
                <a:solidFill>
                  <a:schemeClr val="tx2"/>
                </a:solidFill>
                <a:latin typeface="楷体_GB2312" pitchFamily="49" charset="-122"/>
                <a:ea typeface="楷体_GB2312" pitchFamily="49" charset="-122"/>
              </a:rPr>
              <a:t>程序员失去循环语句，</a:t>
            </a:r>
          </a:p>
          <a:p>
            <a:pPr eaLnBrk="1" hangingPunct="1"/>
            <a:r>
              <a:rPr lang="zh-CN" altLang="en-US" sz="5400" b="1">
                <a:solidFill>
                  <a:schemeClr val="tx2"/>
                </a:solidFill>
                <a:latin typeface="楷体_GB2312" pitchFamily="49" charset="-122"/>
                <a:ea typeface="楷体_GB2312" pitchFamily="49" charset="-122"/>
              </a:rPr>
              <a:t>	 世界将会怎么样？</a:t>
            </a:r>
          </a:p>
        </p:txBody>
      </p:sp>
    </p:spTree>
    <p:extLst>
      <p:ext uri="{BB962C8B-B14F-4D97-AF65-F5344CB8AC3E}">
        <p14:creationId xmlns:p14="http://schemas.microsoft.com/office/powerpoint/2010/main" val="2784310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169076"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why</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循环</a:t>
            </a:r>
            <a:r>
              <a:rPr lang="zh-CN" altLang="en-US" sz="4800">
                <a:solidFill>
                  <a:schemeClr val="accent2"/>
                </a:solidFill>
                <a:latin typeface="隶书" pitchFamily="49" charset="-122"/>
                <a:ea typeface="隶书" pitchFamily="49" charset="-122"/>
              </a:rPr>
              <a:t>结构</a:t>
            </a: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a:t>
            </a:r>
            <a:r>
              <a:rPr lang="en-US" altLang="zh-CN" sz="4800">
                <a:solidFill>
                  <a:schemeClr val="accent2"/>
                </a:solidFill>
                <a:latin typeface="隶书" pitchFamily="49" charset="-122"/>
                <a:ea typeface="隶书" pitchFamily="49" charset="-122"/>
              </a:rPr>
              <a:t>(cont.)</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3"/>
          <p:cNvSpPr>
            <a:spLocks noChangeArrowheads="1"/>
          </p:cNvSpPr>
          <p:nvPr/>
        </p:nvSpPr>
        <p:spPr bwMode="auto">
          <a:xfrm>
            <a:off x="1565560" y="1435328"/>
            <a:ext cx="9083039"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8925" indent="-288925" eaLnBrk="1" hangingPunct="1">
              <a:spcBef>
                <a:spcPct val="50000"/>
              </a:spcBef>
              <a:buClr>
                <a:schemeClr val="tx1"/>
              </a:buClr>
              <a:buFont typeface="Wingdings" pitchFamily="2" charset="2"/>
              <a:buChar char=""/>
            </a:pPr>
            <a:r>
              <a:rPr kumimoji="1" lang="zh-CN" altLang="en-US" sz="3600" b="1">
                <a:solidFill>
                  <a:schemeClr val="tx1"/>
                </a:solidFill>
                <a:latin typeface="Times New Roman" pitchFamily="18" charset="0"/>
                <a:ea typeface="宋体" charset="-122"/>
              </a:rPr>
              <a:t>计算机的执行速度</a:t>
            </a:r>
          </a:p>
          <a:p>
            <a:pPr marL="850900" lvl="1" indent="-371475" eaLnBrk="1" hangingPunct="1">
              <a:spcBef>
                <a:spcPct val="50000"/>
              </a:spcBef>
              <a:buClr>
                <a:schemeClr val="tx1"/>
              </a:buClr>
              <a:buFont typeface="宋体" charset="-122"/>
              <a:buChar char="–"/>
            </a:pPr>
            <a:r>
              <a:rPr kumimoji="1" lang="en-US" altLang="zh-CN" sz="3200" b="1">
                <a:solidFill>
                  <a:schemeClr val="tx1"/>
                </a:solidFill>
                <a:latin typeface="Times New Roman" pitchFamily="18" charset="0"/>
                <a:ea typeface="宋体" charset="-122"/>
              </a:rPr>
              <a:t>10,000,000</a:t>
            </a:r>
            <a:r>
              <a:rPr kumimoji="1" lang="zh-CN" altLang="en-US" sz="3200" b="1">
                <a:solidFill>
                  <a:schemeClr val="tx1"/>
                </a:solidFill>
                <a:latin typeface="Times New Roman" pitchFamily="18" charset="0"/>
                <a:ea typeface="宋体" charset="-122"/>
              </a:rPr>
              <a:t>行代码</a:t>
            </a:r>
            <a:r>
              <a:rPr kumimoji="1" lang="en-US" altLang="zh-CN" sz="3200" b="1">
                <a:solidFill>
                  <a:schemeClr val="tx1"/>
                </a:solidFill>
                <a:ea typeface="宋体" charset="-122"/>
              </a:rPr>
              <a:t>/</a:t>
            </a:r>
            <a:r>
              <a:rPr kumimoji="1" lang="zh-CN" altLang="en-US" sz="3200" b="1">
                <a:solidFill>
                  <a:schemeClr val="tx1"/>
                </a:solidFill>
                <a:latin typeface="Times New Roman" pitchFamily="18" charset="0"/>
                <a:ea typeface="宋体" charset="-122"/>
              </a:rPr>
              <a:t>秒</a:t>
            </a:r>
            <a:endParaRPr kumimoji="1" lang="en-US" altLang="zh-CN" sz="3200" b="1">
              <a:solidFill>
                <a:srgbClr val="FF3300"/>
              </a:solidFill>
              <a:latin typeface="Times New Roman" pitchFamily="18" charset="0"/>
              <a:ea typeface="宋体" charset="-122"/>
            </a:endParaRPr>
          </a:p>
          <a:p>
            <a:pPr marL="288925" indent="-288925" eaLnBrk="1" hangingPunct="1">
              <a:spcBef>
                <a:spcPct val="50000"/>
              </a:spcBef>
              <a:buClr>
                <a:schemeClr val="tx1"/>
              </a:buClr>
              <a:buFontTx/>
              <a:buChar char="•"/>
            </a:pPr>
            <a:r>
              <a:rPr kumimoji="1" lang="zh-CN" altLang="en-US" sz="3600" b="1">
                <a:solidFill>
                  <a:schemeClr val="tx1"/>
                </a:solidFill>
                <a:latin typeface="Times New Roman" pitchFamily="18" charset="0"/>
                <a:ea typeface="宋体" charset="-122"/>
              </a:rPr>
              <a:t>程序员的编程速度</a:t>
            </a:r>
          </a:p>
          <a:p>
            <a:pPr marL="850900" lvl="1" indent="-371475" eaLnBrk="1" hangingPunct="1">
              <a:spcBef>
                <a:spcPct val="50000"/>
              </a:spcBef>
              <a:buClr>
                <a:schemeClr val="tx1"/>
              </a:buClr>
              <a:buFont typeface="宋体" charset="-122"/>
              <a:buChar char="–"/>
            </a:pPr>
            <a:r>
              <a:rPr kumimoji="1" lang="en-US" altLang="zh-CN" sz="3200" b="1">
                <a:solidFill>
                  <a:schemeClr val="tx1"/>
                </a:solidFill>
                <a:ea typeface="宋体" charset="-122"/>
              </a:rPr>
              <a:t>12</a:t>
            </a:r>
            <a:r>
              <a:rPr kumimoji="1" lang="zh-CN" altLang="en-US" sz="3200" b="1">
                <a:solidFill>
                  <a:schemeClr val="tx1"/>
                </a:solidFill>
                <a:ea typeface="宋体" charset="-122"/>
              </a:rPr>
              <a:t>行</a:t>
            </a:r>
            <a:r>
              <a:rPr kumimoji="1" lang="zh-CN" altLang="en-US" sz="3200" b="1">
                <a:solidFill>
                  <a:srgbClr val="0000FF"/>
                </a:solidFill>
                <a:ea typeface="宋体" charset="-122"/>
              </a:rPr>
              <a:t>可用的</a:t>
            </a:r>
            <a:r>
              <a:rPr kumimoji="1" lang="zh-CN" altLang="en-US" sz="3200" b="1">
                <a:solidFill>
                  <a:schemeClr val="tx1"/>
                </a:solidFill>
                <a:ea typeface="宋体" charset="-122"/>
              </a:rPr>
              <a:t>代码</a:t>
            </a:r>
            <a:r>
              <a:rPr kumimoji="1" lang="en-US" altLang="zh-CN" sz="3200" b="1">
                <a:solidFill>
                  <a:schemeClr val="tx1"/>
                </a:solidFill>
                <a:ea typeface="宋体" charset="-122"/>
              </a:rPr>
              <a:t>/</a:t>
            </a:r>
            <a:r>
              <a:rPr kumimoji="1" lang="zh-CN" altLang="en-US" sz="3200" b="1">
                <a:solidFill>
                  <a:schemeClr val="tx1"/>
                </a:solidFill>
                <a:ea typeface="宋体" charset="-122"/>
              </a:rPr>
              <a:t>每天</a:t>
            </a:r>
            <a:r>
              <a:rPr kumimoji="1" lang="en-US" altLang="zh-CN" sz="3200" b="1">
                <a:solidFill>
                  <a:schemeClr val="tx1"/>
                </a:solidFill>
                <a:ea typeface="宋体" charset="-122"/>
              </a:rPr>
              <a:t> </a:t>
            </a:r>
            <a:endParaRPr kumimoji="1" lang="zh-CN" altLang="en-US" sz="3200" b="1">
              <a:solidFill>
                <a:schemeClr val="tx1"/>
              </a:solidFill>
              <a:latin typeface="Times New Roman" pitchFamily="18" charset="0"/>
              <a:ea typeface="宋体" charset="-122"/>
            </a:endParaRPr>
          </a:p>
          <a:p>
            <a:pPr marL="288925" indent="-288925" eaLnBrk="1" hangingPunct="1">
              <a:spcBef>
                <a:spcPct val="50000"/>
              </a:spcBef>
              <a:buClr>
                <a:schemeClr val="tx1"/>
              </a:buClr>
              <a:buFontTx/>
              <a:buChar char="•"/>
            </a:pPr>
            <a:r>
              <a:rPr kumimoji="1" lang="zh-CN" altLang="en-US" sz="3600" b="1">
                <a:solidFill>
                  <a:schemeClr val="tx1"/>
                </a:solidFill>
                <a:latin typeface="Times New Roman" pitchFamily="18" charset="0"/>
                <a:ea typeface="宋体" charset="-122"/>
              </a:rPr>
              <a:t>编写一个运行时间为</a:t>
            </a:r>
            <a:r>
              <a:rPr kumimoji="1" lang="en-US" altLang="zh-CN" sz="3600" b="1">
                <a:solidFill>
                  <a:schemeClr val="tx1"/>
                </a:solidFill>
                <a:latin typeface="Times New Roman" pitchFamily="18" charset="0"/>
                <a:ea typeface="宋体" charset="-122"/>
              </a:rPr>
              <a:t>1</a:t>
            </a:r>
            <a:r>
              <a:rPr kumimoji="1" lang="zh-CN" altLang="en-US" sz="3600" b="1">
                <a:solidFill>
                  <a:schemeClr val="tx1"/>
                </a:solidFill>
                <a:latin typeface="Times New Roman" pitchFamily="18" charset="0"/>
                <a:ea typeface="宋体" charset="-122"/>
              </a:rPr>
              <a:t>秒的程序，需要</a:t>
            </a:r>
            <a:r>
              <a:rPr kumimoji="1" lang="zh-CN" altLang="en-US" sz="3600" b="1">
                <a:solidFill>
                  <a:srgbClr val="FF0000"/>
                </a:solidFill>
                <a:latin typeface="Times New Roman" pitchFamily="18" charset="0"/>
                <a:ea typeface="宋体" charset="-122"/>
              </a:rPr>
              <a:t>多少天</a:t>
            </a:r>
            <a:r>
              <a:rPr kumimoji="1" lang="zh-CN" altLang="en-US" sz="3600" b="1">
                <a:solidFill>
                  <a:schemeClr val="tx1"/>
                </a:solidFill>
                <a:latin typeface="Times New Roman" pitchFamily="18" charset="0"/>
                <a:ea typeface="宋体" charset="-122"/>
              </a:rPr>
              <a:t>？</a:t>
            </a:r>
          </a:p>
        </p:txBody>
      </p:sp>
    </p:spTree>
    <p:extLst>
      <p:ext uri="{BB962C8B-B14F-4D97-AF65-F5344CB8AC3E}">
        <p14:creationId xmlns:p14="http://schemas.microsoft.com/office/powerpoint/2010/main" val="3556571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blinds(horizontal)">
                                      <p:cBhvr>
                                        <p:cTn id="11" dur="500"/>
                                        <p:tgtEl>
                                          <p:spTgt spid="8">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8">
                                            <p:txEl>
                                              <p:pRg st="2" end="2"/>
                                            </p:txEl>
                                          </p:spTgt>
                                        </p:tgtEl>
                                        <p:attrNameLst>
                                          <p:attrName>style.visibility</p:attrName>
                                        </p:attrNameLst>
                                      </p:cBhvr>
                                      <p:to>
                                        <p:strVal val="visible"/>
                                      </p:to>
                                    </p:set>
                                    <p:animEffect transition="in" filter="blinds(horizontal)">
                                      <p:cBhvr>
                                        <p:cTn id="16" dur="500"/>
                                        <p:tgtEl>
                                          <p:spTgt spid="8">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blinds(horizontal)">
                                      <p:cBhvr>
                                        <p:cTn id="21" dur="500"/>
                                        <p:tgtEl>
                                          <p:spTgt spid="8">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blinds(horizontal)">
                                      <p:cBhvr>
                                        <p:cTn id="26"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5626444"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李白的故事</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Text Box 3"/>
          <p:cNvSpPr txBox="1">
            <a:spLocks noChangeArrowheads="1"/>
          </p:cNvSpPr>
          <p:nvPr/>
        </p:nvSpPr>
        <p:spPr bwMode="auto">
          <a:xfrm>
            <a:off x="1637606" y="2198721"/>
            <a:ext cx="29718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50000"/>
              </a:spcBef>
            </a:pPr>
            <a:r>
              <a:rPr kumimoji="1" lang="zh-CN" altLang="en-US" sz="4000" b="1">
                <a:latin typeface="Times New Roman" pitchFamily="18" charset="0"/>
                <a:ea typeface="楷体_GB2312" pitchFamily="49" charset="-122"/>
              </a:rPr>
              <a:t>只要功夫深，铁杵磨成针！</a:t>
            </a:r>
          </a:p>
        </p:txBody>
      </p:sp>
      <p:pic>
        <p:nvPicPr>
          <p:cNvPr id="9" name="Picture 4" descr="prover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4735" y="1677108"/>
            <a:ext cx="4489219" cy="3631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
          <p:cNvSpPr>
            <a:spLocks noChangeArrowheads="1"/>
          </p:cNvSpPr>
          <p:nvPr/>
        </p:nvSpPr>
        <p:spPr bwMode="auto">
          <a:xfrm>
            <a:off x="9010991" y="4978142"/>
            <a:ext cx="9300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none" anchor="ctr">
            <a:spAutoFit/>
          </a:bodyPr>
          <a:lstStyle/>
          <a:p>
            <a:pPr marL="342900" indent="-342900"/>
            <a:r>
              <a:rPr lang="zh-CN" altLang="en-US">
                <a:solidFill>
                  <a:schemeClr val="tx1"/>
                </a:solidFill>
                <a:ea typeface="宋体" charset="-122"/>
              </a:rPr>
              <a:t>象耳山 </a:t>
            </a:r>
          </a:p>
        </p:txBody>
      </p:sp>
    </p:spTree>
    <p:extLst>
      <p:ext uri="{BB962C8B-B14F-4D97-AF65-F5344CB8AC3E}">
        <p14:creationId xmlns:p14="http://schemas.microsoft.com/office/powerpoint/2010/main" val="3918853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027760"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磨针的不同实现方式</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2" name="Rectangle 3"/>
          <p:cNvSpPr>
            <a:spLocks noChangeArrowheads="1"/>
          </p:cNvSpPr>
          <p:nvPr/>
        </p:nvSpPr>
        <p:spPr bwMode="auto">
          <a:xfrm>
            <a:off x="1959931" y="1700601"/>
            <a:ext cx="2779712" cy="310854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1" hangingPunct="1">
              <a:spcBef>
                <a:spcPct val="70000"/>
              </a:spcBef>
            </a:pPr>
            <a:r>
              <a:rPr kumimoji="1" lang="en-US" altLang="zh-CN" sz="2800" b="1">
                <a:solidFill>
                  <a:schemeClr val="tx1"/>
                </a:solidFill>
                <a:latin typeface="Times New Roman" pitchFamily="18" charset="0"/>
                <a:ea typeface="宋体" charset="-122"/>
              </a:rPr>
              <a:t>def   main( ):</a:t>
            </a:r>
          </a:p>
          <a:p>
            <a:pPr eaLnBrk="1" hangingPunct="1"/>
            <a:r>
              <a:rPr kumimoji="1" lang="en-US" altLang="zh-CN" sz="2800" b="1">
                <a:solidFill>
                  <a:schemeClr val="tx1"/>
                </a:solidFill>
                <a:latin typeface="Times New Roman" pitchFamily="18" charset="0"/>
                <a:ea typeface="宋体" charset="-122"/>
              </a:rPr>
              <a:t>        </a:t>
            </a:r>
            <a:r>
              <a:rPr kumimoji="1" lang="zh-CN" altLang="en-US" sz="2800" b="1">
                <a:solidFill>
                  <a:schemeClr val="tx1"/>
                </a:solidFill>
                <a:latin typeface="Times New Roman" pitchFamily="18" charset="0"/>
                <a:ea typeface="宋体" charset="-122"/>
              </a:rPr>
              <a:t>磨针</a:t>
            </a:r>
            <a:endParaRPr kumimoji="1" lang="en-US" altLang="zh-CN" sz="2800" b="1">
              <a:solidFill>
                <a:schemeClr val="tx1"/>
              </a:solidFill>
              <a:latin typeface="Times New Roman" pitchFamily="18" charset="0"/>
              <a:ea typeface="宋体" charset="-122"/>
            </a:endParaRPr>
          </a:p>
          <a:p>
            <a:pPr eaLnBrk="1" hangingPunct="1"/>
            <a:r>
              <a:rPr kumimoji="1" lang="en-US" altLang="zh-CN" sz="2800" b="1">
                <a:solidFill>
                  <a:schemeClr val="tx1"/>
                </a:solidFill>
                <a:latin typeface="Times New Roman" pitchFamily="18" charset="0"/>
                <a:ea typeface="宋体" charset="-122"/>
              </a:rPr>
              <a:t>        </a:t>
            </a:r>
            <a:r>
              <a:rPr kumimoji="1" lang="zh-CN" altLang="en-US" sz="2800" b="1">
                <a:solidFill>
                  <a:schemeClr val="tx1"/>
                </a:solidFill>
                <a:latin typeface="Times New Roman" pitchFamily="18" charset="0"/>
                <a:ea typeface="宋体" charset="-122"/>
              </a:rPr>
              <a:t>磨针</a:t>
            </a:r>
            <a:endParaRPr kumimoji="1" lang="en-US" altLang="zh-CN" sz="2800" b="1">
              <a:solidFill>
                <a:schemeClr val="tx1"/>
              </a:solidFill>
              <a:latin typeface="Times New Roman" pitchFamily="18" charset="0"/>
              <a:ea typeface="宋体" charset="-122"/>
            </a:endParaRPr>
          </a:p>
          <a:p>
            <a:pPr eaLnBrk="1" hangingPunct="1"/>
            <a:r>
              <a:rPr kumimoji="1" lang="en-US" altLang="zh-CN" sz="2800" b="1">
                <a:solidFill>
                  <a:schemeClr val="tx1"/>
                </a:solidFill>
                <a:latin typeface="Times New Roman" pitchFamily="18" charset="0"/>
                <a:ea typeface="宋体" charset="-122"/>
              </a:rPr>
              <a:t>        </a:t>
            </a:r>
            <a:r>
              <a:rPr kumimoji="1" lang="zh-CN" altLang="en-US" sz="2800" b="1">
                <a:solidFill>
                  <a:schemeClr val="tx1"/>
                </a:solidFill>
                <a:latin typeface="Times New Roman" pitchFamily="18" charset="0"/>
                <a:ea typeface="宋体" charset="-122"/>
              </a:rPr>
              <a:t>磨针</a:t>
            </a:r>
            <a:endParaRPr kumimoji="1" lang="en-US" altLang="zh-CN" sz="2800" b="1">
              <a:solidFill>
                <a:schemeClr val="tx1"/>
              </a:solidFill>
              <a:latin typeface="Times New Roman" pitchFamily="18" charset="0"/>
              <a:ea typeface="宋体" charset="-122"/>
            </a:endParaRPr>
          </a:p>
          <a:p>
            <a:pPr eaLnBrk="1" hangingPunct="1"/>
            <a:r>
              <a:rPr kumimoji="1" lang="en-US" altLang="zh-CN" sz="2800" b="1">
                <a:solidFill>
                  <a:schemeClr val="tx1"/>
                </a:solidFill>
                <a:latin typeface="Times New Roman" pitchFamily="18" charset="0"/>
                <a:ea typeface="宋体" charset="-122"/>
              </a:rPr>
              <a:t>        ……</a:t>
            </a:r>
          </a:p>
          <a:p>
            <a:pPr eaLnBrk="1" hangingPunct="1"/>
            <a:r>
              <a:rPr kumimoji="1" lang="en-US" altLang="zh-CN" sz="2800" b="1">
                <a:solidFill>
                  <a:schemeClr val="tx1"/>
                </a:solidFill>
                <a:latin typeface="Times New Roman" pitchFamily="18" charset="0"/>
                <a:ea typeface="宋体" charset="-122"/>
              </a:rPr>
              <a:t>        </a:t>
            </a:r>
            <a:r>
              <a:rPr kumimoji="1" lang="zh-CN" altLang="en-US" sz="2800" b="1">
                <a:solidFill>
                  <a:schemeClr val="tx1"/>
                </a:solidFill>
                <a:latin typeface="Times New Roman" pitchFamily="18" charset="0"/>
                <a:ea typeface="宋体" charset="-122"/>
              </a:rPr>
              <a:t>磨针</a:t>
            </a:r>
            <a:endParaRPr kumimoji="1" lang="en-US" altLang="zh-CN" sz="2800" b="1">
              <a:solidFill>
                <a:schemeClr val="tx1"/>
              </a:solidFill>
              <a:latin typeface="Times New Roman" pitchFamily="18" charset="0"/>
              <a:ea typeface="宋体" charset="-122"/>
            </a:endParaRPr>
          </a:p>
          <a:p>
            <a:pPr eaLnBrk="1" hangingPunct="1"/>
            <a:r>
              <a:rPr kumimoji="1" lang="zh-CN" altLang="en-US" sz="2800" b="1">
                <a:solidFill>
                  <a:schemeClr val="tx1"/>
                </a:solidFill>
                <a:latin typeface="Times New Roman" pitchFamily="18" charset="0"/>
                <a:ea typeface="宋体" charset="-122"/>
              </a:rPr>
              <a:t>        磨针</a:t>
            </a:r>
            <a:endParaRPr kumimoji="1" lang="zh-CN" altLang="en-US" sz="2400" b="1">
              <a:solidFill>
                <a:srgbClr val="0000FF"/>
              </a:solidFill>
              <a:latin typeface="Times New Roman" pitchFamily="18" charset="0"/>
              <a:ea typeface="宋体" charset="-122"/>
            </a:endParaRPr>
          </a:p>
        </p:txBody>
      </p:sp>
      <p:sp>
        <p:nvSpPr>
          <p:cNvPr id="13" name="Text Box 4"/>
          <p:cNvSpPr txBox="1">
            <a:spLocks noChangeArrowheads="1"/>
          </p:cNvSpPr>
          <p:nvPr/>
        </p:nvSpPr>
        <p:spPr bwMode="auto">
          <a:xfrm>
            <a:off x="2479162" y="4893581"/>
            <a:ext cx="1863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r>
              <a:rPr lang="zh-CN" altLang="en-US" sz="2800" b="1">
                <a:latin typeface="宋体" charset="-122"/>
                <a:ea typeface="宋体" charset="-122"/>
              </a:rPr>
              <a:t>顺序结构 </a:t>
            </a:r>
          </a:p>
        </p:txBody>
      </p:sp>
      <p:grpSp>
        <p:nvGrpSpPr>
          <p:cNvPr id="14" name="Group 7"/>
          <p:cNvGrpSpPr>
            <a:grpSpLocks/>
          </p:cNvGrpSpPr>
          <p:nvPr/>
        </p:nvGrpSpPr>
        <p:grpSpPr bwMode="auto">
          <a:xfrm>
            <a:off x="6072459" y="2058414"/>
            <a:ext cx="3733800" cy="2495550"/>
            <a:chOff x="2928" y="816"/>
            <a:chExt cx="2352" cy="1572"/>
          </a:xfrm>
        </p:grpSpPr>
        <p:sp>
          <p:nvSpPr>
            <p:cNvPr id="15" name="Rectangle 5"/>
            <p:cNvSpPr>
              <a:spLocks noChangeArrowheads="1"/>
            </p:cNvSpPr>
            <p:nvPr/>
          </p:nvSpPr>
          <p:spPr bwMode="auto">
            <a:xfrm>
              <a:off x="2928" y="816"/>
              <a:ext cx="2352" cy="11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1" hangingPunct="1">
                <a:spcBef>
                  <a:spcPts val="1800"/>
                </a:spcBef>
              </a:pPr>
              <a:r>
                <a:rPr kumimoji="1" lang="en-US" altLang="zh-CN" sz="2800" b="1">
                  <a:solidFill>
                    <a:schemeClr val="tx1"/>
                  </a:solidFill>
                  <a:latin typeface="Times New Roman" pitchFamily="18" charset="0"/>
                  <a:ea typeface="宋体" charset="-122"/>
                </a:rPr>
                <a:t>def   main( ):</a:t>
              </a:r>
            </a:p>
            <a:p>
              <a:pPr eaLnBrk="1" hangingPunct="1">
                <a:spcBef>
                  <a:spcPts val="1800"/>
                </a:spcBef>
              </a:pPr>
              <a:r>
                <a:rPr kumimoji="1" lang="en-US" altLang="zh-CN" sz="2800" b="1">
                  <a:solidFill>
                    <a:schemeClr val="tx1"/>
                  </a:solidFill>
                  <a:latin typeface="Times New Roman" pitchFamily="18" charset="0"/>
                  <a:ea typeface="宋体" charset="-122"/>
                </a:rPr>
                <a:t>        while(</a:t>
              </a:r>
              <a:r>
                <a:rPr kumimoji="1" lang="zh-CN" altLang="en-US" sz="2800" b="1">
                  <a:solidFill>
                    <a:schemeClr val="tx1"/>
                  </a:solidFill>
                  <a:latin typeface="Times New Roman" pitchFamily="18" charset="0"/>
                  <a:ea typeface="宋体" charset="-122"/>
                </a:rPr>
                <a:t>针未磨好</a:t>
              </a:r>
              <a:r>
                <a:rPr kumimoji="1" lang="en-US" altLang="zh-CN" sz="2800" b="1">
                  <a:solidFill>
                    <a:schemeClr val="tx1"/>
                  </a:solidFill>
                  <a:latin typeface="Times New Roman" pitchFamily="18" charset="0"/>
                  <a:ea typeface="宋体" charset="-122"/>
                </a:rPr>
                <a:t>):</a:t>
              </a:r>
            </a:p>
            <a:p>
              <a:pPr eaLnBrk="1" hangingPunct="1">
                <a:spcBef>
                  <a:spcPts val="1800"/>
                </a:spcBef>
              </a:pPr>
              <a:r>
                <a:rPr kumimoji="1" lang="en-US" altLang="zh-CN" sz="2800" b="1">
                  <a:solidFill>
                    <a:schemeClr val="tx1"/>
                  </a:solidFill>
                  <a:latin typeface="Times New Roman" pitchFamily="18" charset="0"/>
                  <a:ea typeface="宋体" charset="-122"/>
                </a:rPr>
                <a:t>                </a:t>
              </a:r>
              <a:r>
                <a:rPr kumimoji="1" lang="zh-CN" altLang="en-US" sz="2800" b="1">
                  <a:solidFill>
                    <a:schemeClr val="tx1"/>
                  </a:solidFill>
                  <a:latin typeface="Times New Roman" pitchFamily="18" charset="0"/>
                  <a:ea typeface="宋体" charset="-122"/>
                </a:rPr>
                <a:t>磨针</a:t>
              </a:r>
              <a:endParaRPr kumimoji="1" lang="en-US" altLang="zh-CN" sz="2800" b="1">
                <a:solidFill>
                  <a:schemeClr val="tx1"/>
                </a:solidFill>
                <a:latin typeface="Times New Roman" pitchFamily="18" charset="0"/>
                <a:ea typeface="宋体" charset="-122"/>
              </a:endParaRPr>
            </a:p>
          </p:txBody>
        </p:sp>
        <p:sp>
          <p:nvSpPr>
            <p:cNvPr id="16" name="Text Box 6"/>
            <p:cNvSpPr txBox="1">
              <a:spLocks noChangeArrowheads="1"/>
            </p:cNvSpPr>
            <p:nvPr/>
          </p:nvSpPr>
          <p:spPr bwMode="auto">
            <a:xfrm>
              <a:off x="3517" y="2061"/>
              <a:ext cx="117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r>
                <a:rPr lang="zh-CN" altLang="en-US" sz="2800" b="1">
                  <a:latin typeface="宋体" charset="-122"/>
                  <a:ea typeface="宋体" charset="-122"/>
                </a:rPr>
                <a:t>循环结构 </a:t>
              </a:r>
            </a:p>
          </p:txBody>
        </p:sp>
      </p:grpSp>
    </p:spTree>
    <p:extLst>
      <p:ext uri="{BB962C8B-B14F-4D97-AF65-F5344CB8AC3E}">
        <p14:creationId xmlns:p14="http://schemas.microsoft.com/office/powerpoint/2010/main" val="2777276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dissolve">
                                      <p:cBhvr>
                                        <p:cTn id="7" dur="50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dissolve">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Effect transition="in" filter="dissolve">
                                      <p:cBhvr>
                                        <p:cTn id="17" dur="500"/>
                                        <p:tgtEl>
                                          <p:spTgt spid="1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
                                            <p:txEl>
                                              <p:pRg st="4" end="4"/>
                                            </p:txEl>
                                          </p:spTgt>
                                        </p:tgtEl>
                                        <p:attrNameLst>
                                          <p:attrName>style.visibility</p:attrName>
                                        </p:attrNameLst>
                                      </p:cBhvr>
                                      <p:to>
                                        <p:strVal val="visible"/>
                                      </p:to>
                                    </p:set>
                                    <p:animEffect transition="in" filter="dissolve">
                                      <p:cBhvr>
                                        <p:cTn id="22" dur="500"/>
                                        <p:tgtEl>
                                          <p:spTgt spid="12">
                                            <p:txEl>
                                              <p:pRg st="4" end="4"/>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animEffect transition="in" filter="dissolve">
                                      <p:cBhvr>
                                        <p:cTn id="25" dur="500"/>
                                        <p:tgtEl>
                                          <p:spTgt spid="12">
                                            <p:txEl>
                                              <p:pRg st="5" end="5"/>
                                            </p:txEl>
                                          </p:spTgt>
                                        </p:tgtEl>
                                      </p:cBhvr>
                                    </p:animEffect>
                                  </p:childTnLst>
                                </p:cTn>
                              </p:par>
                              <p:par>
                                <p:cTn id="26" presetID="9" presetClass="entr" presetSubtype="0" fill="hold" nodeType="withEffect">
                                  <p:stCondLst>
                                    <p:cond delay="0"/>
                                  </p:stCondLst>
                                  <p:childTnLst>
                                    <p:set>
                                      <p:cBhvr>
                                        <p:cTn id="27" dur="1" fill="hold">
                                          <p:stCondLst>
                                            <p:cond delay="0"/>
                                          </p:stCondLst>
                                        </p:cTn>
                                        <p:tgtEl>
                                          <p:spTgt spid="12">
                                            <p:txEl>
                                              <p:pRg st="6" end="6"/>
                                            </p:txEl>
                                          </p:spTgt>
                                        </p:tgtEl>
                                        <p:attrNameLst>
                                          <p:attrName>style.visibility</p:attrName>
                                        </p:attrNameLst>
                                      </p:cBhvr>
                                      <p:to>
                                        <p:strVal val="visible"/>
                                      </p:to>
                                    </p:set>
                                    <p:animEffect transition="in" filter="dissolve">
                                      <p:cBhvr>
                                        <p:cTn id="28" dur="500"/>
                                        <p:tgtEl>
                                          <p:spTgt spid="12">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dissolve">
                                      <p:cBhvr>
                                        <p:cTn id="3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5626444"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本章结构</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3" name="文本占位符 50"/>
          <p:cNvSpPr txBox="1"/>
          <p:nvPr/>
        </p:nvSpPr>
        <p:spPr>
          <a:xfrm>
            <a:off x="1484073" y="2445387"/>
            <a:ext cx="1862050" cy="689689"/>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a:solidFill>
                  <a:schemeClr val="accent2"/>
                </a:solidFill>
                <a:latin typeface="微软雅黑" panose="020B0503020204020204" pitchFamily="34" charset="-122"/>
                <a:ea typeface="微软雅黑" panose="020B0503020204020204" pitchFamily="34" charset="-122"/>
              </a:rPr>
              <a:t>for</a:t>
            </a:r>
            <a:r>
              <a:rPr lang="zh-CN" altLang="en-US" sz="2800" b="1">
                <a:solidFill>
                  <a:schemeClr val="accent2"/>
                </a:solidFill>
                <a:latin typeface="微软雅黑" panose="020B0503020204020204" pitchFamily="34" charset="-122"/>
                <a:ea typeface="微软雅黑" panose="020B0503020204020204" pitchFamily="34" charset="-122"/>
              </a:rPr>
              <a:t>语句</a:t>
            </a:r>
            <a:endParaRPr lang="zh-CN" altLang="en-US" sz="2800" b="1" dirty="0">
              <a:solidFill>
                <a:schemeClr val="accent2"/>
              </a:solidFill>
              <a:latin typeface="微软雅黑" panose="020B0503020204020204" pitchFamily="34" charset="-122"/>
              <a:ea typeface="微软雅黑" panose="020B0503020204020204" pitchFamily="34" charset="-122"/>
            </a:endParaRPr>
          </a:p>
        </p:txBody>
      </p:sp>
      <p:sp>
        <p:nvSpPr>
          <p:cNvPr id="15" name="文本占位符 50"/>
          <p:cNvSpPr txBox="1"/>
          <p:nvPr/>
        </p:nvSpPr>
        <p:spPr>
          <a:xfrm>
            <a:off x="4119070" y="4028866"/>
            <a:ext cx="2302456" cy="54176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a:solidFill>
                  <a:prstClr val="black">
                    <a:lumMod val="65000"/>
                    <a:lumOff val="35000"/>
                  </a:prstClr>
                </a:solidFill>
                <a:latin typeface="微软雅黑" panose="020B0503020204020204" pitchFamily="34" charset="-122"/>
                <a:ea typeface="微软雅黑" panose="020B0503020204020204" pitchFamily="34" charset="-122"/>
              </a:rPr>
              <a:t>while</a:t>
            </a:r>
            <a:r>
              <a:rPr lang="zh-CN" altLang="en-US" sz="2800" b="1">
                <a:solidFill>
                  <a:prstClr val="black">
                    <a:lumMod val="65000"/>
                    <a:lumOff val="35000"/>
                  </a:prstClr>
                </a:solidFill>
                <a:latin typeface="微软雅黑" panose="020B0503020204020204" pitchFamily="34" charset="-122"/>
                <a:ea typeface="微软雅黑" panose="020B0503020204020204" pitchFamily="34" charset="-122"/>
              </a:rPr>
              <a:t>语句</a:t>
            </a:r>
            <a:endParaRPr lang="zh-CN" altLang="en-US" sz="28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1322006" y="3265478"/>
            <a:ext cx="1819616" cy="1819616"/>
            <a:chOff x="1699695" y="2430291"/>
            <a:chExt cx="1819616" cy="1819616"/>
          </a:xfrm>
        </p:grpSpPr>
        <p:sp>
          <p:nvSpPr>
            <p:cNvPr id="19" name="椭圆 18"/>
            <p:cNvSpPr/>
            <p:nvPr/>
          </p:nvSpPr>
          <p:spPr>
            <a:xfrm>
              <a:off x="1870075" y="2600673"/>
              <a:ext cx="1478853" cy="1478853"/>
            </a:xfrm>
            <a:prstGeom prst="ellipse">
              <a:avLst/>
            </a:prstGeom>
            <a:solidFill>
              <a:schemeClr val="accent2"/>
            </a:solidFill>
            <a:ln w="12700" cap="flat" cmpd="sng" algn="ctr">
              <a:noFill/>
              <a:prstDash val="solid"/>
              <a:miter lim="800000"/>
            </a:ln>
            <a:effectLst/>
          </p:spPr>
          <p:txBody>
            <a:bodyPr rtlCol="0" anchor="ctr"/>
            <a:lstStyle/>
            <a:p>
              <a:pPr algn="ctr">
                <a:defRPr/>
              </a:pPr>
              <a:r>
                <a:rPr lang="en-US" altLang="zh-CN" sz="3600" kern="0" dirty="0">
                  <a:solidFill>
                    <a:srgbClr val="FFFFFF"/>
                  </a:solidFill>
                  <a:latin typeface="Segoe UI" panose="020B0502040204020203"/>
                  <a:ea typeface="微软雅黑 Light" panose="020B0502040204020203" charset="-122"/>
                </a:rPr>
                <a:t>01</a:t>
              </a:r>
              <a:endParaRPr lang="zh-CN" altLang="en-US" sz="3600" kern="0" dirty="0">
                <a:solidFill>
                  <a:srgbClr val="FFFFFF"/>
                </a:solidFill>
                <a:latin typeface="Segoe UI" panose="020B0502040204020203"/>
                <a:ea typeface="微软雅黑 Light" panose="020B0502040204020203" charset="-122"/>
              </a:endParaRPr>
            </a:p>
          </p:txBody>
        </p:sp>
        <p:sp>
          <p:nvSpPr>
            <p:cNvPr id="20" name="弧形 19"/>
            <p:cNvSpPr/>
            <p:nvPr/>
          </p:nvSpPr>
          <p:spPr>
            <a:xfrm rot="7941625">
              <a:off x="1699695" y="2430291"/>
              <a:ext cx="1819616" cy="1819616"/>
            </a:xfrm>
            <a:prstGeom prst="arc">
              <a:avLst>
                <a:gd name="adj1" fmla="val 14586031"/>
                <a:gd name="adj2" fmla="val 1762864"/>
              </a:avLst>
            </a:prstGeom>
            <a:noFill/>
            <a:ln w="19050" cap="flat" cmpd="sng" algn="ctr">
              <a:solidFill>
                <a:schemeClr val="accent2"/>
              </a:solidFill>
              <a:prstDash val="solid"/>
              <a:miter lim="800000"/>
              <a:headEnd type="stealth" w="lg" len="med"/>
            </a:ln>
            <a:effectLst/>
          </p:spPr>
          <p:txBody>
            <a:bodyPr rtlCol="0" anchor="ctr"/>
            <a:lstStyle/>
            <a:p>
              <a:pPr algn="ctr">
                <a:defRPr/>
              </a:pPr>
              <a:endParaRPr lang="zh-CN" altLang="en-US" kern="0" dirty="0">
                <a:solidFill>
                  <a:srgbClr val="EA5504"/>
                </a:solidFill>
                <a:latin typeface="Segoe UI Semilight" panose="020B0402040204020203"/>
                <a:ea typeface="微软雅黑 Light" panose="020B0502040204020203" charset="-122"/>
              </a:endParaRPr>
            </a:p>
          </p:txBody>
        </p:sp>
      </p:grpSp>
      <p:grpSp>
        <p:nvGrpSpPr>
          <p:cNvPr id="24" name="组合 23"/>
          <p:cNvGrpSpPr/>
          <p:nvPr/>
        </p:nvGrpSpPr>
        <p:grpSpPr>
          <a:xfrm>
            <a:off x="4059179" y="1980180"/>
            <a:ext cx="1819616" cy="1819616"/>
            <a:chOff x="1699695" y="2430291"/>
            <a:chExt cx="1819616" cy="1819616"/>
          </a:xfrm>
        </p:grpSpPr>
        <p:sp>
          <p:nvSpPr>
            <p:cNvPr id="25" name="椭圆 24"/>
            <p:cNvSpPr/>
            <p:nvPr/>
          </p:nvSpPr>
          <p:spPr>
            <a:xfrm>
              <a:off x="1870075" y="2600673"/>
              <a:ext cx="1478853" cy="1478853"/>
            </a:xfrm>
            <a:prstGeom prst="ellipse">
              <a:avLst/>
            </a:prstGeom>
            <a:solidFill>
              <a:sysClr val="windowText" lastClr="000000">
                <a:lumMod val="65000"/>
                <a:lumOff val="3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dirty="0">
                  <a:ln>
                    <a:noFill/>
                  </a:ln>
                  <a:solidFill>
                    <a:srgbClr val="FFFFFF"/>
                  </a:solidFill>
                  <a:effectLst/>
                  <a:uLnTx/>
                  <a:uFillTx/>
                  <a:latin typeface="Segoe UI" panose="020B0502040204020203"/>
                  <a:ea typeface="微软雅黑 Light" panose="020B0502040204020203" charset="-122"/>
                </a:rPr>
                <a:t>02</a:t>
              </a:r>
              <a:endParaRPr kumimoji="0" lang="zh-CN" altLang="en-US" sz="3600" b="0" i="0" u="none" strike="noStrike" kern="0" cap="none" spc="0" normalizeH="0" baseline="0" noProof="0" dirty="0">
                <a:ln>
                  <a:noFill/>
                </a:ln>
                <a:solidFill>
                  <a:srgbClr val="FFFFFF"/>
                </a:solidFill>
                <a:effectLst/>
                <a:uLnTx/>
                <a:uFillTx/>
                <a:latin typeface="Segoe UI" panose="020B0502040204020203"/>
                <a:ea typeface="微软雅黑 Light" panose="020B0502040204020203" charset="-122"/>
              </a:endParaRPr>
            </a:p>
          </p:txBody>
        </p:sp>
        <p:sp>
          <p:nvSpPr>
            <p:cNvPr id="26" name="弧形 25"/>
            <p:cNvSpPr/>
            <p:nvPr/>
          </p:nvSpPr>
          <p:spPr>
            <a:xfrm rot="2784046" flipH="1">
              <a:off x="1699695" y="2430291"/>
              <a:ext cx="1819616" cy="1819616"/>
            </a:xfrm>
            <a:prstGeom prst="arc">
              <a:avLst>
                <a:gd name="adj1" fmla="val 14586031"/>
                <a:gd name="adj2" fmla="val 1762864"/>
              </a:avLst>
            </a:prstGeom>
            <a:noFill/>
            <a:ln w="19050" cap="flat" cmpd="sng" algn="ctr">
              <a:solidFill>
                <a:sysClr val="windowText" lastClr="000000">
                  <a:lumMod val="65000"/>
                  <a:lumOff val="35000"/>
                </a:sysClr>
              </a:solidFill>
              <a:prstDash val="solid"/>
              <a:miter lim="800000"/>
              <a:headEnd type="stealth" w="lg"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3600" b="0" i="0" u="none" strike="noStrike" kern="0" cap="none" spc="0" normalizeH="0" baseline="0" noProof="0" dirty="0">
                <a:ln>
                  <a:noFill/>
                </a:ln>
                <a:solidFill>
                  <a:srgbClr val="EA5504"/>
                </a:solidFill>
                <a:effectLst/>
                <a:uLnTx/>
                <a:uFillTx/>
                <a:latin typeface="Segoe UI" panose="020B0502040204020203"/>
                <a:ea typeface="微软雅黑 Light" panose="020B0502040204020203" charset="-122"/>
              </a:endParaRPr>
            </a:p>
          </p:txBody>
        </p:sp>
      </p:grpSp>
      <p:grpSp>
        <p:nvGrpSpPr>
          <p:cNvPr id="27" name="组合 26"/>
          <p:cNvGrpSpPr/>
          <p:nvPr/>
        </p:nvGrpSpPr>
        <p:grpSpPr>
          <a:xfrm>
            <a:off x="6549030" y="3095868"/>
            <a:ext cx="1819616" cy="1819616"/>
            <a:chOff x="1699695" y="2430291"/>
            <a:chExt cx="1819616" cy="1819616"/>
          </a:xfrm>
        </p:grpSpPr>
        <p:sp>
          <p:nvSpPr>
            <p:cNvPr id="28" name="椭圆 27"/>
            <p:cNvSpPr/>
            <p:nvPr/>
          </p:nvSpPr>
          <p:spPr>
            <a:xfrm>
              <a:off x="1870075" y="2600673"/>
              <a:ext cx="1478853" cy="1478853"/>
            </a:xfrm>
            <a:prstGeom prst="ellipse">
              <a:avLst/>
            </a:prstGeom>
            <a:solidFill>
              <a:schemeClr val="accent2"/>
            </a:solidFill>
            <a:ln w="12700" cap="flat" cmpd="sng" algn="ctr">
              <a:noFill/>
              <a:prstDash val="solid"/>
              <a:miter lim="800000"/>
            </a:ln>
            <a:effectLst/>
          </p:spPr>
          <p:txBody>
            <a:bodyPr rtlCol="0" anchor="ctr"/>
            <a:lstStyle/>
            <a:p>
              <a:pPr algn="ctr">
                <a:defRPr/>
              </a:pPr>
              <a:r>
                <a:rPr lang="en-US" altLang="zh-CN" sz="3600" kern="0" dirty="0">
                  <a:solidFill>
                    <a:srgbClr val="FFFFFF"/>
                  </a:solidFill>
                  <a:latin typeface="Segoe UI" panose="020B0502040204020203"/>
                  <a:ea typeface="微软雅黑 Light" panose="020B0502040204020203" charset="-122"/>
                </a:rPr>
                <a:t>03</a:t>
              </a:r>
              <a:endParaRPr lang="zh-CN" altLang="en-US" sz="3600" kern="0" dirty="0">
                <a:solidFill>
                  <a:srgbClr val="FFFFFF"/>
                </a:solidFill>
                <a:latin typeface="Segoe UI" panose="020B0502040204020203"/>
                <a:ea typeface="微软雅黑 Light" panose="020B0502040204020203" charset="-122"/>
              </a:endParaRPr>
            </a:p>
          </p:txBody>
        </p:sp>
        <p:sp>
          <p:nvSpPr>
            <p:cNvPr id="29" name="弧形 28"/>
            <p:cNvSpPr/>
            <p:nvPr/>
          </p:nvSpPr>
          <p:spPr>
            <a:xfrm rot="7941625">
              <a:off x="1699695" y="2430291"/>
              <a:ext cx="1819616" cy="1819616"/>
            </a:xfrm>
            <a:prstGeom prst="arc">
              <a:avLst>
                <a:gd name="adj1" fmla="val 14586031"/>
                <a:gd name="adj2" fmla="val 1762864"/>
              </a:avLst>
            </a:prstGeom>
            <a:noFill/>
            <a:ln w="19050" cap="flat" cmpd="sng" algn="ctr">
              <a:solidFill>
                <a:schemeClr val="accent2"/>
              </a:solidFill>
              <a:prstDash val="solid"/>
              <a:miter lim="800000"/>
              <a:headEnd type="stealth" w="lg" len="med"/>
            </a:ln>
            <a:effectLst/>
          </p:spPr>
          <p:txBody>
            <a:bodyPr rtlCol="0" anchor="ctr"/>
            <a:lstStyle/>
            <a:p>
              <a:pPr algn="ctr">
                <a:defRPr/>
              </a:pPr>
              <a:endParaRPr lang="zh-CN" altLang="en-US" kern="0" dirty="0">
                <a:solidFill>
                  <a:srgbClr val="EA5504"/>
                </a:solidFill>
                <a:latin typeface="Segoe UI Semilight" panose="020B0402040204020203"/>
                <a:ea typeface="微软雅黑 Light" panose="020B0502040204020203" charset="-122"/>
              </a:endParaRPr>
            </a:p>
          </p:txBody>
        </p:sp>
      </p:grpSp>
      <p:grpSp>
        <p:nvGrpSpPr>
          <p:cNvPr id="30" name="组合 29"/>
          <p:cNvGrpSpPr/>
          <p:nvPr/>
        </p:nvGrpSpPr>
        <p:grpSpPr>
          <a:xfrm>
            <a:off x="9133212" y="1957678"/>
            <a:ext cx="1819616" cy="1819616"/>
            <a:chOff x="1699695" y="2430291"/>
            <a:chExt cx="1819616" cy="1819616"/>
          </a:xfrm>
        </p:grpSpPr>
        <p:sp>
          <p:nvSpPr>
            <p:cNvPr id="31" name="椭圆 30"/>
            <p:cNvSpPr/>
            <p:nvPr/>
          </p:nvSpPr>
          <p:spPr>
            <a:xfrm>
              <a:off x="1870075" y="2600673"/>
              <a:ext cx="1478853" cy="1478853"/>
            </a:xfrm>
            <a:prstGeom prst="ellipse">
              <a:avLst/>
            </a:prstGeom>
            <a:solidFill>
              <a:sysClr val="windowText" lastClr="000000">
                <a:lumMod val="65000"/>
                <a:lumOff val="3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dirty="0">
                  <a:ln>
                    <a:noFill/>
                  </a:ln>
                  <a:solidFill>
                    <a:srgbClr val="FFFFFF"/>
                  </a:solidFill>
                  <a:effectLst/>
                  <a:uLnTx/>
                  <a:uFillTx/>
                  <a:latin typeface="Segoe UI" panose="020B0502040204020203"/>
                  <a:ea typeface="微软雅黑 Light" panose="020B0502040204020203" charset="-122"/>
                </a:rPr>
                <a:t>04</a:t>
              </a:r>
              <a:endParaRPr kumimoji="0" lang="zh-CN" altLang="en-US" sz="3600" b="0" i="0" u="none" strike="noStrike" kern="0" cap="none" spc="0" normalizeH="0" baseline="0" noProof="0" dirty="0">
                <a:ln>
                  <a:noFill/>
                </a:ln>
                <a:solidFill>
                  <a:srgbClr val="FFFFFF"/>
                </a:solidFill>
                <a:effectLst/>
                <a:uLnTx/>
                <a:uFillTx/>
                <a:latin typeface="Segoe UI" panose="020B0502040204020203"/>
                <a:ea typeface="微软雅黑 Light" panose="020B0502040204020203" charset="-122"/>
              </a:endParaRPr>
            </a:p>
          </p:txBody>
        </p:sp>
        <p:sp>
          <p:nvSpPr>
            <p:cNvPr id="32" name="弧形 31"/>
            <p:cNvSpPr/>
            <p:nvPr/>
          </p:nvSpPr>
          <p:spPr>
            <a:xfrm rot="2810902" flipH="1">
              <a:off x="1699695" y="2430291"/>
              <a:ext cx="1819616" cy="1819616"/>
            </a:xfrm>
            <a:prstGeom prst="arc">
              <a:avLst>
                <a:gd name="adj1" fmla="val 14586031"/>
                <a:gd name="adj2" fmla="val 1762864"/>
              </a:avLst>
            </a:prstGeom>
            <a:noFill/>
            <a:ln w="19050" cap="flat" cmpd="sng" algn="ctr">
              <a:solidFill>
                <a:sysClr val="windowText" lastClr="000000">
                  <a:lumMod val="65000"/>
                  <a:lumOff val="35000"/>
                </a:sysClr>
              </a:solidFill>
              <a:prstDash val="solid"/>
              <a:miter lim="800000"/>
              <a:headEnd type="stealth" w="lg"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EA5504"/>
                </a:solidFill>
                <a:effectLst/>
                <a:uLnTx/>
                <a:uFillTx/>
                <a:latin typeface="Segoe UI Semilight" panose="020B0402040204020203"/>
                <a:ea typeface="微软雅黑 Light" panose="020B0502040204020203" charset="-122"/>
              </a:endParaRPr>
            </a:p>
          </p:txBody>
        </p:sp>
      </p:grpSp>
      <p:sp>
        <p:nvSpPr>
          <p:cNvPr id="33" name="文本占位符 50"/>
          <p:cNvSpPr txBox="1"/>
          <p:nvPr/>
        </p:nvSpPr>
        <p:spPr>
          <a:xfrm>
            <a:off x="6577689" y="2111435"/>
            <a:ext cx="1862050" cy="997524"/>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a:solidFill>
                  <a:schemeClr val="accent2"/>
                </a:solidFill>
                <a:latin typeface="微软雅黑" panose="020B0503020204020204" pitchFamily="34" charset="-122"/>
                <a:ea typeface="微软雅黑" panose="020B0503020204020204" pitchFamily="34" charset="-122"/>
              </a:rPr>
              <a:t>break</a:t>
            </a:r>
            <a:r>
              <a:rPr lang="zh-CN" altLang="en-US" sz="2800" b="1">
                <a:solidFill>
                  <a:schemeClr val="accent2"/>
                </a:solidFill>
                <a:latin typeface="微软雅黑" panose="020B0503020204020204" pitchFamily="34" charset="-122"/>
                <a:ea typeface="微软雅黑" panose="020B0503020204020204" pitchFamily="34" charset="-122"/>
              </a:rPr>
              <a:t>和</a:t>
            </a:r>
            <a:r>
              <a:rPr lang="en-US" altLang="zh-CN" sz="2800" b="1">
                <a:solidFill>
                  <a:schemeClr val="accent2"/>
                </a:solidFill>
                <a:latin typeface="微软雅黑" panose="020B0503020204020204" pitchFamily="34" charset="-122"/>
                <a:ea typeface="微软雅黑" panose="020B0503020204020204" pitchFamily="34" charset="-122"/>
              </a:rPr>
              <a:t>continue</a:t>
            </a:r>
            <a:endParaRPr lang="zh-CN" altLang="en-US" sz="2800" b="1" dirty="0">
              <a:solidFill>
                <a:schemeClr val="accent2"/>
              </a:solidFill>
              <a:latin typeface="微软雅黑" panose="020B0503020204020204" pitchFamily="34" charset="-122"/>
              <a:ea typeface="微软雅黑" panose="020B0503020204020204" pitchFamily="34" charset="-122"/>
            </a:endParaRPr>
          </a:p>
        </p:txBody>
      </p:sp>
      <p:sp>
        <p:nvSpPr>
          <p:cNvPr id="34" name="文本占位符 50"/>
          <p:cNvSpPr txBox="1"/>
          <p:nvPr/>
        </p:nvSpPr>
        <p:spPr>
          <a:xfrm>
            <a:off x="9378409" y="4028866"/>
            <a:ext cx="2302456" cy="54176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b="1">
                <a:solidFill>
                  <a:prstClr val="black">
                    <a:lumMod val="65000"/>
                    <a:lumOff val="35000"/>
                  </a:prstClr>
                </a:solidFill>
                <a:latin typeface="微软雅黑" panose="020B0503020204020204" pitchFamily="34" charset="-122"/>
                <a:ea typeface="微软雅黑" panose="020B0503020204020204" pitchFamily="34" charset="-122"/>
              </a:rPr>
              <a:t>程序举例</a:t>
            </a:r>
            <a:endParaRPr lang="zh-CN" altLang="en-US" sz="2800"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07989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3.1 for</a:t>
            </a:r>
            <a:r>
              <a:rPr lang="zh-CN" altLang="en-US" sz="4800" noProof="0">
                <a:solidFill>
                  <a:schemeClr val="accent2"/>
                </a:solidFill>
                <a:latin typeface="隶书" pitchFamily="49" charset="-122"/>
                <a:ea typeface="隶书" pitchFamily="49" charset="-122"/>
              </a:rPr>
              <a:t>语句</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2" name="Rectangle 6"/>
          <p:cNvSpPr>
            <a:spLocks noChangeArrowheads="1"/>
          </p:cNvSpPr>
          <p:nvPr/>
        </p:nvSpPr>
        <p:spPr bwMode="auto">
          <a:xfrm>
            <a:off x="3413274" y="1820506"/>
            <a:ext cx="6587060" cy="3477875"/>
          </a:xfrm>
          <a:prstGeom prst="rect">
            <a:avLst/>
          </a:prstGeom>
          <a:noFill/>
          <a:ln w="9525">
            <a:noFill/>
            <a:miter lim="800000"/>
            <a:headEnd/>
            <a:tailEnd/>
          </a:ln>
          <a:effectLst/>
        </p:spPr>
        <p:txBody>
          <a:bodyPr wrap="none">
            <a:spAutoFit/>
          </a:bodyPr>
          <a:lstStyle/>
          <a:p>
            <a:pPr>
              <a:spcBef>
                <a:spcPct val="50000"/>
              </a:spcBef>
              <a:buNone/>
              <a:defRPr/>
            </a:pPr>
            <a:r>
              <a:rPr kumimoji="1" lang="zh-CN" altLang="en-US" sz="4400" b="1">
                <a:solidFill>
                  <a:schemeClr val="tx1"/>
                </a:solidFill>
                <a:effectLst>
                  <a:outerShdw blurRad="38100" dist="38100" dir="2700000" algn="tl">
                    <a:srgbClr val="C0C0C0"/>
                  </a:outerShdw>
                </a:effectLst>
                <a:latin typeface="Times New Roman" pitchFamily="18" charset="0"/>
                <a:ea typeface="宋体" pitchFamily="2" charset="-122"/>
              </a:rPr>
              <a:t> </a:t>
            </a:r>
            <a:r>
              <a:rPr kumimoji="1" lang="en-US" altLang="zh-CN" sz="4400" b="1">
                <a:solidFill>
                  <a:srgbClr val="C00000"/>
                </a:solidFill>
                <a:effectLst>
                  <a:outerShdw blurRad="38100" dist="38100" dir="2700000" algn="tl">
                    <a:srgbClr val="C0C0C0"/>
                  </a:outerShdw>
                </a:effectLst>
                <a:latin typeface="Times New Roman" pitchFamily="18" charset="0"/>
                <a:ea typeface="宋体" pitchFamily="2" charset="-122"/>
              </a:rPr>
              <a:t>for</a:t>
            </a:r>
            <a:r>
              <a:rPr kumimoji="1" lang="en-US" altLang="zh-CN" sz="4400" b="1">
                <a:solidFill>
                  <a:schemeClr val="tx1"/>
                </a:solidFill>
                <a:effectLst>
                  <a:outerShdw blurRad="38100" dist="38100" dir="2700000" algn="tl">
                    <a:srgbClr val="C0C0C0"/>
                  </a:outerShdw>
                </a:effectLst>
                <a:latin typeface="Times New Roman" pitchFamily="18" charset="0"/>
                <a:ea typeface="宋体" pitchFamily="2" charset="-122"/>
              </a:rPr>
              <a:t>  x</a:t>
            </a:r>
            <a:r>
              <a:rPr kumimoji="1" lang="zh-CN" altLang="en-US" sz="4400" b="1">
                <a:solidFill>
                  <a:schemeClr val="tx1"/>
                </a:solidFill>
                <a:effectLst>
                  <a:outerShdw blurRad="38100" dist="38100" dir="2700000" algn="tl">
                    <a:srgbClr val="C0C0C0"/>
                  </a:outerShdw>
                </a:effectLst>
                <a:latin typeface="Times New Roman" pitchFamily="18" charset="0"/>
                <a:ea typeface="宋体" pitchFamily="2" charset="-122"/>
              </a:rPr>
              <a:t>  </a:t>
            </a:r>
            <a:r>
              <a:rPr kumimoji="1" lang="en-US" altLang="zh-CN" sz="4400" b="1">
                <a:solidFill>
                  <a:srgbClr val="00B050"/>
                </a:solidFill>
                <a:latin typeface="Times New Roman" pitchFamily="18" charset="0"/>
                <a:ea typeface="宋体" pitchFamily="2" charset="-122"/>
              </a:rPr>
              <a:t>in</a:t>
            </a:r>
            <a:r>
              <a:rPr kumimoji="1" lang="en-US" altLang="zh-CN" sz="4400" b="1">
                <a:solidFill>
                  <a:srgbClr val="0000FF"/>
                </a:solidFill>
                <a:latin typeface="Times New Roman" pitchFamily="18" charset="0"/>
                <a:ea typeface="宋体" pitchFamily="2" charset="-122"/>
              </a:rPr>
              <a:t> </a:t>
            </a:r>
            <a:r>
              <a:rPr kumimoji="1" lang="en-US" altLang="zh-CN" sz="4400" b="1">
                <a:solidFill>
                  <a:srgbClr val="7030A0"/>
                </a:solidFill>
                <a:latin typeface="Times New Roman" pitchFamily="18" charset="0"/>
                <a:ea typeface="宋体" pitchFamily="2" charset="-122"/>
              </a:rPr>
              <a:t>sequence</a:t>
            </a:r>
            <a:r>
              <a:rPr kumimoji="1" lang="en-US" altLang="zh-CN" sz="4400" b="1">
                <a:solidFill>
                  <a:srgbClr val="C00000"/>
                </a:solidFill>
                <a:latin typeface="Times New Roman" pitchFamily="18" charset="0"/>
                <a:ea typeface="宋体" pitchFamily="2" charset="-122"/>
              </a:rPr>
              <a:t>:</a:t>
            </a:r>
            <a:br>
              <a:rPr kumimoji="1" lang="en-US" altLang="zh-CN" sz="4400" b="1">
                <a:solidFill>
                  <a:schemeClr val="tx1"/>
                </a:solidFill>
                <a:effectLst>
                  <a:outerShdw blurRad="38100" dist="38100" dir="2700000" algn="tl">
                    <a:srgbClr val="C0C0C0"/>
                  </a:outerShdw>
                </a:effectLst>
                <a:latin typeface="Times New Roman" pitchFamily="18" charset="0"/>
                <a:ea typeface="宋体" pitchFamily="2" charset="-122"/>
              </a:rPr>
            </a:br>
            <a:endParaRPr kumimoji="1" lang="en-US" altLang="zh-CN" sz="4400" b="1">
              <a:solidFill>
                <a:schemeClr val="tx1"/>
              </a:solidFill>
              <a:effectLst>
                <a:outerShdw blurRad="38100" dist="38100" dir="2700000" algn="tl">
                  <a:srgbClr val="C0C0C0"/>
                </a:outerShdw>
              </a:effectLst>
              <a:latin typeface="Times New Roman" pitchFamily="18" charset="0"/>
              <a:ea typeface="宋体" pitchFamily="2" charset="-122"/>
            </a:endParaRPr>
          </a:p>
          <a:p>
            <a:pPr>
              <a:spcBef>
                <a:spcPct val="50000"/>
              </a:spcBef>
              <a:buNone/>
              <a:defRPr/>
            </a:pPr>
            <a:r>
              <a:rPr kumimoji="1" lang="en-US" altLang="zh-CN" sz="4400" b="1">
                <a:solidFill>
                  <a:schemeClr val="tx1"/>
                </a:solidFill>
                <a:effectLst>
                  <a:outerShdw blurRad="38100" dist="38100" dir="2700000" algn="tl">
                    <a:srgbClr val="C0C0C0"/>
                  </a:outerShdw>
                </a:effectLst>
                <a:latin typeface="Times New Roman" pitchFamily="18" charset="0"/>
                <a:ea typeface="宋体" pitchFamily="2" charset="-122"/>
              </a:rPr>
              <a:t>            </a:t>
            </a:r>
            <a:r>
              <a:rPr kumimoji="1" lang="zh-CN" altLang="en-US" sz="4400" b="1">
                <a:solidFill>
                  <a:schemeClr val="tx1"/>
                </a:solidFill>
                <a:effectLst>
                  <a:outerShdw blurRad="38100" dist="38100" dir="2700000" algn="tl">
                    <a:srgbClr val="C0C0C0"/>
                  </a:outerShdw>
                </a:effectLst>
                <a:latin typeface="Times New Roman" pitchFamily="18" charset="0"/>
                <a:ea typeface="宋体" pitchFamily="2" charset="-122"/>
              </a:rPr>
              <a:t>语句块，如</a:t>
            </a:r>
            <a:r>
              <a:rPr kumimoji="1" lang="en-US" altLang="zh-CN" sz="4400" b="1">
                <a:solidFill>
                  <a:schemeClr val="tx1"/>
                </a:solidFill>
                <a:effectLst>
                  <a:outerShdw blurRad="38100" dist="38100" dir="2700000" algn="tl">
                    <a:srgbClr val="C0C0C0"/>
                  </a:outerShdw>
                </a:effectLst>
                <a:latin typeface="Times New Roman" pitchFamily="18" charset="0"/>
                <a:ea typeface="宋体" pitchFamily="2" charset="-122"/>
              </a:rPr>
              <a:t>print(x)</a:t>
            </a:r>
            <a:endParaRPr kumimoji="1" lang="zh-CN" altLang="en-US" sz="4400" b="1">
              <a:solidFill>
                <a:schemeClr val="tx1"/>
              </a:solidFill>
              <a:effectLst>
                <a:outerShdw blurRad="38100" dist="38100" dir="2700000" algn="tl">
                  <a:srgbClr val="C0C0C0"/>
                </a:outerShdw>
              </a:effectLst>
              <a:latin typeface="Times New Roman" pitchFamily="18" charset="0"/>
              <a:ea typeface="宋体" pitchFamily="2" charset="-122"/>
            </a:endParaRPr>
          </a:p>
          <a:p>
            <a:pPr>
              <a:spcBef>
                <a:spcPct val="50000"/>
              </a:spcBef>
              <a:buNone/>
              <a:defRPr/>
            </a:pPr>
            <a:endParaRPr kumimoji="1" lang="en-US" altLang="zh-CN" sz="4400" b="1">
              <a:solidFill>
                <a:schemeClr val="tx1"/>
              </a:solidFill>
              <a:effectLst>
                <a:outerShdw blurRad="38100" dist="38100" dir="2700000" algn="tl">
                  <a:srgbClr val="C0C0C0"/>
                </a:outerShdw>
              </a:effectLst>
              <a:latin typeface="Times New Roman" pitchFamily="18" charset="0"/>
              <a:ea typeface="宋体" pitchFamily="2" charset="-122"/>
            </a:endParaRPr>
          </a:p>
        </p:txBody>
      </p:sp>
      <p:sp>
        <p:nvSpPr>
          <p:cNvPr id="13" name="Text Box 7" descr="再生纸"/>
          <p:cNvSpPr txBox="1">
            <a:spLocks noChangeArrowheads="1"/>
          </p:cNvSpPr>
          <p:nvPr/>
        </p:nvSpPr>
        <p:spPr bwMode="auto">
          <a:xfrm>
            <a:off x="925011" y="1952149"/>
            <a:ext cx="2244525" cy="584775"/>
          </a:xfrm>
          <a:prstGeom prst="rect">
            <a:avLst/>
          </a:prstGeom>
          <a:noFill/>
          <a:ln w="9525">
            <a:noFill/>
            <a:miter lim="800000"/>
            <a:headEnd/>
            <a:tailEnd/>
          </a:ln>
        </p:spPr>
        <p:txBody>
          <a:bodyPr wrap="none">
            <a:spAutoFit/>
          </a:bodyPr>
          <a:lstStyle/>
          <a:p>
            <a:pPr>
              <a:spcBef>
                <a:spcPct val="50000"/>
              </a:spcBef>
              <a:buNone/>
            </a:pPr>
            <a:r>
              <a:rPr kumimoji="1" lang="zh-CN" altLang="en-US" sz="3200" b="1">
                <a:solidFill>
                  <a:schemeClr val="tx1"/>
                </a:solidFill>
                <a:latin typeface="Times New Roman" pitchFamily="18" charset="0"/>
                <a:ea typeface="宋体" charset="-122"/>
              </a:rPr>
              <a:t>一般形式：</a:t>
            </a:r>
          </a:p>
        </p:txBody>
      </p:sp>
      <p:sp>
        <p:nvSpPr>
          <p:cNvPr id="26" name="圆角矩形 25"/>
          <p:cNvSpPr/>
          <p:nvPr/>
        </p:nvSpPr>
        <p:spPr bwMode="auto">
          <a:xfrm>
            <a:off x="3732415" y="2896186"/>
            <a:ext cx="1163781" cy="1752600"/>
          </a:xfrm>
          <a:prstGeom prst="roundRect">
            <a:avLst/>
          </a:prstGeom>
          <a:solidFill>
            <a:srgbClr val="D1D1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Tx/>
              <a:buSzTx/>
              <a:buFont typeface="Wingdings" pitchFamily="2" charset="2"/>
              <a:buChar char="•"/>
              <a:tabLst/>
            </a:pPr>
            <a:endParaRPr kumimoji="0" lang="zh-CN" altLang="en-US" sz="1800" b="0" i="0" u="none" strike="noStrike" cap="none" normalizeH="0" baseline="0">
              <a:ln>
                <a:noFill/>
              </a:ln>
              <a:solidFill>
                <a:schemeClr val="tx1"/>
              </a:solidFill>
              <a:effectLst/>
              <a:latin typeface="Arial" pitchFamily="34" charset="0"/>
              <a:ea typeface="黑体" pitchFamily="49" charset="-122"/>
            </a:endParaRPr>
          </a:p>
        </p:txBody>
      </p:sp>
      <p:sp>
        <p:nvSpPr>
          <p:cNvPr id="28" name="Text Box 12"/>
          <p:cNvSpPr txBox="1">
            <a:spLocks noChangeArrowheads="1"/>
          </p:cNvSpPr>
          <p:nvPr/>
        </p:nvSpPr>
        <p:spPr bwMode="auto">
          <a:xfrm>
            <a:off x="1072325" y="5149743"/>
            <a:ext cx="97258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squar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r>
              <a:rPr lang="en-US" altLang="zh-CN" b="1">
                <a:solidFill>
                  <a:srgbClr val="0070C0"/>
                </a:solidFill>
                <a:latin typeface="Times New Roman" pitchFamily="18" charset="0"/>
                <a:ea typeface="宋体" charset="-122"/>
              </a:rPr>
              <a:t>sequence: range()</a:t>
            </a:r>
            <a:r>
              <a:rPr lang="zh-CN" altLang="en-US" b="1">
                <a:solidFill>
                  <a:srgbClr val="0070C0"/>
                </a:solidFill>
                <a:latin typeface="Times New Roman" pitchFamily="18" charset="0"/>
                <a:ea typeface="宋体" charset="-122"/>
              </a:rPr>
              <a:t>、字符串、列表、元组等元素序列</a:t>
            </a:r>
            <a:endParaRPr lang="en-US" altLang="zh-CN" b="1">
              <a:solidFill>
                <a:srgbClr val="0070C0"/>
              </a:solidFill>
              <a:latin typeface="Times New Roman" pitchFamily="18" charset="0"/>
              <a:ea typeface="宋体" charset="-122"/>
            </a:endParaRPr>
          </a:p>
        </p:txBody>
      </p:sp>
    </p:spTree>
    <p:extLst>
      <p:ext uri="{BB962C8B-B14F-4D97-AF65-F5344CB8AC3E}">
        <p14:creationId xmlns:p14="http://schemas.microsoft.com/office/powerpoint/2010/main" val="31643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for</a:t>
            </a:r>
            <a:r>
              <a:rPr lang="zh-CN" altLang="en-US" sz="4800" noProof="0">
                <a:solidFill>
                  <a:schemeClr val="accent2"/>
                </a:solidFill>
                <a:latin typeface="隶书" pitchFamily="49" charset="-122"/>
                <a:ea typeface="隶书" pitchFamily="49" charset="-122"/>
              </a:rPr>
              <a:t>语句</a:t>
            </a:r>
            <a:r>
              <a:rPr lang="zh-CN" altLang="en-US" sz="4800">
                <a:solidFill>
                  <a:schemeClr val="accent2"/>
                </a:solidFill>
                <a:latin typeface="隶书" pitchFamily="49" charset="-122"/>
                <a:ea typeface="隶书" pitchFamily="49" charset="-122"/>
              </a:rPr>
              <a:t>常见形式</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2" name="Rectangle 6"/>
          <p:cNvSpPr>
            <a:spLocks noChangeArrowheads="1"/>
          </p:cNvSpPr>
          <p:nvPr/>
        </p:nvSpPr>
        <p:spPr bwMode="auto">
          <a:xfrm>
            <a:off x="3413274" y="1820506"/>
            <a:ext cx="6128537" cy="2246769"/>
          </a:xfrm>
          <a:prstGeom prst="rect">
            <a:avLst/>
          </a:prstGeom>
          <a:noFill/>
          <a:ln w="9525">
            <a:noFill/>
            <a:miter lim="800000"/>
            <a:headEnd/>
            <a:tailEnd/>
          </a:ln>
          <a:effectLst/>
        </p:spPr>
        <p:txBody>
          <a:bodyPr wrap="none">
            <a:spAutoFit/>
          </a:bodyPr>
          <a:lstStyle/>
          <a:p>
            <a:pPr>
              <a:spcBef>
                <a:spcPct val="50000"/>
              </a:spcBef>
              <a:buNone/>
              <a:defRPr/>
            </a:pPr>
            <a:r>
              <a:rPr kumimoji="1" lang="zh-CN" altLang="en-US" sz="2800" b="1">
                <a:solidFill>
                  <a:schemeClr val="tx1"/>
                </a:solidFill>
                <a:effectLst>
                  <a:outerShdw blurRad="38100" dist="38100" dir="2700000" algn="tl">
                    <a:srgbClr val="C0C0C0"/>
                  </a:outerShdw>
                </a:effectLst>
                <a:latin typeface="Times New Roman" pitchFamily="18" charset="0"/>
                <a:ea typeface="宋体" pitchFamily="2" charset="-122"/>
              </a:rPr>
              <a:t> </a:t>
            </a:r>
            <a:r>
              <a:rPr kumimoji="1" lang="en-US" altLang="zh-CN" sz="2800" b="1">
                <a:solidFill>
                  <a:srgbClr val="0000FF"/>
                </a:solidFill>
                <a:effectLst>
                  <a:outerShdw blurRad="38100" dist="38100" dir="2700000" algn="tl">
                    <a:srgbClr val="C0C0C0"/>
                  </a:outerShdw>
                </a:effectLst>
                <a:latin typeface="Times New Roman" pitchFamily="18" charset="0"/>
                <a:ea typeface="宋体" pitchFamily="2" charset="-122"/>
              </a:rPr>
              <a:t>for</a:t>
            </a:r>
            <a:r>
              <a:rPr kumimoji="1" lang="en-US" altLang="zh-CN" sz="2800" b="1">
                <a:solidFill>
                  <a:schemeClr val="tx1"/>
                </a:solidFill>
                <a:effectLst>
                  <a:outerShdw blurRad="38100" dist="38100" dir="2700000" algn="tl">
                    <a:srgbClr val="C0C0C0"/>
                  </a:outerShdw>
                </a:effectLst>
                <a:latin typeface="Times New Roman" pitchFamily="18" charset="0"/>
                <a:ea typeface="宋体" pitchFamily="2" charset="-122"/>
              </a:rPr>
              <a:t>  </a:t>
            </a:r>
            <a:r>
              <a:rPr kumimoji="1" lang="zh-CN" altLang="en-US" sz="2800" b="1">
                <a:solidFill>
                  <a:schemeClr val="tx1"/>
                </a:solidFill>
                <a:effectLst>
                  <a:outerShdw blurRad="38100" dist="38100" dir="2700000" algn="tl">
                    <a:srgbClr val="C0C0C0"/>
                  </a:outerShdw>
                </a:effectLst>
                <a:latin typeface="Times New Roman" pitchFamily="18" charset="0"/>
                <a:ea typeface="宋体" pitchFamily="2" charset="-122"/>
              </a:rPr>
              <a:t>变量  </a:t>
            </a:r>
            <a:r>
              <a:rPr kumimoji="1" lang="en-US" altLang="zh-CN" sz="2800" b="1">
                <a:solidFill>
                  <a:srgbClr val="0000FF"/>
                </a:solidFill>
                <a:latin typeface="Times New Roman" pitchFamily="18" charset="0"/>
                <a:ea typeface="宋体" pitchFamily="2" charset="-122"/>
              </a:rPr>
              <a:t>in range</a:t>
            </a:r>
            <a:r>
              <a:rPr kumimoji="1" lang="en-US" altLang="zh-CN" sz="2800" b="1">
                <a:solidFill>
                  <a:schemeClr val="tx1"/>
                </a:solidFill>
                <a:latin typeface="Times New Roman" pitchFamily="18" charset="0"/>
                <a:ea typeface="宋体" pitchFamily="2" charset="-122"/>
              </a:rPr>
              <a:t>(start,   stop,   step)</a:t>
            </a:r>
            <a:r>
              <a:rPr kumimoji="1" lang="en-US" altLang="zh-CN" sz="2800" b="1">
                <a:solidFill>
                  <a:srgbClr val="0000FF"/>
                </a:solidFill>
                <a:latin typeface="Times New Roman" pitchFamily="18" charset="0"/>
                <a:ea typeface="宋体" pitchFamily="2" charset="-122"/>
              </a:rPr>
              <a:t>:</a:t>
            </a:r>
            <a:br>
              <a:rPr kumimoji="1" lang="en-US" altLang="zh-CN" sz="2800" b="1">
                <a:solidFill>
                  <a:schemeClr val="tx1"/>
                </a:solidFill>
                <a:effectLst>
                  <a:outerShdw blurRad="38100" dist="38100" dir="2700000" algn="tl">
                    <a:srgbClr val="C0C0C0"/>
                  </a:outerShdw>
                </a:effectLst>
                <a:latin typeface="Times New Roman" pitchFamily="18" charset="0"/>
                <a:ea typeface="宋体" pitchFamily="2" charset="-122"/>
              </a:rPr>
            </a:br>
            <a:endParaRPr kumimoji="1" lang="en-US" altLang="zh-CN" sz="2800" b="1">
              <a:solidFill>
                <a:schemeClr val="tx1"/>
              </a:solidFill>
              <a:effectLst>
                <a:outerShdw blurRad="38100" dist="38100" dir="2700000" algn="tl">
                  <a:srgbClr val="C0C0C0"/>
                </a:outerShdw>
              </a:effectLst>
              <a:latin typeface="Times New Roman" pitchFamily="18" charset="0"/>
              <a:ea typeface="宋体" pitchFamily="2" charset="-122"/>
            </a:endParaRPr>
          </a:p>
          <a:p>
            <a:pPr>
              <a:spcBef>
                <a:spcPct val="50000"/>
              </a:spcBef>
              <a:buNone/>
              <a:defRPr/>
            </a:pPr>
            <a:r>
              <a:rPr kumimoji="1" lang="en-US" altLang="zh-CN" sz="2800" b="1">
                <a:solidFill>
                  <a:schemeClr val="tx1"/>
                </a:solidFill>
                <a:effectLst>
                  <a:outerShdw blurRad="38100" dist="38100" dir="2700000" algn="tl">
                    <a:srgbClr val="C0C0C0"/>
                  </a:outerShdw>
                </a:effectLst>
                <a:latin typeface="Times New Roman" pitchFamily="18" charset="0"/>
                <a:ea typeface="宋体" pitchFamily="2" charset="-122"/>
              </a:rPr>
              <a:t>            </a:t>
            </a:r>
            <a:r>
              <a:rPr kumimoji="1" lang="zh-CN" altLang="en-US" sz="2800" b="1">
                <a:solidFill>
                  <a:schemeClr val="tx1"/>
                </a:solidFill>
                <a:effectLst>
                  <a:outerShdw blurRad="38100" dist="38100" dir="2700000" algn="tl">
                    <a:srgbClr val="C0C0C0"/>
                  </a:outerShdw>
                </a:effectLst>
                <a:latin typeface="Times New Roman" pitchFamily="18" charset="0"/>
                <a:ea typeface="宋体" pitchFamily="2" charset="-122"/>
              </a:rPr>
              <a:t>语句块</a:t>
            </a:r>
          </a:p>
          <a:p>
            <a:pPr>
              <a:spcBef>
                <a:spcPct val="50000"/>
              </a:spcBef>
              <a:buNone/>
              <a:defRPr/>
            </a:pPr>
            <a:endParaRPr kumimoji="1" lang="en-US" altLang="zh-CN" sz="2800" b="1">
              <a:solidFill>
                <a:schemeClr val="tx1"/>
              </a:solidFill>
              <a:effectLst>
                <a:outerShdw blurRad="38100" dist="38100" dir="2700000" algn="tl">
                  <a:srgbClr val="C0C0C0"/>
                </a:outerShdw>
              </a:effectLst>
              <a:latin typeface="Times New Roman" pitchFamily="18" charset="0"/>
              <a:ea typeface="宋体" pitchFamily="2" charset="-122"/>
            </a:endParaRPr>
          </a:p>
        </p:txBody>
      </p:sp>
      <p:sp>
        <p:nvSpPr>
          <p:cNvPr id="13" name="Text Box 7" descr="再生纸"/>
          <p:cNvSpPr txBox="1">
            <a:spLocks noChangeArrowheads="1"/>
          </p:cNvSpPr>
          <p:nvPr/>
        </p:nvSpPr>
        <p:spPr bwMode="auto">
          <a:xfrm>
            <a:off x="1365399" y="1809393"/>
            <a:ext cx="2244525" cy="584775"/>
          </a:xfrm>
          <a:prstGeom prst="rect">
            <a:avLst/>
          </a:prstGeom>
          <a:noFill/>
          <a:ln w="9525">
            <a:noFill/>
            <a:miter lim="800000"/>
            <a:headEnd/>
            <a:tailEnd/>
          </a:ln>
        </p:spPr>
        <p:txBody>
          <a:bodyPr wrap="none">
            <a:spAutoFit/>
          </a:bodyPr>
          <a:lstStyle/>
          <a:p>
            <a:pPr>
              <a:spcBef>
                <a:spcPct val="50000"/>
              </a:spcBef>
              <a:buNone/>
            </a:pPr>
            <a:r>
              <a:rPr kumimoji="1" lang="zh-CN" altLang="en-US" sz="3200" b="1">
                <a:solidFill>
                  <a:schemeClr val="tx1"/>
                </a:solidFill>
                <a:latin typeface="Times New Roman" pitchFamily="18" charset="0"/>
                <a:ea typeface="宋体" charset="-122"/>
              </a:rPr>
              <a:t>常见形式：</a:t>
            </a:r>
          </a:p>
        </p:txBody>
      </p:sp>
      <p:sp>
        <p:nvSpPr>
          <p:cNvPr id="14" name="Line 8"/>
          <p:cNvSpPr>
            <a:spLocks noChangeShapeType="1"/>
          </p:cNvSpPr>
          <p:nvPr/>
        </p:nvSpPr>
        <p:spPr bwMode="auto">
          <a:xfrm flipH="1">
            <a:off x="4603899" y="1428393"/>
            <a:ext cx="14287" cy="442913"/>
          </a:xfrm>
          <a:prstGeom prst="line">
            <a:avLst/>
          </a:prstGeom>
          <a:noFill/>
          <a:ln w="57150">
            <a:solidFill>
              <a:srgbClr val="C20500"/>
            </a:solidFill>
            <a:round/>
            <a:headEnd/>
            <a:tailEnd type="triangle" w="med" len="med"/>
          </a:ln>
        </p:spPr>
        <p:txBody>
          <a:bodyPr wrap="none">
            <a:spAutoFit/>
          </a:bodyPr>
          <a:lstStyle/>
          <a:p>
            <a:pPr>
              <a:buNone/>
            </a:pPr>
            <a:endParaRPr lang="zh-CN" altLang="en-US"/>
          </a:p>
        </p:txBody>
      </p:sp>
      <p:sp>
        <p:nvSpPr>
          <p:cNvPr id="15" name="AutoShape 9"/>
          <p:cNvSpPr>
            <a:spLocks noChangeArrowheads="1"/>
          </p:cNvSpPr>
          <p:nvPr/>
        </p:nvSpPr>
        <p:spPr bwMode="auto">
          <a:xfrm>
            <a:off x="4832499" y="1545352"/>
            <a:ext cx="2057400" cy="369332"/>
          </a:xfrm>
          <a:prstGeom prst="curvedDownArrow">
            <a:avLst>
              <a:gd name="adj1" fmla="val 90918"/>
              <a:gd name="adj2" fmla="val 181837"/>
              <a:gd name="adj3" fmla="val 33162"/>
            </a:avLst>
          </a:prstGeom>
          <a:solidFill>
            <a:srgbClr val="C20500"/>
          </a:solidFill>
          <a:ln w="9525">
            <a:noFill/>
            <a:miter lim="800000"/>
            <a:headEnd/>
            <a:tailEnd/>
          </a:ln>
        </p:spPr>
        <p:txBody>
          <a:bodyPr wrap="square" anchor="ctr">
            <a:spAutoFit/>
          </a:bodyPr>
          <a:lstStyle/>
          <a:p>
            <a:pPr>
              <a:buNone/>
            </a:pPr>
            <a:endParaRPr lang="zh-CN" altLang="en-US">
              <a:ea typeface="宋体" charset="-122"/>
            </a:endParaRPr>
          </a:p>
        </p:txBody>
      </p:sp>
      <p:sp>
        <p:nvSpPr>
          <p:cNvPr id="16" name="AutoShape 11"/>
          <p:cNvSpPr>
            <a:spLocks noChangeArrowheads="1"/>
          </p:cNvSpPr>
          <p:nvPr/>
        </p:nvSpPr>
        <p:spPr bwMode="auto">
          <a:xfrm rot="10800000">
            <a:off x="7499499" y="1538209"/>
            <a:ext cx="1738313" cy="369332"/>
          </a:xfrm>
          <a:prstGeom prst="curvedUpArrow">
            <a:avLst>
              <a:gd name="adj1" fmla="val 117112"/>
              <a:gd name="adj2" fmla="val 234224"/>
              <a:gd name="adj3" fmla="val 33153"/>
            </a:avLst>
          </a:prstGeom>
          <a:solidFill>
            <a:srgbClr val="C20500"/>
          </a:solidFill>
          <a:ln w="9525">
            <a:noFill/>
            <a:miter lim="800000"/>
            <a:headEnd/>
            <a:tailEnd/>
          </a:ln>
        </p:spPr>
        <p:txBody>
          <a:bodyPr anchor="ctr">
            <a:spAutoFit/>
          </a:bodyPr>
          <a:lstStyle/>
          <a:p>
            <a:pPr>
              <a:buNone/>
            </a:pPr>
            <a:endParaRPr lang="zh-CN" altLang="en-US">
              <a:ea typeface="宋体" charset="-122"/>
            </a:endParaRPr>
          </a:p>
        </p:txBody>
      </p:sp>
      <p:grpSp>
        <p:nvGrpSpPr>
          <p:cNvPr id="17" name="组合 16"/>
          <p:cNvGrpSpPr/>
          <p:nvPr/>
        </p:nvGrpSpPr>
        <p:grpSpPr>
          <a:xfrm>
            <a:off x="5939027" y="2182452"/>
            <a:ext cx="1779367" cy="1052065"/>
            <a:chOff x="4916528" y="2916234"/>
            <a:chExt cx="1779367" cy="1052065"/>
          </a:xfrm>
        </p:grpSpPr>
        <p:sp>
          <p:nvSpPr>
            <p:cNvPr id="18" name="Line 13"/>
            <p:cNvSpPr>
              <a:spLocks noChangeShapeType="1"/>
            </p:cNvSpPr>
            <p:nvPr/>
          </p:nvSpPr>
          <p:spPr bwMode="auto">
            <a:xfrm rot="600000" flipH="1">
              <a:off x="4916528" y="2916234"/>
              <a:ext cx="1779367" cy="1052065"/>
            </a:xfrm>
            <a:prstGeom prst="line">
              <a:avLst/>
            </a:prstGeom>
            <a:noFill/>
            <a:ln w="57150">
              <a:solidFill>
                <a:srgbClr val="C20500"/>
              </a:solidFill>
              <a:round/>
              <a:headEnd/>
              <a:tailEnd type="triangle" w="med" len="med"/>
            </a:ln>
          </p:spPr>
          <p:txBody>
            <a:bodyPr wrap="square">
              <a:spAutoFit/>
            </a:bodyPr>
            <a:lstStyle/>
            <a:p>
              <a:pPr>
                <a:buNone/>
              </a:pPr>
              <a:endParaRPr lang="zh-CN" altLang="en-US"/>
            </a:p>
          </p:txBody>
        </p:sp>
        <p:sp>
          <p:nvSpPr>
            <p:cNvPr id="19" name="Rectangle 14"/>
            <p:cNvSpPr>
              <a:spLocks noChangeArrowheads="1"/>
            </p:cNvSpPr>
            <p:nvPr/>
          </p:nvSpPr>
          <p:spPr bwMode="auto">
            <a:xfrm>
              <a:off x="5714998" y="2963863"/>
              <a:ext cx="803425" cy="461665"/>
            </a:xfrm>
            <a:prstGeom prst="rect">
              <a:avLst/>
            </a:prstGeom>
            <a:noFill/>
            <a:ln w="9525">
              <a:noFill/>
              <a:miter lim="800000"/>
              <a:headEnd/>
              <a:tailEnd/>
            </a:ln>
          </p:spPr>
          <p:txBody>
            <a:bodyPr wrap="none">
              <a:spAutoFit/>
            </a:bodyPr>
            <a:lstStyle/>
            <a:p>
              <a:pPr>
                <a:spcBef>
                  <a:spcPct val="50000"/>
                </a:spcBef>
                <a:buNone/>
              </a:pPr>
              <a:r>
                <a:rPr kumimoji="1" lang="zh-CN" altLang="en-US" sz="2400" b="1">
                  <a:solidFill>
                    <a:schemeClr val="tx1"/>
                  </a:solidFill>
                  <a:latin typeface="Times New Roman" pitchFamily="18" charset="0"/>
                  <a:ea typeface="宋体" charset="-122"/>
                </a:rPr>
                <a:t>未到</a:t>
              </a:r>
            </a:p>
          </p:txBody>
        </p:sp>
      </p:grpSp>
      <p:grpSp>
        <p:nvGrpSpPr>
          <p:cNvPr id="20" name="Group 15"/>
          <p:cNvGrpSpPr>
            <a:grpSpLocks/>
          </p:cNvGrpSpPr>
          <p:nvPr/>
        </p:nvGrpSpPr>
        <p:grpSpPr bwMode="auto">
          <a:xfrm>
            <a:off x="7194701" y="2336443"/>
            <a:ext cx="1731963" cy="2187575"/>
            <a:chOff x="3318" y="869"/>
            <a:chExt cx="1091" cy="1378"/>
          </a:xfrm>
        </p:grpSpPr>
        <p:sp>
          <p:nvSpPr>
            <p:cNvPr id="21" name="Line 16"/>
            <p:cNvSpPr>
              <a:spLocks noChangeShapeType="1"/>
            </p:cNvSpPr>
            <p:nvPr/>
          </p:nvSpPr>
          <p:spPr bwMode="auto">
            <a:xfrm flipH="1">
              <a:off x="3767" y="869"/>
              <a:ext cx="0" cy="1090"/>
            </a:xfrm>
            <a:prstGeom prst="line">
              <a:avLst/>
            </a:prstGeom>
            <a:noFill/>
            <a:ln w="57150">
              <a:solidFill>
                <a:srgbClr val="C20500"/>
              </a:solidFill>
              <a:round/>
              <a:headEnd/>
              <a:tailEnd type="triangle" w="med" len="med"/>
            </a:ln>
          </p:spPr>
          <p:txBody>
            <a:bodyPr>
              <a:spAutoFit/>
            </a:bodyPr>
            <a:lstStyle/>
            <a:p>
              <a:pPr>
                <a:buNone/>
              </a:pPr>
              <a:endParaRPr lang="zh-CN" altLang="en-US"/>
            </a:p>
          </p:txBody>
        </p:sp>
        <p:sp>
          <p:nvSpPr>
            <p:cNvPr id="22" name="Rectangle 17"/>
            <p:cNvSpPr>
              <a:spLocks noChangeArrowheads="1"/>
            </p:cNvSpPr>
            <p:nvPr/>
          </p:nvSpPr>
          <p:spPr bwMode="auto">
            <a:xfrm>
              <a:off x="3318" y="1132"/>
              <a:ext cx="1091" cy="291"/>
            </a:xfrm>
            <a:prstGeom prst="rect">
              <a:avLst/>
            </a:prstGeom>
            <a:noFill/>
            <a:ln w="9525">
              <a:noFill/>
              <a:miter lim="800000"/>
              <a:headEnd/>
              <a:tailEnd/>
            </a:ln>
          </p:spPr>
          <p:txBody>
            <a:bodyPr wrap="none">
              <a:spAutoFit/>
            </a:bodyPr>
            <a:lstStyle/>
            <a:p>
              <a:pPr>
                <a:spcBef>
                  <a:spcPct val="50000"/>
                </a:spcBef>
                <a:buNone/>
              </a:pPr>
              <a:r>
                <a:rPr kumimoji="1" lang="zh-CN" altLang="en-US" sz="2400" b="1">
                  <a:solidFill>
                    <a:schemeClr val="tx1"/>
                  </a:solidFill>
                  <a:latin typeface="Times New Roman" pitchFamily="18" charset="0"/>
                  <a:ea typeface="宋体" charset="-122"/>
                </a:rPr>
                <a:t>到达或超过</a:t>
              </a:r>
            </a:p>
          </p:txBody>
        </p:sp>
        <p:sp>
          <p:nvSpPr>
            <p:cNvPr id="23" name="Rectangle 18"/>
            <p:cNvSpPr>
              <a:spLocks noChangeArrowheads="1"/>
            </p:cNvSpPr>
            <p:nvPr/>
          </p:nvSpPr>
          <p:spPr bwMode="auto">
            <a:xfrm>
              <a:off x="3342" y="1959"/>
              <a:ext cx="888" cy="288"/>
            </a:xfrm>
            <a:prstGeom prst="rect">
              <a:avLst/>
            </a:prstGeom>
            <a:noFill/>
            <a:ln w="9525">
              <a:noFill/>
              <a:miter lim="800000"/>
              <a:headEnd/>
              <a:tailEnd/>
            </a:ln>
          </p:spPr>
          <p:txBody>
            <a:bodyPr wrap="none">
              <a:spAutoFit/>
            </a:bodyPr>
            <a:lstStyle/>
            <a:p>
              <a:pPr>
                <a:spcBef>
                  <a:spcPct val="50000"/>
                </a:spcBef>
                <a:buNone/>
              </a:pPr>
              <a:r>
                <a:rPr kumimoji="1" lang="zh-CN" altLang="en-US" sz="2400" b="1">
                  <a:solidFill>
                    <a:schemeClr val="tx1"/>
                  </a:solidFill>
                  <a:latin typeface="Times New Roman" pitchFamily="18" charset="0"/>
                  <a:ea typeface="宋体" charset="-122"/>
                </a:rPr>
                <a:t>结束循环</a:t>
              </a:r>
            </a:p>
          </p:txBody>
        </p:sp>
      </p:grpSp>
      <p:sp>
        <p:nvSpPr>
          <p:cNvPr id="24" name="Freeform 10"/>
          <p:cNvSpPr>
            <a:spLocks/>
          </p:cNvSpPr>
          <p:nvPr/>
        </p:nvSpPr>
        <p:spPr bwMode="auto">
          <a:xfrm>
            <a:off x="5426224" y="2187218"/>
            <a:ext cx="3314700" cy="1608138"/>
          </a:xfrm>
          <a:custGeom>
            <a:avLst/>
            <a:gdLst>
              <a:gd name="T0" fmla="*/ 0 w 1697"/>
              <a:gd name="T1" fmla="*/ 2147483647 h 1038"/>
              <a:gd name="T2" fmla="*/ 2147483647 w 1697"/>
              <a:gd name="T3" fmla="*/ 2147483647 h 1038"/>
              <a:gd name="T4" fmla="*/ 2147483647 w 1697"/>
              <a:gd name="T5" fmla="*/ 2147483647 h 1038"/>
              <a:gd name="T6" fmla="*/ 2147483647 w 1697"/>
              <a:gd name="T7" fmla="*/ 2147483647 h 1038"/>
              <a:gd name="T8" fmla="*/ 2147483647 w 1697"/>
              <a:gd name="T9" fmla="*/ 2147483647 h 1038"/>
              <a:gd name="T10" fmla="*/ 0 60000 65536"/>
              <a:gd name="T11" fmla="*/ 0 60000 65536"/>
              <a:gd name="T12" fmla="*/ 0 60000 65536"/>
              <a:gd name="T13" fmla="*/ 0 60000 65536"/>
              <a:gd name="T14" fmla="*/ 0 60000 65536"/>
              <a:gd name="T15" fmla="*/ 0 w 1697"/>
              <a:gd name="T16" fmla="*/ 0 h 1038"/>
              <a:gd name="T17" fmla="*/ 1697 w 1697"/>
              <a:gd name="T18" fmla="*/ 1038 h 1038"/>
            </a:gdLst>
            <a:ahLst/>
            <a:cxnLst>
              <a:cxn ang="T10">
                <a:pos x="T0" y="T1"/>
              </a:cxn>
              <a:cxn ang="T11">
                <a:pos x="T2" y="T3"/>
              </a:cxn>
              <a:cxn ang="T12">
                <a:pos x="T4" y="T5"/>
              </a:cxn>
              <a:cxn ang="T13">
                <a:pos x="T6" y="T7"/>
              </a:cxn>
              <a:cxn ang="T14">
                <a:pos x="T8" y="T9"/>
              </a:cxn>
            </a:cxnLst>
            <a:rect l="T15" t="T16" r="T17" b="T18"/>
            <a:pathLst>
              <a:path w="1697" h="1038">
                <a:moveTo>
                  <a:pt x="0" y="701"/>
                </a:moveTo>
                <a:cubicBezTo>
                  <a:pt x="63" y="836"/>
                  <a:pt x="127" y="971"/>
                  <a:pt x="302" y="1003"/>
                </a:cubicBezTo>
                <a:cubicBezTo>
                  <a:pt x="477" y="1035"/>
                  <a:pt x="836" y="1038"/>
                  <a:pt x="1052" y="893"/>
                </a:cubicBezTo>
                <a:cubicBezTo>
                  <a:pt x="1268" y="748"/>
                  <a:pt x="1503" y="270"/>
                  <a:pt x="1600" y="135"/>
                </a:cubicBezTo>
                <a:cubicBezTo>
                  <a:pt x="1697" y="0"/>
                  <a:pt x="1667" y="40"/>
                  <a:pt x="1637" y="80"/>
                </a:cubicBezTo>
              </a:path>
            </a:pathLst>
          </a:custGeom>
          <a:noFill/>
          <a:ln w="50800" cap="flat" cmpd="sng">
            <a:solidFill>
              <a:srgbClr val="C20500"/>
            </a:solidFill>
            <a:prstDash val="solid"/>
            <a:round/>
            <a:headEnd/>
            <a:tailEnd type="triangle" w="med" len="med"/>
          </a:ln>
        </p:spPr>
        <p:txBody>
          <a:bodyPr>
            <a:spAutoFit/>
          </a:bodyPr>
          <a:lstStyle/>
          <a:p>
            <a:endParaRPr lang="zh-CN" altLang="en-US"/>
          </a:p>
        </p:txBody>
      </p:sp>
      <p:sp>
        <p:nvSpPr>
          <p:cNvPr id="25" name="Text Box 19"/>
          <p:cNvSpPr txBox="1">
            <a:spLocks noChangeArrowheads="1"/>
          </p:cNvSpPr>
          <p:nvPr/>
        </p:nvSpPr>
        <p:spPr bwMode="auto">
          <a:xfrm>
            <a:off x="2013099" y="4562773"/>
            <a:ext cx="6569427" cy="523220"/>
          </a:xfrm>
          <a:prstGeom prst="rect">
            <a:avLst/>
          </a:prstGeom>
          <a:noFill/>
          <a:ln w="9525">
            <a:noFill/>
            <a:miter lim="800000"/>
            <a:headEnd/>
            <a:tailEnd/>
          </a:ln>
        </p:spPr>
        <p:txBody>
          <a:bodyPr wrap="none">
            <a:spAutoFit/>
          </a:bodyPr>
          <a:lstStyle/>
          <a:p>
            <a:pPr marL="457200" indent="-457200">
              <a:spcBef>
                <a:spcPct val="50000"/>
              </a:spcBef>
              <a:buNone/>
            </a:pPr>
            <a:r>
              <a:rPr kumimoji="1" lang="en-US" altLang="zh-CN" sz="2800" b="1">
                <a:solidFill>
                  <a:srgbClr val="002060"/>
                </a:solidFill>
                <a:latin typeface="Times New Roman" pitchFamily="18" charset="0"/>
                <a:ea typeface="宋体" charset="-122"/>
              </a:rPr>
              <a:t>start</a:t>
            </a:r>
            <a:r>
              <a:rPr kumimoji="1" lang="zh-CN" altLang="en-US" sz="2800" b="1">
                <a:solidFill>
                  <a:srgbClr val="002060"/>
                </a:solidFill>
                <a:latin typeface="Times New Roman" pitchFamily="18" charset="0"/>
                <a:ea typeface="宋体" charset="-122"/>
              </a:rPr>
              <a:t>默认值为</a:t>
            </a:r>
            <a:r>
              <a:rPr kumimoji="1" lang="en-US" altLang="zh-CN" sz="2800" b="1">
                <a:solidFill>
                  <a:srgbClr val="002060"/>
                </a:solidFill>
                <a:latin typeface="Times New Roman" pitchFamily="18" charset="0"/>
                <a:ea typeface="宋体" charset="-122"/>
              </a:rPr>
              <a:t>0</a:t>
            </a:r>
            <a:r>
              <a:rPr kumimoji="1" lang="zh-CN" altLang="en-US" sz="2800" b="1">
                <a:solidFill>
                  <a:srgbClr val="002060"/>
                </a:solidFill>
                <a:latin typeface="Times New Roman" pitchFamily="18" charset="0"/>
                <a:ea typeface="宋体" charset="-122"/>
              </a:rPr>
              <a:t>，</a:t>
            </a:r>
            <a:r>
              <a:rPr kumimoji="1" lang="en-US" altLang="zh-CN" sz="2800" b="1">
                <a:solidFill>
                  <a:srgbClr val="002060"/>
                </a:solidFill>
                <a:latin typeface="Times New Roman" pitchFamily="18" charset="0"/>
                <a:ea typeface="宋体" charset="-122"/>
              </a:rPr>
              <a:t>step</a:t>
            </a:r>
            <a:r>
              <a:rPr kumimoji="1" lang="zh-CN" altLang="en-US" sz="2800" b="1">
                <a:solidFill>
                  <a:srgbClr val="002060"/>
                </a:solidFill>
                <a:latin typeface="Times New Roman" pitchFamily="18" charset="0"/>
                <a:ea typeface="宋体" charset="-122"/>
              </a:rPr>
              <a:t>默认为</a:t>
            </a:r>
            <a:r>
              <a:rPr kumimoji="1" lang="en-US" altLang="zh-CN" sz="2800" b="1">
                <a:solidFill>
                  <a:srgbClr val="002060"/>
                </a:solidFill>
                <a:latin typeface="Times New Roman" pitchFamily="18" charset="0"/>
                <a:ea typeface="宋体" charset="-122"/>
              </a:rPr>
              <a:t>1</a:t>
            </a:r>
            <a:r>
              <a:rPr kumimoji="1" lang="zh-CN" altLang="en-US" sz="2800" b="1">
                <a:solidFill>
                  <a:srgbClr val="002060"/>
                </a:solidFill>
                <a:latin typeface="Times New Roman" pitchFamily="18" charset="0"/>
                <a:ea typeface="宋体" charset="-122"/>
              </a:rPr>
              <a:t>，可正可负</a:t>
            </a:r>
          </a:p>
        </p:txBody>
      </p:sp>
      <p:sp>
        <p:nvSpPr>
          <p:cNvPr id="26" name="圆角矩形 25"/>
          <p:cNvSpPr/>
          <p:nvPr/>
        </p:nvSpPr>
        <p:spPr bwMode="auto">
          <a:xfrm>
            <a:off x="3609924" y="2422361"/>
            <a:ext cx="917775" cy="1752600"/>
          </a:xfrm>
          <a:prstGeom prst="roundRect">
            <a:avLst/>
          </a:prstGeom>
          <a:solidFill>
            <a:srgbClr val="D1D1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Tx/>
              <a:buSzTx/>
              <a:buFont typeface="Wingdings" pitchFamily="2" charset="2"/>
              <a:buChar char="•"/>
              <a:tabLst/>
            </a:pPr>
            <a:endParaRPr kumimoji="0" lang="zh-CN" altLang="en-US" sz="1800" b="0" i="0" u="none" strike="noStrike" cap="none" normalizeH="0" baseline="0">
              <a:ln>
                <a:noFill/>
              </a:ln>
              <a:solidFill>
                <a:schemeClr val="tx1"/>
              </a:solidFill>
              <a:effectLst/>
              <a:latin typeface="Arial" pitchFamily="34" charset="0"/>
              <a:ea typeface="黑体" pitchFamily="49" charset="-122"/>
            </a:endParaRPr>
          </a:p>
        </p:txBody>
      </p:sp>
      <p:sp>
        <p:nvSpPr>
          <p:cNvPr id="27" name="Text Box 19"/>
          <p:cNvSpPr txBox="1">
            <a:spLocks noChangeArrowheads="1"/>
          </p:cNvSpPr>
          <p:nvPr/>
        </p:nvSpPr>
        <p:spPr bwMode="auto">
          <a:xfrm>
            <a:off x="4868532" y="5248573"/>
            <a:ext cx="5128327" cy="523220"/>
          </a:xfrm>
          <a:prstGeom prst="rect">
            <a:avLst/>
          </a:prstGeom>
          <a:noFill/>
          <a:ln w="9525">
            <a:noFill/>
            <a:miter lim="800000"/>
            <a:headEnd/>
            <a:tailEnd/>
          </a:ln>
        </p:spPr>
        <p:txBody>
          <a:bodyPr wrap="none">
            <a:spAutoFit/>
          </a:bodyPr>
          <a:lstStyle/>
          <a:p>
            <a:pPr marL="457200" indent="-457200">
              <a:spcBef>
                <a:spcPct val="50000"/>
              </a:spcBef>
              <a:buNone/>
            </a:pPr>
            <a:r>
              <a:rPr kumimoji="1" lang="en-US" altLang="zh-CN" sz="2800" b="1">
                <a:solidFill>
                  <a:srgbClr val="0000FF"/>
                </a:solidFill>
                <a:latin typeface="Times New Roman" pitchFamily="18" charset="0"/>
                <a:ea typeface="宋体" charset="-122"/>
              </a:rPr>
              <a:t>start</a:t>
            </a:r>
            <a:r>
              <a:rPr kumimoji="1" lang="zh-CN" altLang="en-US" sz="2800" b="1">
                <a:solidFill>
                  <a:srgbClr val="0000FF"/>
                </a:solidFill>
                <a:latin typeface="Times New Roman" pitchFamily="18" charset="0"/>
                <a:ea typeface="宋体" charset="-122"/>
              </a:rPr>
              <a:t>和</a:t>
            </a:r>
            <a:r>
              <a:rPr kumimoji="1" lang="en-US" altLang="zh-CN" sz="2800" b="1">
                <a:solidFill>
                  <a:srgbClr val="0000FF"/>
                </a:solidFill>
                <a:latin typeface="Times New Roman" pitchFamily="18" charset="0"/>
                <a:ea typeface="宋体" charset="-122"/>
              </a:rPr>
              <a:t>step</a:t>
            </a:r>
            <a:r>
              <a:rPr kumimoji="1" lang="zh-CN" altLang="en-US" sz="2800" b="1">
                <a:solidFill>
                  <a:srgbClr val="0000FF"/>
                </a:solidFill>
                <a:latin typeface="Times New Roman" pitchFamily="18" charset="0"/>
                <a:ea typeface="宋体" charset="-122"/>
              </a:rPr>
              <a:t>均省略时运行范围？</a:t>
            </a:r>
          </a:p>
        </p:txBody>
      </p:sp>
    </p:spTree>
    <p:extLst>
      <p:ext uri="{BB962C8B-B14F-4D97-AF65-F5344CB8AC3E}">
        <p14:creationId xmlns:p14="http://schemas.microsoft.com/office/powerpoint/2010/main" val="1297544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dissolv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dissolv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additive="base">
                                        <p:cTn id="37" dur="500" fill="hold"/>
                                        <p:tgtEl>
                                          <p:spTgt spid="27"/>
                                        </p:tgtEl>
                                        <p:attrNameLst>
                                          <p:attrName>ppt_x</p:attrName>
                                        </p:attrNameLst>
                                      </p:cBhvr>
                                      <p:tavLst>
                                        <p:tav tm="0">
                                          <p:val>
                                            <p:strVal val="#ppt_x"/>
                                          </p:val>
                                        </p:tav>
                                        <p:tav tm="100000">
                                          <p:val>
                                            <p:strVal val="#ppt_x"/>
                                          </p:val>
                                        </p:tav>
                                      </p:tavLst>
                                    </p:anim>
                                    <p:anim calcmode="lin" valueType="num">
                                      <p:cBhvr additive="base">
                                        <p:cTn id="3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24" grpId="0" animBg="1"/>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4" y="98987"/>
            <a:ext cx="5626444"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for</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语句</a:t>
            </a:r>
            <a:r>
              <a:rPr lang="zh-CN" altLang="en-US" sz="4800">
                <a:solidFill>
                  <a:schemeClr val="accent2"/>
                </a:solidFill>
                <a:latin typeface="隶书" pitchFamily="49" charset="-122"/>
                <a:ea typeface="隶书" pitchFamily="49" charset="-122"/>
              </a:rPr>
              <a:t>举例</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Rectangle 6"/>
          <p:cNvSpPr>
            <a:spLocks noChangeArrowheads="1"/>
          </p:cNvSpPr>
          <p:nvPr/>
        </p:nvSpPr>
        <p:spPr bwMode="auto">
          <a:xfrm>
            <a:off x="1648691" y="1779925"/>
            <a:ext cx="8118764" cy="3539430"/>
          </a:xfrm>
          <a:prstGeom prst="rect">
            <a:avLst/>
          </a:prstGeom>
          <a:noFill/>
          <a:ln w="9525">
            <a:solidFill>
              <a:schemeClr val="tx1"/>
            </a:solidFill>
            <a:miter lim="800000"/>
            <a:headEnd/>
            <a:tailEnd/>
          </a:ln>
        </p:spPr>
        <p:txBody>
          <a:bodyPr wrap="square">
            <a:spAutoFit/>
          </a:bodyPr>
          <a:lstStyle/>
          <a:p>
            <a:pPr>
              <a:spcBef>
                <a:spcPts val="0"/>
              </a:spcBef>
              <a:buNone/>
            </a:pPr>
            <a:r>
              <a:rPr kumimoji="1" lang="en-US" altLang="zh-CN" sz="3200" b="1">
                <a:solidFill>
                  <a:srgbClr val="00B050"/>
                </a:solidFill>
                <a:latin typeface="Courier New" pitchFamily="49" charset="0"/>
                <a:ea typeface="宋体" charset="-122"/>
              </a:rPr>
              <a:t># Frog lifetime </a:t>
            </a:r>
          </a:p>
          <a:p>
            <a:pPr>
              <a:spcBef>
                <a:spcPts val="0"/>
              </a:spcBef>
              <a:buNone/>
            </a:pPr>
            <a:r>
              <a:rPr kumimoji="1" lang="en-US" altLang="zh-CN" sz="3200" b="1">
                <a:solidFill>
                  <a:schemeClr val="tx1"/>
                </a:solidFill>
                <a:latin typeface="Courier New" pitchFamily="49" charset="0"/>
                <a:ea typeface="宋体" charset="-122"/>
              </a:rPr>
              <a:t>for </a:t>
            </a:r>
            <a:r>
              <a:rPr lang="en-US" altLang="zh-CN" sz="3200" b="1">
                <a:latin typeface="Courier New" pitchFamily="49" charset="0"/>
                <a:ea typeface="宋体" charset="-122"/>
              </a:rPr>
              <a:t>days in range (</a:t>
            </a:r>
            <a:r>
              <a:rPr lang="en-US" altLang="zh-CN" sz="3200" b="1">
                <a:solidFill>
                  <a:srgbClr val="0000FF"/>
                </a:solidFill>
                <a:latin typeface="Courier New" pitchFamily="49" charset="0"/>
                <a:ea typeface="宋体" charset="-122"/>
              </a:rPr>
              <a:t>155</a:t>
            </a:r>
            <a:r>
              <a:rPr lang="en-US" altLang="zh-CN" sz="3200" b="1">
                <a:latin typeface="Courier New" pitchFamily="49" charset="0"/>
                <a:ea typeface="宋体" charset="-122"/>
              </a:rPr>
              <a:t>, </a:t>
            </a:r>
            <a:r>
              <a:rPr lang="en-US" altLang="zh-CN" sz="3200" b="1">
                <a:solidFill>
                  <a:srgbClr val="0070C0"/>
                </a:solidFill>
                <a:latin typeface="Courier New" pitchFamily="49" charset="0"/>
                <a:ea typeface="宋体" charset="-122"/>
              </a:rPr>
              <a:t>0</a:t>
            </a:r>
            <a:r>
              <a:rPr lang="en-US" altLang="zh-CN" sz="3200" b="1">
                <a:latin typeface="Courier New" pitchFamily="49" charset="0"/>
                <a:ea typeface="宋体" charset="-122"/>
              </a:rPr>
              <a:t>,</a:t>
            </a:r>
            <a:r>
              <a:rPr kumimoji="1" lang="en-US" altLang="zh-CN" sz="3200" b="1">
                <a:solidFill>
                  <a:schemeClr val="tx1"/>
                </a:solidFill>
                <a:latin typeface="Courier New" pitchFamily="49" charset="0"/>
                <a:ea typeface="宋体" charset="-122"/>
              </a:rPr>
              <a:t> </a:t>
            </a:r>
            <a:r>
              <a:rPr kumimoji="1" lang="en-US" altLang="zh-CN" sz="3200" b="1">
                <a:solidFill>
                  <a:srgbClr val="FF00FF"/>
                </a:solidFill>
                <a:latin typeface="Courier New" pitchFamily="49" charset="0"/>
                <a:ea typeface="宋体" charset="-122"/>
              </a:rPr>
              <a:t>-1</a:t>
            </a:r>
            <a:r>
              <a:rPr kumimoji="1" lang="en-US" altLang="zh-CN" sz="3200" b="1">
                <a:solidFill>
                  <a:schemeClr val="tx1"/>
                </a:solidFill>
                <a:latin typeface="Courier New" pitchFamily="49" charset="0"/>
                <a:ea typeface="宋体" charset="-122"/>
              </a:rPr>
              <a:t>):</a:t>
            </a:r>
          </a:p>
          <a:p>
            <a:pPr>
              <a:spcBef>
                <a:spcPts val="0"/>
              </a:spcBef>
              <a:buNone/>
            </a:pPr>
            <a:r>
              <a:rPr kumimoji="1" lang="en-US" altLang="zh-CN" sz="3200" b="1">
                <a:latin typeface="Courier New" pitchFamily="49" charset="0"/>
                <a:ea typeface="宋体" charset="-122"/>
              </a:rPr>
              <a:t>    print(days, ":")</a:t>
            </a:r>
            <a:endParaRPr kumimoji="1" lang="en-US" altLang="zh-CN" sz="3200" b="1">
              <a:solidFill>
                <a:schemeClr val="tx1"/>
              </a:solidFill>
              <a:latin typeface="Courier New" pitchFamily="49" charset="0"/>
              <a:ea typeface="宋体" charset="-122"/>
            </a:endParaRPr>
          </a:p>
          <a:p>
            <a:pPr>
              <a:spcBef>
                <a:spcPts val="0"/>
              </a:spcBef>
              <a:buNone/>
            </a:pPr>
            <a:r>
              <a:rPr kumimoji="1" lang="en-US" altLang="zh-CN" sz="3200" b="1">
                <a:solidFill>
                  <a:schemeClr val="tx1"/>
                </a:solidFill>
                <a:latin typeface="Courier New" pitchFamily="49" charset="0"/>
                <a:ea typeface="宋体" charset="-122"/>
              </a:rPr>
              <a:t>    print(</a:t>
            </a:r>
            <a:r>
              <a:rPr kumimoji="1" lang="en-US" altLang="zh-CN" sz="3200" b="1">
                <a:latin typeface="Times New Roman" pitchFamily="18" charset="0"/>
                <a:ea typeface="宋体" pitchFamily="2" charset="-122"/>
              </a:rPr>
              <a:t>"</a:t>
            </a:r>
            <a:r>
              <a:rPr kumimoji="1" lang="en-US" altLang="zh-CN" sz="3200" b="1">
                <a:solidFill>
                  <a:schemeClr val="tx1"/>
                </a:solidFill>
                <a:latin typeface="Courier New" pitchFamily="49" charset="0"/>
                <a:ea typeface="宋体" charset="-122"/>
              </a:rPr>
              <a:t>work all day</a:t>
            </a:r>
            <a:r>
              <a:rPr kumimoji="1" lang="en-US" altLang="zh-CN" sz="3200" b="1">
                <a:latin typeface="Times New Roman" pitchFamily="18" charset="0"/>
                <a:ea typeface="宋体" pitchFamily="2" charset="-122"/>
              </a:rPr>
              <a:t>"</a:t>
            </a:r>
            <a:r>
              <a:rPr kumimoji="1" lang="en-US" altLang="zh-CN" sz="3200" b="1">
                <a:solidFill>
                  <a:schemeClr val="tx1"/>
                </a:solidFill>
                <a:latin typeface="Courier New" pitchFamily="49" charset="0"/>
                <a:ea typeface="宋体" charset="-122"/>
              </a:rPr>
              <a:t>)</a:t>
            </a:r>
          </a:p>
          <a:p>
            <a:pPr>
              <a:spcBef>
                <a:spcPts val="0"/>
              </a:spcBef>
              <a:buNone/>
            </a:pPr>
            <a:r>
              <a:rPr kumimoji="1" lang="en-US" altLang="zh-CN" sz="3200" b="1">
                <a:solidFill>
                  <a:schemeClr val="tx1"/>
                </a:solidFill>
                <a:latin typeface="Courier New" pitchFamily="49" charset="0"/>
                <a:ea typeface="宋体" charset="-122"/>
              </a:rPr>
              <a:t>    print(</a:t>
            </a:r>
            <a:r>
              <a:rPr kumimoji="1" lang="en-US" altLang="zh-CN" sz="3200" b="1">
                <a:latin typeface="Times New Roman" pitchFamily="18" charset="0"/>
                <a:ea typeface="宋体" pitchFamily="2" charset="-122"/>
              </a:rPr>
              <a:t>"</a:t>
            </a:r>
            <a:r>
              <a:rPr kumimoji="1" lang="en-US" altLang="zh-CN" sz="3200" b="1">
                <a:solidFill>
                  <a:schemeClr val="tx1"/>
                </a:solidFill>
                <a:latin typeface="Courier New" pitchFamily="49" charset="0"/>
                <a:ea typeface="宋体" charset="-122"/>
              </a:rPr>
              <a:t>sleep all night</a:t>
            </a:r>
            <a:r>
              <a:rPr kumimoji="1" lang="en-US" altLang="zh-CN" sz="3200" b="1">
                <a:latin typeface="Times New Roman" pitchFamily="18" charset="0"/>
                <a:ea typeface="宋体" pitchFamily="2" charset="-122"/>
              </a:rPr>
              <a:t>"</a:t>
            </a:r>
            <a:r>
              <a:rPr kumimoji="1" lang="en-US" altLang="zh-CN" sz="3200" b="1">
                <a:solidFill>
                  <a:schemeClr val="tx1"/>
                </a:solidFill>
                <a:latin typeface="Courier New" pitchFamily="49" charset="0"/>
                <a:ea typeface="宋体" charset="-122"/>
              </a:rPr>
              <a:t>)</a:t>
            </a:r>
          </a:p>
          <a:p>
            <a:pPr>
              <a:spcBef>
                <a:spcPts val="0"/>
              </a:spcBef>
              <a:buNone/>
            </a:pPr>
            <a:endParaRPr kumimoji="1" lang="en-US" altLang="zh-CN" sz="3200" b="1">
              <a:solidFill>
                <a:schemeClr val="tx1"/>
              </a:solidFill>
              <a:latin typeface="Courier New" pitchFamily="49" charset="0"/>
              <a:ea typeface="宋体" charset="-122"/>
            </a:endParaRPr>
          </a:p>
          <a:p>
            <a:pPr>
              <a:spcBef>
                <a:spcPts val="0"/>
              </a:spcBef>
              <a:buNone/>
            </a:pPr>
            <a:r>
              <a:rPr kumimoji="1" lang="en-US" altLang="zh-CN" sz="3200" b="1">
                <a:solidFill>
                  <a:schemeClr val="tx1"/>
                </a:solidFill>
                <a:latin typeface="Courier New" pitchFamily="49" charset="0"/>
                <a:ea typeface="宋体" charset="-122"/>
              </a:rPr>
              <a:t>print(</a:t>
            </a:r>
            <a:r>
              <a:rPr kumimoji="1" lang="en-US" altLang="zh-CN" sz="3200" b="1">
                <a:latin typeface="Times New Roman" pitchFamily="18" charset="0"/>
                <a:ea typeface="宋体" pitchFamily="2" charset="-122"/>
              </a:rPr>
              <a:t>"</a:t>
            </a:r>
            <a:r>
              <a:rPr kumimoji="1" lang="en-US" altLang="zh-CN" sz="3200" b="1">
                <a:solidFill>
                  <a:schemeClr val="tx1"/>
                </a:solidFill>
                <a:latin typeface="Courier New" pitchFamily="49" charset="0"/>
                <a:ea typeface="宋体" charset="-122"/>
              </a:rPr>
              <a:t>die quietly</a:t>
            </a:r>
            <a:r>
              <a:rPr kumimoji="1" lang="en-US" altLang="zh-CN" sz="3200" b="1">
                <a:latin typeface="Times New Roman" pitchFamily="18" charset="0"/>
                <a:ea typeface="宋体" pitchFamily="2" charset="-122"/>
              </a:rPr>
              <a:t>"</a:t>
            </a:r>
            <a:r>
              <a:rPr kumimoji="1" lang="en-US" altLang="zh-CN" sz="3200" b="1">
                <a:solidFill>
                  <a:schemeClr val="tx1"/>
                </a:solidFill>
                <a:latin typeface="Courier New" pitchFamily="49" charset="0"/>
                <a:ea typeface="宋体" charset="-122"/>
              </a:rPr>
              <a:t>)</a:t>
            </a:r>
          </a:p>
        </p:txBody>
      </p:sp>
      <p:sp>
        <p:nvSpPr>
          <p:cNvPr id="9" name="Text Box 19"/>
          <p:cNvSpPr txBox="1">
            <a:spLocks noChangeArrowheads="1"/>
          </p:cNvSpPr>
          <p:nvPr/>
        </p:nvSpPr>
        <p:spPr bwMode="auto">
          <a:xfrm>
            <a:off x="7536250" y="5639271"/>
            <a:ext cx="2606804" cy="523220"/>
          </a:xfrm>
          <a:prstGeom prst="rect">
            <a:avLst/>
          </a:prstGeom>
          <a:noFill/>
          <a:ln w="9525">
            <a:noFill/>
            <a:miter lim="800000"/>
            <a:headEnd/>
            <a:tailEnd/>
          </a:ln>
        </p:spPr>
        <p:txBody>
          <a:bodyPr wrap="none">
            <a:spAutoFit/>
          </a:bodyPr>
          <a:lstStyle/>
          <a:p>
            <a:pPr marL="457200" indent="-457200">
              <a:spcBef>
                <a:spcPct val="50000"/>
              </a:spcBef>
              <a:buNone/>
            </a:pPr>
            <a:r>
              <a:rPr kumimoji="1" lang="en-US" altLang="zh-CN" sz="2800" b="1">
                <a:solidFill>
                  <a:srgbClr val="0000FF"/>
                </a:solidFill>
                <a:latin typeface="Times New Roman" pitchFamily="18" charset="0"/>
                <a:ea typeface="宋体" charset="-122"/>
              </a:rPr>
              <a:t>step</a:t>
            </a:r>
            <a:r>
              <a:rPr kumimoji="1" lang="zh-CN" altLang="en-US" sz="2800" b="1">
                <a:solidFill>
                  <a:srgbClr val="0000FF"/>
                </a:solidFill>
                <a:latin typeface="Times New Roman" pitchFamily="18" charset="0"/>
                <a:ea typeface="宋体" charset="-122"/>
              </a:rPr>
              <a:t>能否实数？</a:t>
            </a:r>
          </a:p>
        </p:txBody>
      </p:sp>
    </p:spTree>
    <p:extLst>
      <p:ext uri="{BB962C8B-B14F-4D97-AF65-F5344CB8AC3E}">
        <p14:creationId xmlns:p14="http://schemas.microsoft.com/office/powerpoint/2010/main" val="578426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0">
                                            <p:bg/>
                                          </p:spTgt>
                                        </p:tgtEl>
                                        <p:attrNameLst>
                                          <p:attrName>style.visibility</p:attrName>
                                        </p:attrNameLst>
                                      </p:cBhvr>
                                      <p:to>
                                        <p:strVal val="visible"/>
                                      </p:to>
                                    </p:set>
                                    <p:animEffect transition="in" filter="dissolve">
                                      <p:cBhvr>
                                        <p:cTn id="7" dur="500"/>
                                        <p:tgtEl>
                                          <p:spTgt spid="10">
                                            <p:bg/>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dissolve">
                                      <p:cBhvr>
                                        <p:cTn id="11" dur="500"/>
                                        <p:tgtEl>
                                          <p:spTgt spid="10">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dissolve">
                                      <p:cBhvr>
                                        <p:cTn id="15" dur="500"/>
                                        <p:tgtEl>
                                          <p:spTgt spid="10">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0">
                                            <p:txEl>
                                              <p:pRg st="2" end="2"/>
                                            </p:txEl>
                                          </p:spTgt>
                                        </p:tgtEl>
                                        <p:attrNameLst>
                                          <p:attrName>style.visibility</p:attrName>
                                        </p:attrNameLst>
                                      </p:cBhvr>
                                      <p:to>
                                        <p:strVal val="visible"/>
                                      </p:to>
                                    </p:set>
                                    <p:animEffect transition="in" filter="dissolve">
                                      <p:cBhvr>
                                        <p:cTn id="20" dur="500"/>
                                        <p:tgtEl>
                                          <p:spTgt spid="10">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Effect transition="in" filter="dissolve">
                                      <p:cBhvr>
                                        <p:cTn id="25" dur="500"/>
                                        <p:tgtEl>
                                          <p:spTgt spid="10">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0">
                                            <p:txEl>
                                              <p:pRg st="4" end="4"/>
                                            </p:txEl>
                                          </p:spTgt>
                                        </p:tgtEl>
                                        <p:attrNameLst>
                                          <p:attrName>style.visibility</p:attrName>
                                        </p:attrNameLst>
                                      </p:cBhvr>
                                      <p:to>
                                        <p:strVal val="visible"/>
                                      </p:to>
                                    </p:set>
                                    <p:animEffect transition="in" filter="dissolve">
                                      <p:cBhvr>
                                        <p:cTn id="30" dur="500"/>
                                        <p:tgtEl>
                                          <p:spTgt spid="10">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0">
                                            <p:txEl>
                                              <p:pRg st="6" end="6"/>
                                            </p:txEl>
                                          </p:spTgt>
                                        </p:tgtEl>
                                        <p:attrNameLst>
                                          <p:attrName>style.visibility</p:attrName>
                                        </p:attrNameLst>
                                      </p:cBhvr>
                                      <p:to>
                                        <p:strVal val="visible"/>
                                      </p:to>
                                    </p:set>
                                    <p:animEffect transition="in" filter="dissolve">
                                      <p:cBhvr>
                                        <p:cTn id="35" dur="500"/>
                                        <p:tgtEl>
                                          <p:spTgt spid="10">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nimBg="1"/>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例题</a:t>
            </a: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1</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：打印平方和立方</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1" name="Rectangle 4"/>
          <p:cNvSpPr>
            <a:spLocks noChangeArrowheads="1"/>
          </p:cNvSpPr>
          <p:nvPr/>
        </p:nvSpPr>
        <p:spPr bwMode="auto">
          <a:xfrm>
            <a:off x="1237564" y="1145123"/>
            <a:ext cx="93196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50900" eaLnBrk="1" hangingPunct="1">
              <a:spcBef>
                <a:spcPct val="50000"/>
              </a:spcBef>
              <a:buClr>
                <a:srgbClr val="FFFF66"/>
              </a:buClr>
              <a:buFont typeface="Wingdings" pitchFamily="2" charset="2"/>
              <a:buNone/>
            </a:pPr>
            <a:r>
              <a:rPr kumimoji="1" lang="zh-CN" altLang="en-US" sz="3600" b="1">
                <a:solidFill>
                  <a:schemeClr val="tx1"/>
                </a:solidFill>
                <a:latin typeface="Times New Roman" pitchFamily="18" charset="0"/>
                <a:ea typeface="黑体" pitchFamily="49" charset="-122"/>
              </a:rPr>
              <a:t>问题描述：</a:t>
            </a:r>
          </a:p>
          <a:p>
            <a:pPr defTabSz="850900">
              <a:spcBef>
                <a:spcPct val="50000"/>
              </a:spcBef>
              <a:buClr>
                <a:srgbClr val="FFFF66"/>
              </a:buClr>
            </a:pPr>
            <a:r>
              <a:rPr kumimoji="1" lang="zh-CN" altLang="en-US" sz="3200" b="1">
                <a:solidFill>
                  <a:schemeClr val="tx1"/>
                </a:solidFill>
                <a:latin typeface="宋体" pitchFamily="2" charset="-122"/>
                <a:ea typeface="宋体" pitchFamily="2" charset="-122"/>
              </a:rPr>
              <a:t>	打印前</a:t>
            </a:r>
            <a:r>
              <a:rPr kumimoji="1" lang="en-US" altLang="zh-CN" sz="3200" b="1">
                <a:solidFill>
                  <a:schemeClr val="tx1"/>
                </a:solidFill>
                <a:latin typeface="宋体" pitchFamily="2" charset="-122"/>
                <a:ea typeface="宋体" pitchFamily="2" charset="-122"/>
              </a:rPr>
              <a:t>10</a:t>
            </a:r>
            <a:r>
              <a:rPr kumimoji="1" lang="zh-CN" altLang="en-US" sz="3200" b="1">
                <a:solidFill>
                  <a:schemeClr val="tx1"/>
                </a:solidFill>
                <a:latin typeface="宋体" pitchFamily="2" charset="-122"/>
                <a:ea typeface="宋体" pitchFamily="2" charset="-122"/>
              </a:rPr>
              <a:t>个整数及其平方和立方，效果如下：</a:t>
            </a:r>
            <a:endParaRPr kumimoji="1" lang="en-US" altLang="zh-CN" sz="3200" b="1">
              <a:latin typeface="宋体" pitchFamily="2" charset="-122"/>
              <a:ea typeface="宋体" pitchFamily="2" charset="-122"/>
            </a:endParaRPr>
          </a:p>
        </p:txBody>
      </p:sp>
      <p:sp>
        <p:nvSpPr>
          <p:cNvPr id="12" name="TextBox 11"/>
          <p:cNvSpPr txBox="1"/>
          <p:nvPr/>
        </p:nvSpPr>
        <p:spPr>
          <a:xfrm>
            <a:off x="3818903" y="2666530"/>
            <a:ext cx="3338355" cy="3785652"/>
          </a:xfrm>
          <a:prstGeom prst="rect">
            <a:avLst/>
          </a:prstGeom>
          <a:solidFill>
            <a:schemeClr val="tx1"/>
          </a:solidFill>
        </p:spPr>
        <p:txBody>
          <a:bodyPr wrap="square" rtlCol="0">
            <a:spAutoFit/>
          </a:bodyPr>
          <a:lstStyle/>
          <a:p>
            <a:r>
              <a:rPr lang="en-US" altLang="zh-CN" sz="2400">
                <a:solidFill>
                  <a:schemeClr val="bg1"/>
                </a:solidFill>
                <a:latin typeface="Times New Roman" pitchFamily="18" charset="0"/>
                <a:cs typeface="Times New Roman" pitchFamily="18" charset="0"/>
              </a:rPr>
              <a:t>   1       1          1</a:t>
            </a:r>
          </a:p>
          <a:p>
            <a:r>
              <a:rPr lang="en-US" altLang="zh-CN" sz="2400">
                <a:solidFill>
                  <a:schemeClr val="bg1"/>
                </a:solidFill>
                <a:latin typeface="Times New Roman" pitchFamily="18" charset="0"/>
                <a:cs typeface="Times New Roman" pitchFamily="18" charset="0"/>
              </a:rPr>
              <a:t>   2       4          8</a:t>
            </a:r>
          </a:p>
          <a:p>
            <a:r>
              <a:rPr lang="en-US" altLang="zh-CN" sz="2400">
                <a:solidFill>
                  <a:schemeClr val="bg1"/>
                </a:solidFill>
                <a:latin typeface="Times New Roman" pitchFamily="18" charset="0"/>
                <a:cs typeface="Times New Roman" pitchFamily="18" charset="0"/>
              </a:rPr>
              <a:t>   3       9        27</a:t>
            </a:r>
          </a:p>
          <a:p>
            <a:r>
              <a:rPr lang="en-US" altLang="zh-CN" sz="2400">
                <a:solidFill>
                  <a:schemeClr val="bg1"/>
                </a:solidFill>
                <a:latin typeface="Times New Roman" pitchFamily="18" charset="0"/>
                <a:cs typeface="Times New Roman" pitchFamily="18" charset="0"/>
              </a:rPr>
              <a:t>   4     16        64</a:t>
            </a:r>
          </a:p>
          <a:p>
            <a:r>
              <a:rPr lang="en-US" altLang="zh-CN" sz="2400">
                <a:solidFill>
                  <a:schemeClr val="bg1"/>
                </a:solidFill>
                <a:latin typeface="Times New Roman" pitchFamily="18" charset="0"/>
                <a:cs typeface="Times New Roman" pitchFamily="18" charset="0"/>
              </a:rPr>
              <a:t>   5     25      125</a:t>
            </a:r>
          </a:p>
          <a:p>
            <a:r>
              <a:rPr lang="en-US" altLang="zh-CN" sz="2400">
                <a:solidFill>
                  <a:schemeClr val="bg1"/>
                </a:solidFill>
                <a:latin typeface="Times New Roman" pitchFamily="18" charset="0"/>
                <a:cs typeface="Times New Roman" pitchFamily="18" charset="0"/>
              </a:rPr>
              <a:t>   6     36      216</a:t>
            </a:r>
          </a:p>
          <a:p>
            <a:r>
              <a:rPr lang="en-US" altLang="zh-CN" sz="2400">
                <a:solidFill>
                  <a:schemeClr val="bg1"/>
                </a:solidFill>
                <a:latin typeface="Times New Roman" pitchFamily="18" charset="0"/>
                <a:cs typeface="Times New Roman" pitchFamily="18" charset="0"/>
              </a:rPr>
              <a:t>   7     49      343</a:t>
            </a:r>
          </a:p>
          <a:p>
            <a:r>
              <a:rPr lang="en-US" altLang="zh-CN" sz="2400">
                <a:solidFill>
                  <a:schemeClr val="bg1"/>
                </a:solidFill>
                <a:latin typeface="Times New Roman" pitchFamily="18" charset="0"/>
                <a:cs typeface="Times New Roman" pitchFamily="18" charset="0"/>
              </a:rPr>
              <a:t>   8     64      512</a:t>
            </a:r>
          </a:p>
          <a:p>
            <a:r>
              <a:rPr lang="en-US" altLang="zh-CN" sz="2400">
                <a:solidFill>
                  <a:schemeClr val="bg1"/>
                </a:solidFill>
                <a:latin typeface="Times New Roman" pitchFamily="18" charset="0"/>
                <a:cs typeface="Times New Roman" pitchFamily="18" charset="0"/>
              </a:rPr>
              <a:t>   9     81      729</a:t>
            </a:r>
          </a:p>
          <a:p>
            <a:r>
              <a:rPr lang="en-US" altLang="zh-CN" sz="2400">
                <a:solidFill>
                  <a:schemeClr val="bg1"/>
                </a:solidFill>
                <a:latin typeface="Times New Roman" pitchFamily="18" charset="0"/>
                <a:cs typeface="Times New Roman" pitchFamily="18" charset="0"/>
              </a:rPr>
              <a:t> 10   100    1000</a:t>
            </a:r>
            <a:endParaRPr lang="zh-CN" altLang="en-US" sz="240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1046869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4" y="98987"/>
            <a:ext cx="5626444"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参考代码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Rectangle 6"/>
          <p:cNvSpPr>
            <a:spLocks noChangeArrowheads="1"/>
          </p:cNvSpPr>
          <p:nvPr/>
        </p:nvSpPr>
        <p:spPr bwMode="auto">
          <a:xfrm>
            <a:off x="1873135" y="1275568"/>
            <a:ext cx="8118764" cy="1077218"/>
          </a:xfrm>
          <a:prstGeom prst="rect">
            <a:avLst/>
          </a:prstGeom>
          <a:noFill/>
          <a:ln w="9525">
            <a:solidFill>
              <a:srgbClr val="FF0000"/>
            </a:solidFill>
            <a:miter lim="800000"/>
            <a:headEnd/>
            <a:tailEnd/>
          </a:ln>
        </p:spPr>
        <p:txBody>
          <a:bodyPr wrap="square">
            <a:spAutoFit/>
          </a:bodyPr>
          <a:lstStyle/>
          <a:p>
            <a:pPr>
              <a:spcBef>
                <a:spcPts val="0"/>
              </a:spcBef>
              <a:buNone/>
            </a:pPr>
            <a:r>
              <a:rPr kumimoji="1" lang="nn-NO" altLang="zh-CN" sz="3200" b="1">
                <a:latin typeface="Courier New" pitchFamily="49" charset="0"/>
                <a:ea typeface="宋体" charset="-122"/>
              </a:rPr>
              <a:t>for i in range(</a:t>
            </a:r>
            <a:r>
              <a:rPr kumimoji="1" lang="nn-NO" altLang="zh-CN" sz="3200" b="1">
                <a:solidFill>
                  <a:srgbClr val="0000FF"/>
                </a:solidFill>
                <a:latin typeface="Courier New" pitchFamily="49" charset="0"/>
                <a:ea typeface="宋体" charset="-122"/>
              </a:rPr>
              <a:t>1</a:t>
            </a:r>
            <a:r>
              <a:rPr kumimoji="1" lang="nn-NO" altLang="zh-CN" sz="3200" b="1">
                <a:latin typeface="Courier New" pitchFamily="49" charset="0"/>
                <a:ea typeface="宋体" charset="-122"/>
              </a:rPr>
              <a:t>, </a:t>
            </a:r>
            <a:r>
              <a:rPr kumimoji="1" lang="nn-NO" altLang="zh-CN" sz="3200" b="1">
                <a:solidFill>
                  <a:srgbClr val="0000FF"/>
                </a:solidFill>
                <a:latin typeface="Courier New" pitchFamily="49" charset="0"/>
                <a:ea typeface="宋体" charset="-122"/>
              </a:rPr>
              <a:t>11</a:t>
            </a:r>
            <a:r>
              <a:rPr kumimoji="1" lang="nn-NO" altLang="zh-CN" sz="3200" b="1">
                <a:latin typeface="Courier New" pitchFamily="49" charset="0"/>
                <a:ea typeface="宋体" charset="-122"/>
              </a:rPr>
              <a:t>):</a:t>
            </a:r>
          </a:p>
          <a:p>
            <a:pPr>
              <a:spcBef>
                <a:spcPts val="0"/>
              </a:spcBef>
              <a:buNone/>
            </a:pPr>
            <a:r>
              <a:rPr kumimoji="1" lang="nn-NO" altLang="zh-CN" sz="3200" b="1">
                <a:latin typeface="Courier New" pitchFamily="49" charset="0"/>
                <a:ea typeface="宋体" charset="-122"/>
              </a:rPr>
              <a:t>    print(i, i**2, i**3)</a:t>
            </a:r>
            <a:endParaRPr kumimoji="1" lang="en-US" altLang="zh-CN" sz="3200" b="1">
              <a:solidFill>
                <a:schemeClr val="tx1"/>
              </a:solidFill>
              <a:latin typeface="Courier New" pitchFamily="49" charset="0"/>
              <a:ea typeface="宋体" charset="-122"/>
            </a:endParaRPr>
          </a:p>
        </p:txBody>
      </p:sp>
      <p:sp>
        <p:nvSpPr>
          <p:cNvPr id="11" name="TextBox 10"/>
          <p:cNvSpPr txBox="1"/>
          <p:nvPr/>
        </p:nvSpPr>
        <p:spPr>
          <a:xfrm>
            <a:off x="3818903" y="2641591"/>
            <a:ext cx="3338355" cy="3785652"/>
          </a:xfrm>
          <a:prstGeom prst="rect">
            <a:avLst/>
          </a:prstGeom>
          <a:solidFill>
            <a:schemeClr val="tx1"/>
          </a:solidFill>
        </p:spPr>
        <p:txBody>
          <a:bodyPr wrap="square" rtlCol="0">
            <a:spAutoFit/>
          </a:bodyPr>
          <a:lstStyle/>
          <a:p>
            <a:r>
              <a:rPr lang="en-US" altLang="zh-CN" sz="2400">
                <a:solidFill>
                  <a:schemeClr val="bg1"/>
                </a:solidFill>
                <a:latin typeface="Times New Roman" pitchFamily="18" charset="0"/>
                <a:cs typeface="Times New Roman" pitchFamily="18" charset="0"/>
              </a:rPr>
              <a:t>1 1 1</a:t>
            </a:r>
          </a:p>
          <a:p>
            <a:r>
              <a:rPr lang="en-US" altLang="zh-CN" sz="2400">
                <a:solidFill>
                  <a:schemeClr val="bg1"/>
                </a:solidFill>
                <a:latin typeface="Times New Roman" pitchFamily="18" charset="0"/>
                <a:cs typeface="Times New Roman" pitchFamily="18" charset="0"/>
              </a:rPr>
              <a:t>2 4 8</a:t>
            </a:r>
          </a:p>
          <a:p>
            <a:r>
              <a:rPr lang="en-US" altLang="zh-CN" sz="2400">
                <a:solidFill>
                  <a:schemeClr val="bg1"/>
                </a:solidFill>
                <a:latin typeface="Times New Roman" pitchFamily="18" charset="0"/>
                <a:cs typeface="Times New Roman" pitchFamily="18" charset="0"/>
              </a:rPr>
              <a:t>3 9 27</a:t>
            </a:r>
          </a:p>
          <a:p>
            <a:r>
              <a:rPr lang="en-US" altLang="zh-CN" sz="2400">
                <a:solidFill>
                  <a:schemeClr val="bg1"/>
                </a:solidFill>
                <a:latin typeface="Times New Roman" pitchFamily="18" charset="0"/>
                <a:cs typeface="Times New Roman" pitchFamily="18" charset="0"/>
              </a:rPr>
              <a:t>4 16 64</a:t>
            </a:r>
          </a:p>
          <a:p>
            <a:r>
              <a:rPr lang="en-US" altLang="zh-CN" sz="2400">
                <a:solidFill>
                  <a:schemeClr val="bg1"/>
                </a:solidFill>
                <a:latin typeface="Times New Roman" pitchFamily="18" charset="0"/>
                <a:cs typeface="Times New Roman" pitchFamily="18" charset="0"/>
              </a:rPr>
              <a:t>5 25 125</a:t>
            </a:r>
          </a:p>
          <a:p>
            <a:r>
              <a:rPr lang="en-US" altLang="zh-CN" sz="2400">
                <a:solidFill>
                  <a:schemeClr val="bg1"/>
                </a:solidFill>
                <a:latin typeface="Times New Roman" pitchFamily="18" charset="0"/>
                <a:cs typeface="Times New Roman" pitchFamily="18" charset="0"/>
              </a:rPr>
              <a:t>6 36 216</a:t>
            </a:r>
          </a:p>
          <a:p>
            <a:r>
              <a:rPr lang="en-US" altLang="zh-CN" sz="2400">
                <a:solidFill>
                  <a:schemeClr val="bg1"/>
                </a:solidFill>
                <a:latin typeface="Times New Roman" pitchFamily="18" charset="0"/>
                <a:cs typeface="Times New Roman" pitchFamily="18" charset="0"/>
              </a:rPr>
              <a:t>7 49 343</a:t>
            </a:r>
          </a:p>
          <a:p>
            <a:r>
              <a:rPr lang="en-US" altLang="zh-CN" sz="2400">
                <a:solidFill>
                  <a:schemeClr val="bg1"/>
                </a:solidFill>
                <a:latin typeface="Times New Roman" pitchFamily="18" charset="0"/>
                <a:cs typeface="Times New Roman" pitchFamily="18" charset="0"/>
              </a:rPr>
              <a:t>8 64 512</a:t>
            </a:r>
          </a:p>
          <a:p>
            <a:r>
              <a:rPr lang="en-US" altLang="zh-CN" sz="2400">
                <a:solidFill>
                  <a:schemeClr val="bg1"/>
                </a:solidFill>
                <a:latin typeface="Times New Roman" pitchFamily="18" charset="0"/>
                <a:cs typeface="Times New Roman" pitchFamily="18" charset="0"/>
              </a:rPr>
              <a:t>9 81 729</a:t>
            </a:r>
          </a:p>
          <a:p>
            <a:r>
              <a:rPr lang="en-US" altLang="zh-CN" sz="2400">
                <a:solidFill>
                  <a:schemeClr val="bg1"/>
                </a:solidFill>
                <a:latin typeface="Times New Roman" pitchFamily="18" charset="0"/>
                <a:cs typeface="Times New Roman" pitchFamily="18" charset="0"/>
              </a:rPr>
              <a:t>10 100 1000</a:t>
            </a:r>
            <a:endParaRPr lang="zh-CN" altLang="en-US" sz="240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262221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4" y="98987"/>
            <a:ext cx="5626444"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参考代码</a:t>
            </a:r>
            <a:r>
              <a:rPr lang="en-US" altLang="zh-CN" sz="4800">
                <a:solidFill>
                  <a:schemeClr val="accent2"/>
                </a:solidFill>
                <a:latin typeface="隶书" pitchFamily="49" charset="-122"/>
                <a:ea typeface="隶书" pitchFamily="49" charset="-122"/>
              </a:rPr>
              <a:t>(2)</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Rectangle 6"/>
          <p:cNvSpPr>
            <a:spLocks noChangeArrowheads="1"/>
          </p:cNvSpPr>
          <p:nvPr/>
        </p:nvSpPr>
        <p:spPr bwMode="auto">
          <a:xfrm>
            <a:off x="1064029" y="1275568"/>
            <a:ext cx="9883833" cy="1077218"/>
          </a:xfrm>
          <a:prstGeom prst="rect">
            <a:avLst/>
          </a:prstGeom>
          <a:noFill/>
          <a:ln w="9525">
            <a:solidFill>
              <a:srgbClr val="FF0000"/>
            </a:solidFill>
            <a:miter lim="800000"/>
            <a:headEnd/>
            <a:tailEnd/>
          </a:ln>
        </p:spPr>
        <p:txBody>
          <a:bodyPr wrap="square">
            <a:spAutoFit/>
          </a:bodyPr>
          <a:lstStyle/>
          <a:p>
            <a:pPr>
              <a:spcBef>
                <a:spcPts val="0"/>
              </a:spcBef>
              <a:buNone/>
            </a:pPr>
            <a:r>
              <a:rPr kumimoji="1" lang="nn-NO" altLang="zh-CN" sz="3200" b="1">
                <a:latin typeface="Courier New" pitchFamily="49" charset="0"/>
                <a:ea typeface="宋体" charset="-122"/>
              </a:rPr>
              <a:t>for i in range(1, 11):</a:t>
            </a:r>
          </a:p>
          <a:p>
            <a:pPr>
              <a:spcBef>
                <a:spcPts val="0"/>
              </a:spcBef>
              <a:buNone/>
            </a:pPr>
            <a:r>
              <a:rPr kumimoji="1" lang="nn-NO" altLang="zh-CN" sz="3200" b="1">
                <a:latin typeface="Courier New" pitchFamily="49" charset="0"/>
                <a:ea typeface="宋体" charset="-122"/>
              </a:rPr>
              <a:t>    print("%3d %5d %7d" % (i,i**2,i**3))</a:t>
            </a:r>
            <a:endParaRPr kumimoji="1" lang="en-US" altLang="zh-CN" sz="3200" b="1">
              <a:solidFill>
                <a:schemeClr val="tx1"/>
              </a:solidFill>
              <a:latin typeface="Courier New" pitchFamily="49" charset="0"/>
              <a:ea typeface="宋体" charset="-122"/>
            </a:endParaRPr>
          </a:p>
        </p:txBody>
      </p:sp>
      <p:graphicFrame>
        <p:nvGraphicFramePr>
          <p:cNvPr id="9" name="Group 66"/>
          <p:cNvGraphicFramePr>
            <a:graphicFrameLocks/>
          </p:cNvGraphicFramePr>
          <p:nvPr>
            <p:extLst>
              <p:ext uri="{D42A27DB-BD31-4B8C-83A1-F6EECF244321}">
                <p14:modId xmlns:p14="http://schemas.microsoft.com/office/powerpoint/2010/main" val="3264764577"/>
              </p:ext>
            </p:extLst>
          </p:nvPr>
        </p:nvGraphicFramePr>
        <p:xfrm>
          <a:off x="1868984" y="2730725"/>
          <a:ext cx="7772400" cy="3429002"/>
        </p:xfrm>
        <a:graphic>
          <a:graphicData uri="http://schemas.openxmlformats.org/drawingml/2006/table">
            <a:tbl>
              <a:tblPr/>
              <a:tblGrid>
                <a:gridCol w="16002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4905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zh-CN" altLang="en-US" sz="2400" b="1" i="0" u="none" strike="noStrike" cap="none" normalizeH="0" baseline="0">
                          <a:ln>
                            <a:noFill/>
                          </a:ln>
                          <a:solidFill>
                            <a:schemeClr val="tx1"/>
                          </a:solidFill>
                          <a:effectLst/>
                          <a:latin typeface="宋体" pitchFamily="2" charset="-122"/>
                          <a:ea typeface="宋体" pitchFamily="2" charset="-122"/>
                        </a:rPr>
                        <a:t>格式字符</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1D1F0"/>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zh-CN" altLang="en-US" sz="2400" b="1" i="0" u="none" strike="noStrike" cap="none" normalizeH="0" baseline="0">
                          <a:ln>
                            <a:noFill/>
                          </a:ln>
                          <a:solidFill>
                            <a:schemeClr val="tx1"/>
                          </a:solidFill>
                          <a:effectLst/>
                          <a:latin typeface="宋体" pitchFamily="2" charset="-122"/>
                          <a:ea typeface="宋体" pitchFamily="2" charset="-122"/>
                        </a:rPr>
                        <a:t>含义</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1D1F0"/>
                    </a:solidFill>
                  </a:tcPr>
                </a:tc>
                <a:extLst>
                  <a:ext uri="{0D108BD9-81ED-4DB2-BD59-A6C34878D82A}">
                    <a16:rowId xmlns:a16="http://schemas.microsoft.com/office/drawing/2014/main" val="10000"/>
                  </a:ext>
                </a:extLst>
              </a:tr>
              <a:tr h="488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d</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zh-CN" altLang="en-US" sz="2400" b="1" i="0" u="none" strike="noStrike" cap="none" normalizeH="0" baseline="0">
                          <a:ln>
                            <a:noFill/>
                          </a:ln>
                          <a:solidFill>
                            <a:schemeClr val="tx1"/>
                          </a:solidFill>
                          <a:effectLst/>
                          <a:latin typeface="Tahoma" pitchFamily="34" charset="0"/>
                          <a:ea typeface="宋体" pitchFamily="2" charset="-122"/>
                        </a:rPr>
                        <a:t>输出十进制整数</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905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o</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zh-CN" altLang="en-US" sz="2400" b="1" i="0" u="none" strike="noStrike" cap="none" normalizeH="0" baseline="0">
                          <a:ln>
                            <a:noFill/>
                          </a:ln>
                          <a:solidFill>
                            <a:schemeClr val="tx1"/>
                          </a:solidFill>
                          <a:effectLst/>
                          <a:latin typeface="Tahoma" pitchFamily="34" charset="0"/>
                          <a:ea typeface="宋体" pitchFamily="2" charset="-122"/>
                        </a:rPr>
                        <a:t>以</a:t>
                      </a:r>
                      <a:r>
                        <a:rPr kumimoji="0" lang="zh-CN" altLang="en-US" sz="2400" b="1" i="0" u="none" strike="noStrike" cap="none" normalizeH="0" baseline="0">
                          <a:ln>
                            <a:noFill/>
                          </a:ln>
                          <a:solidFill>
                            <a:srgbClr val="FF0000"/>
                          </a:solidFill>
                          <a:effectLst/>
                          <a:latin typeface="Tahoma" pitchFamily="34" charset="0"/>
                          <a:ea typeface="宋体" pitchFamily="2" charset="-122"/>
                        </a:rPr>
                        <a:t>八进制</a:t>
                      </a:r>
                      <a:r>
                        <a:rPr kumimoji="0" lang="zh-CN" altLang="en-US" sz="2400" b="1" i="0" u="none" strike="noStrike" cap="none" normalizeH="0" baseline="0">
                          <a:ln>
                            <a:noFill/>
                          </a:ln>
                          <a:solidFill>
                            <a:schemeClr val="tx1"/>
                          </a:solidFill>
                          <a:effectLst/>
                          <a:latin typeface="Tahoma" pitchFamily="34" charset="0"/>
                          <a:ea typeface="宋体" pitchFamily="2" charset="-122"/>
                        </a:rPr>
                        <a:t>数形式输出整数</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x </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X</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1" i="0" u="none" strike="noStrike" cap="none" normalizeH="0" baseline="0">
                          <a:ln>
                            <a:noFill/>
                          </a:ln>
                          <a:solidFill>
                            <a:schemeClr val="tx1"/>
                          </a:solidFill>
                          <a:effectLst/>
                          <a:latin typeface="Tahoma" pitchFamily="34" charset="0"/>
                          <a:ea typeface="宋体" pitchFamily="2" charset="-122"/>
                        </a:rPr>
                        <a:t>以</a:t>
                      </a:r>
                      <a:r>
                        <a:rPr kumimoji="0" lang="en-US" altLang="zh-CN" sz="2400" b="1" i="0" u="none" strike="noStrike" cap="none" normalizeH="0" baseline="0">
                          <a:ln>
                            <a:noFill/>
                          </a:ln>
                          <a:solidFill>
                            <a:srgbClr val="FF0000"/>
                          </a:solidFill>
                          <a:effectLst/>
                          <a:latin typeface="Tahoma" pitchFamily="34" charset="0"/>
                          <a:ea typeface="宋体" pitchFamily="2" charset="-122"/>
                        </a:rPr>
                        <a:t>十六进制</a:t>
                      </a:r>
                      <a:r>
                        <a:rPr kumimoji="0" lang="en-US" altLang="zh-CN" sz="2400" b="1" i="0" u="none" strike="noStrike" cap="none" normalizeH="0" baseline="0">
                          <a:ln>
                            <a:noFill/>
                          </a:ln>
                          <a:solidFill>
                            <a:schemeClr val="tx1"/>
                          </a:solidFill>
                          <a:effectLst/>
                          <a:latin typeface="Tahoma" pitchFamily="34" charset="0"/>
                          <a:ea typeface="宋体" pitchFamily="2" charset="-122"/>
                        </a:rPr>
                        <a:t>数形式输出</a:t>
                      </a:r>
                      <a:r>
                        <a:rPr kumimoji="0" lang="zh-CN" altLang="en-US" sz="2400" b="1" i="0" u="none" strike="noStrike" cap="none" normalizeH="0" baseline="0">
                          <a:ln>
                            <a:noFill/>
                          </a:ln>
                          <a:solidFill>
                            <a:schemeClr val="tx1"/>
                          </a:solidFill>
                          <a:effectLst/>
                          <a:latin typeface="Tahoma" pitchFamily="34" charset="0"/>
                          <a:ea typeface="宋体" pitchFamily="2" charset="-122"/>
                        </a:rPr>
                        <a:t>整数（不带符号）</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zh-CN" altLang="en-US" sz="2400" b="1" i="0" u="none" strike="noStrike" cap="none" normalizeH="0" baseline="0">
                          <a:ln>
                            <a:noFill/>
                          </a:ln>
                          <a:solidFill>
                            <a:schemeClr val="tx1"/>
                          </a:solidFill>
                          <a:effectLst/>
                          <a:latin typeface="Tahoma" pitchFamily="34" charset="0"/>
                          <a:ea typeface="宋体" pitchFamily="2" charset="-122"/>
                        </a:rPr>
                        <a:t>输出一个字符</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905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s</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zh-CN" altLang="en-US" sz="2400" b="1" i="0" u="none" strike="noStrike" cap="none" normalizeH="0" baseline="0">
                          <a:ln>
                            <a:noFill/>
                          </a:ln>
                          <a:solidFill>
                            <a:schemeClr val="tx1"/>
                          </a:solidFill>
                          <a:effectLst/>
                          <a:latin typeface="Tahoma" pitchFamily="34" charset="0"/>
                          <a:ea typeface="宋体" pitchFamily="2" charset="-122"/>
                        </a:rPr>
                        <a:t>输出一个字符串</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905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f</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zh-CN" altLang="en-US" sz="2400" b="1" i="0" u="none" strike="noStrike" cap="none" normalizeH="0" baseline="0">
                          <a:ln>
                            <a:noFill/>
                          </a:ln>
                          <a:solidFill>
                            <a:schemeClr val="tx1"/>
                          </a:solidFill>
                          <a:effectLst/>
                          <a:latin typeface="Tahoma" pitchFamily="34" charset="0"/>
                          <a:ea typeface="宋体" pitchFamily="2" charset="-122"/>
                        </a:rPr>
                        <a:t>以小数的形式输出一个实数</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174119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例题</a:t>
            </a: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2</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a:t>
            </a:r>
            <a:r>
              <a:rPr lang="zh-CN" altLang="en-US" sz="4800">
                <a:solidFill>
                  <a:schemeClr val="accent2"/>
                </a:solidFill>
                <a:latin typeface="隶书" pitchFamily="49" charset="-122"/>
                <a:ea typeface="隶书" pitchFamily="49" charset="-122"/>
              </a:rPr>
              <a:t>高斯的难题</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4"/>
          <p:cNvSpPr>
            <a:spLocks noChangeArrowheads="1"/>
          </p:cNvSpPr>
          <p:nvPr/>
        </p:nvSpPr>
        <p:spPr bwMode="auto">
          <a:xfrm>
            <a:off x="1051972" y="1468935"/>
            <a:ext cx="9879272" cy="3884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30000"/>
              </a:spcBef>
            </a:pPr>
            <a:r>
              <a:rPr kumimoji="1" lang="zh-CN" altLang="en-US" sz="2800" b="1">
                <a:solidFill>
                  <a:schemeClr val="tx1"/>
                </a:solidFill>
                <a:latin typeface="Times New Roman" pitchFamily="18" charset="0"/>
                <a:ea typeface="宋体" charset="-122"/>
              </a:rPr>
              <a:t>        德国数学家高斯，在上小学的时候，老师出了一道难题，</a:t>
            </a:r>
            <a:endParaRPr kumimoji="1" lang="en-US" altLang="zh-CN" sz="2800" b="1">
              <a:solidFill>
                <a:schemeClr val="tx1"/>
              </a:solidFill>
              <a:latin typeface="Times New Roman" pitchFamily="18" charset="0"/>
              <a:ea typeface="宋体" charset="-122"/>
            </a:endParaRPr>
          </a:p>
          <a:p>
            <a:pPr>
              <a:spcBef>
                <a:spcPct val="30000"/>
              </a:spcBef>
            </a:pPr>
            <a:r>
              <a:rPr kumimoji="1" lang="zh-CN" altLang="en-US" sz="2800" b="1">
                <a:solidFill>
                  <a:schemeClr val="tx1"/>
                </a:solidFill>
                <a:latin typeface="Times New Roman" pitchFamily="18" charset="0"/>
                <a:ea typeface="宋体" charset="-122"/>
              </a:rPr>
              <a:t>计算</a:t>
            </a:r>
            <a:r>
              <a:rPr kumimoji="1" lang="en-US" altLang="zh-CN" sz="2800" b="1">
                <a:solidFill>
                  <a:schemeClr val="tx1"/>
                </a:solidFill>
                <a:latin typeface="Times New Roman" pitchFamily="18" charset="0"/>
                <a:ea typeface="宋体" charset="-122"/>
              </a:rPr>
              <a:t>1+2+3+…… + 100</a:t>
            </a:r>
            <a:r>
              <a:rPr kumimoji="1" lang="zh-CN" altLang="en-US" sz="2800" b="1">
                <a:solidFill>
                  <a:schemeClr val="tx1"/>
                </a:solidFill>
                <a:latin typeface="Times New Roman" pitchFamily="18" charset="0"/>
                <a:ea typeface="宋体" charset="-122"/>
              </a:rPr>
              <a:t>，高斯很快就在自己的小石板上写出了</a:t>
            </a:r>
            <a:endParaRPr kumimoji="1" lang="en-US" altLang="zh-CN" sz="2800" b="1">
              <a:solidFill>
                <a:schemeClr val="tx1"/>
              </a:solidFill>
              <a:latin typeface="Times New Roman" pitchFamily="18" charset="0"/>
              <a:ea typeface="宋体" charset="-122"/>
            </a:endParaRPr>
          </a:p>
          <a:p>
            <a:pPr>
              <a:spcBef>
                <a:spcPct val="30000"/>
              </a:spcBef>
            </a:pPr>
            <a:r>
              <a:rPr kumimoji="1" lang="zh-CN" altLang="en-US" sz="2800" b="1">
                <a:solidFill>
                  <a:schemeClr val="tx1"/>
                </a:solidFill>
                <a:latin typeface="Times New Roman" pitchFamily="18" charset="0"/>
                <a:ea typeface="宋体" charset="-122"/>
              </a:rPr>
              <a:t>答案</a:t>
            </a:r>
            <a:r>
              <a:rPr kumimoji="1" lang="en-US" altLang="zh-CN" sz="2800" b="1">
                <a:solidFill>
                  <a:schemeClr val="tx1"/>
                </a:solidFill>
                <a:latin typeface="Times New Roman" pitchFamily="18" charset="0"/>
                <a:ea typeface="宋体" charset="-122"/>
              </a:rPr>
              <a:t>5050</a:t>
            </a:r>
            <a:r>
              <a:rPr kumimoji="1" lang="zh-CN" altLang="en-US" sz="2800" b="1">
                <a:solidFill>
                  <a:schemeClr val="tx1"/>
                </a:solidFill>
                <a:latin typeface="Times New Roman" pitchFamily="18" charset="0"/>
                <a:ea typeface="宋体" charset="-122"/>
              </a:rPr>
              <a:t>，老师非常惊讶，高斯怎么算得这么快呢？原来，高</a:t>
            </a:r>
            <a:endParaRPr kumimoji="1" lang="en-US" altLang="zh-CN" sz="2800" b="1">
              <a:solidFill>
                <a:schemeClr val="tx1"/>
              </a:solidFill>
              <a:latin typeface="Times New Roman" pitchFamily="18" charset="0"/>
              <a:ea typeface="宋体" charset="-122"/>
            </a:endParaRPr>
          </a:p>
          <a:p>
            <a:pPr>
              <a:spcBef>
                <a:spcPct val="30000"/>
              </a:spcBef>
            </a:pPr>
            <a:r>
              <a:rPr kumimoji="1" lang="zh-CN" altLang="en-US" sz="2800" b="1">
                <a:solidFill>
                  <a:schemeClr val="tx1"/>
                </a:solidFill>
                <a:latin typeface="Times New Roman" pitchFamily="18" charset="0"/>
                <a:ea typeface="宋体" charset="-122"/>
              </a:rPr>
              <a:t>斯不是一个数一个数按部就班地加起出来的，而是发现这些数</a:t>
            </a:r>
            <a:endParaRPr kumimoji="1" lang="en-US" altLang="zh-CN" sz="2800" b="1">
              <a:solidFill>
                <a:schemeClr val="tx1"/>
              </a:solidFill>
              <a:latin typeface="Times New Roman" pitchFamily="18" charset="0"/>
              <a:ea typeface="宋体" charset="-122"/>
            </a:endParaRPr>
          </a:p>
          <a:p>
            <a:pPr>
              <a:spcBef>
                <a:spcPct val="30000"/>
              </a:spcBef>
            </a:pPr>
            <a:r>
              <a:rPr kumimoji="1" lang="zh-CN" altLang="en-US" sz="2800" b="1">
                <a:solidFill>
                  <a:schemeClr val="tx1"/>
                </a:solidFill>
                <a:latin typeface="Times New Roman" pitchFamily="18" charset="0"/>
                <a:ea typeface="宋体" charset="-122"/>
              </a:rPr>
              <a:t>字有一个规律，一头一尾依次两个数相加，它们的和都是一样</a:t>
            </a:r>
            <a:endParaRPr kumimoji="1" lang="en-US" altLang="zh-CN" sz="2800" b="1">
              <a:solidFill>
                <a:schemeClr val="tx1"/>
              </a:solidFill>
              <a:latin typeface="Times New Roman" pitchFamily="18" charset="0"/>
              <a:ea typeface="宋体" charset="-122"/>
            </a:endParaRPr>
          </a:p>
          <a:p>
            <a:pPr>
              <a:spcBef>
                <a:spcPct val="30000"/>
              </a:spcBef>
            </a:pPr>
            <a:r>
              <a:rPr kumimoji="1" lang="zh-CN" altLang="en-US" sz="2800" b="1">
                <a:solidFill>
                  <a:schemeClr val="tx1"/>
                </a:solidFill>
                <a:latin typeface="Times New Roman" pitchFamily="18" charset="0"/>
                <a:ea typeface="宋体" charset="-122"/>
              </a:rPr>
              <a:t>的：</a:t>
            </a:r>
            <a:r>
              <a:rPr kumimoji="1" lang="en-US" altLang="zh-CN" sz="2800" b="1">
                <a:solidFill>
                  <a:schemeClr val="tx1"/>
                </a:solidFill>
                <a:latin typeface="Times New Roman" pitchFamily="18" charset="0"/>
                <a:ea typeface="宋体" charset="-122"/>
              </a:rPr>
              <a:t>1+100=101</a:t>
            </a:r>
            <a:r>
              <a:rPr kumimoji="1" lang="zh-CN" altLang="en-US" sz="2800" b="1">
                <a:solidFill>
                  <a:schemeClr val="tx1"/>
                </a:solidFill>
                <a:latin typeface="Times New Roman" pitchFamily="18" charset="0"/>
                <a:ea typeface="宋体" charset="-122"/>
              </a:rPr>
              <a:t>，</a:t>
            </a:r>
            <a:r>
              <a:rPr kumimoji="1" lang="en-US" altLang="zh-CN" sz="2800" b="1">
                <a:solidFill>
                  <a:schemeClr val="tx1"/>
                </a:solidFill>
                <a:latin typeface="Times New Roman" pitchFamily="18" charset="0"/>
                <a:ea typeface="宋体" charset="-122"/>
              </a:rPr>
              <a:t>2+99=101</a:t>
            </a:r>
            <a:r>
              <a:rPr kumimoji="1" lang="zh-CN" altLang="en-US" sz="2800" b="1">
                <a:solidFill>
                  <a:schemeClr val="tx1"/>
                </a:solidFill>
                <a:latin typeface="Times New Roman" pitchFamily="18" charset="0"/>
                <a:ea typeface="宋体" charset="-122"/>
              </a:rPr>
              <a:t>，一直到</a:t>
            </a:r>
            <a:r>
              <a:rPr kumimoji="1" lang="en-US" altLang="zh-CN" sz="2800" b="1">
                <a:solidFill>
                  <a:schemeClr val="tx1"/>
                </a:solidFill>
                <a:latin typeface="Times New Roman" pitchFamily="18" charset="0"/>
                <a:ea typeface="宋体" charset="-122"/>
              </a:rPr>
              <a:t>50+51=101</a:t>
            </a:r>
            <a:r>
              <a:rPr kumimoji="1" lang="zh-CN" altLang="en-US" sz="2800" b="1">
                <a:solidFill>
                  <a:schemeClr val="tx1"/>
                </a:solidFill>
                <a:latin typeface="Times New Roman" pitchFamily="18" charset="0"/>
                <a:ea typeface="宋体" charset="-122"/>
              </a:rPr>
              <a:t>，一共是</a:t>
            </a:r>
            <a:r>
              <a:rPr kumimoji="1" lang="en-US" altLang="zh-CN" sz="2800" b="1">
                <a:solidFill>
                  <a:schemeClr val="tx1"/>
                </a:solidFill>
                <a:latin typeface="Times New Roman" pitchFamily="18" charset="0"/>
                <a:ea typeface="宋体" charset="-122"/>
              </a:rPr>
              <a:t>50</a:t>
            </a:r>
            <a:r>
              <a:rPr kumimoji="1" lang="zh-CN" altLang="en-US" sz="2800" b="1">
                <a:solidFill>
                  <a:schemeClr val="tx1"/>
                </a:solidFill>
                <a:latin typeface="Times New Roman" pitchFamily="18" charset="0"/>
                <a:ea typeface="宋体" charset="-122"/>
              </a:rPr>
              <a:t>个</a:t>
            </a:r>
            <a:endParaRPr kumimoji="1" lang="en-US" altLang="zh-CN" sz="2800" b="1">
              <a:solidFill>
                <a:schemeClr val="tx1"/>
              </a:solidFill>
              <a:latin typeface="Times New Roman" pitchFamily="18" charset="0"/>
              <a:ea typeface="宋体" charset="-122"/>
            </a:endParaRPr>
          </a:p>
          <a:p>
            <a:pPr>
              <a:spcBef>
                <a:spcPct val="30000"/>
              </a:spcBef>
            </a:pPr>
            <a:r>
              <a:rPr kumimoji="1" lang="en-US" altLang="zh-CN" sz="2800" b="1">
                <a:solidFill>
                  <a:schemeClr val="tx1"/>
                </a:solidFill>
                <a:latin typeface="Times New Roman" pitchFamily="18" charset="0"/>
                <a:ea typeface="宋体" charset="-122"/>
              </a:rPr>
              <a:t>101</a:t>
            </a:r>
            <a:r>
              <a:rPr kumimoji="1" lang="zh-CN" altLang="en-US" sz="2800" b="1">
                <a:solidFill>
                  <a:schemeClr val="tx1"/>
                </a:solidFill>
                <a:latin typeface="Times New Roman" pitchFamily="18" charset="0"/>
                <a:ea typeface="宋体" charset="-122"/>
              </a:rPr>
              <a:t>，所以，他很快就把答案算出来了。</a:t>
            </a:r>
          </a:p>
        </p:txBody>
      </p:sp>
    </p:spTree>
    <p:extLst>
      <p:ext uri="{BB962C8B-B14F-4D97-AF65-F5344CB8AC3E}">
        <p14:creationId xmlns:p14="http://schemas.microsoft.com/office/powerpoint/2010/main" val="1388580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关于高斯的一些“事实”</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Rectangle 5"/>
          <p:cNvSpPr>
            <a:spLocks noChangeArrowheads="1"/>
          </p:cNvSpPr>
          <p:nvPr/>
        </p:nvSpPr>
        <p:spPr bwMode="auto">
          <a:xfrm>
            <a:off x="1167044" y="1615354"/>
            <a:ext cx="9531436" cy="386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44500" indent="-444500" eaLnBrk="1" hangingPunct="1">
              <a:spcBef>
                <a:spcPct val="25000"/>
              </a:spcBef>
              <a:buClr>
                <a:schemeClr val="tx1"/>
              </a:buClr>
              <a:buFont typeface="Wingdings" pitchFamily="2" charset="2"/>
              <a:buChar char="Ø"/>
            </a:pPr>
            <a:r>
              <a:rPr kumimoji="1" lang="zh-CN" altLang="en-US" sz="2800" b="1">
                <a:solidFill>
                  <a:schemeClr val="tx1"/>
                </a:solidFill>
                <a:latin typeface="宋体" charset="-122"/>
                <a:ea typeface="宋体" charset="-122"/>
              </a:rPr>
              <a:t>没有诺贝尔数学奖，因为第一年高斯就把所有奖金都拿走了</a:t>
            </a:r>
          </a:p>
          <a:p>
            <a:pPr marL="444500" indent="-444500" eaLnBrk="1" hangingPunct="1">
              <a:spcBef>
                <a:spcPct val="25000"/>
              </a:spcBef>
              <a:buClr>
                <a:schemeClr val="tx1"/>
              </a:buClr>
              <a:buFont typeface="Wingdings" pitchFamily="2" charset="2"/>
              <a:buChar char="Ø"/>
            </a:pPr>
            <a:r>
              <a:rPr kumimoji="1" lang="zh-CN" altLang="en-US" sz="2800" b="1">
                <a:solidFill>
                  <a:schemeClr val="tx1"/>
                </a:solidFill>
                <a:latin typeface="宋体" charset="-122"/>
                <a:ea typeface="宋体" charset="-122"/>
              </a:rPr>
              <a:t>高斯是这样证明良序定理的：他瞪着那个集合，直到集合中的元素出于纯粹的恐惧而排成一排</a:t>
            </a:r>
          </a:p>
          <a:p>
            <a:pPr marL="444500" indent="-444500" eaLnBrk="1" hangingPunct="1">
              <a:spcBef>
                <a:spcPct val="25000"/>
              </a:spcBef>
              <a:buClr>
                <a:schemeClr val="tx1"/>
              </a:buClr>
              <a:buFont typeface="Wingdings" pitchFamily="2" charset="2"/>
              <a:buChar char="Ø"/>
            </a:pPr>
            <a:r>
              <a:rPr kumimoji="1" lang="zh-CN" altLang="en-US" sz="2800" b="1">
                <a:solidFill>
                  <a:schemeClr val="tx1"/>
                </a:solidFill>
                <a:latin typeface="宋体" charset="-122"/>
                <a:ea typeface="宋体" charset="-122"/>
              </a:rPr>
              <a:t>空集的定义是高斯无法证明的定理的集合</a:t>
            </a:r>
            <a:endParaRPr kumimoji="1" lang="en-US" altLang="zh-CN" sz="2800" b="1">
              <a:solidFill>
                <a:schemeClr val="tx1"/>
              </a:solidFill>
              <a:latin typeface="宋体" charset="-122"/>
              <a:ea typeface="宋体" charset="-122"/>
            </a:endParaRPr>
          </a:p>
          <a:p>
            <a:pPr marL="444500" indent="-444500" eaLnBrk="1" hangingPunct="1">
              <a:spcBef>
                <a:spcPct val="25000"/>
              </a:spcBef>
              <a:buClr>
                <a:schemeClr val="tx1"/>
              </a:buClr>
              <a:buFont typeface="Wingdings" pitchFamily="2" charset="2"/>
              <a:buChar char="Ø"/>
            </a:pPr>
            <a:r>
              <a:rPr kumimoji="1" lang="zh-CN" altLang="en-US" sz="2800" b="1">
                <a:solidFill>
                  <a:schemeClr val="tx1"/>
                </a:solidFill>
                <a:latin typeface="宋体" charset="-122"/>
                <a:ea typeface="宋体" charset="-122"/>
              </a:rPr>
              <a:t>当哥德尔听说了高斯能证明一切命题，他让高斯证明“存在高斯不能证明的命题”。高斯证出来了，但还是不存在他不能证明的命题</a:t>
            </a:r>
          </a:p>
        </p:txBody>
      </p:sp>
    </p:spTree>
    <p:extLst>
      <p:ext uri="{BB962C8B-B14F-4D97-AF65-F5344CB8AC3E}">
        <p14:creationId xmlns:p14="http://schemas.microsoft.com/office/powerpoint/2010/main" val="4019492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基本思路</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3"/>
          <p:cNvSpPr>
            <a:spLocks noChangeArrowheads="1"/>
          </p:cNvSpPr>
          <p:nvPr/>
        </p:nvSpPr>
        <p:spPr bwMode="auto">
          <a:xfrm>
            <a:off x="1600422" y="1765848"/>
            <a:ext cx="9164560"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50900" eaLnBrk="1" hangingPunct="1">
              <a:spcBef>
                <a:spcPct val="60000"/>
              </a:spcBef>
              <a:buClr>
                <a:srgbClr val="FFFF66"/>
              </a:buClr>
            </a:pPr>
            <a:r>
              <a:rPr kumimoji="1" lang="zh-CN" altLang="en-US" sz="3600" b="1">
                <a:solidFill>
                  <a:schemeClr val="tx1"/>
                </a:solidFill>
                <a:latin typeface="Times New Roman" pitchFamily="18" charset="0"/>
                <a:ea typeface="宋体" charset="-122"/>
              </a:rPr>
              <a:t>	把问题抽象为一种统一的形式，然后采用循环语句来重复地计算。</a:t>
            </a:r>
          </a:p>
          <a:p>
            <a:pPr defTabSz="850900" eaLnBrk="1" hangingPunct="1">
              <a:spcBef>
                <a:spcPct val="60000"/>
              </a:spcBef>
              <a:buClr>
                <a:srgbClr val="FFFF66"/>
              </a:buClr>
            </a:pPr>
            <a:r>
              <a:rPr kumimoji="1" lang="zh-CN" altLang="en-US" sz="3600" b="1">
                <a:solidFill>
                  <a:schemeClr val="tx1"/>
                </a:solidFill>
                <a:latin typeface="Times New Roman" pitchFamily="18" charset="0"/>
                <a:ea typeface="宋体" charset="-122"/>
              </a:rPr>
              <a:t>	用一个变量</a:t>
            </a:r>
            <a:r>
              <a:rPr kumimoji="1" lang="en-US" altLang="zh-CN" sz="3600" b="1">
                <a:solidFill>
                  <a:schemeClr val="tx1"/>
                </a:solidFill>
                <a:latin typeface="Times New Roman" pitchFamily="18" charset="0"/>
                <a:ea typeface="宋体" charset="-122"/>
              </a:rPr>
              <a:t>sum</a:t>
            </a:r>
            <a:r>
              <a:rPr kumimoji="1" lang="zh-CN" altLang="en-US" sz="3600" b="1">
                <a:solidFill>
                  <a:schemeClr val="tx1"/>
                </a:solidFill>
                <a:latin typeface="Times New Roman" pitchFamily="18" charset="0"/>
                <a:ea typeface="宋体" charset="-122"/>
              </a:rPr>
              <a:t>来保存总和，对于</a:t>
            </a:r>
            <a:r>
              <a:rPr kumimoji="1" lang="en-US" altLang="zh-CN" sz="3600" b="1">
                <a:solidFill>
                  <a:schemeClr val="tx1"/>
                </a:solidFill>
                <a:latin typeface="Times New Roman" pitchFamily="18" charset="0"/>
                <a:ea typeface="宋体" charset="-122"/>
              </a:rPr>
              <a:t>1</a:t>
            </a:r>
            <a:r>
              <a:rPr kumimoji="1" lang="zh-CN" altLang="en-US" sz="3600" b="1">
                <a:solidFill>
                  <a:schemeClr val="tx1"/>
                </a:solidFill>
                <a:latin typeface="Times New Roman" pitchFamily="18" charset="0"/>
                <a:ea typeface="宋体" charset="-122"/>
              </a:rPr>
              <a:t>、</a:t>
            </a:r>
            <a:r>
              <a:rPr kumimoji="1" lang="en-US" altLang="zh-CN" sz="3600" b="1">
                <a:solidFill>
                  <a:schemeClr val="tx1"/>
                </a:solidFill>
                <a:latin typeface="Times New Roman" pitchFamily="18" charset="0"/>
                <a:ea typeface="宋体" charset="-122"/>
              </a:rPr>
              <a:t>2</a:t>
            </a:r>
            <a:r>
              <a:rPr kumimoji="1" lang="zh-CN" altLang="en-US" sz="3600" b="1">
                <a:solidFill>
                  <a:schemeClr val="tx1"/>
                </a:solidFill>
                <a:latin typeface="Times New Roman" pitchFamily="18" charset="0"/>
                <a:ea typeface="宋体" charset="-122"/>
              </a:rPr>
              <a:t>、</a:t>
            </a:r>
            <a:r>
              <a:rPr kumimoji="1" lang="en-US" altLang="zh-CN" sz="3600" b="1">
                <a:solidFill>
                  <a:schemeClr val="tx1"/>
                </a:solidFill>
                <a:latin typeface="Times New Roman" pitchFamily="18" charset="0"/>
                <a:ea typeface="宋体" charset="-122"/>
              </a:rPr>
              <a:t>3</a:t>
            </a:r>
            <a:r>
              <a:rPr kumimoji="1" lang="zh-CN" altLang="en-US" sz="3600" b="1">
                <a:solidFill>
                  <a:schemeClr val="tx1"/>
                </a:solidFill>
                <a:latin typeface="Times New Roman" pitchFamily="18" charset="0"/>
                <a:ea typeface="宋体" charset="-122"/>
              </a:rPr>
              <a:t>、</a:t>
            </a:r>
            <a:r>
              <a:rPr kumimoji="1" lang="en-US" altLang="zh-CN" sz="3600" b="1">
                <a:solidFill>
                  <a:schemeClr val="tx1"/>
                </a:solidFill>
                <a:latin typeface="Times New Roman" pitchFamily="18" charset="0"/>
                <a:ea typeface="宋体" charset="-122"/>
              </a:rPr>
              <a:t>…</a:t>
            </a:r>
            <a:r>
              <a:rPr kumimoji="1" lang="zh-CN" altLang="en-US" sz="3600" b="1">
                <a:solidFill>
                  <a:schemeClr val="tx1"/>
                </a:solidFill>
                <a:latin typeface="Times New Roman" pitchFamily="18" charset="0"/>
                <a:ea typeface="宋体" charset="-122"/>
              </a:rPr>
              <a:t>、</a:t>
            </a:r>
            <a:r>
              <a:rPr kumimoji="1" lang="en-US" altLang="zh-CN" sz="3600" b="1">
                <a:solidFill>
                  <a:schemeClr val="tx1"/>
                </a:solidFill>
                <a:latin typeface="Times New Roman" pitchFamily="18" charset="0"/>
                <a:ea typeface="宋体" charset="-122"/>
              </a:rPr>
              <a:t>100 </a:t>
            </a:r>
            <a:r>
              <a:rPr kumimoji="1" lang="zh-CN" altLang="en-US" sz="3600" b="1">
                <a:solidFill>
                  <a:schemeClr val="tx1"/>
                </a:solidFill>
                <a:latin typeface="Times New Roman" pitchFamily="18" charset="0"/>
                <a:ea typeface="宋体" charset="-122"/>
              </a:rPr>
              <a:t>中的每一个整数 </a:t>
            </a:r>
            <a:r>
              <a:rPr kumimoji="1" lang="en-US" altLang="zh-CN" sz="3600" b="1">
                <a:solidFill>
                  <a:schemeClr val="tx1"/>
                </a:solidFill>
                <a:latin typeface="Times New Roman" pitchFamily="18" charset="0"/>
                <a:ea typeface="宋体" charset="-122"/>
              </a:rPr>
              <a:t>i</a:t>
            </a:r>
            <a:r>
              <a:rPr kumimoji="1" lang="zh-CN" altLang="en-US" sz="3600" b="1">
                <a:solidFill>
                  <a:schemeClr val="tx1"/>
                </a:solidFill>
                <a:latin typeface="Times New Roman" pitchFamily="18" charset="0"/>
                <a:ea typeface="宋体" charset="-122"/>
              </a:rPr>
              <a:t>，依次把它加入到</a:t>
            </a:r>
            <a:r>
              <a:rPr kumimoji="1" lang="en-US" altLang="zh-CN" sz="3600" b="1">
                <a:solidFill>
                  <a:schemeClr val="tx1"/>
                </a:solidFill>
                <a:latin typeface="Times New Roman" pitchFamily="18" charset="0"/>
                <a:ea typeface="宋体" charset="-122"/>
              </a:rPr>
              <a:t>sum</a:t>
            </a:r>
            <a:r>
              <a:rPr kumimoji="1" lang="zh-CN" altLang="en-US" sz="3600" b="1">
                <a:solidFill>
                  <a:schemeClr val="tx1"/>
                </a:solidFill>
                <a:latin typeface="Times New Roman" pitchFamily="18" charset="0"/>
                <a:ea typeface="宋体" charset="-122"/>
              </a:rPr>
              <a:t>当中，即 </a:t>
            </a:r>
            <a:r>
              <a:rPr kumimoji="1" lang="en-US" altLang="zh-CN" sz="3600" b="1">
                <a:solidFill>
                  <a:schemeClr val="tx1"/>
                </a:solidFill>
                <a:latin typeface="Times New Roman" pitchFamily="18" charset="0"/>
                <a:ea typeface="宋体" charset="-122"/>
              </a:rPr>
              <a:t>sum  +=  i</a:t>
            </a:r>
            <a:r>
              <a:rPr kumimoji="1" lang="zh-CN" altLang="en-US" sz="3600" b="1">
                <a:solidFill>
                  <a:schemeClr val="tx1"/>
                </a:solidFill>
                <a:latin typeface="Times New Roman" pitchFamily="18" charset="0"/>
                <a:ea typeface="宋体" charset="-122"/>
                <a:sym typeface="Symbol" pitchFamily="18" charset="2"/>
              </a:rPr>
              <a:t>。</a:t>
            </a:r>
          </a:p>
        </p:txBody>
      </p:sp>
    </p:spTree>
    <p:extLst>
      <p:ext uri="{BB962C8B-B14F-4D97-AF65-F5344CB8AC3E}">
        <p14:creationId xmlns:p14="http://schemas.microsoft.com/office/powerpoint/2010/main" val="212170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dissolve">
                                      <p:cBhvr>
                                        <p:cTn id="7"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参考代码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Rectangle 3"/>
          <p:cNvSpPr>
            <a:spLocks noChangeArrowheads="1"/>
          </p:cNvSpPr>
          <p:nvPr/>
        </p:nvSpPr>
        <p:spPr bwMode="auto">
          <a:xfrm>
            <a:off x="1071593" y="2328244"/>
            <a:ext cx="4672505" cy="252376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spcBef>
                <a:spcPts val="1200"/>
              </a:spcBef>
            </a:pPr>
            <a:r>
              <a:rPr kumimoji="1" lang="en-US" altLang="zh-CN" sz="3200" b="1">
                <a:solidFill>
                  <a:schemeClr val="tx1"/>
                </a:solidFill>
                <a:latin typeface="Times New Roman" pitchFamily="18" charset="0"/>
                <a:ea typeface="宋体" charset="-122"/>
              </a:rPr>
              <a:t>sum = 0;</a:t>
            </a:r>
          </a:p>
          <a:p>
            <a:pPr>
              <a:spcBef>
                <a:spcPts val="1200"/>
              </a:spcBef>
            </a:pPr>
            <a:r>
              <a:rPr kumimoji="1" lang="en-US" altLang="zh-CN" sz="3200" b="1">
                <a:solidFill>
                  <a:schemeClr val="tx1"/>
                </a:solidFill>
                <a:latin typeface="Times New Roman" pitchFamily="18" charset="0"/>
                <a:ea typeface="宋体" charset="-122"/>
              </a:rPr>
              <a:t>for i  in range(1, 101) :</a:t>
            </a:r>
          </a:p>
          <a:p>
            <a:pPr>
              <a:spcBef>
                <a:spcPts val="1200"/>
              </a:spcBef>
            </a:pPr>
            <a:r>
              <a:rPr kumimoji="1" lang="en-US" altLang="zh-CN" sz="3200" b="1">
                <a:solidFill>
                  <a:schemeClr val="tx1"/>
                </a:solidFill>
                <a:latin typeface="Times New Roman" pitchFamily="18" charset="0"/>
                <a:ea typeface="宋体" charset="-122"/>
              </a:rPr>
              <a:t>        sum </a:t>
            </a:r>
            <a:r>
              <a:rPr kumimoji="1" lang="en-US" altLang="zh-CN" sz="3200" b="1">
                <a:solidFill>
                  <a:srgbClr val="0000FF"/>
                </a:solidFill>
                <a:latin typeface="Times New Roman" pitchFamily="18" charset="0"/>
                <a:ea typeface="宋体" charset="-122"/>
              </a:rPr>
              <a:t>+=</a:t>
            </a:r>
            <a:r>
              <a:rPr kumimoji="1" lang="en-US" altLang="zh-CN" sz="3200" b="1">
                <a:solidFill>
                  <a:schemeClr val="tx1"/>
                </a:solidFill>
                <a:latin typeface="Times New Roman" pitchFamily="18" charset="0"/>
                <a:ea typeface="宋体" charset="-122"/>
              </a:rPr>
              <a:t>  </a:t>
            </a:r>
            <a:r>
              <a:rPr kumimoji="1" lang="en-US" altLang="zh-CN" sz="3200" b="1">
                <a:solidFill>
                  <a:srgbClr val="FF0000"/>
                </a:solidFill>
                <a:latin typeface="Times New Roman" pitchFamily="18" charset="0"/>
                <a:ea typeface="宋体" charset="-122"/>
              </a:rPr>
              <a:t>i</a:t>
            </a:r>
          </a:p>
          <a:p>
            <a:pPr>
              <a:spcBef>
                <a:spcPts val="1200"/>
              </a:spcBef>
            </a:pPr>
            <a:r>
              <a:rPr kumimoji="1" lang="en-US" altLang="zh-CN" sz="3200" b="1">
                <a:solidFill>
                  <a:schemeClr val="tx1"/>
                </a:solidFill>
                <a:latin typeface="Times New Roman" pitchFamily="18" charset="0"/>
                <a:ea typeface="宋体" charset="-122"/>
              </a:rPr>
              <a:t>print("sum = </a:t>
            </a:r>
            <a:r>
              <a:rPr kumimoji="1" lang="en-US" altLang="zh-CN" sz="3200" b="1">
                <a:latin typeface="Times New Roman" pitchFamily="18" charset="0"/>
                <a:ea typeface="宋体" charset="-122"/>
              </a:rPr>
              <a:t>"</a:t>
            </a:r>
            <a:r>
              <a:rPr kumimoji="1" lang="en-US" altLang="zh-CN" sz="3200" b="1">
                <a:solidFill>
                  <a:schemeClr val="tx1"/>
                </a:solidFill>
                <a:latin typeface="Times New Roman" pitchFamily="18" charset="0"/>
                <a:ea typeface="宋体" charset="-122"/>
              </a:rPr>
              <a:t>, sum) </a:t>
            </a:r>
          </a:p>
        </p:txBody>
      </p:sp>
      <p:grpSp>
        <p:nvGrpSpPr>
          <p:cNvPr id="11" name="Group 4"/>
          <p:cNvGrpSpPr>
            <a:grpSpLocks/>
          </p:cNvGrpSpPr>
          <p:nvPr/>
        </p:nvGrpSpPr>
        <p:grpSpPr bwMode="auto">
          <a:xfrm>
            <a:off x="8587208" y="1192945"/>
            <a:ext cx="904875" cy="1028700"/>
            <a:chOff x="4540" y="605"/>
            <a:chExt cx="570" cy="648"/>
          </a:xfrm>
        </p:grpSpPr>
        <p:sp>
          <p:nvSpPr>
            <p:cNvPr id="12" name="Rectangle 5"/>
            <p:cNvSpPr>
              <a:spLocks noChangeArrowheads="1"/>
            </p:cNvSpPr>
            <p:nvPr/>
          </p:nvSpPr>
          <p:spPr bwMode="auto">
            <a:xfrm>
              <a:off x="4540" y="605"/>
              <a:ext cx="5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spcBef>
                  <a:spcPct val="50000"/>
                </a:spcBef>
                <a:buFont typeface="Wingdings" pitchFamily="2" charset="2"/>
                <a:buNone/>
              </a:pPr>
              <a:r>
                <a:rPr kumimoji="1" lang="en-US" altLang="zh-CN" sz="2800" b="1">
                  <a:solidFill>
                    <a:schemeClr val="tx1"/>
                  </a:solidFill>
                  <a:latin typeface="Times New Roman" pitchFamily="18" charset="0"/>
                  <a:ea typeface="宋体" charset="-122"/>
                </a:rPr>
                <a:t>sum</a:t>
              </a:r>
            </a:p>
          </p:txBody>
        </p:sp>
        <p:sp>
          <p:nvSpPr>
            <p:cNvPr id="13" name="Rectangle 6"/>
            <p:cNvSpPr>
              <a:spLocks noChangeArrowheads="1"/>
            </p:cNvSpPr>
            <p:nvPr/>
          </p:nvSpPr>
          <p:spPr bwMode="auto">
            <a:xfrm>
              <a:off x="4552" y="920"/>
              <a:ext cx="558" cy="3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eaLnBrk="1" hangingPunct="1">
                <a:spcBef>
                  <a:spcPct val="50000"/>
                </a:spcBef>
                <a:buFont typeface="Wingdings" pitchFamily="2" charset="2"/>
                <a:buNone/>
              </a:pPr>
              <a:r>
                <a:rPr kumimoji="1" lang="en-US" altLang="zh-CN" sz="2800" b="1">
                  <a:solidFill>
                    <a:schemeClr val="tx1"/>
                  </a:solidFill>
                  <a:latin typeface="Times New Roman" pitchFamily="18" charset="0"/>
                  <a:ea typeface="宋体" charset="-122"/>
                </a:rPr>
                <a:t>0</a:t>
              </a:r>
            </a:p>
          </p:txBody>
        </p:sp>
      </p:grpSp>
      <p:sp>
        <p:nvSpPr>
          <p:cNvPr id="14" name="Rectangle 7"/>
          <p:cNvSpPr>
            <a:spLocks noChangeArrowheads="1"/>
          </p:cNvSpPr>
          <p:nvPr/>
        </p:nvSpPr>
        <p:spPr bwMode="auto">
          <a:xfrm>
            <a:off x="7123533" y="2659795"/>
            <a:ext cx="850900" cy="5286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ctr" eaLnBrk="1" hangingPunct="1">
              <a:spcBef>
                <a:spcPct val="50000"/>
              </a:spcBef>
              <a:buFont typeface="Wingdings" pitchFamily="2" charset="2"/>
              <a:buNone/>
            </a:pPr>
            <a:r>
              <a:rPr kumimoji="1" lang="en-US" altLang="zh-CN" sz="2800" b="1">
                <a:solidFill>
                  <a:schemeClr val="tx1"/>
                </a:solidFill>
                <a:latin typeface="Times New Roman" pitchFamily="18" charset="0"/>
                <a:ea typeface="宋体" charset="-122"/>
              </a:rPr>
              <a:t>i = 1</a:t>
            </a:r>
          </a:p>
        </p:txBody>
      </p:sp>
      <p:grpSp>
        <p:nvGrpSpPr>
          <p:cNvPr id="15" name="Group 8"/>
          <p:cNvGrpSpPr>
            <a:grpSpLocks/>
          </p:cNvGrpSpPr>
          <p:nvPr/>
        </p:nvGrpSpPr>
        <p:grpSpPr bwMode="auto">
          <a:xfrm>
            <a:off x="7979196" y="2245458"/>
            <a:ext cx="1536700" cy="1000125"/>
            <a:chOff x="4157" y="1268"/>
            <a:chExt cx="968" cy="630"/>
          </a:xfrm>
        </p:grpSpPr>
        <p:sp>
          <p:nvSpPr>
            <p:cNvPr id="16" name="Rectangle 9"/>
            <p:cNvSpPr>
              <a:spLocks noChangeArrowheads="1"/>
            </p:cNvSpPr>
            <p:nvPr/>
          </p:nvSpPr>
          <p:spPr bwMode="auto">
            <a:xfrm>
              <a:off x="4567" y="1565"/>
              <a:ext cx="558" cy="3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eaLnBrk="1" hangingPunct="1">
                <a:spcBef>
                  <a:spcPct val="50000"/>
                </a:spcBef>
                <a:buFont typeface="Wingdings" pitchFamily="2" charset="2"/>
                <a:buNone/>
              </a:pPr>
              <a:r>
                <a:rPr kumimoji="1" lang="en-US" altLang="zh-CN" sz="2800" b="1">
                  <a:solidFill>
                    <a:schemeClr val="tx1"/>
                  </a:solidFill>
                  <a:latin typeface="Times New Roman" pitchFamily="18" charset="0"/>
                  <a:ea typeface="宋体" charset="-122"/>
                </a:rPr>
                <a:t>1</a:t>
              </a:r>
            </a:p>
          </p:txBody>
        </p:sp>
        <p:sp>
          <p:nvSpPr>
            <p:cNvPr id="17" name="Line 10"/>
            <p:cNvSpPr>
              <a:spLocks noChangeShapeType="1"/>
            </p:cNvSpPr>
            <p:nvPr/>
          </p:nvSpPr>
          <p:spPr bwMode="auto">
            <a:xfrm>
              <a:off x="4826" y="1268"/>
              <a:ext cx="0" cy="28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 name="Line 11"/>
            <p:cNvSpPr>
              <a:spLocks noChangeShapeType="1"/>
            </p:cNvSpPr>
            <p:nvPr/>
          </p:nvSpPr>
          <p:spPr bwMode="auto">
            <a:xfrm>
              <a:off x="4157" y="1708"/>
              <a:ext cx="410"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19" name="Rectangle 12"/>
          <p:cNvSpPr>
            <a:spLocks noChangeArrowheads="1"/>
          </p:cNvSpPr>
          <p:nvPr/>
        </p:nvSpPr>
        <p:spPr bwMode="auto">
          <a:xfrm>
            <a:off x="7118771" y="3740883"/>
            <a:ext cx="850900" cy="5286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ctr" eaLnBrk="1" hangingPunct="1">
              <a:spcBef>
                <a:spcPct val="50000"/>
              </a:spcBef>
              <a:buFont typeface="Wingdings" pitchFamily="2" charset="2"/>
              <a:buNone/>
            </a:pPr>
            <a:r>
              <a:rPr kumimoji="1" lang="en-US" altLang="zh-CN" sz="2800" b="1">
                <a:solidFill>
                  <a:schemeClr val="tx1"/>
                </a:solidFill>
                <a:latin typeface="Times New Roman" pitchFamily="18" charset="0"/>
                <a:ea typeface="宋体" charset="-122"/>
              </a:rPr>
              <a:t>i = 2</a:t>
            </a:r>
          </a:p>
        </p:txBody>
      </p:sp>
      <p:grpSp>
        <p:nvGrpSpPr>
          <p:cNvPr id="20" name="Group 13"/>
          <p:cNvGrpSpPr>
            <a:grpSpLocks/>
          </p:cNvGrpSpPr>
          <p:nvPr/>
        </p:nvGrpSpPr>
        <p:grpSpPr bwMode="auto">
          <a:xfrm>
            <a:off x="7974433" y="3283683"/>
            <a:ext cx="1536700" cy="985837"/>
            <a:chOff x="4154" y="1859"/>
            <a:chExt cx="968" cy="621"/>
          </a:xfrm>
        </p:grpSpPr>
        <p:sp>
          <p:nvSpPr>
            <p:cNvPr id="21" name="Rectangle 14"/>
            <p:cNvSpPr>
              <a:spLocks noChangeArrowheads="1"/>
            </p:cNvSpPr>
            <p:nvPr/>
          </p:nvSpPr>
          <p:spPr bwMode="auto">
            <a:xfrm>
              <a:off x="4564" y="2147"/>
              <a:ext cx="558" cy="3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eaLnBrk="1" hangingPunct="1">
                <a:spcBef>
                  <a:spcPct val="50000"/>
                </a:spcBef>
                <a:buFont typeface="Wingdings" pitchFamily="2" charset="2"/>
                <a:buNone/>
              </a:pPr>
              <a:r>
                <a:rPr kumimoji="1" lang="en-US" altLang="zh-CN" sz="2800" b="1">
                  <a:solidFill>
                    <a:schemeClr val="tx1"/>
                  </a:solidFill>
                  <a:latin typeface="Times New Roman" pitchFamily="18" charset="0"/>
                  <a:ea typeface="宋体" charset="-122"/>
                </a:rPr>
                <a:t>3</a:t>
              </a:r>
            </a:p>
          </p:txBody>
        </p:sp>
        <p:sp>
          <p:nvSpPr>
            <p:cNvPr id="22" name="Line 15"/>
            <p:cNvSpPr>
              <a:spLocks noChangeShapeType="1"/>
            </p:cNvSpPr>
            <p:nvPr/>
          </p:nvSpPr>
          <p:spPr bwMode="auto">
            <a:xfrm>
              <a:off x="4823" y="1859"/>
              <a:ext cx="0" cy="28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3" name="Line 16"/>
            <p:cNvSpPr>
              <a:spLocks noChangeShapeType="1"/>
            </p:cNvSpPr>
            <p:nvPr/>
          </p:nvSpPr>
          <p:spPr bwMode="auto">
            <a:xfrm>
              <a:off x="4154" y="2326"/>
              <a:ext cx="410"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24" name="Group 17"/>
          <p:cNvGrpSpPr>
            <a:grpSpLocks/>
          </p:cNvGrpSpPr>
          <p:nvPr/>
        </p:nvGrpSpPr>
        <p:grpSpPr bwMode="auto">
          <a:xfrm>
            <a:off x="8101433" y="4915633"/>
            <a:ext cx="1595438" cy="1039812"/>
            <a:chOff x="4234" y="2887"/>
            <a:chExt cx="1005" cy="655"/>
          </a:xfrm>
        </p:grpSpPr>
        <p:sp>
          <p:nvSpPr>
            <p:cNvPr id="25" name="Rectangle 18"/>
            <p:cNvSpPr>
              <a:spLocks noChangeArrowheads="1"/>
            </p:cNvSpPr>
            <p:nvPr/>
          </p:nvSpPr>
          <p:spPr bwMode="auto">
            <a:xfrm>
              <a:off x="4564" y="3209"/>
              <a:ext cx="675" cy="3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eaLnBrk="1" hangingPunct="1">
                <a:spcBef>
                  <a:spcPct val="50000"/>
                </a:spcBef>
                <a:buFont typeface="Wingdings" pitchFamily="2" charset="2"/>
                <a:buNone/>
              </a:pPr>
              <a:r>
                <a:rPr kumimoji="1" lang="en-US" altLang="zh-CN" sz="2800" b="1">
                  <a:solidFill>
                    <a:schemeClr val="tx1"/>
                  </a:solidFill>
                  <a:latin typeface="Times New Roman" pitchFamily="18" charset="0"/>
                  <a:ea typeface="宋体" charset="-122"/>
                </a:rPr>
                <a:t>5050</a:t>
              </a:r>
            </a:p>
          </p:txBody>
        </p:sp>
        <p:sp>
          <p:nvSpPr>
            <p:cNvPr id="26" name="Line 19"/>
            <p:cNvSpPr>
              <a:spLocks noChangeShapeType="1"/>
            </p:cNvSpPr>
            <p:nvPr/>
          </p:nvSpPr>
          <p:spPr bwMode="auto">
            <a:xfrm flipH="1">
              <a:off x="4823" y="2887"/>
              <a:ext cx="3" cy="32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7" name="Line 20"/>
            <p:cNvSpPr>
              <a:spLocks noChangeShapeType="1"/>
            </p:cNvSpPr>
            <p:nvPr/>
          </p:nvSpPr>
          <p:spPr bwMode="auto">
            <a:xfrm>
              <a:off x="4234" y="3343"/>
              <a:ext cx="330"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28" name="Rectangle 21"/>
          <p:cNvSpPr>
            <a:spLocks noChangeArrowheads="1"/>
          </p:cNvSpPr>
          <p:nvPr/>
        </p:nvSpPr>
        <p:spPr bwMode="auto">
          <a:xfrm>
            <a:off x="6883821" y="5355370"/>
            <a:ext cx="1206500" cy="5286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ctr" eaLnBrk="1" hangingPunct="1">
              <a:spcBef>
                <a:spcPct val="50000"/>
              </a:spcBef>
              <a:buFont typeface="Wingdings" pitchFamily="2" charset="2"/>
              <a:buNone/>
            </a:pPr>
            <a:r>
              <a:rPr kumimoji="1" lang="en-US" altLang="zh-CN" sz="2800" b="1">
                <a:solidFill>
                  <a:schemeClr val="tx1"/>
                </a:solidFill>
                <a:latin typeface="Times New Roman" pitchFamily="18" charset="0"/>
                <a:ea typeface="宋体" charset="-122"/>
              </a:rPr>
              <a:t>i = 100</a:t>
            </a:r>
          </a:p>
        </p:txBody>
      </p:sp>
      <p:grpSp>
        <p:nvGrpSpPr>
          <p:cNvPr id="29" name="Group 22"/>
          <p:cNvGrpSpPr>
            <a:grpSpLocks/>
          </p:cNvGrpSpPr>
          <p:nvPr/>
        </p:nvGrpSpPr>
        <p:grpSpPr bwMode="auto">
          <a:xfrm>
            <a:off x="8672933" y="4279045"/>
            <a:ext cx="793750" cy="708025"/>
            <a:chOff x="4594" y="2486"/>
            <a:chExt cx="500" cy="446"/>
          </a:xfrm>
        </p:grpSpPr>
        <p:sp>
          <p:nvSpPr>
            <p:cNvPr id="30" name="Line 23"/>
            <p:cNvSpPr>
              <a:spLocks noChangeShapeType="1"/>
            </p:cNvSpPr>
            <p:nvPr/>
          </p:nvSpPr>
          <p:spPr bwMode="auto">
            <a:xfrm>
              <a:off x="4820" y="2486"/>
              <a:ext cx="0" cy="28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1" name="Rectangle 24"/>
            <p:cNvSpPr>
              <a:spLocks noChangeArrowheads="1"/>
            </p:cNvSpPr>
            <p:nvPr/>
          </p:nvSpPr>
          <p:spPr bwMode="auto">
            <a:xfrm>
              <a:off x="4594" y="264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spcBef>
                  <a:spcPct val="50000"/>
                </a:spcBef>
                <a:buFont typeface="Wingdings" pitchFamily="2" charset="2"/>
                <a:buNone/>
              </a:pPr>
              <a:r>
                <a:rPr kumimoji="1" lang="en-US" altLang="zh-CN" sz="2400" b="1">
                  <a:solidFill>
                    <a:schemeClr val="tx1"/>
                  </a:solidFill>
                  <a:latin typeface="Times New Roman" pitchFamily="18" charset="0"/>
                  <a:ea typeface="宋体" charset="-122"/>
                </a:rPr>
                <a:t>……</a:t>
              </a:r>
            </a:p>
          </p:txBody>
        </p:sp>
      </p:grpSp>
      <p:sp>
        <p:nvSpPr>
          <p:cNvPr id="32" name="Text Box 25"/>
          <p:cNvSpPr txBox="1">
            <a:spLocks noChangeArrowheads="1"/>
          </p:cNvSpPr>
          <p:nvPr/>
        </p:nvSpPr>
        <p:spPr bwMode="auto">
          <a:xfrm>
            <a:off x="2176089" y="5418304"/>
            <a:ext cx="2416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50000"/>
              </a:spcBef>
            </a:pPr>
            <a:r>
              <a:rPr kumimoji="1" lang="zh-CN" altLang="en-US" sz="2800" b="1">
                <a:solidFill>
                  <a:srgbClr val="0000FF"/>
                </a:solidFill>
                <a:latin typeface="Times New Roman" pitchFamily="18" charset="0"/>
                <a:ea typeface="宋体" charset="-122"/>
              </a:rPr>
              <a:t>累加编程模式 </a:t>
            </a:r>
          </a:p>
        </p:txBody>
      </p:sp>
    </p:spTree>
    <p:extLst>
      <p:ext uri="{BB962C8B-B14F-4D97-AF65-F5344CB8AC3E}">
        <p14:creationId xmlns:p14="http://schemas.microsoft.com/office/powerpoint/2010/main" val="1682580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0-#ppt_w/2"/>
                                          </p:val>
                                        </p:tav>
                                        <p:tav tm="100000">
                                          <p:val>
                                            <p:strVal val="#ppt_x"/>
                                          </p:val>
                                        </p:tav>
                                      </p:tavLst>
                                    </p:anim>
                                    <p:anim calcmode="lin" valueType="num">
                                      <p:cBhvr additive="base">
                                        <p:cTn id="1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dissolve">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500" fill="hold"/>
                                        <p:tgtEl>
                                          <p:spTgt spid="19"/>
                                        </p:tgtEl>
                                        <p:attrNameLst>
                                          <p:attrName>ppt_x</p:attrName>
                                        </p:attrNameLst>
                                      </p:cBhvr>
                                      <p:tavLst>
                                        <p:tav tm="0">
                                          <p:val>
                                            <p:strVal val="0-#ppt_w/2"/>
                                          </p:val>
                                        </p:tav>
                                        <p:tav tm="100000">
                                          <p:val>
                                            <p:strVal val="#ppt_x"/>
                                          </p:val>
                                        </p:tav>
                                      </p:tavLst>
                                    </p:anim>
                                    <p:anim calcmode="lin" valueType="num">
                                      <p:cBhvr additive="base">
                                        <p:cTn id="25"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dissolv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dissolve">
                                      <p:cBhvr>
                                        <p:cTn id="35" dur="500"/>
                                        <p:tgtEl>
                                          <p:spTgt spid="29"/>
                                        </p:tgtEl>
                                      </p:cBhvr>
                                    </p:animEffect>
                                  </p:childTnLst>
                                </p:cTn>
                              </p:par>
                            </p:childTnLst>
                          </p:cTn>
                        </p:par>
                        <p:par>
                          <p:cTn id="36" fill="hold">
                            <p:stCondLst>
                              <p:cond delay="500"/>
                            </p:stCondLst>
                            <p:childTnLst>
                              <p:par>
                                <p:cTn id="37" presetID="2" presetClass="entr" presetSubtype="8" fill="hold" grpId="0" nodeType="after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fill="hold"/>
                                        <p:tgtEl>
                                          <p:spTgt spid="28"/>
                                        </p:tgtEl>
                                        <p:attrNameLst>
                                          <p:attrName>ppt_x</p:attrName>
                                        </p:attrNameLst>
                                      </p:cBhvr>
                                      <p:tavLst>
                                        <p:tav tm="0">
                                          <p:val>
                                            <p:strVal val="0-#ppt_w/2"/>
                                          </p:val>
                                        </p:tav>
                                        <p:tav tm="100000">
                                          <p:val>
                                            <p:strVal val="#ppt_x"/>
                                          </p:val>
                                        </p:tav>
                                      </p:tavLst>
                                    </p:anim>
                                    <p:anim calcmode="lin" valueType="num">
                                      <p:cBhvr additive="base">
                                        <p:cTn id="40"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dissolve">
                                      <p:cBhvr>
                                        <p:cTn id="45" dur="5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32"/>
                                        </p:tgtEl>
                                        <p:attrNameLst>
                                          <p:attrName>style.visibility</p:attrName>
                                        </p:attrNameLst>
                                      </p:cBhvr>
                                      <p:to>
                                        <p:strVal val="visible"/>
                                      </p:to>
                                    </p:set>
                                    <p:anim calcmode="lin" valueType="num">
                                      <p:cBhvr additive="base">
                                        <p:cTn id="50" dur="500" fill="hold"/>
                                        <p:tgtEl>
                                          <p:spTgt spid="32"/>
                                        </p:tgtEl>
                                        <p:attrNameLst>
                                          <p:attrName>ppt_x</p:attrName>
                                        </p:attrNameLst>
                                      </p:cBhvr>
                                      <p:tavLst>
                                        <p:tav tm="0">
                                          <p:val>
                                            <p:strVal val="#ppt_x"/>
                                          </p:val>
                                        </p:tav>
                                        <p:tav tm="100000">
                                          <p:val>
                                            <p:strVal val="#ppt_x"/>
                                          </p:val>
                                        </p:tav>
                                      </p:tavLst>
                                    </p:anim>
                                    <p:anim calcmode="lin" valueType="num">
                                      <p:cBhvr additive="base">
                                        <p:cTn id="51"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P spid="19" grpId="0" animBg="1" autoUpdateAnimBg="0"/>
      <p:bldP spid="28" grpId="0" animBg="1" autoUpdateAnimBg="0"/>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例题</a:t>
            </a: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3</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：星期几的问题</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4"/>
          <p:cNvSpPr>
            <a:spLocks noChangeArrowheads="1"/>
          </p:cNvSpPr>
          <p:nvPr/>
        </p:nvSpPr>
        <p:spPr bwMode="auto">
          <a:xfrm>
            <a:off x="1051972" y="1468935"/>
            <a:ext cx="9879272"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30000"/>
              </a:spcBef>
            </a:pPr>
            <a:r>
              <a:rPr kumimoji="1" lang="zh-CN" altLang="en-US" sz="2800" b="1">
                <a:solidFill>
                  <a:schemeClr val="tx1"/>
                </a:solidFill>
                <a:latin typeface="Times New Roman" pitchFamily="18" charset="0"/>
                <a:ea typeface="宋体" charset="-122"/>
              </a:rPr>
              <a:t>        </a:t>
            </a:r>
            <a:r>
              <a:rPr kumimoji="1" lang="zh-CN" altLang="en-US" sz="2800" b="1">
                <a:latin typeface="Times New Roman" pitchFamily="18" charset="0"/>
                <a:ea typeface="宋体" charset="-122"/>
              </a:rPr>
              <a:t>编写一个程序，首先输入一个整数</a:t>
            </a:r>
            <a:r>
              <a:rPr kumimoji="1" lang="en-US" altLang="zh-CN" sz="2800" b="1">
                <a:latin typeface="Times New Roman" pitchFamily="18" charset="0"/>
                <a:ea typeface="宋体" charset="-122"/>
              </a:rPr>
              <a:t>N</a:t>
            </a:r>
            <a:r>
              <a:rPr kumimoji="1" lang="zh-CN" altLang="en-US" sz="2800" b="1">
                <a:latin typeface="Times New Roman" pitchFamily="18" charset="0"/>
                <a:ea typeface="宋体" charset="-122"/>
              </a:rPr>
              <a:t>，表示某月的第一天</a:t>
            </a:r>
            <a:endParaRPr kumimoji="1" lang="en-US" altLang="zh-CN" sz="2800" b="1">
              <a:latin typeface="Times New Roman" pitchFamily="18" charset="0"/>
              <a:ea typeface="宋体" charset="-122"/>
            </a:endParaRPr>
          </a:p>
          <a:p>
            <a:pPr>
              <a:spcBef>
                <a:spcPct val="30000"/>
              </a:spcBef>
            </a:pPr>
            <a:r>
              <a:rPr kumimoji="1" lang="zh-CN" altLang="en-US" sz="2800" b="1">
                <a:latin typeface="Times New Roman" pitchFamily="18" charset="0"/>
                <a:ea typeface="宋体" charset="-122"/>
              </a:rPr>
              <a:t>是星期</a:t>
            </a:r>
            <a:r>
              <a:rPr kumimoji="1" lang="en-US" altLang="zh-CN" sz="2800" b="1">
                <a:latin typeface="Times New Roman" pitchFamily="18" charset="0"/>
                <a:ea typeface="宋体" charset="-122"/>
              </a:rPr>
              <a:t>N</a:t>
            </a:r>
            <a:r>
              <a:rPr kumimoji="1" lang="zh-CN" altLang="en-US" sz="2800" b="1">
                <a:latin typeface="Times New Roman" pitchFamily="18" charset="0"/>
                <a:ea typeface="宋体" charset="-122"/>
              </a:rPr>
              <a:t>，再输入两个整数</a:t>
            </a:r>
            <a:r>
              <a:rPr kumimoji="1" lang="en-US" altLang="zh-CN" sz="2800" b="1">
                <a:latin typeface="Times New Roman" pitchFamily="18" charset="0"/>
                <a:ea typeface="宋体" charset="-122"/>
              </a:rPr>
              <a:t>from</a:t>
            </a:r>
            <a:r>
              <a:rPr kumimoji="1" lang="zh-CN" altLang="en-US" sz="2800" b="1">
                <a:latin typeface="Times New Roman" pitchFamily="18" charset="0"/>
                <a:ea typeface="宋体" charset="-122"/>
              </a:rPr>
              <a:t>和</a:t>
            </a:r>
            <a:r>
              <a:rPr kumimoji="1" lang="en-US" altLang="zh-CN" sz="2800" b="1">
                <a:latin typeface="Times New Roman" pitchFamily="18" charset="0"/>
                <a:ea typeface="宋体" charset="-122"/>
              </a:rPr>
              <a:t>to</a:t>
            </a:r>
            <a:r>
              <a:rPr kumimoji="1" lang="zh-CN" altLang="en-US" sz="2800" b="1">
                <a:latin typeface="Times New Roman" pitchFamily="18" charset="0"/>
                <a:ea typeface="宋体" charset="-122"/>
              </a:rPr>
              <a:t>，代表该月的某两天</a:t>
            </a:r>
            <a:endParaRPr kumimoji="1" lang="en-US" altLang="zh-CN" sz="2800" b="1">
              <a:latin typeface="Times New Roman" pitchFamily="18" charset="0"/>
              <a:ea typeface="宋体" charset="-122"/>
            </a:endParaRPr>
          </a:p>
          <a:p>
            <a:pPr>
              <a:spcBef>
                <a:spcPct val="30000"/>
              </a:spcBef>
            </a:pPr>
            <a:r>
              <a:rPr kumimoji="1" lang="zh-CN" altLang="en-US" sz="2800" b="1">
                <a:latin typeface="Times New Roman" pitchFamily="18" charset="0"/>
                <a:ea typeface="宋体" charset="-122"/>
              </a:rPr>
              <a:t>（</a:t>
            </a:r>
            <a:r>
              <a:rPr kumimoji="1" lang="en-US" altLang="zh-CN" sz="2800" b="1">
                <a:latin typeface="Times New Roman" pitchFamily="18" charset="0"/>
                <a:ea typeface="宋体" charset="-122"/>
              </a:rPr>
              <a:t>from &lt;= to</a:t>
            </a:r>
            <a:r>
              <a:rPr kumimoji="1" lang="zh-CN" altLang="en-US" sz="2800" b="1">
                <a:latin typeface="Times New Roman" pitchFamily="18" charset="0"/>
                <a:ea typeface="宋体" charset="-122"/>
              </a:rPr>
              <a:t>），然后程序将统计出，从</a:t>
            </a:r>
            <a:r>
              <a:rPr kumimoji="1" lang="en-US" altLang="zh-CN" sz="2800" b="1">
                <a:latin typeface="Times New Roman" pitchFamily="18" charset="0"/>
                <a:ea typeface="宋体" charset="-122"/>
              </a:rPr>
              <a:t>from</a:t>
            </a:r>
            <a:r>
              <a:rPr kumimoji="1" lang="zh-CN" altLang="en-US" sz="2800" b="1">
                <a:latin typeface="Times New Roman" pitchFamily="18" charset="0"/>
                <a:ea typeface="宋体" charset="-122"/>
              </a:rPr>
              <a:t>到</a:t>
            </a:r>
            <a:r>
              <a:rPr kumimoji="1" lang="en-US" altLang="zh-CN" sz="2800" b="1">
                <a:latin typeface="Times New Roman" pitchFamily="18" charset="0"/>
                <a:ea typeface="宋体" charset="-122"/>
              </a:rPr>
              <a:t>to</a:t>
            </a:r>
            <a:r>
              <a:rPr kumimoji="1" lang="zh-CN" altLang="en-US" sz="2800" b="1">
                <a:latin typeface="Times New Roman" pitchFamily="18" charset="0"/>
                <a:ea typeface="宋体" charset="-122"/>
              </a:rPr>
              <a:t>之间，有多</a:t>
            </a:r>
            <a:endParaRPr kumimoji="1" lang="en-US" altLang="zh-CN" sz="2800" b="1">
              <a:latin typeface="Times New Roman" pitchFamily="18" charset="0"/>
              <a:ea typeface="宋体" charset="-122"/>
            </a:endParaRPr>
          </a:p>
          <a:p>
            <a:pPr>
              <a:spcBef>
                <a:spcPct val="30000"/>
              </a:spcBef>
            </a:pPr>
            <a:r>
              <a:rPr kumimoji="1" lang="zh-CN" altLang="en-US" sz="2800" b="1">
                <a:latin typeface="Times New Roman" pitchFamily="18" charset="0"/>
                <a:ea typeface="宋体" charset="-122"/>
              </a:rPr>
              <a:t>少天也是星期</a:t>
            </a:r>
            <a:r>
              <a:rPr kumimoji="1" lang="en-US" altLang="zh-CN" sz="2800" b="1">
                <a:latin typeface="Times New Roman" pitchFamily="18" charset="0"/>
                <a:ea typeface="宋体" charset="-122"/>
              </a:rPr>
              <a:t>N</a:t>
            </a:r>
            <a:r>
              <a:rPr kumimoji="1" lang="zh-CN" altLang="en-US" sz="2800" b="1">
                <a:latin typeface="Times New Roman" pitchFamily="18" charset="0"/>
                <a:ea typeface="宋体" charset="-122"/>
              </a:rPr>
              <a:t>。</a:t>
            </a:r>
          </a:p>
          <a:p>
            <a:pPr>
              <a:spcBef>
                <a:spcPct val="30000"/>
              </a:spcBef>
            </a:pPr>
            <a:r>
              <a:rPr kumimoji="1" lang="zh-CN" altLang="en-US" sz="2800" b="1">
                <a:latin typeface="Times New Roman" pitchFamily="18" charset="0"/>
                <a:ea typeface="宋体" charset="-122"/>
              </a:rPr>
              <a:t>        例如，假设</a:t>
            </a:r>
            <a:r>
              <a:rPr kumimoji="1" lang="en-US" altLang="zh-CN" sz="2800" b="1">
                <a:latin typeface="Times New Roman" pitchFamily="18" charset="0"/>
                <a:ea typeface="宋体" charset="-122"/>
              </a:rPr>
              <a:t>10</a:t>
            </a:r>
            <a:r>
              <a:rPr kumimoji="1" lang="zh-CN" altLang="en-US" sz="2800" b="1">
                <a:latin typeface="Times New Roman" pitchFamily="18" charset="0"/>
                <a:ea typeface="宋体" charset="-122"/>
              </a:rPr>
              <a:t>月</a:t>
            </a:r>
            <a:r>
              <a:rPr kumimoji="1" lang="en-US" altLang="zh-CN" sz="2800" b="1">
                <a:latin typeface="Times New Roman" pitchFamily="18" charset="0"/>
                <a:ea typeface="宋体" charset="-122"/>
              </a:rPr>
              <a:t>1</a:t>
            </a:r>
            <a:r>
              <a:rPr kumimoji="1" lang="zh-CN" altLang="en-US" sz="2800" b="1">
                <a:latin typeface="Times New Roman" pitchFamily="18" charset="0"/>
                <a:ea typeface="宋体" charset="-122"/>
              </a:rPr>
              <a:t>日是星期三，以下是程序的一次运行过</a:t>
            </a:r>
            <a:endParaRPr kumimoji="1" lang="en-US" altLang="zh-CN" sz="2800" b="1">
              <a:latin typeface="Times New Roman" pitchFamily="18" charset="0"/>
              <a:ea typeface="宋体" charset="-122"/>
            </a:endParaRPr>
          </a:p>
          <a:p>
            <a:pPr>
              <a:spcBef>
                <a:spcPct val="30000"/>
              </a:spcBef>
            </a:pPr>
            <a:r>
              <a:rPr kumimoji="1" lang="zh-CN" altLang="en-US" sz="2800" b="1">
                <a:latin typeface="Times New Roman" pitchFamily="18" charset="0"/>
                <a:ea typeface="宋体" charset="-122"/>
              </a:rPr>
              <a:t>程：</a:t>
            </a:r>
            <a:endParaRPr kumimoji="1" lang="zh-CN" altLang="en-US" sz="2800" b="1">
              <a:solidFill>
                <a:schemeClr val="tx1"/>
              </a:solidFill>
              <a:latin typeface="Times New Roman" pitchFamily="18" charset="0"/>
              <a:ea typeface="宋体" charset="-122"/>
            </a:endParaRPr>
          </a:p>
        </p:txBody>
      </p:sp>
      <p:sp>
        <p:nvSpPr>
          <p:cNvPr id="10" name="Rectangle 5"/>
          <p:cNvSpPr>
            <a:spLocks noChangeArrowheads="1"/>
          </p:cNvSpPr>
          <p:nvPr/>
        </p:nvSpPr>
        <p:spPr bwMode="auto">
          <a:xfrm>
            <a:off x="3375501" y="4591597"/>
            <a:ext cx="5021263" cy="1382712"/>
          </a:xfrm>
          <a:prstGeom prst="rect">
            <a:avLst/>
          </a:prstGeom>
          <a:solidFill>
            <a:srgbClr val="000000"/>
          </a:solidFill>
          <a:ln w="9525">
            <a:solidFill>
              <a:srgbClr val="FFFFFF"/>
            </a:solidFill>
            <a:miter lim="800000"/>
            <a:headEnd/>
            <a:tailEnd/>
          </a:ln>
        </p:spPr>
        <p:txBody>
          <a:bodyPr>
            <a:spAutoFit/>
          </a:bodyPr>
          <a:lstStyle/>
          <a:p>
            <a:pPr eaLnBrk="1" hangingPunct="1"/>
            <a:r>
              <a:rPr kumimoji="1" lang="zh-CN" altLang="zh-CN" sz="2800" b="1">
                <a:solidFill>
                  <a:srgbClr val="FFFFFF"/>
                </a:solidFill>
                <a:latin typeface="Times New Roman" pitchFamily="18" charset="0"/>
                <a:ea typeface="宋体" charset="-122"/>
              </a:rPr>
              <a:t>3</a:t>
            </a:r>
          </a:p>
          <a:p>
            <a:pPr eaLnBrk="1" hangingPunct="1"/>
            <a:r>
              <a:rPr kumimoji="1" lang="zh-CN" altLang="zh-CN" sz="2800" b="1">
                <a:solidFill>
                  <a:srgbClr val="FFFFFF"/>
                </a:solidFill>
                <a:latin typeface="Times New Roman" pitchFamily="18" charset="0"/>
                <a:ea typeface="宋体" charset="-122"/>
              </a:rPr>
              <a:t>1 </a:t>
            </a:r>
            <a:r>
              <a:rPr kumimoji="1" lang="en-US" altLang="zh-CN" sz="2800" b="1">
                <a:solidFill>
                  <a:srgbClr val="FFFFFF"/>
                </a:solidFill>
                <a:latin typeface="Times New Roman" pitchFamily="18" charset="0"/>
                <a:ea typeface="宋体" charset="-122"/>
              </a:rPr>
              <a:t> </a:t>
            </a:r>
            <a:r>
              <a:rPr kumimoji="1" lang="zh-CN" altLang="zh-CN" sz="2800" b="1">
                <a:solidFill>
                  <a:srgbClr val="FFFFFF"/>
                </a:solidFill>
                <a:latin typeface="Times New Roman" pitchFamily="18" charset="0"/>
                <a:ea typeface="宋体" charset="-122"/>
              </a:rPr>
              <a:t>31</a:t>
            </a:r>
          </a:p>
          <a:p>
            <a:pPr eaLnBrk="1" hangingPunct="1"/>
            <a:r>
              <a:rPr kumimoji="1" lang="zh-CN" altLang="zh-CN" sz="2800" b="1">
                <a:solidFill>
                  <a:srgbClr val="FFFFFF"/>
                </a:solidFill>
                <a:latin typeface="Times New Roman" pitchFamily="18" charset="0"/>
                <a:ea typeface="宋体" charset="-122"/>
              </a:rPr>
              <a:t>从1号到31号，共有5个星期3。</a:t>
            </a:r>
          </a:p>
        </p:txBody>
      </p:sp>
    </p:spTree>
    <p:extLst>
      <p:ext uri="{BB962C8B-B14F-4D97-AF65-F5344CB8AC3E}">
        <p14:creationId xmlns:p14="http://schemas.microsoft.com/office/powerpoint/2010/main" val="279586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Effect transition="in" filter="dissolve">
                                      <p:cBhvr>
                                        <p:cTn id="7" dur="500"/>
                                        <p:tgtEl>
                                          <p:spTgt spid="10">
                                            <p:bg/>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dissolve">
                                      <p:cBhvr>
                                        <p:cTn id="11" dur="500"/>
                                        <p:tgtEl>
                                          <p:spTgt spid="10">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0">
                                            <p:txEl>
                                              <p:pRg st="1" end="1"/>
                                            </p:txEl>
                                          </p:spTgt>
                                        </p:tgtEl>
                                        <p:attrNameLst>
                                          <p:attrName>style.visibility</p:attrName>
                                        </p:attrNameLst>
                                      </p:cBhvr>
                                      <p:to>
                                        <p:strVal val="visible"/>
                                      </p:to>
                                    </p:set>
                                    <p:animEffect transition="in" filter="dissolve">
                                      <p:cBhvr>
                                        <p:cTn id="16" dur="500"/>
                                        <p:tgtEl>
                                          <p:spTgt spid="10">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Effect transition="in" filter="dissolve">
                                      <p:cBhvr>
                                        <p:cTn id="21"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基本思路</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Text Box 3"/>
          <p:cNvSpPr txBox="1">
            <a:spLocks noChangeArrowheads="1"/>
          </p:cNvSpPr>
          <p:nvPr/>
        </p:nvSpPr>
        <p:spPr bwMode="auto">
          <a:xfrm>
            <a:off x="1818212" y="1342616"/>
            <a:ext cx="7518400"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r>
              <a:rPr lang="en-US" altLang="zh-CN" b="1">
                <a:solidFill>
                  <a:schemeClr val="tx1"/>
                </a:solidFill>
                <a:latin typeface="Courier New" pitchFamily="49" charset="0"/>
                <a:ea typeface="宋体" charset="-122"/>
              </a:rPr>
              <a:t>1  2  3  4  5  6  7  8  9  10 </a:t>
            </a:r>
          </a:p>
          <a:p>
            <a:pPr eaLnBrk="1" hangingPunct="1">
              <a:spcBef>
                <a:spcPct val="50000"/>
              </a:spcBef>
            </a:pPr>
            <a:r>
              <a:rPr lang="en-US" altLang="zh-CN" b="1">
                <a:solidFill>
                  <a:schemeClr val="tx1"/>
                </a:solidFill>
                <a:latin typeface="Courier New" pitchFamily="49" charset="0"/>
                <a:ea typeface="宋体" charset="-122"/>
              </a:rPr>
              <a:t>11 12 13 14 15 16 17 18 19 20</a:t>
            </a:r>
          </a:p>
          <a:p>
            <a:pPr eaLnBrk="1" hangingPunct="1">
              <a:spcBef>
                <a:spcPct val="50000"/>
              </a:spcBef>
            </a:pPr>
            <a:r>
              <a:rPr lang="en-US" altLang="zh-CN" b="1">
                <a:solidFill>
                  <a:schemeClr val="tx1"/>
                </a:solidFill>
                <a:latin typeface="Courier New" pitchFamily="49" charset="0"/>
                <a:ea typeface="宋体" charset="-122"/>
              </a:rPr>
              <a:t>21 22 23 24 25 26 27 28 29 30</a:t>
            </a:r>
          </a:p>
          <a:p>
            <a:pPr eaLnBrk="1" hangingPunct="1">
              <a:spcBef>
                <a:spcPct val="50000"/>
              </a:spcBef>
            </a:pPr>
            <a:r>
              <a:rPr lang="en-US" altLang="zh-CN" b="1">
                <a:solidFill>
                  <a:schemeClr val="tx1"/>
                </a:solidFill>
                <a:latin typeface="Courier New" pitchFamily="49" charset="0"/>
                <a:ea typeface="宋体" charset="-122"/>
              </a:rPr>
              <a:t>31 </a:t>
            </a:r>
          </a:p>
        </p:txBody>
      </p:sp>
      <p:sp>
        <p:nvSpPr>
          <p:cNvPr id="11" name="Oval 4"/>
          <p:cNvSpPr>
            <a:spLocks noChangeArrowheads="1"/>
          </p:cNvSpPr>
          <p:nvPr/>
        </p:nvSpPr>
        <p:spPr bwMode="auto">
          <a:xfrm>
            <a:off x="1716612" y="1298166"/>
            <a:ext cx="609600" cy="609600"/>
          </a:xfrm>
          <a:prstGeom prst="ellipse">
            <a:avLst/>
          </a:prstGeom>
          <a:noFill/>
          <a:ln w="50800">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a:ea typeface="宋体" charset="-122"/>
            </a:endParaRPr>
          </a:p>
        </p:txBody>
      </p:sp>
      <p:sp>
        <p:nvSpPr>
          <p:cNvPr id="12" name="Oval 5"/>
          <p:cNvSpPr>
            <a:spLocks noChangeArrowheads="1"/>
          </p:cNvSpPr>
          <p:nvPr/>
        </p:nvSpPr>
        <p:spPr bwMode="auto">
          <a:xfrm>
            <a:off x="6822012" y="1298166"/>
            <a:ext cx="609600" cy="609600"/>
          </a:xfrm>
          <a:prstGeom prst="ellipse">
            <a:avLst/>
          </a:prstGeom>
          <a:noFill/>
          <a:ln w="50800">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a:ea typeface="宋体" charset="-122"/>
            </a:endParaRPr>
          </a:p>
        </p:txBody>
      </p:sp>
      <p:sp>
        <p:nvSpPr>
          <p:cNvPr id="13" name="Oval 6"/>
          <p:cNvSpPr>
            <a:spLocks noChangeArrowheads="1"/>
          </p:cNvSpPr>
          <p:nvPr/>
        </p:nvSpPr>
        <p:spPr bwMode="auto">
          <a:xfrm>
            <a:off x="4764612" y="2060166"/>
            <a:ext cx="609600" cy="609600"/>
          </a:xfrm>
          <a:prstGeom prst="ellipse">
            <a:avLst/>
          </a:prstGeom>
          <a:noFill/>
          <a:ln w="50800">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a:ea typeface="宋体" charset="-122"/>
            </a:endParaRPr>
          </a:p>
        </p:txBody>
      </p:sp>
      <p:sp>
        <p:nvSpPr>
          <p:cNvPr id="14" name="Oval 7"/>
          <p:cNvSpPr>
            <a:spLocks noChangeArrowheads="1"/>
          </p:cNvSpPr>
          <p:nvPr/>
        </p:nvSpPr>
        <p:spPr bwMode="auto">
          <a:xfrm>
            <a:off x="2554812" y="2745966"/>
            <a:ext cx="609600" cy="609600"/>
          </a:xfrm>
          <a:prstGeom prst="ellipse">
            <a:avLst/>
          </a:prstGeom>
          <a:noFill/>
          <a:ln w="50800">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a:ea typeface="宋体" charset="-122"/>
            </a:endParaRPr>
          </a:p>
        </p:txBody>
      </p:sp>
      <p:sp>
        <p:nvSpPr>
          <p:cNvPr id="15" name="Oval 8"/>
          <p:cNvSpPr>
            <a:spLocks noChangeArrowheads="1"/>
          </p:cNvSpPr>
          <p:nvPr/>
        </p:nvSpPr>
        <p:spPr bwMode="auto">
          <a:xfrm>
            <a:off x="7736412" y="2745966"/>
            <a:ext cx="609600" cy="609600"/>
          </a:xfrm>
          <a:prstGeom prst="ellipse">
            <a:avLst/>
          </a:prstGeom>
          <a:noFill/>
          <a:ln w="50800">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a:ea typeface="宋体" charset="-122"/>
            </a:endParaRPr>
          </a:p>
        </p:txBody>
      </p:sp>
      <p:sp>
        <p:nvSpPr>
          <p:cNvPr id="16" name="Text Box 9"/>
          <p:cNvSpPr txBox="1">
            <a:spLocks noChangeArrowheads="1"/>
          </p:cNvSpPr>
          <p:nvPr/>
        </p:nvSpPr>
        <p:spPr bwMode="auto">
          <a:xfrm>
            <a:off x="1816625" y="4346166"/>
            <a:ext cx="7977187"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20000"/>
              </a:spcBef>
              <a:buFont typeface="Wingdings" pitchFamily="2" charset="2"/>
              <a:buAutoNum type="arabicPeriod"/>
            </a:pPr>
            <a:r>
              <a:rPr kumimoji="1" lang="zh-CN" altLang="en-US" sz="2800" b="1">
                <a:solidFill>
                  <a:schemeClr val="tx1"/>
                </a:solidFill>
                <a:latin typeface="Times New Roman" pitchFamily="18" charset="0"/>
                <a:ea typeface="楷体_GB2312" pitchFamily="49" charset="-122"/>
              </a:rPr>
              <a:t>星期</a:t>
            </a:r>
            <a:r>
              <a:rPr kumimoji="1" lang="en-US" altLang="zh-CN" sz="2800" b="1">
                <a:solidFill>
                  <a:schemeClr val="tx1"/>
                </a:solidFill>
                <a:latin typeface="Times New Roman" pitchFamily="18" charset="0"/>
                <a:ea typeface="楷体_GB2312" pitchFamily="49" charset="-122"/>
              </a:rPr>
              <a:t>N</a:t>
            </a:r>
            <a:r>
              <a:rPr kumimoji="1" lang="zh-CN" altLang="en-US" sz="2800" b="1">
                <a:solidFill>
                  <a:schemeClr val="tx1"/>
                </a:solidFill>
                <a:latin typeface="Times New Roman" pitchFamily="18" charset="0"/>
                <a:ea typeface="楷体_GB2312" pitchFamily="49" charset="-122"/>
              </a:rPr>
              <a:t>只出现在红色圆圈内；</a:t>
            </a:r>
          </a:p>
          <a:p>
            <a:pPr eaLnBrk="1" hangingPunct="1">
              <a:spcBef>
                <a:spcPct val="20000"/>
              </a:spcBef>
              <a:buFont typeface="Wingdings" pitchFamily="2" charset="2"/>
              <a:buAutoNum type="arabicPeriod"/>
            </a:pPr>
            <a:r>
              <a:rPr kumimoji="1" lang="zh-CN" altLang="en-US" sz="2800" b="1">
                <a:solidFill>
                  <a:schemeClr val="tx1"/>
                </a:solidFill>
                <a:latin typeface="Times New Roman" pitchFamily="18" charset="0"/>
                <a:ea typeface="楷体_GB2312" pitchFamily="49" charset="-122"/>
              </a:rPr>
              <a:t>需要统计</a:t>
            </a:r>
            <a:r>
              <a:rPr kumimoji="1" lang="en-US" altLang="zh-CN" sz="2800" b="1">
                <a:solidFill>
                  <a:schemeClr val="tx1"/>
                </a:solidFill>
                <a:latin typeface="Times New Roman" pitchFamily="18" charset="0"/>
                <a:ea typeface="楷体_GB2312" pitchFamily="49" charset="-122"/>
              </a:rPr>
              <a:t>from</a:t>
            </a:r>
            <a:r>
              <a:rPr kumimoji="1" lang="zh-CN" altLang="en-US" sz="2800" b="1">
                <a:solidFill>
                  <a:schemeClr val="tx1"/>
                </a:solidFill>
                <a:latin typeface="Times New Roman" pitchFamily="18" charset="0"/>
                <a:ea typeface="楷体_GB2312" pitchFamily="49" charset="-122"/>
              </a:rPr>
              <a:t>到</a:t>
            </a:r>
            <a:r>
              <a:rPr kumimoji="1" lang="en-US" altLang="zh-CN" sz="2800" b="1">
                <a:solidFill>
                  <a:schemeClr val="tx1"/>
                </a:solidFill>
                <a:latin typeface="Times New Roman" pitchFamily="18" charset="0"/>
                <a:ea typeface="楷体_GB2312" pitchFamily="49" charset="-122"/>
              </a:rPr>
              <a:t>to</a:t>
            </a:r>
            <a:r>
              <a:rPr kumimoji="1" lang="zh-CN" altLang="en-US" sz="2800" b="1">
                <a:solidFill>
                  <a:schemeClr val="tx1"/>
                </a:solidFill>
                <a:latin typeface="Times New Roman" pitchFamily="18" charset="0"/>
                <a:ea typeface="楷体_GB2312" pitchFamily="49" charset="-122"/>
              </a:rPr>
              <a:t>之间，</a:t>
            </a:r>
            <a:r>
              <a:rPr kumimoji="1" lang="zh-CN" altLang="en-US" sz="2800" b="1">
                <a:solidFill>
                  <a:srgbClr val="0000FF"/>
                </a:solidFill>
                <a:latin typeface="Times New Roman" pitchFamily="18" charset="0"/>
                <a:ea typeface="楷体_GB2312" pitchFamily="49" charset="-122"/>
              </a:rPr>
              <a:t>有多少个红色圆圈</a:t>
            </a:r>
            <a:r>
              <a:rPr kumimoji="1" lang="zh-CN" altLang="en-US" sz="2800" b="1">
                <a:solidFill>
                  <a:schemeClr val="tx1"/>
                </a:solidFill>
                <a:latin typeface="Times New Roman" pitchFamily="18" charset="0"/>
                <a:ea typeface="宋体" charset="-122"/>
              </a:rPr>
              <a:t>；</a:t>
            </a:r>
          </a:p>
          <a:p>
            <a:pPr eaLnBrk="1" hangingPunct="1">
              <a:spcBef>
                <a:spcPct val="20000"/>
              </a:spcBef>
              <a:buFont typeface="Wingdings" pitchFamily="2" charset="2"/>
              <a:buAutoNum type="arabicPeriod"/>
            </a:pPr>
            <a:r>
              <a:rPr kumimoji="1" lang="zh-CN" altLang="en-US" sz="2800" b="1">
                <a:solidFill>
                  <a:schemeClr val="tx1"/>
                </a:solidFill>
                <a:latin typeface="Times New Roman" pitchFamily="18" charset="0"/>
                <a:ea typeface="楷体_GB2312" pitchFamily="49" charset="-122"/>
              </a:rPr>
              <a:t>统计圆圈个数，就是累加编程模式。</a:t>
            </a:r>
          </a:p>
        </p:txBody>
      </p:sp>
    </p:spTree>
    <p:extLst>
      <p:ext uri="{BB962C8B-B14F-4D97-AF65-F5344CB8AC3E}">
        <p14:creationId xmlns:p14="http://schemas.microsoft.com/office/powerpoint/2010/main" val="3568578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1+#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1+#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3" presetClass="entr" presetSubtype="10" fill="hold" grpId="0" nodeType="afterEffect">
                                  <p:stCondLst>
                                    <p:cond delay="0"/>
                                  </p:stCondLst>
                                  <p:childTnLst>
                                    <p:set>
                                      <p:cBhvr>
                                        <p:cTn id="29" dur="1" fill="hold">
                                          <p:stCondLst>
                                            <p:cond delay="0"/>
                                          </p:stCondLst>
                                        </p:cTn>
                                        <p:tgtEl>
                                          <p:spTgt spid="16">
                                            <p:txEl>
                                              <p:pRg st="0" end="0"/>
                                            </p:txEl>
                                          </p:spTgt>
                                        </p:tgtEl>
                                        <p:attrNameLst>
                                          <p:attrName>style.visibility</p:attrName>
                                        </p:attrNameLst>
                                      </p:cBhvr>
                                      <p:to>
                                        <p:strVal val="visible"/>
                                      </p:to>
                                    </p:set>
                                    <p:animEffect transition="in" filter="blinds(horizontal)">
                                      <p:cBhvr>
                                        <p:cTn id="30" dur="500"/>
                                        <p:tgtEl>
                                          <p:spTgt spid="16">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6">
                                            <p:txEl>
                                              <p:pRg st="1" end="1"/>
                                            </p:txEl>
                                          </p:spTgt>
                                        </p:tgtEl>
                                        <p:attrNameLst>
                                          <p:attrName>style.visibility</p:attrName>
                                        </p:attrNameLst>
                                      </p:cBhvr>
                                      <p:to>
                                        <p:strVal val="visible"/>
                                      </p:to>
                                    </p:set>
                                    <p:animEffect transition="in" filter="blinds(horizontal)">
                                      <p:cBhvr>
                                        <p:cTn id="35" dur="500"/>
                                        <p:tgtEl>
                                          <p:spTgt spid="16">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6">
                                            <p:txEl>
                                              <p:pRg st="2" end="2"/>
                                            </p:txEl>
                                          </p:spTgt>
                                        </p:tgtEl>
                                        <p:attrNameLst>
                                          <p:attrName>style.visibility</p:attrName>
                                        </p:attrNameLst>
                                      </p:cBhvr>
                                      <p:to>
                                        <p:strVal val="visible"/>
                                      </p:to>
                                    </p:set>
                                    <p:animEffect transition="in" filter="blinds(horizontal)">
                                      <p:cBhvr>
                                        <p:cTn id="40"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参考代码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33" name="Rectangle 3"/>
          <p:cNvSpPr>
            <a:spLocks noChangeArrowheads="1"/>
          </p:cNvSpPr>
          <p:nvPr/>
        </p:nvSpPr>
        <p:spPr bwMode="auto">
          <a:xfrm>
            <a:off x="535784" y="1223969"/>
            <a:ext cx="11208544" cy="4832092"/>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r>
              <a:rPr kumimoji="1" lang="en-US" altLang="zh-CN" sz="3200" b="1" dirty="0">
                <a:solidFill>
                  <a:schemeClr val="tx1"/>
                </a:solidFill>
                <a:latin typeface="Courier New" pitchFamily="49" charset="0"/>
                <a:ea typeface="宋体" charset="-122"/>
              </a:rPr>
              <a:t>N = int(input())</a:t>
            </a:r>
          </a:p>
          <a:p>
            <a:r>
              <a:rPr kumimoji="1" lang="en-US" altLang="zh-CN" sz="3200" b="1" dirty="0" err="1">
                <a:latin typeface="Courier New" pitchFamily="49" charset="0"/>
                <a:ea typeface="宋体" charset="-122"/>
              </a:rPr>
              <a:t>arr</a:t>
            </a:r>
            <a:r>
              <a:rPr kumimoji="1" lang="en-US" altLang="zh-CN" sz="3200" b="1" dirty="0">
                <a:latin typeface="Courier New" pitchFamily="49" charset="0"/>
                <a:ea typeface="宋体" charset="-122"/>
              </a:rPr>
              <a:t> = </a:t>
            </a:r>
            <a:r>
              <a:rPr kumimoji="1" lang="en-US" altLang="zh-CN" sz="3200" b="1" dirty="0">
                <a:solidFill>
                  <a:schemeClr val="tx1"/>
                </a:solidFill>
                <a:latin typeface="Courier New" pitchFamily="49" charset="0"/>
                <a:ea typeface="宋体" charset="-122"/>
              </a:rPr>
              <a:t>input()</a:t>
            </a:r>
            <a:r>
              <a:rPr kumimoji="1" lang="en-US" altLang="zh-CN" sz="3200" b="1" dirty="0">
                <a:latin typeface="Courier New" pitchFamily="49" charset="0"/>
                <a:ea typeface="宋体" charset="-122"/>
              </a:rPr>
              <a:t>.split()</a:t>
            </a:r>
            <a:endParaRPr kumimoji="1" lang="en-US" altLang="zh-CN" sz="3200" b="1" dirty="0">
              <a:solidFill>
                <a:schemeClr val="tx1"/>
              </a:solidFill>
              <a:latin typeface="Courier New" pitchFamily="49" charset="0"/>
              <a:ea typeface="宋体" charset="-122"/>
            </a:endParaRPr>
          </a:p>
          <a:p>
            <a:pPr eaLnBrk="1" hangingPunct="1"/>
            <a:r>
              <a:rPr kumimoji="1" lang="en-US" altLang="zh-CN" sz="3200" b="1" dirty="0">
                <a:solidFill>
                  <a:schemeClr val="tx1"/>
                </a:solidFill>
                <a:latin typeface="Courier New" pitchFamily="49" charset="0"/>
                <a:ea typeface="宋体" charset="-122"/>
              </a:rPr>
              <a:t>From = int(</a:t>
            </a:r>
            <a:r>
              <a:rPr kumimoji="1" lang="en-US" altLang="zh-CN" sz="3200" b="1" dirty="0" err="1">
                <a:solidFill>
                  <a:schemeClr val="tx1"/>
                </a:solidFill>
                <a:latin typeface="Courier New" pitchFamily="49" charset="0"/>
                <a:ea typeface="宋体" charset="-122"/>
              </a:rPr>
              <a:t>arr</a:t>
            </a:r>
            <a:r>
              <a:rPr kumimoji="1" lang="en-US" altLang="zh-CN" sz="3200" b="1" dirty="0">
                <a:solidFill>
                  <a:schemeClr val="tx1"/>
                </a:solidFill>
                <a:latin typeface="Courier New" pitchFamily="49" charset="0"/>
                <a:ea typeface="宋体" charset="-122"/>
              </a:rPr>
              <a:t>[0])</a:t>
            </a:r>
          </a:p>
          <a:p>
            <a:pPr eaLnBrk="1" hangingPunct="1"/>
            <a:r>
              <a:rPr kumimoji="1" lang="en-US" altLang="zh-CN" sz="3200" b="1" dirty="0">
                <a:solidFill>
                  <a:schemeClr val="tx1"/>
                </a:solidFill>
                <a:latin typeface="Courier New" pitchFamily="49" charset="0"/>
                <a:ea typeface="宋体" charset="-122"/>
              </a:rPr>
              <a:t>To = int(</a:t>
            </a:r>
            <a:r>
              <a:rPr kumimoji="1" lang="en-US" altLang="zh-CN" sz="3200" b="1" dirty="0" err="1">
                <a:solidFill>
                  <a:schemeClr val="tx1"/>
                </a:solidFill>
                <a:latin typeface="Courier New" pitchFamily="49" charset="0"/>
                <a:ea typeface="宋体" charset="-122"/>
              </a:rPr>
              <a:t>arr</a:t>
            </a:r>
            <a:r>
              <a:rPr kumimoji="1" lang="en-US" altLang="zh-CN" sz="3200" b="1" dirty="0">
                <a:solidFill>
                  <a:schemeClr val="tx1"/>
                </a:solidFill>
                <a:latin typeface="Courier New" pitchFamily="49" charset="0"/>
                <a:ea typeface="宋体" charset="-122"/>
              </a:rPr>
              <a:t>[1])</a:t>
            </a:r>
          </a:p>
          <a:p>
            <a:pPr eaLnBrk="1" hangingPunct="1"/>
            <a:r>
              <a:rPr kumimoji="1" lang="en-US" altLang="zh-CN" sz="3200" b="1" dirty="0">
                <a:solidFill>
                  <a:schemeClr val="tx1"/>
                </a:solidFill>
                <a:latin typeface="Courier New" pitchFamily="49" charset="0"/>
                <a:ea typeface="宋体" charset="-122"/>
              </a:rPr>
              <a:t>num = 0</a:t>
            </a:r>
          </a:p>
          <a:p>
            <a:pPr eaLnBrk="1" hangingPunct="1"/>
            <a:r>
              <a:rPr kumimoji="1" lang="en-US" altLang="zh-CN" sz="3200" b="1" dirty="0">
                <a:solidFill>
                  <a:schemeClr val="tx1"/>
                </a:solidFill>
                <a:latin typeface="Courier New" pitchFamily="49" charset="0"/>
                <a:ea typeface="宋体" charset="-122"/>
              </a:rPr>
              <a:t>for </a:t>
            </a:r>
            <a:r>
              <a:rPr kumimoji="1" lang="en-US" altLang="zh-CN" sz="3200" b="1" dirty="0" err="1">
                <a:solidFill>
                  <a:schemeClr val="tx1"/>
                </a:solidFill>
                <a:latin typeface="Courier New" pitchFamily="49" charset="0"/>
                <a:ea typeface="宋体" charset="-122"/>
              </a:rPr>
              <a:t>i</a:t>
            </a:r>
            <a:r>
              <a:rPr kumimoji="1" lang="en-US" altLang="zh-CN" sz="3200" b="1" dirty="0">
                <a:solidFill>
                  <a:schemeClr val="tx1"/>
                </a:solidFill>
                <a:latin typeface="Courier New" pitchFamily="49" charset="0"/>
                <a:ea typeface="宋体" charset="-122"/>
              </a:rPr>
              <a:t> in range(From, To+1):</a:t>
            </a:r>
          </a:p>
          <a:p>
            <a:pPr eaLnBrk="1" hangingPunct="1"/>
            <a:r>
              <a:rPr kumimoji="1" lang="en-US" altLang="zh-CN" sz="3200" b="1" dirty="0">
                <a:solidFill>
                  <a:schemeClr val="tx1"/>
                </a:solidFill>
                <a:latin typeface="Courier New" pitchFamily="49" charset="0"/>
                <a:ea typeface="宋体" charset="-122"/>
              </a:rPr>
              <a:t>    if(</a:t>
            </a:r>
            <a:r>
              <a:rPr kumimoji="1" lang="en-US" altLang="zh-CN" sz="3200" b="1" dirty="0" err="1">
                <a:solidFill>
                  <a:schemeClr val="tx1"/>
                </a:solidFill>
                <a:latin typeface="Courier New" pitchFamily="49" charset="0"/>
                <a:ea typeface="宋体" charset="-122"/>
              </a:rPr>
              <a:t>i</a:t>
            </a:r>
            <a:r>
              <a:rPr kumimoji="1" lang="en-US" altLang="zh-CN" sz="3200" b="1" dirty="0">
                <a:solidFill>
                  <a:schemeClr val="tx1"/>
                </a:solidFill>
                <a:latin typeface="Courier New" pitchFamily="49" charset="0"/>
                <a:ea typeface="宋体" charset="-122"/>
              </a:rPr>
              <a:t> % 7 == 1):</a:t>
            </a:r>
          </a:p>
          <a:p>
            <a:pPr eaLnBrk="1" hangingPunct="1"/>
            <a:r>
              <a:rPr kumimoji="1" lang="en-US" altLang="zh-CN" sz="3200" b="1" dirty="0">
                <a:solidFill>
                  <a:schemeClr val="tx1"/>
                </a:solidFill>
                <a:latin typeface="Courier New" pitchFamily="49" charset="0"/>
                <a:ea typeface="宋体" charset="-122"/>
              </a:rPr>
              <a:t>        num += 1</a:t>
            </a:r>
          </a:p>
          <a:p>
            <a:pPr eaLnBrk="1" hangingPunct="1"/>
            <a:endParaRPr kumimoji="1" lang="en-US" altLang="zh-CN" sz="2400" b="1" dirty="0">
              <a:solidFill>
                <a:schemeClr val="tx1"/>
              </a:solidFill>
              <a:latin typeface="Courier New" pitchFamily="49" charset="0"/>
              <a:ea typeface="宋体" charset="-122"/>
            </a:endParaRPr>
          </a:p>
          <a:p>
            <a:pPr eaLnBrk="1" hangingPunct="1"/>
            <a:r>
              <a:rPr kumimoji="1" lang="en-US" altLang="zh-CN" sz="2800" b="1" dirty="0">
                <a:solidFill>
                  <a:schemeClr val="tx1"/>
                </a:solidFill>
                <a:latin typeface="Courier New" pitchFamily="49" charset="0"/>
                <a:ea typeface="宋体" charset="-122"/>
              </a:rPr>
              <a:t>print("</a:t>
            </a:r>
            <a:r>
              <a:rPr kumimoji="1" lang="zh-CN" altLang="en-US" sz="2800" b="1" dirty="0">
                <a:solidFill>
                  <a:schemeClr val="tx1"/>
                </a:solidFill>
                <a:latin typeface="Courier New" pitchFamily="49" charset="0"/>
                <a:ea typeface="宋体" charset="-122"/>
              </a:rPr>
              <a:t>从</a:t>
            </a:r>
            <a:r>
              <a:rPr kumimoji="1" lang="en-US" altLang="zh-CN" sz="2800" b="1" dirty="0">
                <a:solidFill>
                  <a:schemeClr val="tx1"/>
                </a:solidFill>
                <a:latin typeface="Courier New" pitchFamily="49" charset="0"/>
                <a:ea typeface="宋体" charset="-122"/>
              </a:rPr>
              <a:t>%d</a:t>
            </a:r>
            <a:r>
              <a:rPr kumimoji="1" lang="zh-CN" altLang="en-US" sz="2800" b="1" dirty="0">
                <a:solidFill>
                  <a:schemeClr val="tx1"/>
                </a:solidFill>
                <a:latin typeface="Courier New" pitchFamily="49" charset="0"/>
                <a:ea typeface="宋体" charset="-122"/>
              </a:rPr>
              <a:t>号到</a:t>
            </a:r>
            <a:r>
              <a:rPr kumimoji="1" lang="en-US" altLang="zh-CN" sz="2800" b="1" dirty="0">
                <a:solidFill>
                  <a:schemeClr val="tx1"/>
                </a:solidFill>
                <a:latin typeface="Courier New" pitchFamily="49" charset="0"/>
                <a:ea typeface="宋体" charset="-122"/>
              </a:rPr>
              <a:t>%d</a:t>
            </a:r>
            <a:r>
              <a:rPr kumimoji="1" lang="zh-CN" altLang="en-US" sz="2800" b="1" dirty="0">
                <a:solidFill>
                  <a:schemeClr val="tx1"/>
                </a:solidFill>
                <a:latin typeface="Courier New" pitchFamily="49" charset="0"/>
                <a:ea typeface="宋体" charset="-122"/>
              </a:rPr>
              <a:t>号，共有</a:t>
            </a:r>
            <a:r>
              <a:rPr kumimoji="1" lang="en-US" altLang="zh-CN" sz="2800" b="1" dirty="0">
                <a:solidFill>
                  <a:schemeClr val="tx1"/>
                </a:solidFill>
                <a:latin typeface="Courier New" pitchFamily="49" charset="0"/>
                <a:ea typeface="宋体" charset="-122"/>
              </a:rPr>
              <a:t>%d</a:t>
            </a:r>
            <a:r>
              <a:rPr kumimoji="1" lang="zh-CN" altLang="en-US" sz="2800" b="1" dirty="0">
                <a:solidFill>
                  <a:schemeClr val="tx1"/>
                </a:solidFill>
                <a:latin typeface="Courier New" pitchFamily="49" charset="0"/>
                <a:ea typeface="宋体" charset="-122"/>
              </a:rPr>
              <a:t>个星期</a:t>
            </a:r>
            <a:r>
              <a:rPr kumimoji="1" lang="en-US" altLang="zh-CN" sz="2800" b="1" dirty="0">
                <a:solidFill>
                  <a:schemeClr val="tx1"/>
                </a:solidFill>
                <a:latin typeface="Courier New" pitchFamily="49" charset="0"/>
                <a:ea typeface="宋体" charset="-122"/>
              </a:rPr>
              <a:t>%d" % (</a:t>
            </a:r>
            <a:r>
              <a:rPr kumimoji="1" lang="en-US" altLang="zh-CN" sz="2800" b="1" dirty="0" err="1">
                <a:solidFill>
                  <a:schemeClr val="tx1"/>
                </a:solidFill>
                <a:latin typeface="Courier New" pitchFamily="49" charset="0"/>
                <a:ea typeface="宋体" charset="-122"/>
              </a:rPr>
              <a:t>From,To,num,N</a:t>
            </a:r>
            <a:r>
              <a:rPr kumimoji="1" lang="en-US" altLang="zh-CN" sz="2800" b="1" dirty="0">
                <a:solidFill>
                  <a:schemeClr val="tx1"/>
                </a:solidFill>
                <a:latin typeface="Courier New" pitchFamily="49" charset="0"/>
                <a:ea typeface="宋体" charset="-122"/>
              </a:rPr>
              <a:t>))</a:t>
            </a:r>
          </a:p>
        </p:txBody>
      </p:sp>
      <p:sp>
        <p:nvSpPr>
          <p:cNvPr id="34" name="Text Box 4"/>
          <p:cNvSpPr txBox="1">
            <a:spLocks noChangeArrowheads="1"/>
          </p:cNvSpPr>
          <p:nvPr/>
        </p:nvSpPr>
        <p:spPr bwMode="auto">
          <a:xfrm>
            <a:off x="8632208" y="6090846"/>
            <a:ext cx="232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sz="2400" b="1" dirty="0">
                <a:solidFill>
                  <a:srgbClr val="0000FF"/>
                </a:solidFill>
                <a:latin typeface="Times New Roman" pitchFamily="18" charset="0"/>
                <a:ea typeface="宋体" charset="-122"/>
              </a:rPr>
              <a:t>有无其他做法？</a:t>
            </a:r>
          </a:p>
        </p:txBody>
      </p:sp>
    </p:spTree>
    <p:extLst>
      <p:ext uri="{BB962C8B-B14F-4D97-AF65-F5344CB8AC3E}">
        <p14:creationId xmlns:p14="http://schemas.microsoft.com/office/powerpoint/2010/main" val="427378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例题</a:t>
            </a: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4</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a:t>
            </a:r>
            <a:r>
              <a:rPr lang="zh-CN" altLang="en-US" sz="4800">
                <a:solidFill>
                  <a:schemeClr val="accent2"/>
                </a:solidFill>
                <a:latin typeface="隶书" pitchFamily="49" charset="-122"/>
                <a:ea typeface="隶书" pitchFamily="49" charset="-122"/>
              </a:rPr>
              <a:t>猜价格</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Rectangle 4"/>
          <p:cNvSpPr>
            <a:spLocks noChangeArrowheads="1"/>
          </p:cNvSpPr>
          <p:nvPr/>
        </p:nvSpPr>
        <p:spPr bwMode="auto">
          <a:xfrm>
            <a:off x="774034" y="1396037"/>
            <a:ext cx="5972283"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30000"/>
              </a:spcBef>
            </a:pPr>
            <a:r>
              <a:rPr kumimoji="1" lang="zh-CN" altLang="en-US" sz="3200" b="1">
                <a:latin typeface="Times New Roman" pitchFamily="18" charset="0"/>
                <a:ea typeface="宋体" charset="-122"/>
              </a:rPr>
              <a:t>        在中央电视台</a:t>
            </a:r>
            <a:r>
              <a:rPr kumimoji="1" lang="en-US" altLang="zh-CN" sz="3200" b="1">
                <a:latin typeface="Times New Roman" pitchFamily="18" charset="0"/>
                <a:ea typeface="宋体" charset="-122"/>
              </a:rPr>
              <a:t>《</a:t>
            </a:r>
            <a:r>
              <a:rPr kumimoji="1" lang="zh-CN" altLang="en-US" sz="3200" b="1">
                <a:latin typeface="Times New Roman" pitchFamily="18" charset="0"/>
                <a:ea typeface="宋体" charset="-122"/>
              </a:rPr>
              <a:t>幸运</a:t>
            </a:r>
            <a:r>
              <a:rPr kumimoji="1" lang="en-US" altLang="zh-CN" sz="3200" b="1">
                <a:latin typeface="Times New Roman" pitchFamily="18" charset="0"/>
                <a:ea typeface="宋体" charset="-122"/>
              </a:rPr>
              <a:t>52》</a:t>
            </a:r>
            <a:r>
              <a:rPr kumimoji="1" lang="zh-CN" altLang="en-US" sz="3200" b="1">
                <a:latin typeface="Times New Roman" pitchFamily="18" charset="0"/>
                <a:ea typeface="宋体" charset="-122"/>
              </a:rPr>
              <a:t>的节目中，有一个猜商品价格的节目。主持人给观众展示一件商品，让一名观众去猜它的价格（一千以内），并且每一次猜完主持人都会告诉你高了或低了，然后继续猜。如果猜对了，就可以得到这件商品。为公平起见，假设每位观众最多只能猜</a:t>
            </a:r>
            <a:r>
              <a:rPr kumimoji="1" lang="en-US" altLang="zh-CN" sz="3200" b="1">
                <a:latin typeface="Times New Roman" pitchFamily="18" charset="0"/>
                <a:ea typeface="宋体" charset="-122"/>
              </a:rPr>
              <a:t>10</a:t>
            </a:r>
            <a:r>
              <a:rPr kumimoji="1" lang="zh-CN" altLang="en-US" sz="3200" b="1">
                <a:latin typeface="Times New Roman" pitchFamily="18" charset="0"/>
                <a:ea typeface="宋体" charset="-122"/>
              </a:rPr>
              <a:t>次。</a:t>
            </a:r>
            <a:endParaRPr kumimoji="1" lang="en-US" altLang="zh-CN" sz="3200" b="1">
              <a:latin typeface="Times New Roman" pitchFamily="18" charset="0"/>
              <a:ea typeface="宋体" charset="-122"/>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9942" y="1479670"/>
            <a:ext cx="4327678" cy="4103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3044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基本思路</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9" name="平行四边形 18"/>
          <p:cNvSpPr/>
          <p:nvPr/>
        </p:nvSpPr>
        <p:spPr>
          <a:xfrm>
            <a:off x="1731271" y="1579946"/>
            <a:ext cx="2574720" cy="1163245"/>
          </a:xfrm>
          <a:prstGeom prst="parallelogram">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0" name="文本框 13"/>
          <p:cNvSpPr txBox="1"/>
          <p:nvPr/>
        </p:nvSpPr>
        <p:spPr>
          <a:xfrm>
            <a:off x="2180061" y="1899958"/>
            <a:ext cx="1888594" cy="523220"/>
          </a:xfrm>
          <a:prstGeom prst="rect">
            <a:avLst/>
          </a:prstGeom>
          <a:noFill/>
        </p:spPr>
        <p:txBody>
          <a:bodyPr wrap="square" rtlCol="0">
            <a:spAutoFit/>
          </a:bodyPr>
          <a:lstStyle/>
          <a:p>
            <a:pPr>
              <a:defRPr/>
            </a:pPr>
            <a:r>
              <a:rPr lang="zh-CN" altLang="en-US" sz="2800" b="1" kern="0">
                <a:solidFill>
                  <a:prstClr val="white"/>
                </a:solidFill>
                <a:latin typeface="微软雅黑" panose="020B0503020204020204" pitchFamily="34" charset="-122"/>
                <a:ea typeface="微软雅黑" panose="020B0503020204020204" pitchFamily="34" charset="-122"/>
              </a:rPr>
              <a:t>价格生成</a:t>
            </a:r>
            <a:endParaRPr lang="zh-CN" altLang="en-US" sz="2800" b="1" kern="0" dirty="0">
              <a:solidFill>
                <a:prstClr val="white"/>
              </a:solidFill>
              <a:latin typeface="微软雅黑" panose="020B0503020204020204" pitchFamily="34" charset="-122"/>
              <a:ea typeface="微软雅黑" panose="020B0503020204020204" pitchFamily="34" charset="-122"/>
            </a:endParaRPr>
          </a:p>
        </p:txBody>
      </p:sp>
      <p:sp>
        <p:nvSpPr>
          <p:cNvPr id="21" name="Rectangle 3"/>
          <p:cNvSpPr>
            <a:spLocks noChangeArrowheads="1"/>
          </p:cNvSpPr>
          <p:nvPr/>
        </p:nvSpPr>
        <p:spPr bwMode="auto">
          <a:xfrm>
            <a:off x="5252892" y="1546015"/>
            <a:ext cx="5271018" cy="1231106"/>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spcBef>
                <a:spcPts val="1200"/>
              </a:spcBef>
            </a:pPr>
            <a:r>
              <a:rPr kumimoji="1" lang="en-US" altLang="zh-CN" sz="3200" b="1" dirty="0">
                <a:solidFill>
                  <a:schemeClr val="tx1"/>
                </a:solidFill>
                <a:latin typeface="Times New Roman" pitchFamily="18" charset="0"/>
                <a:ea typeface="宋体" charset="-122"/>
              </a:rPr>
              <a:t>import random</a:t>
            </a:r>
          </a:p>
          <a:p>
            <a:pPr>
              <a:spcBef>
                <a:spcPts val="1200"/>
              </a:spcBef>
            </a:pPr>
            <a:r>
              <a:rPr kumimoji="1" lang="en-US" altLang="zh-CN" sz="3200" b="1" dirty="0" err="1">
                <a:solidFill>
                  <a:schemeClr val="tx1"/>
                </a:solidFill>
                <a:latin typeface="Times New Roman" pitchFamily="18" charset="0"/>
                <a:ea typeface="宋体" charset="-122"/>
              </a:rPr>
              <a:t>random.randint</a:t>
            </a:r>
            <a:r>
              <a:rPr kumimoji="1" lang="en-US" altLang="zh-CN" sz="3200" b="1" dirty="0">
                <a:solidFill>
                  <a:schemeClr val="tx1"/>
                </a:solidFill>
                <a:latin typeface="Times New Roman" pitchFamily="18" charset="0"/>
                <a:ea typeface="宋体" charset="-122"/>
              </a:rPr>
              <a:t>(</a:t>
            </a:r>
            <a:r>
              <a:rPr kumimoji="1" lang="en-US" altLang="zh-CN" sz="3200" b="1" dirty="0">
                <a:solidFill>
                  <a:srgbClr val="C00000"/>
                </a:solidFill>
                <a:latin typeface="Times New Roman" pitchFamily="18" charset="0"/>
                <a:ea typeface="宋体" charset="-122"/>
              </a:rPr>
              <a:t>start</a:t>
            </a:r>
            <a:r>
              <a:rPr kumimoji="1" lang="en-US" altLang="zh-CN" sz="3200" b="1" dirty="0">
                <a:solidFill>
                  <a:schemeClr val="tx1"/>
                </a:solidFill>
                <a:latin typeface="Times New Roman" pitchFamily="18" charset="0"/>
                <a:ea typeface="宋体" charset="-122"/>
              </a:rPr>
              <a:t>, </a:t>
            </a:r>
            <a:r>
              <a:rPr kumimoji="1" lang="en-US" altLang="zh-CN" sz="3200" b="1" dirty="0">
                <a:solidFill>
                  <a:srgbClr val="C00000"/>
                </a:solidFill>
                <a:latin typeface="Times New Roman" pitchFamily="18" charset="0"/>
                <a:ea typeface="宋体" charset="-122"/>
              </a:rPr>
              <a:t>end</a:t>
            </a:r>
            <a:r>
              <a:rPr kumimoji="1" lang="en-US" altLang="zh-CN" sz="3200" b="1" dirty="0">
                <a:solidFill>
                  <a:schemeClr val="tx1"/>
                </a:solidFill>
                <a:latin typeface="Times New Roman" pitchFamily="18" charset="0"/>
                <a:ea typeface="宋体" charset="-122"/>
              </a:rPr>
              <a:t>)</a:t>
            </a:r>
          </a:p>
        </p:txBody>
      </p:sp>
      <p:grpSp>
        <p:nvGrpSpPr>
          <p:cNvPr id="2" name="组合 1"/>
          <p:cNvGrpSpPr/>
          <p:nvPr/>
        </p:nvGrpSpPr>
        <p:grpSpPr>
          <a:xfrm>
            <a:off x="1725724" y="3236320"/>
            <a:ext cx="8792639" cy="1231106"/>
            <a:chOff x="1725724" y="3302824"/>
            <a:chExt cx="8792639" cy="1231106"/>
          </a:xfrm>
        </p:grpSpPr>
        <p:sp>
          <p:nvSpPr>
            <p:cNvPr id="22" name="平行四边形 21"/>
            <p:cNvSpPr/>
            <p:nvPr/>
          </p:nvSpPr>
          <p:spPr>
            <a:xfrm>
              <a:off x="1725724" y="3370007"/>
              <a:ext cx="2574720" cy="1163245"/>
            </a:xfrm>
            <a:prstGeom prst="parallelogram">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3" name="文本框 13"/>
            <p:cNvSpPr txBox="1"/>
            <p:nvPr/>
          </p:nvSpPr>
          <p:spPr>
            <a:xfrm>
              <a:off x="2174514" y="3690019"/>
              <a:ext cx="1888594" cy="523220"/>
            </a:xfrm>
            <a:prstGeom prst="rect">
              <a:avLst/>
            </a:prstGeom>
            <a:noFill/>
          </p:spPr>
          <p:txBody>
            <a:bodyPr wrap="square" rtlCol="0">
              <a:spAutoFit/>
            </a:bodyPr>
            <a:lstStyle/>
            <a:p>
              <a:pPr>
                <a:defRPr/>
              </a:pPr>
              <a:r>
                <a:rPr lang="zh-CN" altLang="en-US" sz="2800" b="1" kern="0">
                  <a:solidFill>
                    <a:prstClr val="white"/>
                  </a:solidFill>
                  <a:latin typeface="微软雅黑" panose="020B0503020204020204" pitchFamily="34" charset="-122"/>
                  <a:ea typeface="微软雅黑" panose="020B0503020204020204" pitchFamily="34" charset="-122"/>
                </a:rPr>
                <a:t>评价价格</a:t>
              </a:r>
              <a:endParaRPr lang="zh-CN" altLang="en-US" sz="2800" b="1" kern="0" dirty="0">
                <a:solidFill>
                  <a:prstClr val="white"/>
                </a:solidFill>
                <a:latin typeface="微软雅黑" panose="020B0503020204020204" pitchFamily="34" charset="-122"/>
                <a:ea typeface="微软雅黑" panose="020B0503020204020204" pitchFamily="34" charset="-122"/>
              </a:endParaRPr>
            </a:p>
          </p:txBody>
        </p:sp>
        <p:sp>
          <p:nvSpPr>
            <p:cNvPr id="24" name="Rectangle 3"/>
            <p:cNvSpPr>
              <a:spLocks noChangeArrowheads="1"/>
            </p:cNvSpPr>
            <p:nvPr/>
          </p:nvSpPr>
          <p:spPr bwMode="auto">
            <a:xfrm>
              <a:off x="5247345" y="3302824"/>
              <a:ext cx="5271018" cy="1231106"/>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spcBef>
                  <a:spcPts val="1200"/>
                </a:spcBef>
              </a:pPr>
              <a:r>
                <a:rPr kumimoji="1" lang="zh-CN" altLang="en-US" sz="3200" b="1">
                  <a:solidFill>
                    <a:schemeClr val="tx1"/>
                  </a:solidFill>
                  <a:latin typeface="Times New Roman" pitchFamily="18" charset="0"/>
                  <a:ea typeface="宋体" charset="-122"/>
                </a:rPr>
                <a:t>分支语句</a:t>
              </a:r>
              <a:endParaRPr kumimoji="1" lang="en-US" altLang="zh-CN" sz="3200" b="1">
                <a:solidFill>
                  <a:schemeClr val="tx1"/>
                </a:solidFill>
                <a:latin typeface="Times New Roman" pitchFamily="18" charset="0"/>
                <a:ea typeface="宋体" charset="-122"/>
              </a:endParaRPr>
            </a:p>
            <a:p>
              <a:pPr>
                <a:spcBef>
                  <a:spcPts val="1200"/>
                </a:spcBef>
              </a:pPr>
              <a:r>
                <a:rPr kumimoji="1" lang="en-US" altLang="zh-CN" sz="3200" b="1">
                  <a:solidFill>
                    <a:schemeClr val="tx1"/>
                  </a:solidFill>
                  <a:latin typeface="Times New Roman" pitchFamily="18" charset="0"/>
                  <a:ea typeface="宋体" charset="-122"/>
                </a:rPr>
                <a:t>if guess &lt; target :</a:t>
              </a:r>
            </a:p>
          </p:txBody>
        </p:sp>
      </p:grpSp>
      <p:grpSp>
        <p:nvGrpSpPr>
          <p:cNvPr id="25" name="组合 24"/>
          <p:cNvGrpSpPr/>
          <p:nvPr/>
        </p:nvGrpSpPr>
        <p:grpSpPr>
          <a:xfrm>
            <a:off x="1720177" y="4909999"/>
            <a:ext cx="8792639" cy="1231106"/>
            <a:chOff x="1725724" y="3302824"/>
            <a:chExt cx="8792639" cy="1231106"/>
          </a:xfrm>
        </p:grpSpPr>
        <p:sp>
          <p:nvSpPr>
            <p:cNvPr id="26" name="平行四边形 25"/>
            <p:cNvSpPr/>
            <p:nvPr/>
          </p:nvSpPr>
          <p:spPr>
            <a:xfrm>
              <a:off x="1725724" y="3370007"/>
              <a:ext cx="2574720" cy="1163245"/>
            </a:xfrm>
            <a:prstGeom prst="parallelogram">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7" name="文本框 13"/>
            <p:cNvSpPr txBox="1"/>
            <p:nvPr/>
          </p:nvSpPr>
          <p:spPr>
            <a:xfrm>
              <a:off x="2174514" y="3690019"/>
              <a:ext cx="1888594" cy="523220"/>
            </a:xfrm>
            <a:prstGeom prst="rect">
              <a:avLst/>
            </a:prstGeom>
            <a:noFill/>
          </p:spPr>
          <p:txBody>
            <a:bodyPr wrap="square" rtlCol="0">
              <a:spAutoFit/>
            </a:bodyPr>
            <a:lstStyle/>
            <a:p>
              <a:pPr>
                <a:defRPr/>
              </a:pPr>
              <a:r>
                <a:rPr lang="zh-CN" altLang="en-US" sz="2800" b="1" kern="0">
                  <a:solidFill>
                    <a:prstClr val="white"/>
                  </a:solidFill>
                  <a:latin typeface="微软雅黑" panose="020B0503020204020204" pitchFamily="34" charset="-122"/>
                  <a:ea typeface="微软雅黑" panose="020B0503020204020204" pitchFamily="34" charset="-122"/>
                </a:rPr>
                <a:t>十次机会</a:t>
              </a:r>
              <a:endParaRPr lang="zh-CN" altLang="en-US" sz="2800" b="1" kern="0" dirty="0">
                <a:solidFill>
                  <a:prstClr val="white"/>
                </a:solidFill>
                <a:latin typeface="微软雅黑" panose="020B0503020204020204" pitchFamily="34" charset="-122"/>
                <a:ea typeface="微软雅黑" panose="020B0503020204020204" pitchFamily="34" charset="-122"/>
              </a:endParaRPr>
            </a:p>
          </p:txBody>
        </p:sp>
        <p:sp>
          <p:nvSpPr>
            <p:cNvPr id="28" name="Rectangle 3"/>
            <p:cNvSpPr>
              <a:spLocks noChangeArrowheads="1"/>
            </p:cNvSpPr>
            <p:nvPr/>
          </p:nvSpPr>
          <p:spPr bwMode="auto">
            <a:xfrm>
              <a:off x="5247345" y="3302824"/>
              <a:ext cx="5271018" cy="1231106"/>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spcBef>
                  <a:spcPts val="1200"/>
                </a:spcBef>
              </a:pPr>
              <a:r>
                <a:rPr kumimoji="1" lang="en-US" altLang="zh-CN" sz="3200" b="1">
                  <a:solidFill>
                    <a:schemeClr val="tx1"/>
                  </a:solidFill>
                  <a:latin typeface="Times New Roman" pitchFamily="18" charset="0"/>
                  <a:ea typeface="宋体" charset="-122"/>
                </a:rPr>
                <a:t>for</a:t>
              </a:r>
              <a:r>
                <a:rPr kumimoji="1" lang="zh-CN" altLang="en-US" sz="3200" b="1">
                  <a:solidFill>
                    <a:schemeClr val="tx1"/>
                  </a:solidFill>
                  <a:latin typeface="Times New Roman" pitchFamily="18" charset="0"/>
                  <a:ea typeface="宋体" charset="-122"/>
                </a:rPr>
                <a:t>循环语句</a:t>
              </a:r>
              <a:endParaRPr kumimoji="1" lang="en-US" altLang="zh-CN" sz="3200" b="1">
                <a:solidFill>
                  <a:schemeClr val="tx1"/>
                </a:solidFill>
                <a:latin typeface="Times New Roman" pitchFamily="18" charset="0"/>
                <a:ea typeface="宋体" charset="-122"/>
              </a:endParaRPr>
            </a:p>
            <a:p>
              <a:pPr>
                <a:spcBef>
                  <a:spcPts val="1200"/>
                </a:spcBef>
              </a:pPr>
              <a:r>
                <a:rPr kumimoji="1" lang="en-US" altLang="zh-CN" sz="3200" b="1">
                  <a:solidFill>
                    <a:schemeClr val="tx1"/>
                  </a:solidFill>
                  <a:latin typeface="Times New Roman" pitchFamily="18" charset="0"/>
                  <a:ea typeface="宋体" charset="-122"/>
                </a:rPr>
                <a:t>for i in range(</a:t>
              </a:r>
              <a:r>
                <a:rPr kumimoji="1" lang="en-US" altLang="zh-CN" sz="3200" b="1">
                  <a:solidFill>
                    <a:srgbClr val="FF0000"/>
                  </a:solidFill>
                  <a:latin typeface="Times New Roman" pitchFamily="18" charset="0"/>
                  <a:ea typeface="宋体" charset="-122"/>
                </a:rPr>
                <a:t>10</a:t>
              </a:r>
              <a:r>
                <a:rPr kumimoji="1" lang="en-US" altLang="zh-CN" sz="3200" b="1">
                  <a:solidFill>
                    <a:schemeClr val="tx1"/>
                  </a:solidFill>
                  <a:latin typeface="Times New Roman" pitchFamily="18" charset="0"/>
                  <a:ea typeface="宋体" charset="-122"/>
                </a:rPr>
                <a:t>):</a:t>
              </a:r>
            </a:p>
          </p:txBody>
        </p:sp>
      </p:grpSp>
      <p:sp>
        <p:nvSpPr>
          <p:cNvPr id="18" name="Text Box 4">
            <a:extLst>
              <a:ext uri="{FF2B5EF4-FFF2-40B4-BE49-F238E27FC236}">
                <a16:creationId xmlns:a16="http://schemas.microsoft.com/office/drawing/2014/main" id="{A7F33AC1-2227-44A8-9AD9-E07712231641}"/>
              </a:ext>
            </a:extLst>
          </p:cNvPr>
          <p:cNvSpPr txBox="1">
            <a:spLocks noChangeArrowheads="1"/>
          </p:cNvSpPr>
          <p:nvPr/>
        </p:nvSpPr>
        <p:spPr bwMode="auto">
          <a:xfrm>
            <a:off x="8632208" y="6155142"/>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sz="2400" b="1" dirty="0">
                <a:solidFill>
                  <a:srgbClr val="0000FF"/>
                </a:solidFill>
                <a:latin typeface="Times New Roman" pitchFamily="18" charset="0"/>
                <a:ea typeface="宋体" charset="-122"/>
              </a:rPr>
              <a:t>如何判断猜对猜错？</a:t>
            </a:r>
          </a:p>
        </p:txBody>
      </p:sp>
    </p:spTree>
    <p:extLst>
      <p:ext uri="{BB962C8B-B14F-4D97-AF65-F5344CB8AC3E}">
        <p14:creationId xmlns:p14="http://schemas.microsoft.com/office/powerpoint/2010/main" val="304711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ppt_x"/>
                                          </p:val>
                                        </p:tav>
                                        <p:tav tm="100000">
                                          <p:val>
                                            <p:strVal val="#ppt_x"/>
                                          </p:val>
                                        </p:tav>
                                      </p:tavLst>
                                    </p:anim>
                                    <p:anim calcmode="lin" valueType="num">
                                      <p:cBhvr additive="base">
                                        <p:cTn id="2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参考代码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33" name="Rectangle 3"/>
          <p:cNvSpPr>
            <a:spLocks noChangeArrowheads="1"/>
          </p:cNvSpPr>
          <p:nvPr/>
        </p:nvSpPr>
        <p:spPr bwMode="auto">
          <a:xfrm>
            <a:off x="966136" y="865861"/>
            <a:ext cx="10563611" cy="5632311"/>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r>
              <a:rPr kumimoji="1" lang="en-US" altLang="zh-CN" sz="2400" b="1" dirty="0">
                <a:latin typeface="Courier New" pitchFamily="49" charset="0"/>
                <a:ea typeface="宋体" charset="-122"/>
              </a:rPr>
              <a:t>import random</a:t>
            </a:r>
          </a:p>
          <a:p>
            <a:r>
              <a:rPr kumimoji="1" lang="en-US" altLang="zh-CN" sz="2400" b="1" dirty="0">
                <a:latin typeface="Courier New" pitchFamily="49" charset="0"/>
                <a:ea typeface="宋体" charset="-122"/>
              </a:rPr>
              <a:t>target = </a:t>
            </a:r>
            <a:r>
              <a:rPr kumimoji="1" lang="en-US" altLang="zh-CN" sz="2400" b="1" dirty="0" err="1">
                <a:latin typeface="Courier New" pitchFamily="49" charset="0"/>
                <a:ea typeface="宋体" charset="-122"/>
              </a:rPr>
              <a:t>random.randint</a:t>
            </a:r>
            <a:r>
              <a:rPr kumimoji="1" lang="en-US" altLang="zh-CN" sz="2400" b="1" dirty="0">
                <a:latin typeface="Courier New" pitchFamily="49" charset="0"/>
                <a:ea typeface="宋体" charset="-122"/>
              </a:rPr>
              <a:t>(1, 1000)</a:t>
            </a:r>
          </a:p>
          <a:p>
            <a:r>
              <a:rPr kumimoji="1" lang="en-US" altLang="zh-CN" sz="2400" b="1" dirty="0">
                <a:latin typeface="Courier New" pitchFamily="49" charset="0"/>
                <a:ea typeface="宋体" charset="-122"/>
              </a:rPr>
              <a:t>flag = False</a:t>
            </a:r>
          </a:p>
          <a:p>
            <a:r>
              <a:rPr kumimoji="1" lang="en-US" altLang="zh-CN" sz="2400" b="1" dirty="0">
                <a:latin typeface="Courier New" pitchFamily="49" charset="0"/>
                <a:ea typeface="宋体" charset="-122"/>
              </a:rPr>
              <a:t>for </a:t>
            </a:r>
            <a:r>
              <a:rPr kumimoji="1" lang="en-US" altLang="zh-CN" sz="2400" b="1" dirty="0" err="1">
                <a:latin typeface="Courier New" pitchFamily="49" charset="0"/>
                <a:ea typeface="宋体" charset="-122"/>
              </a:rPr>
              <a:t>i</a:t>
            </a:r>
            <a:r>
              <a:rPr kumimoji="1" lang="en-US" altLang="zh-CN" sz="2400" b="1" dirty="0">
                <a:latin typeface="Courier New" pitchFamily="49" charset="0"/>
                <a:ea typeface="宋体" charset="-122"/>
              </a:rPr>
              <a:t> in range(10):</a:t>
            </a:r>
          </a:p>
          <a:p>
            <a:r>
              <a:rPr kumimoji="1" lang="en-US" altLang="zh-CN" sz="2400" b="1" dirty="0">
                <a:latin typeface="Courier New" pitchFamily="49" charset="0"/>
                <a:ea typeface="宋体" charset="-122"/>
              </a:rPr>
              <a:t>    guess = int(input("</a:t>
            </a:r>
            <a:r>
              <a:rPr kumimoji="1" lang="zh-CN" altLang="en-US" sz="2400" b="1" dirty="0">
                <a:latin typeface="Courier New" pitchFamily="49" charset="0"/>
                <a:ea typeface="宋体" charset="-122"/>
              </a:rPr>
              <a:t>请输入你的猜测：</a:t>
            </a:r>
            <a:r>
              <a:rPr kumimoji="1" lang="en-US" altLang="zh-CN" sz="2400" b="1" dirty="0">
                <a:latin typeface="Courier New" pitchFamily="49" charset="0"/>
                <a:ea typeface="宋体" charset="-122"/>
              </a:rPr>
              <a:t>"))</a:t>
            </a:r>
          </a:p>
          <a:p>
            <a:r>
              <a:rPr kumimoji="1" lang="en-US" altLang="zh-CN" sz="2400" b="1" dirty="0">
                <a:latin typeface="Courier New" pitchFamily="49" charset="0"/>
                <a:ea typeface="宋体" charset="-122"/>
              </a:rPr>
              <a:t>    if guess &lt; target:</a:t>
            </a:r>
          </a:p>
          <a:p>
            <a:r>
              <a:rPr kumimoji="1" lang="en-US" altLang="zh-CN" sz="2400" b="1" dirty="0">
                <a:latin typeface="Courier New" pitchFamily="49" charset="0"/>
                <a:ea typeface="宋体" charset="-122"/>
              </a:rPr>
              <a:t>        print("</a:t>
            </a:r>
            <a:r>
              <a:rPr kumimoji="1" lang="zh-CN" altLang="en-US" sz="2400" b="1" dirty="0">
                <a:latin typeface="Courier New" pitchFamily="49" charset="0"/>
                <a:ea typeface="宋体" charset="-122"/>
              </a:rPr>
              <a:t>价格低了！</a:t>
            </a:r>
            <a:r>
              <a:rPr kumimoji="1" lang="en-US" altLang="zh-CN" sz="2400" b="1" dirty="0">
                <a:latin typeface="Courier New" pitchFamily="49" charset="0"/>
                <a:ea typeface="宋体" charset="-122"/>
              </a:rPr>
              <a:t>")</a:t>
            </a:r>
          </a:p>
          <a:p>
            <a:r>
              <a:rPr kumimoji="1" lang="en-US" altLang="zh-CN" sz="2400" b="1" dirty="0">
                <a:latin typeface="Courier New" pitchFamily="49" charset="0"/>
                <a:ea typeface="宋体" charset="-122"/>
              </a:rPr>
              <a:t>    </a:t>
            </a:r>
            <a:r>
              <a:rPr kumimoji="1" lang="en-US" altLang="zh-CN" sz="2400" b="1" dirty="0" err="1">
                <a:latin typeface="Courier New" pitchFamily="49" charset="0"/>
                <a:ea typeface="宋体" charset="-122"/>
              </a:rPr>
              <a:t>elif</a:t>
            </a:r>
            <a:r>
              <a:rPr kumimoji="1" lang="en-US" altLang="zh-CN" sz="2400" b="1" dirty="0">
                <a:latin typeface="Courier New" pitchFamily="49" charset="0"/>
                <a:ea typeface="宋体" charset="-122"/>
              </a:rPr>
              <a:t> guess &gt; target:</a:t>
            </a:r>
          </a:p>
          <a:p>
            <a:r>
              <a:rPr kumimoji="1" lang="en-US" altLang="zh-CN" sz="2400" b="1" dirty="0">
                <a:latin typeface="Courier New" pitchFamily="49" charset="0"/>
                <a:ea typeface="宋体" charset="-122"/>
              </a:rPr>
              <a:t>        print("</a:t>
            </a:r>
            <a:r>
              <a:rPr kumimoji="1" lang="zh-CN" altLang="en-US" sz="2400" b="1" dirty="0">
                <a:latin typeface="Courier New" pitchFamily="49" charset="0"/>
                <a:ea typeface="宋体" charset="-122"/>
              </a:rPr>
              <a:t>价格高了！</a:t>
            </a:r>
            <a:r>
              <a:rPr kumimoji="1" lang="en-US" altLang="zh-CN" sz="2400" b="1" dirty="0">
                <a:latin typeface="Courier New" pitchFamily="49" charset="0"/>
                <a:ea typeface="宋体" charset="-122"/>
              </a:rPr>
              <a:t>")</a:t>
            </a:r>
          </a:p>
          <a:p>
            <a:r>
              <a:rPr kumimoji="1" lang="en-US" altLang="zh-CN" sz="2400" b="1" dirty="0">
                <a:latin typeface="Courier New" pitchFamily="49" charset="0"/>
                <a:ea typeface="宋体" charset="-122"/>
              </a:rPr>
              <a:t>    else:</a:t>
            </a:r>
          </a:p>
          <a:p>
            <a:r>
              <a:rPr kumimoji="1" lang="en-US" altLang="zh-CN" sz="2400" b="1" dirty="0">
                <a:latin typeface="Courier New" pitchFamily="49" charset="0"/>
                <a:ea typeface="宋体" charset="-122"/>
              </a:rPr>
              <a:t>       print("</a:t>
            </a:r>
            <a:r>
              <a:rPr kumimoji="1" lang="zh-CN" altLang="en-US" sz="2400" b="1" dirty="0">
                <a:latin typeface="Courier New" pitchFamily="49" charset="0"/>
                <a:ea typeface="宋体" charset="-122"/>
              </a:rPr>
              <a:t>恭喜你，猜对了！</a:t>
            </a:r>
            <a:r>
              <a:rPr kumimoji="1" lang="en-US" altLang="zh-CN" sz="2400" b="1" dirty="0">
                <a:latin typeface="Courier New" pitchFamily="49" charset="0"/>
                <a:ea typeface="宋体" charset="-122"/>
              </a:rPr>
              <a:t>")</a:t>
            </a:r>
          </a:p>
          <a:p>
            <a:r>
              <a:rPr kumimoji="1" lang="en-US" altLang="zh-CN" sz="2400" b="1" dirty="0">
                <a:latin typeface="Courier New" pitchFamily="49" charset="0"/>
                <a:ea typeface="宋体" charset="-122"/>
              </a:rPr>
              <a:t>       flag = True</a:t>
            </a:r>
          </a:p>
          <a:p>
            <a:r>
              <a:rPr kumimoji="1" lang="en-US" altLang="zh-CN" sz="2400" b="1" dirty="0">
                <a:latin typeface="Courier New" pitchFamily="49" charset="0"/>
                <a:ea typeface="宋体" charset="-122"/>
              </a:rPr>
              <a:t>       break</a:t>
            </a:r>
          </a:p>
          <a:p>
            <a:pPr eaLnBrk="1" hangingPunct="1"/>
            <a:r>
              <a:rPr kumimoji="1" lang="en-US" altLang="zh-CN" sz="2400" b="1" dirty="0">
                <a:solidFill>
                  <a:schemeClr val="tx1"/>
                </a:solidFill>
                <a:latin typeface="Courier New" pitchFamily="49" charset="0"/>
                <a:ea typeface="宋体" charset="-122"/>
              </a:rPr>
              <a:t>if flag == False:</a:t>
            </a:r>
          </a:p>
          <a:p>
            <a:r>
              <a:rPr kumimoji="1" lang="en-US" altLang="zh-CN" sz="2400" b="1" dirty="0">
                <a:latin typeface="Courier New" pitchFamily="49" charset="0"/>
                <a:ea typeface="宋体" charset="-122"/>
              </a:rPr>
              <a:t>    print("</a:t>
            </a:r>
            <a:r>
              <a:rPr kumimoji="1" lang="zh-CN" altLang="en-US" sz="2400" b="1" dirty="0">
                <a:latin typeface="Courier New" pitchFamily="49" charset="0"/>
                <a:ea typeface="宋体" charset="-122"/>
              </a:rPr>
              <a:t>抱歉，你出局了！</a:t>
            </a:r>
            <a:r>
              <a:rPr kumimoji="1" lang="en-US" altLang="zh-CN" sz="2400" b="1" dirty="0">
                <a:latin typeface="Courier New" pitchFamily="49" charset="0"/>
                <a:ea typeface="宋体" charset="-122"/>
              </a:rPr>
              <a:t>", "</a:t>
            </a:r>
            <a:r>
              <a:rPr kumimoji="1" lang="zh-CN" altLang="en-US" sz="2400" b="1" dirty="0">
                <a:latin typeface="Courier New" pitchFamily="49" charset="0"/>
                <a:ea typeface="宋体" charset="-122"/>
              </a:rPr>
              <a:t>答案是：</a:t>
            </a:r>
            <a:r>
              <a:rPr kumimoji="1" lang="en-US" altLang="zh-CN" sz="2400" b="1" dirty="0">
                <a:latin typeface="Courier New" pitchFamily="49" charset="0"/>
                <a:ea typeface="宋体" charset="-122"/>
              </a:rPr>
              <a:t>", target)</a:t>
            </a:r>
            <a:endParaRPr kumimoji="1" lang="en-US" altLang="zh-CN" sz="2400" b="1" dirty="0">
              <a:solidFill>
                <a:schemeClr val="tx1"/>
              </a:solidFill>
              <a:latin typeface="Courier New" pitchFamily="49" charset="0"/>
              <a:ea typeface="宋体" charset="-122"/>
            </a:endParaRPr>
          </a:p>
        </p:txBody>
      </p:sp>
      <p:sp>
        <p:nvSpPr>
          <p:cNvPr id="9" name="Text Box 4"/>
          <p:cNvSpPr txBox="1">
            <a:spLocks noChangeArrowheads="1"/>
          </p:cNvSpPr>
          <p:nvPr/>
        </p:nvSpPr>
        <p:spPr bwMode="auto">
          <a:xfrm>
            <a:off x="10107563" y="5941216"/>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sz="2400" b="1">
                <a:solidFill>
                  <a:srgbClr val="FF0000"/>
                </a:solidFill>
                <a:latin typeface="Times New Roman" pitchFamily="18" charset="0"/>
                <a:ea typeface="宋体" charset="-122"/>
              </a:rPr>
              <a:t>运行效果</a:t>
            </a:r>
          </a:p>
        </p:txBody>
      </p:sp>
    </p:spTree>
    <p:extLst>
      <p:ext uri="{BB962C8B-B14F-4D97-AF65-F5344CB8AC3E}">
        <p14:creationId xmlns:p14="http://schemas.microsoft.com/office/powerpoint/2010/main" val="229863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如何实现自动猜价格？</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Rectangle 7"/>
          <p:cNvSpPr>
            <a:spLocks noChangeArrowheads="1"/>
          </p:cNvSpPr>
          <p:nvPr/>
        </p:nvSpPr>
        <p:spPr bwMode="auto">
          <a:xfrm>
            <a:off x="1069571" y="2448805"/>
            <a:ext cx="9886604"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8925" indent="-288925" eaLnBrk="1" hangingPunct="1">
              <a:spcBef>
                <a:spcPct val="70000"/>
              </a:spcBef>
              <a:buClr>
                <a:schemeClr val="tx1"/>
              </a:buClr>
              <a:buFont typeface="Wingdings" pitchFamily="2" charset="2"/>
              <a:buChar char=""/>
            </a:pPr>
            <a:r>
              <a:rPr kumimoji="1" lang="zh-CN" altLang="en-US" sz="3200" b="1">
                <a:solidFill>
                  <a:schemeClr val="tx1"/>
                </a:solidFill>
                <a:ea typeface="宋体" charset="-122"/>
              </a:rPr>
              <a:t>前提：数据是有序排列的；</a:t>
            </a:r>
          </a:p>
          <a:p>
            <a:pPr marL="288925" indent="-288925" eaLnBrk="1" hangingPunct="1">
              <a:spcBef>
                <a:spcPct val="70000"/>
              </a:spcBef>
              <a:buClr>
                <a:schemeClr val="tx1"/>
              </a:buClr>
              <a:buFont typeface="Wingdings" pitchFamily="2" charset="2"/>
              <a:buChar char=""/>
            </a:pPr>
            <a:r>
              <a:rPr kumimoji="1" lang="zh-CN" altLang="en-US" sz="3200" b="1">
                <a:solidFill>
                  <a:schemeClr val="tx1"/>
                </a:solidFill>
                <a:ea typeface="宋体" charset="-122"/>
              </a:rPr>
              <a:t>基本思路：</a:t>
            </a:r>
          </a:p>
          <a:p>
            <a:pPr marL="850900" lvl="1" indent="-371475" eaLnBrk="1" hangingPunct="1">
              <a:spcBef>
                <a:spcPct val="30000"/>
              </a:spcBef>
              <a:buClr>
                <a:schemeClr val="tx1"/>
              </a:buClr>
              <a:buFont typeface="方正舒体" pitchFamily="2" charset="-122"/>
              <a:buChar char="-"/>
            </a:pPr>
            <a:r>
              <a:rPr kumimoji="1" lang="zh-CN" altLang="en-US" sz="3200" b="1">
                <a:solidFill>
                  <a:schemeClr val="tx1"/>
                </a:solidFill>
                <a:ea typeface="宋体" charset="-122"/>
              </a:rPr>
              <a:t>将目标值与数组的中间元素进行比较；</a:t>
            </a:r>
          </a:p>
          <a:p>
            <a:pPr marL="850900" lvl="1" indent="-371475" eaLnBrk="1" hangingPunct="1">
              <a:spcBef>
                <a:spcPct val="30000"/>
              </a:spcBef>
              <a:buClr>
                <a:schemeClr val="tx1"/>
              </a:buClr>
              <a:buFont typeface="方正舒体" pitchFamily="2" charset="-122"/>
              <a:buChar char="-"/>
            </a:pPr>
            <a:r>
              <a:rPr kumimoji="1" lang="zh-CN" altLang="en-US" sz="3200" b="1">
                <a:solidFill>
                  <a:schemeClr val="tx1"/>
                </a:solidFill>
                <a:ea typeface="宋体" charset="-122"/>
              </a:rPr>
              <a:t>若相等，查找成功。否则根据比较的结果将查找范围缩小一半，然后重复此过程。</a:t>
            </a:r>
          </a:p>
        </p:txBody>
      </p:sp>
      <p:sp>
        <p:nvSpPr>
          <p:cNvPr id="11" name="Freeform 9"/>
          <p:cNvSpPr>
            <a:spLocks noChangeArrowheads="1"/>
          </p:cNvSpPr>
          <p:nvPr/>
        </p:nvSpPr>
        <p:spPr bwMode="auto">
          <a:xfrm>
            <a:off x="3989919" y="1354169"/>
            <a:ext cx="3862810" cy="720725"/>
          </a:xfrm>
          <a:custGeom>
            <a:avLst/>
            <a:gdLst>
              <a:gd name="T0" fmla="*/ 0 w 8752"/>
              <a:gd name="T1" fmla="*/ 0 h 1134"/>
              <a:gd name="T2" fmla="*/ 0 w 8752"/>
              <a:gd name="T3" fmla="*/ 0 h 1134"/>
              <a:gd name="T4" fmla="*/ 1 w 8752"/>
              <a:gd name="T5" fmla="*/ 0 h 1134"/>
              <a:gd name="T6" fmla="*/ 1 w 8752"/>
              <a:gd name="T7" fmla="*/ 0 h 1134"/>
              <a:gd name="T8" fmla="*/ 1 w 8752"/>
              <a:gd name="T9" fmla="*/ 0 h 1134"/>
              <a:gd name="T10" fmla="*/ 1 w 8752"/>
              <a:gd name="T11" fmla="*/ 0 h 1134"/>
              <a:gd name="T12" fmla="*/ 0 w 8752"/>
              <a:gd name="T13" fmla="*/ 0 h 1134"/>
              <a:gd name="T14" fmla="*/ 0 w 8752"/>
              <a:gd name="T15" fmla="*/ 0 h 1134"/>
              <a:gd name="T16" fmla="*/ 0 w 8752"/>
              <a:gd name="T17" fmla="*/ 0 h 1134"/>
              <a:gd name="T18" fmla="*/ 0 w 8752"/>
              <a:gd name="T19" fmla="*/ 0 h 1134"/>
              <a:gd name="T20" fmla="*/ 0 w 8752"/>
              <a:gd name="T21" fmla="*/ 0 h 1134"/>
              <a:gd name="T22" fmla="*/ 0 w 8752"/>
              <a:gd name="T23" fmla="*/ 0 h 1134"/>
              <a:gd name="T24" fmla="*/ 0 w 8752"/>
              <a:gd name="T25" fmla="*/ 0 h 1134"/>
              <a:gd name="T26" fmla="*/ 0 w 8752"/>
              <a:gd name="T27" fmla="*/ 0 h 1134"/>
              <a:gd name="T28" fmla="*/ 0 w 8752"/>
              <a:gd name="T29" fmla="*/ 0 h 11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52"/>
              <a:gd name="T46" fmla="*/ 0 h 1134"/>
              <a:gd name="T47" fmla="*/ 8752 w 8752"/>
              <a:gd name="T48" fmla="*/ 1134 h 113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52" h="1134">
                <a:moveTo>
                  <a:pt x="0" y="188"/>
                </a:moveTo>
                <a:cubicBezTo>
                  <a:pt x="0" y="84"/>
                  <a:pt x="84" y="0"/>
                  <a:pt x="192" y="0"/>
                </a:cubicBezTo>
                <a:lnTo>
                  <a:pt x="8558" y="0"/>
                </a:lnTo>
                <a:cubicBezTo>
                  <a:pt x="8665" y="0"/>
                  <a:pt x="8752" y="84"/>
                  <a:pt x="8752" y="188"/>
                </a:cubicBezTo>
                <a:lnTo>
                  <a:pt x="8752" y="945"/>
                </a:lnTo>
                <a:cubicBezTo>
                  <a:pt x="8752" y="1050"/>
                  <a:pt x="8665" y="1134"/>
                  <a:pt x="8558" y="1134"/>
                </a:cubicBezTo>
                <a:lnTo>
                  <a:pt x="192" y="1134"/>
                </a:lnTo>
                <a:cubicBezTo>
                  <a:pt x="84" y="1134"/>
                  <a:pt x="0" y="1050"/>
                  <a:pt x="0" y="945"/>
                </a:cubicBezTo>
                <a:lnTo>
                  <a:pt x="0" y="188"/>
                </a:lnTo>
                <a:close/>
              </a:path>
            </a:pathLst>
          </a:custGeom>
          <a:solidFill>
            <a:srgbClr val="0070C0"/>
          </a:solidFill>
          <a:ln w="12700">
            <a:solidFill>
              <a:srgbClr val="FFFF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41828" tIns="141828" rIns="141828" bIns="141828" anchor="ctr"/>
          <a:lstStyle/>
          <a:p>
            <a:pPr algn="ctr" defTabSz="1244600" eaLnBrk="1" hangingPunct="1">
              <a:lnSpc>
                <a:spcPct val="90000"/>
              </a:lnSpc>
              <a:spcAft>
                <a:spcPct val="35000"/>
              </a:spcAft>
              <a:buSzPct val="100000"/>
              <a:buFont typeface="Times New Roman" pitchFamily="18" charset="0"/>
              <a:buNone/>
            </a:pPr>
            <a:r>
              <a:rPr lang="zh-CN" altLang="en-US" sz="3200">
                <a:solidFill>
                  <a:srgbClr val="FFFFFF"/>
                </a:solidFill>
                <a:latin typeface="微软雅黑" pitchFamily="34" charset="-122"/>
                <a:ea typeface="微软雅黑" pitchFamily="34" charset="-122"/>
                <a:cs typeface="等线" pitchFamily="2" charset="-122"/>
              </a:rPr>
              <a:t>折半查找法</a:t>
            </a:r>
            <a:endParaRPr lang="zh-CN" altLang="zh-CN" sz="3200">
              <a:solidFill>
                <a:srgbClr val="FFFFFF"/>
              </a:solidFill>
              <a:latin typeface="微软雅黑" pitchFamily="34" charset="-122"/>
              <a:ea typeface="微软雅黑" pitchFamily="34" charset="-122"/>
              <a:cs typeface="等线" pitchFamily="2" charset="-122"/>
            </a:endParaRPr>
          </a:p>
        </p:txBody>
      </p:sp>
    </p:spTree>
    <p:extLst>
      <p:ext uri="{BB962C8B-B14F-4D97-AF65-F5344CB8AC3E}">
        <p14:creationId xmlns:p14="http://schemas.microsoft.com/office/powerpoint/2010/main" val="419586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dissolve">
                                      <p:cBhvr>
                                        <p:cTn id="7" dur="500"/>
                                        <p:tgtEl>
                                          <p:spTgt spid="10">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0">
                                            <p:txEl>
                                              <p:pRg st="2" end="2"/>
                                            </p:txEl>
                                          </p:spTgt>
                                        </p:tgtEl>
                                        <p:attrNameLst>
                                          <p:attrName>style.visibility</p:attrName>
                                        </p:attrNameLst>
                                      </p:cBhvr>
                                      <p:to>
                                        <p:strVal val="visible"/>
                                      </p:to>
                                    </p:set>
                                    <p:animEffect transition="in" filter="dissolve">
                                      <p:cBhvr>
                                        <p:cTn id="10" dur="500"/>
                                        <p:tgtEl>
                                          <p:spTgt spid="10">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animEffect transition="in" filter="dissolve">
                                      <p:cBhvr>
                                        <p:cTn id="13"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举例</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graphicFrame>
        <p:nvGraphicFramePr>
          <p:cNvPr id="9" name="Group 78"/>
          <p:cNvGraphicFramePr>
            <a:graphicFrameLocks noGrp="1"/>
          </p:cNvGraphicFramePr>
          <p:nvPr/>
        </p:nvGraphicFramePr>
        <p:xfrm>
          <a:off x="4903788" y="76200"/>
          <a:ext cx="2438400" cy="6583536"/>
        </p:xfrm>
        <a:graphic>
          <a:graphicData uri="http://schemas.openxmlformats.org/drawingml/2006/table">
            <a:tbl>
              <a:tblPr/>
              <a:tblGrid>
                <a:gridCol w="2438400">
                  <a:extLst>
                    <a:ext uri="{9D8B030D-6E8A-4147-A177-3AD203B41FA5}">
                      <a16:colId xmlns:a16="http://schemas.microsoft.com/office/drawing/2014/main" val="20000"/>
                    </a:ext>
                  </a:extLst>
                </a:gridCol>
              </a:tblGrid>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4120243</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4276013</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4328968</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4397700</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4462718</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4466240</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4475579</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4478964</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4480332</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4494763</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4499043</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4508710</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4549243</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4563697</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4564531</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4565926</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4566088</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6574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4572874</a:t>
                      </a:r>
                    </a:p>
                  </a:txBody>
                  <a:tcPr marT="45716" marB="4571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12" name="Text Box 79"/>
          <p:cNvSpPr txBox="1">
            <a:spLocks noChangeArrowheads="1"/>
          </p:cNvSpPr>
          <p:nvPr/>
        </p:nvSpPr>
        <p:spPr bwMode="auto">
          <a:xfrm>
            <a:off x="962025" y="1778000"/>
            <a:ext cx="3160713"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50000"/>
              </a:spcBef>
            </a:pPr>
            <a:r>
              <a:rPr kumimoji="1" lang="zh-CN" altLang="en-US" sz="3600" b="1">
                <a:latin typeface="Times New Roman" pitchFamily="18" charset="0"/>
                <a:ea typeface="宋体" charset="-122"/>
              </a:rPr>
              <a:t>请问：</a:t>
            </a:r>
          </a:p>
          <a:p>
            <a:pPr eaLnBrk="1" hangingPunct="1">
              <a:spcBef>
                <a:spcPct val="50000"/>
              </a:spcBef>
            </a:pPr>
            <a:r>
              <a:rPr kumimoji="1" lang="en-US" altLang="zh-CN" sz="3600" b="1">
                <a:solidFill>
                  <a:srgbClr val="C80495"/>
                </a:solidFill>
                <a:latin typeface="Times New Roman" pitchFamily="18" charset="0"/>
                <a:ea typeface="宋体" charset="-122"/>
              </a:rPr>
              <a:t>4565926</a:t>
            </a:r>
            <a:r>
              <a:rPr kumimoji="1" lang="zh-CN" altLang="en-US" sz="3600" b="1">
                <a:latin typeface="Times New Roman" pitchFamily="18" charset="0"/>
                <a:ea typeface="宋体" charset="-122"/>
              </a:rPr>
              <a:t>是否在</a:t>
            </a:r>
          </a:p>
          <a:p>
            <a:pPr eaLnBrk="1" hangingPunct="1">
              <a:spcBef>
                <a:spcPct val="50000"/>
              </a:spcBef>
            </a:pPr>
            <a:r>
              <a:rPr kumimoji="1" lang="zh-CN" altLang="en-US" sz="3600" b="1">
                <a:latin typeface="Times New Roman" pitchFamily="18" charset="0"/>
                <a:ea typeface="宋体" charset="-122"/>
              </a:rPr>
              <a:t>此列表当中？</a:t>
            </a:r>
          </a:p>
        </p:txBody>
      </p:sp>
    </p:spTree>
    <p:extLst>
      <p:ext uri="{BB962C8B-B14F-4D97-AF65-F5344CB8AC3E}">
        <p14:creationId xmlns:p14="http://schemas.microsoft.com/office/powerpoint/2010/main" val="488974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举例</a:t>
            </a:r>
            <a:r>
              <a:rPr lang="en-US" altLang="zh-CN" sz="4800" noProof="0">
                <a:solidFill>
                  <a:schemeClr val="accent2"/>
                </a:solidFill>
                <a:latin typeface="Times New Roman" pitchFamily="18" charset="0"/>
                <a:ea typeface="隶书" pitchFamily="49" charset="-122"/>
                <a:cs typeface="Times New Roman" pitchFamily="18" charset="0"/>
              </a:rPr>
              <a:t>(cont.)</a:t>
            </a:r>
            <a:endParaRPr kumimoji="0" lang="zh-CN" altLang="en-US" sz="4800" b="1" i="0" u="none" strike="noStrike" kern="1200" cap="none" spc="0" normalizeH="0" baseline="0" noProof="0" dirty="0">
              <a:ln>
                <a:noFill/>
              </a:ln>
              <a:solidFill>
                <a:schemeClr val="accent2"/>
              </a:solidFill>
              <a:effectLst/>
              <a:uLnTx/>
              <a:uFillTx/>
              <a:latin typeface="Times New Roman" pitchFamily="18" charset="0"/>
              <a:ea typeface="隶书" pitchFamily="49" charset="-122"/>
              <a:cs typeface="Times New Roman" pitchFamily="18" charset="0"/>
            </a:endParaRPr>
          </a:p>
        </p:txBody>
      </p:sp>
      <p:graphicFrame>
        <p:nvGraphicFramePr>
          <p:cNvPr id="10" name="Group 125"/>
          <p:cNvGraphicFramePr>
            <a:graphicFrameLocks noGrp="1"/>
          </p:cNvGraphicFramePr>
          <p:nvPr/>
        </p:nvGraphicFramePr>
        <p:xfrm>
          <a:off x="4903788" y="76200"/>
          <a:ext cx="2438400" cy="6675431"/>
        </p:xfrm>
        <a:graphic>
          <a:graphicData uri="http://schemas.openxmlformats.org/drawingml/2006/table">
            <a:tbl>
              <a:tblPr/>
              <a:tblGrid>
                <a:gridCol w="2438400">
                  <a:extLst>
                    <a:ext uri="{9D8B030D-6E8A-4147-A177-3AD203B41FA5}">
                      <a16:colId xmlns:a16="http://schemas.microsoft.com/office/drawing/2014/main" val="20000"/>
                    </a:ext>
                  </a:extLst>
                </a:gridCol>
              </a:tblGrid>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4120243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4276013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4328968</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4397700</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4462718</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4466240</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4475579</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4478964</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C80495"/>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722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4480332</a:t>
                      </a:r>
                    </a:p>
                  </a:txBody>
                  <a:tcPr marT="45722" marB="45722" anchor="ctr" anchorCtr="1" horzOverflow="overflow">
                    <a:lnL w="28575" cap="flat" cmpd="sng" algn="ctr">
                      <a:solidFill>
                        <a:srgbClr val="C80495"/>
                      </a:solidFill>
                      <a:prstDash val="solid"/>
                      <a:round/>
                      <a:headEnd type="none" w="med" len="med"/>
                      <a:tailEnd type="none" w="med" len="med"/>
                    </a:lnL>
                    <a:lnR w="28575" cap="flat" cmpd="sng" algn="ctr">
                      <a:solidFill>
                        <a:srgbClr val="C80495"/>
                      </a:solidFill>
                      <a:prstDash val="solid"/>
                      <a:round/>
                      <a:headEnd type="none" w="med" len="med"/>
                      <a:tailEnd type="none" w="med" len="med"/>
                    </a:lnR>
                    <a:lnT w="28575" cap="flat" cmpd="sng" algn="ctr">
                      <a:solidFill>
                        <a:srgbClr val="C80495"/>
                      </a:solidFill>
                      <a:prstDash val="solid"/>
                      <a:round/>
                      <a:headEnd type="none" w="med" len="med"/>
                      <a:tailEnd type="none" w="med" len="med"/>
                    </a:lnT>
                    <a:lnB w="28575" cap="flat" cmpd="sng" algn="ctr">
                      <a:solidFill>
                        <a:srgbClr val="C80495"/>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4494763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rgbClr val="C80495"/>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4499043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4508710</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4549243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4563697</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4564531</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4565926</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4566088</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4572874</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11" name="Text Box 87"/>
          <p:cNvSpPr txBox="1">
            <a:spLocks noChangeArrowheads="1"/>
          </p:cNvSpPr>
          <p:nvPr/>
        </p:nvSpPr>
        <p:spPr bwMode="auto">
          <a:xfrm>
            <a:off x="962025" y="1778000"/>
            <a:ext cx="3160713"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50000"/>
              </a:spcBef>
            </a:pPr>
            <a:r>
              <a:rPr kumimoji="1" lang="zh-CN" altLang="en-US" sz="3600" b="1">
                <a:latin typeface="Times New Roman" pitchFamily="18" charset="0"/>
                <a:ea typeface="宋体" charset="-122"/>
              </a:rPr>
              <a:t>请问：</a:t>
            </a:r>
          </a:p>
          <a:p>
            <a:pPr eaLnBrk="1" hangingPunct="1">
              <a:spcBef>
                <a:spcPct val="50000"/>
              </a:spcBef>
            </a:pPr>
            <a:r>
              <a:rPr kumimoji="1" lang="en-US" altLang="zh-CN" sz="3600" b="1">
                <a:solidFill>
                  <a:srgbClr val="C80495"/>
                </a:solidFill>
                <a:latin typeface="Times New Roman" pitchFamily="18" charset="0"/>
                <a:ea typeface="宋体" charset="-122"/>
              </a:rPr>
              <a:t>4565926</a:t>
            </a:r>
            <a:r>
              <a:rPr kumimoji="1" lang="zh-CN" altLang="en-US" sz="3600" b="1">
                <a:latin typeface="Times New Roman" pitchFamily="18" charset="0"/>
                <a:ea typeface="宋体" charset="-122"/>
              </a:rPr>
              <a:t>是否在</a:t>
            </a:r>
          </a:p>
          <a:p>
            <a:pPr eaLnBrk="1" hangingPunct="1">
              <a:spcBef>
                <a:spcPct val="50000"/>
              </a:spcBef>
            </a:pPr>
            <a:r>
              <a:rPr kumimoji="1" lang="zh-CN" altLang="en-US" sz="3600" b="1">
                <a:latin typeface="Times New Roman" pitchFamily="18" charset="0"/>
                <a:ea typeface="宋体" charset="-122"/>
              </a:rPr>
              <a:t>此列表当中？</a:t>
            </a:r>
          </a:p>
        </p:txBody>
      </p:sp>
      <p:sp>
        <p:nvSpPr>
          <p:cNvPr id="13" name="Line 88"/>
          <p:cNvSpPr>
            <a:spLocks noChangeShapeType="1"/>
          </p:cNvSpPr>
          <p:nvPr/>
        </p:nvSpPr>
        <p:spPr bwMode="auto">
          <a:xfrm flipH="1">
            <a:off x="7356475" y="3224213"/>
            <a:ext cx="430213"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4" name="Text Box 89"/>
          <p:cNvSpPr txBox="1">
            <a:spLocks noChangeArrowheads="1"/>
          </p:cNvSpPr>
          <p:nvPr/>
        </p:nvSpPr>
        <p:spPr bwMode="auto">
          <a:xfrm>
            <a:off x="7785100" y="2498725"/>
            <a:ext cx="1255713" cy="145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10000"/>
              </a:spcBef>
            </a:pPr>
            <a:r>
              <a:rPr kumimoji="1" lang="zh-CN" altLang="en-US" sz="2800" b="1">
                <a:latin typeface="Times New Roman" pitchFamily="18" charset="0"/>
                <a:ea typeface="宋体" charset="-122"/>
              </a:rPr>
              <a:t>数组正</a:t>
            </a:r>
          </a:p>
          <a:p>
            <a:pPr eaLnBrk="1" hangingPunct="1">
              <a:spcBef>
                <a:spcPct val="10000"/>
              </a:spcBef>
            </a:pPr>
            <a:r>
              <a:rPr kumimoji="1" lang="zh-CN" altLang="en-US" sz="2800" b="1">
                <a:latin typeface="Times New Roman" pitchFamily="18" charset="0"/>
                <a:ea typeface="宋体" charset="-122"/>
              </a:rPr>
              <a:t>中间的</a:t>
            </a:r>
          </a:p>
          <a:p>
            <a:pPr eaLnBrk="1" hangingPunct="1">
              <a:spcBef>
                <a:spcPct val="10000"/>
              </a:spcBef>
            </a:pPr>
            <a:r>
              <a:rPr kumimoji="1" lang="zh-CN" altLang="en-US" sz="2800" b="1">
                <a:latin typeface="Times New Roman" pitchFamily="18" charset="0"/>
                <a:ea typeface="宋体" charset="-122"/>
              </a:rPr>
              <a:t>元素。</a:t>
            </a:r>
          </a:p>
        </p:txBody>
      </p:sp>
    </p:spTree>
    <p:extLst>
      <p:ext uri="{BB962C8B-B14F-4D97-AF65-F5344CB8AC3E}">
        <p14:creationId xmlns:p14="http://schemas.microsoft.com/office/powerpoint/2010/main" val="26334557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举例</a:t>
            </a:r>
            <a:r>
              <a:rPr lang="en-US" altLang="zh-CN" sz="4800" noProof="0">
                <a:solidFill>
                  <a:schemeClr val="accent2"/>
                </a:solidFill>
                <a:latin typeface="Times New Roman" pitchFamily="18" charset="0"/>
                <a:ea typeface="隶书" pitchFamily="49" charset="-122"/>
                <a:cs typeface="Times New Roman" pitchFamily="18" charset="0"/>
              </a:rPr>
              <a:t>(cont.)</a:t>
            </a:r>
            <a:endParaRPr kumimoji="0" lang="zh-CN" altLang="en-US" sz="4800" b="1" i="0" u="none" strike="noStrike" kern="1200" cap="none" spc="0" normalizeH="0" baseline="0" noProof="0" dirty="0">
              <a:ln>
                <a:noFill/>
              </a:ln>
              <a:solidFill>
                <a:schemeClr val="accent2"/>
              </a:solidFill>
              <a:effectLst/>
              <a:uLnTx/>
              <a:uFillTx/>
              <a:latin typeface="Times New Roman" pitchFamily="18" charset="0"/>
              <a:ea typeface="隶书" pitchFamily="49" charset="-122"/>
              <a:cs typeface="Times New Roman" pitchFamily="18" charset="0"/>
            </a:endParaRPr>
          </a:p>
        </p:txBody>
      </p:sp>
      <p:graphicFrame>
        <p:nvGraphicFramePr>
          <p:cNvPr id="12" name="Group 129"/>
          <p:cNvGraphicFramePr>
            <a:graphicFrameLocks noGrp="1"/>
          </p:cNvGraphicFramePr>
          <p:nvPr>
            <p:extLst>
              <p:ext uri="{D42A27DB-BD31-4B8C-83A1-F6EECF244321}">
                <p14:modId xmlns:p14="http://schemas.microsoft.com/office/powerpoint/2010/main" val="1143990969"/>
              </p:ext>
            </p:extLst>
          </p:nvPr>
        </p:nvGraphicFramePr>
        <p:xfrm>
          <a:off x="4903788" y="76200"/>
          <a:ext cx="2438400" cy="6675431"/>
        </p:xfrm>
        <a:graphic>
          <a:graphicData uri="http://schemas.openxmlformats.org/drawingml/2006/table">
            <a:tbl>
              <a:tblPr/>
              <a:tblGrid>
                <a:gridCol w="2438400">
                  <a:extLst>
                    <a:ext uri="{9D8B030D-6E8A-4147-A177-3AD203B41FA5}">
                      <a16:colId xmlns:a16="http://schemas.microsoft.com/office/drawing/2014/main" val="20000"/>
                    </a:ext>
                  </a:extLst>
                </a:gridCol>
              </a:tblGrid>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4120243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4276013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4328968</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4397700</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4462718</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4466240</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4475579</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4478964</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722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4480332</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4494763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4499043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4508710</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4549243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4563697</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4564531</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4565926</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4566088</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4572874</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15" name="Text Box 93"/>
          <p:cNvSpPr txBox="1">
            <a:spLocks noChangeArrowheads="1"/>
          </p:cNvSpPr>
          <p:nvPr/>
        </p:nvSpPr>
        <p:spPr bwMode="auto">
          <a:xfrm>
            <a:off x="962025" y="1778000"/>
            <a:ext cx="3160713"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50000"/>
              </a:spcBef>
            </a:pPr>
            <a:r>
              <a:rPr kumimoji="1" lang="zh-CN" altLang="en-US" sz="3600" b="1">
                <a:latin typeface="Times New Roman" pitchFamily="18" charset="0"/>
                <a:ea typeface="宋体" charset="-122"/>
              </a:rPr>
              <a:t>请问：</a:t>
            </a:r>
          </a:p>
          <a:p>
            <a:pPr eaLnBrk="1" hangingPunct="1">
              <a:spcBef>
                <a:spcPct val="50000"/>
              </a:spcBef>
            </a:pPr>
            <a:r>
              <a:rPr kumimoji="1" lang="en-US" altLang="zh-CN" sz="3600" b="1">
                <a:solidFill>
                  <a:srgbClr val="C80495"/>
                </a:solidFill>
                <a:latin typeface="Times New Roman" pitchFamily="18" charset="0"/>
                <a:ea typeface="宋体" charset="-122"/>
              </a:rPr>
              <a:t>4565926</a:t>
            </a:r>
            <a:r>
              <a:rPr kumimoji="1" lang="zh-CN" altLang="en-US" sz="3600" b="1">
                <a:latin typeface="Times New Roman" pitchFamily="18" charset="0"/>
                <a:ea typeface="宋体" charset="-122"/>
              </a:rPr>
              <a:t>是否在</a:t>
            </a:r>
          </a:p>
          <a:p>
            <a:pPr eaLnBrk="1" hangingPunct="1">
              <a:spcBef>
                <a:spcPct val="50000"/>
              </a:spcBef>
            </a:pPr>
            <a:r>
              <a:rPr kumimoji="1" lang="zh-CN" altLang="en-US" sz="3600" b="1">
                <a:latin typeface="Times New Roman" pitchFamily="18" charset="0"/>
                <a:ea typeface="宋体" charset="-122"/>
              </a:rPr>
              <a:t>此列表当中？</a:t>
            </a:r>
          </a:p>
        </p:txBody>
      </p:sp>
      <p:sp>
        <p:nvSpPr>
          <p:cNvPr id="16" name="Text Box 94"/>
          <p:cNvSpPr txBox="1">
            <a:spLocks noChangeArrowheads="1"/>
          </p:cNvSpPr>
          <p:nvPr/>
        </p:nvSpPr>
        <p:spPr bwMode="auto">
          <a:xfrm>
            <a:off x="7356475" y="1430338"/>
            <a:ext cx="1612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10000"/>
              </a:spcBef>
            </a:pPr>
            <a:r>
              <a:rPr kumimoji="1" lang="zh-CN" altLang="en-US" sz="2800" b="1">
                <a:latin typeface="Times New Roman" pitchFamily="18" charset="0"/>
                <a:ea typeface="宋体" charset="-122"/>
              </a:rPr>
              <a:t>不予考虑</a:t>
            </a:r>
          </a:p>
        </p:txBody>
      </p:sp>
      <p:sp>
        <p:nvSpPr>
          <p:cNvPr id="17" name="Line 95"/>
          <p:cNvSpPr>
            <a:spLocks noChangeShapeType="1"/>
          </p:cNvSpPr>
          <p:nvPr/>
        </p:nvSpPr>
        <p:spPr bwMode="auto">
          <a:xfrm>
            <a:off x="7369175" y="3452813"/>
            <a:ext cx="7667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8" name="Line 96"/>
          <p:cNvSpPr>
            <a:spLocks noChangeShapeType="1"/>
          </p:cNvSpPr>
          <p:nvPr/>
        </p:nvSpPr>
        <p:spPr bwMode="auto">
          <a:xfrm>
            <a:off x="7369175" y="79375"/>
            <a:ext cx="7667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9" name="Line 97"/>
          <p:cNvSpPr>
            <a:spLocks noChangeShapeType="1"/>
          </p:cNvSpPr>
          <p:nvPr/>
        </p:nvSpPr>
        <p:spPr bwMode="auto">
          <a:xfrm flipH="1" flipV="1">
            <a:off x="7831138" y="1949450"/>
            <a:ext cx="0" cy="1503363"/>
          </a:xfrm>
          <a:prstGeom prst="line">
            <a:avLst/>
          </a:prstGeom>
          <a:noFill/>
          <a:ln w="28575">
            <a:solidFill>
              <a:schemeClr val="tx1"/>
            </a:solidFill>
            <a:round/>
            <a:headEnd type="triangle" w="lg" len="me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0" name="Line 98"/>
          <p:cNvSpPr>
            <a:spLocks noChangeShapeType="1"/>
          </p:cNvSpPr>
          <p:nvPr/>
        </p:nvSpPr>
        <p:spPr bwMode="auto">
          <a:xfrm flipV="1">
            <a:off x="7826375" y="87313"/>
            <a:ext cx="0" cy="1343025"/>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spAutoFit/>
          </a:bodyPr>
          <a:lstStyle/>
          <a:p>
            <a:endParaRPr lang="zh-CN" altLang="en-US"/>
          </a:p>
        </p:txBody>
      </p:sp>
    </p:spTree>
    <p:extLst>
      <p:ext uri="{BB962C8B-B14F-4D97-AF65-F5344CB8AC3E}">
        <p14:creationId xmlns:p14="http://schemas.microsoft.com/office/powerpoint/2010/main" val="865634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举例</a:t>
            </a:r>
            <a:r>
              <a:rPr lang="en-US" altLang="zh-CN" sz="4800" noProof="0">
                <a:solidFill>
                  <a:schemeClr val="accent2"/>
                </a:solidFill>
                <a:latin typeface="Times New Roman" pitchFamily="18" charset="0"/>
                <a:ea typeface="隶书" pitchFamily="49" charset="-122"/>
                <a:cs typeface="Times New Roman" pitchFamily="18" charset="0"/>
              </a:rPr>
              <a:t>(cont.)</a:t>
            </a:r>
            <a:endParaRPr kumimoji="0" lang="zh-CN" altLang="en-US" sz="4800" b="1" i="0" u="none" strike="noStrike" kern="1200" cap="none" spc="0" normalizeH="0" baseline="0" noProof="0" dirty="0">
              <a:ln>
                <a:noFill/>
              </a:ln>
              <a:solidFill>
                <a:schemeClr val="accent2"/>
              </a:solidFill>
              <a:effectLst/>
              <a:uLnTx/>
              <a:uFillTx/>
              <a:latin typeface="Times New Roman" pitchFamily="18" charset="0"/>
              <a:ea typeface="隶书" pitchFamily="49" charset="-122"/>
              <a:cs typeface="Times New Roman" pitchFamily="18" charset="0"/>
            </a:endParaRPr>
          </a:p>
        </p:txBody>
      </p:sp>
      <p:graphicFrame>
        <p:nvGraphicFramePr>
          <p:cNvPr id="14" name="Group 130"/>
          <p:cNvGraphicFramePr>
            <a:graphicFrameLocks noGrp="1"/>
          </p:cNvGraphicFramePr>
          <p:nvPr>
            <p:extLst>
              <p:ext uri="{D42A27DB-BD31-4B8C-83A1-F6EECF244321}">
                <p14:modId xmlns:p14="http://schemas.microsoft.com/office/powerpoint/2010/main" val="1101907299"/>
              </p:ext>
            </p:extLst>
          </p:nvPr>
        </p:nvGraphicFramePr>
        <p:xfrm>
          <a:off x="4903788" y="76200"/>
          <a:ext cx="2438400" cy="6675431"/>
        </p:xfrm>
        <a:graphic>
          <a:graphicData uri="http://schemas.openxmlformats.org/drawingml/2006/table">
            <a:tbl>
              <a:tblPr/>
              <a:tblGrid>
                <a:gridCol w="2438400">
                  <a:extLst>
                    <a:ext uri="{9D8B030D-6E8A-4147-A177-3AD203B41FA5}">
                      <a16:colId xmlns:a16="http://schemas.microsoft.com/office/drawing/2014/main" val="20000"/>
                    </a:ext>
                  </a:extLst>
                </a:gridCol>
              </a:tblGrid>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4120243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4276013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4328968</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4397700</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4462718</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4466240</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4475579</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4478964</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4480332</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4494763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4499043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4508710</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4549243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C80495"/>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45722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1" i="0" u="none" strike="noStrike" cap="none" normalizeH="0" baseline="0">
                          <a:ln>
                            <a:noFill/>
                          </a:ln>
                          <a:solidFill>
                            <a:srgbClr val="C80495"/>
                          </a:solidFill>
                          <a:effectLst/>
                          <a:latin typeface="Times New Roman" pitchFamily="18" charset="0"/>
                          <a:ea typeface="宋体" pitchFamily="2" charset="-122"/>
                        </a:rPr>
                        <a:t>4563697</a:t>
                      </a:r>
                    </a:p>
                  </a:txBody>
                  <a:tcPr marT="45722" marB="45722" anchor="ctr" anchorCtr="1" horzOverflow="overflow">
                    <a:lnL w="28575" cap="flat" cmpd="sng" algn="ctr">
                      <a:solidFill>
                        <a:srgbClr val="C80495"/>
                      </a:solidFill>
                      <a:prstDash val="solid"/>
                      <a:round/>
                      <a:headEnd type="none" w="med" len="med"/>
                      <a:tailEnd type="none" w="med" len="med"/>
                    </a:lnL>
                    <a:lnR w="28575" cap="flat" cmpd="sng" algn="ctr">
                      <a:solidFill>
                        <a:srgbClr val="C80495"/>
                      </a:solidFill>
                      <a:prstDash val="solid"/>
                      <a:round/>
                      <a:headEnd type="none" w="med" len="med"/>
                      <a:tailEnd type="none" w="med" len="med"/>
                    </a:lnR>
                    <a:lnT w="28575" cap="flat" cmpd="sng" algn="ctr">
                      <a:solidFill>
                        <a:srgbClr val="C80495"/>
                      </a:solidFill>
                      <a:prstDash val="solid"/>
                      <a:round/>
                      <a:headEnd type="none" w="med" len="med"/>
                      <a:tailEnd type="none" w="med" len="med"/>
                    </a:lnT>
                    <a:lnB w="28575" cap="flat" cmpd="sng" algn="ctr">
                      <a:solidFill>
                        <a:srgbClr val="C80495"/>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4564531</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rgbClr val="C80495"/>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4565926</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4566088</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4572874</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21" name="Text Box 96"/>
          <p:cNvSpPr txBox="1">
            <a:spLocks noChangeArrowheads="1"/>
          </p:cNvSpPr>
          <p:nvPr/>
        </p:nvSpPr>
        <p:spPr bwMode="auto">
          <a:xfrm>
            <a:off x="962025" y="1778000"/>
            <a:ext cx="3160713"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50000"/>
              </a:spcBef>
            </a:pPr>
            <a:r>
              <a:rPr kumimoji="1" lang="zh-CN" altLang="en-US" sz="3600" b="1">
                <a:latin typeface="Times New Roman" pitchFamily="18" charset="0"/>
                <a:ea typeface="宋体" charset="-122"/>
              </a:rPr>
              <a:t>请问：</a:t>
            </a:r>
          </a:p>
          <a:p>
            <a:pPr eaLnBrk="1" hangingPunct="1">
              <a:spcBef>
                <a:spcPct val="50000"/>
              </a:spcBef>
            </a:pPr>
            <a:r>
              <a:rPr kumimoji="1" lang="en-US" altLang="zh-CN" sz="3600" b="1">
                <a:solidFill>
                  <a:srgbClr val="C80495"/>
                </a:solidFill>
                <a:latin typeface="Times New Roman" pitchFamily="18" charset="0"/>
                <a:ea typeface="宋体" charset="-122"/>
              </a:rPr>
              <a:t>4565926</a:t>
            </a:r>
            <a:r>
              <a:rPr kumimoji="1" lang="zh-CN" altLang="en-US" sz="3600" b="1">
                <a:latin typeface="Times New Roman" pitchFamily="18" charset="0"/>
                <a:ea typeface="宋体" charset="-122"/>
              </a:rPr>
              <a:t>是否在</a:t>
            </a:r>
          </a:p>
          <a:p>
            <a:pPr eaLnBrk="1" hangingPunct="1">
              <a:spcBef>
                <a:spcPct val="50000"/>
              </a:spcBef>
            </a:pPr>
            <a:r>
              <a:rPr kumimoji="1" lang="zh-CN" altLang="en-US" sz="3600" b="1">
                <a:latin typeface="Times New Roman" pitchFamily="18" charset="0"/>
                <a:ea typeface="宋体" charset="-122"/>
              </a:rPr>
              <a:t>此列表当中？</a:t>
            </a:r>
          </a:p>
        </p:txBody>
      </p:sp>
      <p:sp>
        <p:nvSpPr>
          <p:cNvPr id="22" name="Line 97"/>
          <p:cNvSpPr>
            <a:spLocks noChangeShapeType="1"/>
          </p:cNvSpPr>
          <p:nvPr/>
        </p:nvSpPr>
        <p:spPr bwMode="auto">
          <a:xfrm flipH="1">
            <a:off x="7356475" y="5053013"/>
            <a:ext cx="430213"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3" name="Text Box 98"/>
          <p:cNvSpPr txBox="1">
            <a:spLocks noChangeArrowheads="1"/>
          </p:cNvSpPr>
          <p:nvPr/>
        </p:nvSpPr>
        <p:spPr bwMode="auto">
          <a:xfrm>
            <a:off x="7785100" y="4556125"/>
            <a:ext cx="1255713"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10000"/>
              </a:spcBef>
            </a:pPr>
            <a:r>
              <a:rPr kumimoji="1" lang="zh-CN" altLang="en-US" sz="2800" b="1">
                <a:latin typeface="Times New Roman" pitchFamily="18" charset="0"/>
                <a:ea typeface="宋体" charset="-122"/>
              </a:rPr>
              <a:t>正中间</a:t>
            </a:r>
          </a:p>
          <a:p>
            <a:pPr eaLnBrk="1" hangingPunct="1">
              <a:spcBef>
                <a:spcPct val="10000"/>
              </a:spcBef>
            </a:pPr>
            <a:r>
              <a:rPr kumimoji="1" lang="zh-CN" altLang="en-US" sz="2800" b="1">
                <a:latin typeface="Times New Roman" pitchFamily="18" charset="0"/>
                <a:ea typeface="宋体" charset="-122"/>
              </a:rPr>
              <a:t>的元素</a:t>
            </a:r>
          </a:p>
        </p:txBody>
      </p:sp>
    </p:spTree>
    <p:extLst>
      <p:ext uri="{BB962C8B-B14F-4D97-AF65-F5344CB8AC3E}">
        <p14:creationId xmlns:p14="http://schemas.microsoft.com/office/powerpoint/2010/main" val="3642614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举例</a:t>
            </a:r>
            <a:r>
              <a:rPr lang="en-US" altLang="zh-CN" sz="4800" noProof="0">
                <a:solidFill>
                  <a:schemeClr val="accent2"/>
                </a:solidFill>
                <a:latin typeface="Times New Roman" pitchFamily="18" charset="0"/>
                <a:ea typeface="隶书" pitchFamily="49" charset="-122"/>
                <a:cs typeface="Times New Roman" pitchFamily="18" charset="0"/>
              </a:rPr>
              <a:t>(cont.)</a:t>
            </a:r>
            <a:endParaRPr kumimoji="0" lang="zh-CN" altLang="en-US" sz="4800" b="1" i="0" u="none" strike="noStrike" kern="1200" cap="none" spc="0" normalizeH="0" baseline="0" noProof="0" dirty="0">
              <a:ln>
                <a:noFill/>
              </a:ln>
              <a:solidFill>
                <a:schemeClr val="accent2"/>
              </a:solidFill>
              <a:effectLst/>
              <a:uLnTx/>
              <a:uFillTx/>
              <a:latin typeface="Times New Roman" pitchFamily="18" charset="0"/>
              <a:ea typeface="隶书" pitchFamily="49" charset="-122"/>
              <a:cs typeface="Times New Roman" pitchFamily="18" charset="0"/>
            </a:endParaRPr>
          </a:p>
        </p:txBody>
      </p:sp>
      <p:graphicFrame>
        <p:nvGraphicFramePr>
          <p:cNvPr id="11" name="Group 136"/>
          <p:cNvGraphicFramePr>
            <a:graphicFrameLocks noGrp="1"/>
          </p:cNvGraphicFramePr>
          <p:nvPr>
            <p:extLst>
              <p:ext uri="{D42A27DB-BD31-4B8C-83A1-F6EECF244321}">
                <p14:modId xmlns:p14="http://schemas.microsoft.com/office/powerpoint/2010/main" val="3830651782"/>
              </p:ext>
            </p:extLst>
          </p:nvPr>
        </p:nvGraphicFramePr>
        <p:xfrm>
          <a:off x="4903788" y="76200"/>
          <a:ext cx="2438400" cy="6675431"/>
        </p:xfrm>
        <a:graphic>
          <a:graphicData uri="http://schemas.openxmlformats.org/drawingml/2006/table">
            <a:tbl>
              <a:tblPr/>
              <a:tblGrid>
                <a:gridCol w="2438400">
                  <a:extLst>
                    <a:ext uri="{9D8B030D-6E8A-4147-A177-3AD203B41FA5}">
                      <a16:colId xmlns:a16="http://schemas.microsoft.com/office/drawing/2014/main" val="20000"/>
                    </a:ext>
                  </a:extLst>
                </a:gridCol>
              </a:tblGrid>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4120243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4276013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4328968</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4397700</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4462718</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4466240</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4475579</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4478964</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4480332</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4494763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4499043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4508710</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4549243</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accent4">
                              <a:lumMod val="60000"/>
                              <a:lumOff val="40000"/>
                            </a:schemeClr>
                          </a:solidFill>
                          <a:effectLst/>
                          <a:latin typeface="Times New Roman" pitchFamily="18" charset="0"/>
                          <a:ea typeface="宋体" pitchFamily="2" charset="-122"/>
                        </a:rPr>
                        <a:t>4563697</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4564531</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C80495"/>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45722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1" i="0" u="none" strike="noStrike" cap="none" normalizeH="0" baseline="0">
                          <a:ln>
                            <a:noFill/>
                          </a:ln>
                          <a:solidFill>
                            <a:srgbClr val="C80495"/>
                          </a:solidFill>
                          <a:effectLst/>
                          <a:latin typeface="Times New Roman" pitchFamily="18" charset="0"/>
                          <a:ea typeface="宋体" pitchFamily="2" charset="-122"/>
                        </a:rPr>
                        <a:t>4565926</a:t>
                      </a:r>
                    </a:p>
                  </a:txBody>
                  <a:tcPr marT="45722" marB="45722" anchor="ctr" anchorCtr="1" horzOverflow="overflow">
                    <a:lnL w="28575" cap="flat" cmpd="sng" algn="ctr">
                      <a:solidFill>
                        <a:srgbClr val="C80495"/>
                      </a:solidFill>
                      <a:prstDash val="solid"/>
                      <a:round/>
                      <a:headEnd type="none" w="med" len="med"/>
                      <a:tailEnd type="none" w="med" len="med"/>
                    </a:lnL>
                    <a:lnR w="28575" cap="flat" cmpd="sng" algn="ctr">
                      <a:solidFill>
                        <a:srgbClr val="C80495"/>
                      </a:solidFill>
                      <a:prstDash val="solid"/>
                      <a:round/>
                      <a:headEnd type="none" w="med" len="med"/>
                      <a:tailEnd type="none" w="med" len="med"/>
                    </a:lnR>
                    <a:lnT w="28575" cap="flat" cmpd="sng" algn="ctr">
                      <a:solidFill>
                        <a:srgbClr val="C80495"/>
                      </a:solidFill>
                      <a:prstDash val="solid"/>
                      <a:round/>
                      <a:headEnd type="none" w="med" len="med"/>
                      <a:tailEnd type="none" w="med" len="med"/>
                    </a:lnT>
                    <a:lnB w="28575" cap="flat" cmpd="sng" algn="ctr">
                      <a:solidFill>
                        <a:srgbClr val="C80495"/>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4566088</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rgbClr val="C80495"/>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6577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4572874</a:t>
                      </a:r>
                    </a:p>
                  </a:txBody>
                  <a:tcPr marT="45722" marB="45722"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12" name="Text Box 101"/>
          <p:cNvSpPr txBox="1">
            <a:spLocks noChangeArrowheads="1"/>
          </p:cNvSpPr>
          <p:nvPr/>
        </p:nvSpPr>
        <p:spPr bwMode="auto">
          <a:xfrm>
            <a:off x="962025" y="1778000"/>
            <a:ext cx="3160713"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50000"/>
              </a:spcBef>
            </a:pPr>
            <a:r>
              <a:rPr kumimoji="1" lang="zh-CN" altLang="en-US" sz="3600" b="1">
                <a:latin typeface="Times New Roman" pitchFamily="18" charset="0"/>
                <a:ea typeface="宋体" charset="-122"/>
              </a:rPr>
              <a:t>请问：</a:t>
            </a:r>
          </a:p>
          <a:p>
            <a:pPr eaLnBrk="1" hangingPunct="1">
              <a:spcBef>
                <a:spcPct val="50000"/>
              </a:spcBef>
            </a:pPr>
            <a:r>
              <a:rPr kumimoji="1" lang="en-US" altLang="zh-CN" sz="3600" b="1">
                <a:solidFill>
                  <a:srgbClr val="C80495"/>
                </a:solidFill>
                <a:latin typeface="Times New Roman" pitchFamily="18" charset="0"/>
                <a:ea typeface="宋体" charset="-122"/>
              </a:rPr>
              <a:t>4565926</a:t>
            </a:r>
            <a:r>
              <a:rPr kumimoji="1" lang="zh-CN" altLang="en-US" sz="3600" b="1">
                <a:latin typeface="Times New Roman" pitchFamily="18" charset="0"/>
                <a:ea typeface="宋体" charset="-122"/>
              </a:rPr>
              <a:t>是否在</a:t>
            </a:r>
          </a:p>
          <a:p>
            <a:pPr eaLnBrk="1" hangingPunct="1">
              <a:spcBef>
                <a:spcPct val="50000"/>
              </a:spcBef>
            </a:pPr>
            <a:r>
              <a:rPr kumimoji="1" lang="zh-CN" altLang="en-US" sz="3600" b="1">
                <a:latin typeface="Times New Roman" pitchFamily="18" charset="0"/>
                <a:ea typeface="宋体" charset="-122"/>
              </a:rPr>
              <a:t>此列表当中？</a:t>
            </a:r>
          </a:p>
        </p:txBody>
      </p:sp>
      <p:sp>
        <p:nvSpPr>
          <p:cNvPr id="13" name="Line 102"/>
          <p:cNvSpPr>
            <a:spLocks noChangeShapeType="1"/>
          </p:cNvSpPr>
          <p:nvPr/>
        </p:nvSpPr>
        <p:spPr bwMode="auto">
          <a:xfrm flipH="1">
            <a:off x="7356475" y="5767388"/>
            <a:ext cx="430213"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5" name="Text Box 103"/>
          <p:cNvSpPr txBox="1">
            <a:spLocks noChangeArrowheads="1"/>
          </p:cNvSpPr>
          <p:nvPr/>
        </p:nvSpPr>
        <p:spPr bwMode="auto">
          <a:xfrm>
            <a:off x="7785100" y="5270500"/>
            <a:ext cx="1255713"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10000"/>
              </a:spcBef>
            </a:pPr>
            <a:r>
              <a:rPr kumimoji="1" lang="zh-CN" altLang="en-US" sz="2800" b="1">
                <a:latin typeface="Times New Roman" pitchFamily="18" charset="0"/>
                <a:ea typeface="宋体" charset="-122"/>
              </a:rPr>
              <a:t>正中间</a:t>
            </a:r>
          </a:p>
          <a:p>
            <a:pPr eaLnBrk="1" hangingPunct="1">
              <a:spcBef>
                <a:spcPct val="10000"/>
              </a:spcBef>
            </a:pPr>
            <a:r>
              <a:rPr kumimoji="1" lang="zh-CN" altLang="en-US" sz="2800" b="1">
                <a:latin typeface="Times New Roman" pitchFamily="18" charset="0"/>
                <a:ea typeface="宋体" charset="-122"/>
              </a:rPr>
              <a:t>的元素</a:t>
            </a:r>
          </a:p>
        </p:txBody>
      </p:sp>
      <p:sp>
        <p:nvSpPr>
          <p:cNvPr id="16" name="Text Box 104"/>
          <p:cNvSpPr txBox="1">
            <a:spLocks noChangeArrowheads="1"/>
          </p:cNvSpPr>
          <p:nvPr/>
        </p:nvSpPr>
        <p:spPr bwMode="auto">
          <a:xfrm>
            <a:off x="7356475" y="3987800"/>
            <a:ext cx="1612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10000"/>
              </a:spcBef>
            </a:pPr>
            <a:r>
              <a:rPr kumimoji="1" lang="zh-CN" altLang="en-US" sz="2800" b="1">
                <a:latin typeface="Times New Roman" pitchFamily="18" charset="0"/>
                <a:ea typeface="宋体" charset="-122"/>
              </a:rPr>
              <a:t>不予考虑</a:t>
            </a:r>
          </a:p>
        </p:txBody>
      </p:sp>
      <p:sp>
        <p:nvSpPr>
          <p:cNvPr id="17" name="Line 105"/>
          <p:cNvSpPr>
            <a:spLocks noChangeShapeType="1"/>
          </p:cNvSpPr>
          <p:nvPr/>
        </p:nvSpPr>
        <p:spPr bwMode="auto">
          <a:xfrm>
            <a:off x="7369175" y="5195888"/>
            <a:ext cx="7667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8" name="Line 106"/>
          <p:cNvSpPr>
            <a:spLocks noChangeShapeType="1"/>
          </p:cNvSpPr>
          <p:nvPr/>
        </p:nvSpPr>
        <p:spPr bwMode="auto">
          <a:xfrm>
            <a:off x="7369175" y="3351213"/>
            <a:ext cx="7667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9" name="Line 107"/>
          <p:cNvSpPr>
            <a:spLocks noChangeShapeType="1"/>
          </p:cNvSpPr>
          <p:nvPr/>
        </p:nvSpPr>
        <p:spPr bwMode="auto">
          <a:xfrm flipH="1" flipV="1">
            <a:off x="7831138" y="4457700"/>
            <a:ext cx="0" cy="738188"/>
          </a:xfrm>
          <a:prstGeom prst="line">
            <a:avLst/>
          </a:prstGeom>
          <a:noFill/>
          <a:ln w="28575">
            <a:solidFill>
              <a:schemeClr val="tx1"/>
            </a:solidFill>
            <a:round/>
            <a:headEnd type="triangle" w="lg" len="me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0" name="Line 108"/>
          <p:cNvSpPr>
            <a:spLocks noChangeShapeType="1"/>
          </p:cNvSpPr>
          <p:nvPr/>
        </p:nvSpPr>
        <p:spPr bwMode="auto">
          <a:xfrm flipV="1">
            <a:off x="7826375" y="3359150"/>
            <a:ext cx="0" cy="62865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spAutoFit/>
          </a:bodyPr>
          <a:lstStyle/>
          <a:p>
            <a:endParaRPr lang="zh-CN" altLang="en-US"/>
          </a:p>
        </p:txBody>
      </p:sp>
    </p:spTree>
    <p:extLst>
      <p:ext uri="{BB962C8B-B14F-4D97-AF65-F5344CB8AC3E}">
        <p14:creationId xmlns:p14="http://schemas.microsoft.com/office/powerpoint/2010/main" val="3171047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参考代码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33" name="Rectangle 3"/>
          <p:cNvSpPr>
            <a:spLocks noChangeArrowheads="1"/>
          </p:cNvSpPr>
          <p:nvPr/>
        </p:nvSpPr>
        <p:spPr bwMode="auto">
          <a:xfrm>
            <a:off x="966137" y="1173308"/>
            <a:ext cx="6756388" cy="4893647"/>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r>
              <a:rPr kumimoji="1" lang="en-US" altLang="zh-CN" sz="2400" b="1" dirty="0">
                <a:latin typeface="Courier New" pitchFamily="49" charset="0"/>
                <a:ea typeface="宋体" charset="-122"/>
              </a:rPr>
              <a:t>left = 1</a:t>
            </a:r>
          </a:p>
          <a:p>
            <a:r>
              <a:rPr kumimoji="1" lang="en-US" altLang="zh-CN" sz="2400" b="1" dirty="0">
                <a:latin typeface="Courier New" pitchFamily="49" charset="0"/>
                <a:ea typeface="宋体" charset="-122"/>
              </a:rPr>
              <a:t>right = 1000</a:t>
            </a:r>
          </a:p>
          <a:p>
            <a:r>
              <a:rPr kumimoji="1" lang="en-US" altLang="zh-CN" sz="2400" b="1" dirty="0">
                <a:latin typeface="Courier New" pitchFamily="49" charset="0"/>
                <a:ea typeface="宋体" charset="-122"/>
              </a:rPr>
              <a:t>for </a:t>
            </a:r>
            <a:r>
              <a:rPr kumimoji="1" lang="en-US" altLang="zh-CN" sz="2400" b="1" dirty="0" err="1">
                <a:latin typeface="Courier New" pitchFamily="49" charset="0"/>
                <a:ea typeface="宋体" charset="-122"/>
              </a:rPr>
              <a:t>i</a:t>
            </a:r>
            <a:r>
              <a:rPr kumimoji="1" lang="en-US" altLang="zh-CN" sz="2400" b="1" dirty="0">
                <a:latin typeface="Courier New" pitchFamily="49" charset="0"/>
                <a:ea typeface="宋体" charset="-122"/>
              </a:rPr>
              <a:t> in range(10):</a:t>
            </a:r>
          </a:p>
          <a:p>
            <a:r>
              <a:rPr kumimoji="1" lang="en-US" altLang="zh-CN" sz="2400" b="1" dirty="0">
                <a:latin typeface="Courier New" pitchFamily="49" charset="0"/>
                <a:ea typeface="宋体" charset="-122"/>
              </a:rPr>
              <a:t>    middle = (left + right) // 2</a:t>
            </a:r>
          </a:p>
          <a:p>
            <a:r>
              <a:rPr kumimoji="1" lang="en-US" altLang="zh-CN" sz="2400" b="1" dirty="0">
                <a:latin typeface="Courier New" pitchFamily="49" charset="0"/>
                <a:ea typeface="宋体" charset="-122"/>
              </a:rPr>
              <a:t>    print("</a:t>
            </a:r>
            <a:r>
              <a:rPr kumimoji="1" lang="zh-CN" altLang="en-US" sz="2400" b="1" dirty="0">
                <a:latin typeface="Courier New" pitchFamily="49" charset="0"/>
                <a:ea typeface="宋体" charset="-122"/>
              </a:rPr>
              <a:t>我猜是</a:t>
            </a:r>
            <a:r>
              <a:rPr kumimoji="1" lang="en-US" altLang="zh-CN" sz="2400" b="1" dirty="0">
                <a:latin typeface="Courier New" pitchFamily="49" charset="0"/>
                <a:ea typeface="宋体" charset="-122"/>
              </a:rPr>
              <a:t>", middle)</a:t>
            </a:r>
          </a:p>
          <a:p>
            <a:r>
              <a:rPr kumimoji="1" lang="en-US" altLang="zh-CN" sz="2400" b="1" dirty="0">
                <a:latin typeface="Courier New" pitchFamily="49" charset="0"/>
                <a:ea typeface="宋体" charset="-122"/>
              </a:rPr>
              <a:t>    result = input()</a:t>
            </a:r>
          </a:p>
          <a:p>
            <a:r>
              <a:rPr kumimoji="1" lang="en-US" altLang="zh-CN" sz="2400" b="1" dirty="0">
                <a:latin typeface="Courier New" pitchFamily="49" charset="0"/>
                <a:ea typeface="宋体" charset="-122"/>
              </a:rPr>
              <a:t>    if result == 'H':</a:t>
            </a:r>
          </a:p>
          <a:p>
            <a:r>
              <a:rPr kumimoji="1" lang="en-US" altLang="zh-CN" sz="2400" b="1" dirty="0">
                <a:latin typeface="Courier New" pitchFamily="49" charset="0"/>
                <a:ea typeface="宋体" charset="-122"/>
              </a:rPr>
              <a:t>        right = middle - 1</a:t>
            </a:r>
          </a:p>
          <a:p>
            <a:r>
              <a:rPr kumimoji="1" lang="en-US" altLang="zh-CN" sz="2400" b="1" dirty="0">
                <a:latin typeface="Courier New" pitchFamily="49" charset="0"/>
                <a:ea typeface="宋体" charset="-122"/>
              </a:rPr>
              <a:t>    </a:t>
            </a:r>
            <a:r>
              <a:rPr kumimoji="1" lang="en-US" altLang="zh-CN" sz="2400" b="1" dirty="0" err="1">
                <a:latin typeface="Courier New" pitchFamily="49" charset="0"/>
                <a:ea typeface="宋体" charset="-122"/>
              </a:rPr>
              <a:t>elif</a:t>
            </a:r>
            <a:r>
              <a:rPr kumimoji="1" lang="en-US" altLang="zh-CN" sz="2400" b="1" dirty="0">
                <a:latin typeface="Courier New" pitchFamily="49" charset="0"/>
                <a:ea typeface="宋体" charset="-122"/>
              </a:rPr>
              <a:t> result == 'L':</a:t>
            </a:r>
          </a:p>
          <a:p>
            <a:r>
              <a:rPr kumimoji="1" lang="en-US" altLang="zh-CN" sz="2400" b="1" dirty="0">
                <a:latin typeface="Courier New" pitchFamily="49" charset="0"/>
                <a:ea typeface="宋体" charset="-122"/>
              </a:rPr>
              <a:t>        left = middle + 1</a:t>
            </a:r>
          </a:p>
          <a:p>
            <a:r>
              <a:rPr kumimoji="1" lang="en-US" altLang="zh-CN" sz="2400" b="1" dirty="0">
                <a:latin typeface="Courier New" pitchFamily="49" charset="0"/>
                <a:ea typeface="宋体" charset="-122"/>
              </a:rPr>
              <a:t>    </a:t>
            </a:r>
            <a:r>
              <a:rPr kumimoji="1" lang="en-US" altLang="zh-CN" sz="2400" b="1" dirty="0" err="1">
                <a:latin typeface="Courier New" pitchFamily="49" charset="0"/>
                <a:ea typeface="宋体" charset="-122"/>
              </a:rPr>
              <a:t>elif</a:t>
            </a:r>
            <a:r>
              <a:rPr kumimoji="1" lang="en-US" altLang="zh-CN" sz="2400" b="1" dirty="0">
                <a:latin typeface="Courier New" pitchFamily="49" charset="0"/>
                <a:ea typeface="宋体" charset="-122"/>
              </a:rPr>
              <a:t> result == 'E':</a:t>
            </a:r>
          </a:p>
          <a:p>
            <a:r>
              <a:rPr kumimoji="1" lang="en-US" altLang="zh-CN" sz="2400" b="1" dirty="0">
                <a:latin typeface="Courier New" pitchFamily="49" charset="0"/>
                <a:ea typeface="宋体" charset="-122"/>
              </a:rPr>
              <a:t>       print("</a:t>
            </a:r>
            <a:r>
              <a:rPr kumimoji="1" lang="zh-CN" altLang="en-US" sz="2400" b="1" dirty="0">
                <a:latin typeface="Courier New" pitchFamily="49" charset="0"/>
                <a:ea typeface="宋体" charset="-122"/>
              </a:rPr>
              <a:t>耶，我又猜对了！</a:t>
            </a:r>
            <a:r>
              <a:rPr kumimoji="1" lang="en-US" altLang="zh-CN" sz="2400" b="1" dirty="0">
                <a:latin typeface="Courier New" pitchFamily="49" charset="0"/>
                <a:ea typeface="宋体" charset="-122"/>
              </a:rPr>
              <a:t>")</a:t>
            </a:r>
          </a:p>
          <a:p>
            <a:r>
              <a:rPr kumimoji="1" lang="en-US" altLang="zh-CN" sz="2400" b="1" dirty="0">
                <a:latin typeface="Courier New" pitchFamily="49" charset="0"/>
                <a:ea typeface="宋体" charset="-122"/>
              </a:rPr>
              <a:t>       break</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7190" y="1400694"/>
            <a:ext cx="4489450" cy="45720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118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1000"/>
                                        <p:tgtEl>
                                          <p:spTgt spid="1027"/>
                                        </p:tgtEl>
                                      </p:cBhvr>
                                    </p:animEffect>
                                    <p:anim calcmode="lin" valueType="num">
                                      <p:cBhvr>
                                        <p:cTn id="8" dur="1000" fill="hold"/>
                                        <p:tgtEl>
                                          <p:spTgt spid="1027"/>
                                        </p:tgtEl>
                                        <p:attrNameLst>
                                          <p:attrName>ppt_x</p:attrName>
                                        </p:attrNameLst>
                                      </p:cBhvr>
                                      <p:tavLst>
                                        <p:tav tm="0">
                                          <p:val>
                                            <p:strVal val="#ppt_x"/>
                                          </p:val>
                                        </p:tav>
                                        <p:tav tm="100000">
                                          <p:val>
                                            <p:strVal val="#ppt_x"/>
                                          </p:val>
                                        </p:tav>
                                      </p:tavLst>
                                    </p:anim>
                                    <p:anim calcmode="lin" valueType="num">
                                      <p:cBhvr>
                                        <p:cTn id="9" dur="1000" fill="hold"/>
                                        <p:tgtEl>
                                          <p:spTgt spid="10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3.2 while</a:t>
            </a:r>
            <a:r>
              <a:rPr lang="zh-CN" altLang="en-US" sz="4800" noProof="0">
                <a:solidFill>
                  <a:schemeClr val="accent2"/>
                </a:solidFill>
                <a:latin typeface="隶书" pitchFamily="49" charset="-122"/>
                <a:ea typeface="隶书" pitchFamily="49" charset="-122"/>
              </a:rPr>
              <a:t>语句</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28" name="圆角矩形 27"/>
          <p:cNvSpPr/>
          <p:nvPr/>
        </p:nvSpPr>
        <p:spPr bwMode="auto">
          <a:xfrm>
            <a:off x="4721629" y="2924688"/>
            <a:ext cx="860408" cy="1855788"/>
          </a:xfrm>
          <a:prstGeom prst="roundRect">
            <a:avLst/>
          </a:prstGeom>
          <a:solidFill>
            <a:srgbClr val="D1D1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Tx/>
              <a:buSzTx/>
              <a:buFont typeface="Wingdings" pitchFamily="2" charset="2"/>
              <a:buChar char="•"/>
              <a:tabLst/>
            </a:pPr>
            <a:endParaRPr kumimoji="0" lang="zh-CN" altLang="en-US" sz="1800" b="0" i="0" u="none" strike="noStrike" cap="none" normalizeH="0" baseline="0">
              <a:ln>
                <a:noFill/>
              </a:ln>
              <a:solidFill>
                <a:schemeClr val="tx1"/>
              </a:solidFill>
              <a:effectLst/>
              <a:latin typeface="Arial" pitchFamily="34" charset="0"/>
              <a:ea typeface="黑体" pitchFamily="49" charset="-122"/>
            </a:endParaRPr>
          </a:p>
        </p:txBody>
      </p:sp>
      <p:sp>
        <p:nvSpPr>
          <p:cNvPr id="29" name="Text Box 4" descr="再生纸"/>
          <p:cNvSpPr txBox="1">
            <a:spLocks noChangeArrowheads="1"/>
          </p:cNvSpPr>
          <p:nvPr/>
        </p:nvSpPr>
        <p:spPr bwMode="auto">
          <a:xfrm>
            <a:off x="1924437" y="2343663"/>
            <a:ext cx="2244525" cy="584775"/>
          </a:xfrm>
          <a:prstGeom prst="rect">
            <a:avLst/>
          </a:prstGeom>
          <a:noFill/>
          <a:ln w="9525">
            <a:noFill/>
            <a:miter lim="800000"/>
            <a:headEnd/>
            <a:tailEnd/>
          </a:ln>
        </p:spPr>
        <p:txBody>
          <a:bodyPr wrap="none">
            <a:spAutoFit/>
          </a:bodyPr>
          <a:lstStyle/>
          <a:p>
            <a:pPr>
              <a:spcBef>
                <a:spcPct val="50000"/>
              </a:spcBef>
              <a:buNone/>
            </a:pPr>
            <a:r>
              <a:rPr kumimoji="1" lang="zh-CN" altLang="en-US" sz="3200" b="1">
                <a:solidFill>
                  <a:schemeClr val="tx1"/>
                </a:solidFill>
                <a:latin typeface="Times New Roman" pitchFamily="18" charset="0"/>
                <a:ea typeface="宋体" charset="-122"/>
              </a:rPr>
              <a:t>一般形式：</a:t>
            </a:r>
          </a:p>
        </p:txBody>
      </p:sp>
      <p:sp>
        <p:nvSpPr>
          <p:cNvPr id="30" name="Rectangle 17"/>
          <p:cNvSpPr>
            <a:spLocks noChangeArrowheads="1"/>
          </p:cNvSpPr>
          <p:nvPr/>
        </p:nvSpPr>
        <p:spPr bwMode="auto">
          <a:xfrm>
            <a:off x="4486662" y="2373826"/>
            <a:ext cx="2901756" cy="2800767"/>
          </a:xfrm>
          <a:prstGeom prst="rect">
            <a:avLst/>
          </a:prstGeom>
          <a:noFill/>
          <a:ln w="9525">
            <a:noFill/>
            <a:miter lim="800000"/>
            <a:headEnd/>
            <a:tailEnd/>
          </a:ln>
        </p:spPr>
        <p:txBody>
          <a:bodyPr wrap="none">
            <a:spAutoFit/>
          </a:bodyPr>
          <a:lstStyle/>
          <a:p>
            <a:pPr>
              <a:spcBef>
                <a:spcPct val="50000"/>
              </a:spcBef>
              <a:buNone/>
            </a:pPr>
            <a:r>
              <a:rPr kumimoji="1" lang="zh-CN" altLang="en-US" sz="3200" b="1">
                <a:solidFill>
                  <a:schemeClr val="tx1"/>
                </a:solidFill>
                <a:latin typeface="Times New Roman" pitchFamily="18" charset="0"/>
                <a:ea typeface="宋体" charset="-122"/>
              </a:rPr>
              <a:t> </a:t>
            </a:r>
            <a:r>
              <a:rPr kumimoji="1" lang="en-US" altLang="zh-CN" sz="3200" b="1">
                <a:solidFill>
                  <a:schemeClr val="tx1"/>
                </a:solidFill>
                <a:latin typeface="Times New Roman" pitchFamily="18" charset="0"/>
                <a:ea typeface="宋体" charset="-122"/>
              </a:rPr>
              <a:t>while  </a:t>
            </a:r>
            <a:r>
              <a:rPr kumimoji="1" lang="zh-CN" altLang="en-US" sz="3200" b="1">
                <a:solidFill>
                  <a:schemeClr val="tx1"/>
                </a:solidFill>
                <a:latin typeface="Times New Roman" pitchFamily="18" charset="0"/>
                <a:ea typeface="宋体" charset="-122"/>
              </a:rPr>
              <a:t>表达式</a:t>
            </a:r>
            <a:r>
              <a:rPr kumimoji="1" lang="en-US" altLang="zh-CN" sz="3200" b="1">
                <a:latin typeface="Times New Roman" pitchFamily="18" charset="0"/>
                <a:ea typeface="宋体" charset="-122"/>
              </a:rPr>
              <a:t> </a:t>
            </a:r>
            <a:r>
              <a:rPr kumimoji="1" lang="en-US" altLang="zh-CN" sz="3200" b="1">
                <a:solidFill>
                  <a:schemeClr val="tx1"/>
                </a:solidFill>
                <a:latin typeface="Times New Roman" pitchFamily="18" charset="0"/>
                <a:ea typeface="宋体" charset="-122"/>
              </a:rPr>
              <a:t>:</a:t>
            </a:r>
          </a:p>
          <a:p>
            <a:pPr>
              <a:spcBef>
                <a:spcPct val="50000"/>
              </a:spcBef>
              <a:buNone/>
            </a:pPr>
            <a:r>
              <a:rPr kumimoji="1" lang="en-US" altLang="zh-CN" sz="3200" b="1">
                <a:solidFill>
                  <a:schemeClr val="tx1"/>
                </a:solidFill>
                <a:latin typeface="Times New Roman" pitchFamily="18" charset="0"/>
                <a:ea typeface="宋体" charset="-122"/>
              </a:rPr>
              <a:t> </a:t>
            </a:r>
          </a:p>
          <a:p>
            <a:pPr>
              <a:spcBef>
                <a:spcPct val="50000"/>
              </a:spcBef>
              <a:buNone/>
            </a:pPr>
            <a:r>
              <a:rPr kumimoji="1" lang="en-US" altLang="zh-CN" sz="3200" b="1">
                <a:solidFill>
                  <a:schemeClr val="tx1"/>
                </a:solidFill>
                <a:latin typeface="Times New Roman" pitchFamily="18" charset="0"/>
                <a:ea typeface="宋体" charset="-122"/>
              </a:rPr>
              <a:t>             </a:t>
            </a:r>
            <a:r>
              <a:rPr kumimoji="1" lang="zh-CN" altLang="en-US" sz="3200" b="1">
                <a:solidFill>
                  <a:schemeClr val="tx1"/>
                </a:solidFill>
                <a:latin typeface="Times New Roman" pitchFamily="18" charset="0"/>
                <a:ea typeface="宋体" charset="-122"/>
              </a:rPr>
              <a:t>语句块</a:t>
            </a:r>
          </a:p>
          <a:p>
            <a:pPr>
              <a:spcBef>
                <a:spcPct val="50000"/>
              </a:spcBef>
              <a:buNone/>
            </a:pPr>
            <a:r>
              <a:rPr kumimoji="1" lang="en-US" altLang="zh-CN" sz="3200" b="1">
                <a:solidFill>
                  <a:schemeClr val="tx1"/>
                </a:solidFill>
                <a:latin typeface="Times New Roman" pitchFamily="18" charset="0"/>
                <a:ea typeface="宋体" charset="-122"/>
              </a:rPr>
              <a:t> </a:t>
            </a:r>
          </a:p>
        </p:txBody>
      </p:sp>
      <p:sp>
        <p:nvSpPr>
          <p:cNvPr id="31" name="Line 22"/>
          <p:cNvSpPr>
            <a:spLocks noChangeShapeType="1"/>
          </p:cNvSpPr>
          <p:nvPr/>
        </p:nvSpPr>
        <p:spPr bwMode="auto">
          <a:xfrm flipH="1">
            <a:off x="6425784" y="1934088"/>
            <a:ext cx="14288" cy="442913"/>
          </a:xfrm>
          <a:prstGeom prst="line">
            <a:avLst/>
          </a:prstGeom>
          <a:noFill/>
          <a:ln w="57150">
            <a:solidFill>
              <a:srgbClr val="FF6600"/>
            </a:solidFill>
            <a:round/>
            <a:headEnd/>
            <a:tailEnd type="triangle" w="med" len="med"/>
          </a:ln>
        </p:spPr>
        <p:txBody>
          <a:bodyPr wrap="none">
            <a:spAutoFit/>
          </a:bodyPr>
          <a:lstStyle/>
          <a:p>
            <a:pPr>
              <a:buNone/>
            </a:pPr>
            <a:endParaRPr lang="zh-CN" altLang="en-US"/>
          </a:p>
        </p:txBody>
      </p:sp>
      <p:grpSp>
        <p:nvGrpSpPr>
          <p:cNvPr id="32" name="Group 23"/>
          <p:cNvGrpSpPr>
            <a:grpSpLocks/>
          </p:cNvGrpSpPr>
          <p:nvPr/>
        </p:nvGrpSpPr>
        <p:grpSpPr bwMode="auto">
          <a:xfrm>
            <a:off x="7209225" y="2518288"/>
            <a:ext cx="1747838" cy="2054224"/>
            <a:chOff x="3590" y="626"/>
            <a:chExt cx="1101" cy="1294"/>
          </a:xfrm>
        </p:grpSpPr>
        <p:sp>
          <p:nvSpPr>
            <p:cNvPr id="33" name="Line 24"/>
            <p:cNvSpPr>
              <a:spLocks noChangeShapeType="1"/>
            </p:cNvSpPr>
            <p:nvPr/>
          </p:nvSpPr>
          <p:spPr bwMode="auto">
            <a:xfrm rot="18900000" flipH="1">
              <a:off x="3659" y="626"/>
              <a:ext cx="9" cy="1130"/>
            </a:xfrm>
            <a:prstGeom prst="line">
              <a:avLst/>
            </a:prstGeom>
            <a:noFill/>
            <a:ln w="57150">
              <a:solidFill>
                <a:srgbClr val="FF6600"/>
              </a:solidFill>
              <a:round/>
              <a:headEnd/>
              <a:tailEnd type="triangle" w="med" len="med"/>
            </a:ln>
          </p:spPr>
          <p:txBody>
            <a:bodyPr>
              <a:spAutoFit/>
            </a:bodyPr>
            <a:lstStyle/>
            <a:p>
              <a:pPr>
                <a:buNone/>
              </a:pPr>
              <a:endParaRPr lang="zh-CN" altLang="en-US"/>
            </a:p>
          </p:txBody>
        </p:sp>
        <p:sp>
          <p:nvSpPr>
            <p:cNvPr id="34" name="Rectangle 25"/>
            <p:cNvSpPr>
              <a:spLocks noChangeArrowheads="1"/>
            </p:cNvSpPr>
            <p:nvPr/>
          </p:nvSpPr>
          <p:spPr bwMode="auto">
            <a:xfrm>
              <a:off x="3590" y="871"/>
              <a:ext cx="344" cy="330"/>
            </a:xfrm>
            <a:prstGeom prst="rect">
              <a:avLst/>
            </a:prstGeom>
            <a:noFill/>
            <a:ln w="9525">
              <a:noFill/>
              <a:miter lim="800000"/>
              <a:headEnd/>
              <a:tailEnd/>
            </a:ln>
          </p:spPr>
          <p:txBody>
            <a:bodyPr wrap="none">
              <a:spAutoFit/>
            </a:bodyPr>
            <a:lstStyle/>
            <a:p>
              <a:pPr>
                <a:spcBef>
                  <a:spcPct val="50000"/>
                </a:spcBef>
                <a:buNone/>
              </a:pPr>
              <a:r>
                <a:rPr kumimoji="1" lang="zh-CN" altLang="en-US" sz="2800" b="1">
                  <a:solidFill>
                    <a:schemeClr val="tx1"/>
                  </a:solidFill>
                  <a:latin typeface="Times New Roman" pitchFamily="18" charset="0"/>
                  <a:ea typeface="宋体" charset="-122"/>
                </a:rPr>
                <a:t>假</a:t>
              </a:r>
            </a:p>
          </p:txBody>
        </p:sp>
        <p:sp>
          <p:nvSpPr>
            <p:cNvPr id="35" name="Rectangle 26"/>
            <p:cNvSpPr>
              <a:spLocks noChangeArrowheads="1"/>
            </p:cNvSpPr>
            <p:nvPr/>
          </p:nvSpPr>
          <p:spPr bwMode="auto">
            <a:xfrm>
              <a:off x="3666" y="1590"/>
              <a:ext cx="1025" cy="330"/>
            </a:xfrm>
            <a:prstGeom prst="rect">
              <a:avLst/>
            </a:prstGeom>
            <a:noFill/>
            <a:ln w="9525">
              <a:noFill/>
              <a:miter lim="800000"/>
              <a:headEnd/>
              <a:tailEnd/>
            </a:ln>
          </p:spPr>
          <p:txBody>
            <a:bodyPr wrap="none">
              <a:spAutoFit/>
            </a:bodyPr>
            <a:lstStyle/>
            <a:p>
              <a:pPr>
                <a:spcBef>
                  <a:spcPct val="50000"/>
                </a:spcBef>
                <a:buNone/>
              </a:pPr>
              <a:r>
                <a:rPr kumimoji="1" lang="zh-CN" altLang="en-US" sz="2800" b="1">
                  <a:solidFill>
                    <a:schemeClr val="tx1"/>
                  </a:solidFill>
                  <a:latin typeface="Times New Roman" pitchFamily="18" charset="0"/>
                  <a:ea typeface="宋体" charset="-122"/>
                </a:rPr>
                <a:t>结束循环</a:t>
              </a:r>
            </a:p>
          </p:txBody>
        </p:sp>
      </p:grpSp>
      <p:grpSp>
        <p:nvGrpSpPr>
          <p:cNvPr id="36" name="Group 27"/>
          <p:cNvGrpSpPr>
            <a:grpSpLocks/>
          </p:cNvGrpSpPr>
          <p:nvPr/>
        </p:nvGrpSpPr>
        <p:grpSpPr bwMode="auto">
          <a:xfrm>
            <a:off x="5890967" y="3003807"/>
            <a:ext cx="546101" cy="744537"/>
            <a:chOff x="2693" y="806"/>
            <a:chExt cx="344" cy="469"/>
          </a:xfrm>
        </p:grpSpPr>
        <p:sp>
          <p:nvSpPr>
            <p:cNvPr id="37" name="Rectangle 28"/>
            <p:cNvSpPr>
              <a:spLocks noChangeArrowheads="1"/>
            </p:cNvSpPr>
            <p:nvPr/>
          </p:nvSpPr>
          <p:spPr bwMode="auto">
            <a:xfrm>
              <a:off x="2693" y="847"/>
              <a:ext cx="344" cy="330"/>
            </a:xfrm>
            <a:prstGeom prst="rect">
              <a:avLst/>
            </a:prstGeom>
            <a:noFill/>
            <a:ln w="9525">
              <a:noFill/>
              <a:miter lim="800000"/>
              <a:headEnd/>
              <a:tailEnd/>
            </a:ln>
          </p:spPr>
          <p:txBody>
            <a:bodyPr wrap="none">
              <a:spAutoFit/>
            </a:bodyPr>
            <a:lstStyle/>
            <a:p>
              <a:pPr>
                <a:spcBef>
                  <a:spcPct val="50000"/>
                </a:spcBef>
                <a:buNone/>
              </a:pPr>
              <a:r>
                <a:rPr kumimoji="1" lang="zh-CN" altLang="en-US" sz="2800" b="1">
                  <a:solidFill>
                    <a:schemeClr val="tx1"/>
                  </a:solidFill>
                  <a:latin typeface="Times New Roman" pitchFamily="18" charset="0"/>
                  <a:ea typeface="宋体" charset="-122"/>
                </a:rPr>
                <a:t>真</a:t>
              </a:r>
            </a:p>
          </p:txBody>
        </p:sp>
        <p:sp>
          <p:nvSpPr>
            <p:cNvPr id="38" name="Line 29"/>
            <p:cNvSpPr>
              <a:spLocks noChangeShapeType="1"/>
            </p:cNvSpPr>
            <p:nvPr/>
          </p:nvSpPr>
          <p:spPr bwMode="auto">
            <a:xfrm flipH="1">
              <a:off x="3011" y="806"/>
              <a:ext cx="9" cy="469"/>
            </a:xfrm>
            <a:prstGeom prst="line">
              <a:avLst/>
            </a:prstGeom>
            <a:noFill/>
            <a:ln w="57150">
              <a:solidFill>
                <a:srgbClr val="FF6600"/>
              </a:solidFill>
              <a:round/>
              <a:headEnd/>
              <a:tailEnd type="triangle" w="med" len="med"/>
            </a:ln>
          </p:spPr>
          <p:txBody>
            <a:bodyPr>
              <a:spAutoFit/>
            </a:bodyPr>
            <a:lstStyle/>
            <a:p>
              <a:pPr>
                <a:buNone/>
              </a:pPr>
              <a:endParaRPr lang="zh-CN" altLang="en-US"/>
            </a:p>
          </p:txBody>
        </p:sp>
      </p:grpSp>
      <p:sp>
        <p:nvSpPr>
          <p:cNvPr id="39" name="Freeform 30"/>
          <p:cNvSpPr>
            <a:spLocks/>
          </p:cNvSpPr>
          <p:nvPr/>
        </p:nvSpPr>
        <p:spPr bwMode="auto">
          <a:xfrm>
            <a:off x="5216912" y="2904051"/>
            <a:ext cx="1150938" cy="1876425"/>
          </a:xfrm>
          <a:custGeom>
            <a:avLst/>
            <a:gdLst>
              <a:gd name="T0" fmla="*/ 2147483647 w 725"/>
              <a:gd name="T1" fmla="*/ 2147483647 h 1032"/>
              <a:gd name="T2" fmla="*/ 2147483647 w 725"/>
              <a:gd name="T3" fmla="*/ 2147483647 h 1032"/>
              <a:gd name="T4" fmla="*/ 2147483647 w 725"/>
              <a:gd name="T5" fmla="*/ 2147483647 h 1032"/>
              <a:gd name="T6" fmla="*/ 2147483647 w 725"/>
              <a:gd name="T7" fmla="*/ 2147483647 h 1032"/>
              <a:gd name="T8" fmla="*/ 2147483647 w 725"/>
              <a:gd name="T9" fmla="*/ 0 h 1032"/>
              <a:gd name="T10" fmla="*/ 0 60000 65536"/>
              <a:gd name="T11" fmla="*/ 0 60000 65536"/>
              <a:gd name="T12" fmla="*/ 0 60000 65536"/>
              <a:gd name="T13" fmla="*/ 0 60000 65536"/>
              <a:gd name="T14" fmla="*/ 0 60000 65536"/>
              <a:gd name="T15" fmla="*/ 0 w 725"/>
              <a:gd name="T16" fmla="*/ 0 h 1032"/>
              <a:gd name="T17" fmla="*/ 725 w 725"/>
              <a:gd name="T18" fmla="*/ 1032 h 1032"/>
            </a:gdLst>
            <a:ahLst/>
            <a:cxnLst>
              <a:cxn ang="T10">
                <a:pos x="T0" y="T1"/>
              </a:cxn>
              <a:cxn ang="T11">
                <a:pos x="T2" y="T3"/>
              </a:cxn>
              <a:cxn ang="T12">
                <a:pos x="T4" y="T5"/>
              </a:cxn>
              <a:cxn ang="T13">
                <a:pos x="T6" y="T7"/>
              </a:cxn>
              <a:cxn ang="T14">
                <a:pos x="T8" y="T9"/>
              </a:cxn>
            </a:cxnLst>
            <a:rect l="T15" t="T16" r="T17" b="T18"/>
            <a:pathLst>
              <a:path w="725" h="1032">
                <a:moveTo>
                  <a:pt x="710" y="658"/>
                </a:moveTo>
                <a:cubicBezTo>
                  <a:pt x="717" y="780"/>
                  <a:pt x="725" y="903"/>
                  <a:pt x="637" y="950"/>
                </a:cubicBezTo>
                <a:cubicBezTo>
                  <a:pt x="549" y="997"/>
                  <a:pt x="279" y="1032"/>
                  <a:pt x="180" y="941"/>
                </a:cubicBezTo>
                <a:cubicBezTo>
                  <a:pt x="81" y="850"/>
                  <a:pt x="0" y="559"/>
                  <a:pt x="43" y="402"/>
                </a:cubicBezTo>
                <a:cubicBezTo>
                  <a:pt x="86" y="245"/>
                  <a:pt x="366" y="72"/>
                  <a:pt x="436" y="0"/>
                </a:cubicBezTo>
              </a:path>
            </a:pathLst>
          </a:custGeom>
          <a:noFill/>
          <a:ln w="50800" cap="flat" cmpd="sng">
            <a:solidFill>
              <a:srgbClr val="FF6600"/>
            </a:solidFill>
            <a:prstDash val="solid"/>
            <a:round/>
            <a:headEnd/>
            <a:tailEnd type="triangle" w="med" len="med"/>
          </a:ln>
        </p:spPr>
        <p:txBody>
          <a:bodyPr>
            <a:spAutoFit/>
          </a:bodyPr>
          <a:lstStyle/>
          <a:p>
            <a:endParaRPr lang="zh-CN" altLang="en-US"/>
          </a:p>
        </p:txBody>
      </p:sp>
    </p:spTree>
    <p:extLst>
      <p:ext uri="{BB962C8B-B14F-4D97-AF65-F5344CB8AC3E}">
        <p14:creationId xmlns:p14="http://schemas.microsoft.com/office/powerpoint/2010/main" val="338791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dissolv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dissolve">
                                      <p:cBhvr>
                                        <p:cTn id="2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while</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语句特点</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9" name="Rectangle 2" descr="Rectangle: Click to edit Master text styles&#10;Second level&#10;Third level&#10;Fourth level&#10;Fifth level"/>
          <p:cNvSpPr txBox="1">
            <a:spLocks noChangeArrowheads="1"/>
          </p:cNvSpPr>
          <p:nvPr/>
        </p:nvSpPr>
        <p:spPr>
          <a:xfrm>
            <a:off x="5573708" y="1438104"/>
            <a:ext cx="4991767" cy="1712420"/>
          </a:xfrm>
          <a:prstGeom prst="rect">
            <a:avLst/>
          </a:prstGeom>
          <a:noFill/>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b="1">
                <a:solidFill>
                  <a:srgbClr val="0000FF"/>
                </a:solidFill>
                <a:latin typeface="楷体_GB2312" pitchFamily="49" charset="-122"/>
                <a:ea typeface="楷体_GB2312" pitchFamily="49" charset="-122"/>
              </a:rPr>
              <a:t>先条件测试再执行</a:t>
            </a:r>
          </a:p>
          <a:p>
            <a:r>
              <a:rPr lang="zh-CN" altLang="en-US" b="1">
                <a:solidFill>
                  <a:srgbClr val="0000FF"/>
                </a:solidFill>
                <a:latin typeface="楷体_GB2312" pitchFamily="49" charset="-122"/>
                <a:ea typeface="楷体_GB2312" pitchFamily="49" charset="-122"/>
              </a:rPr>
              <a:t>事件驱动（比较计数驱动）</a:t>
            </a:r>
          </a:p>
        </p:txBody>
      </p:sp>
      <p:sp>
        <p:nvSpPr>
          <p:cNvPr id="20" name="Text Box 3"/>
          <p:cNvSpPr txBox="1">
            <a:spLocks noChangeArrowheads="1"/>
          </p:cNvSpPr>
          <p:nvPr/>
        </p:nvSpPr>
        <p:spPr bwMode="auto">
          <a:xfrm>
            <a:off x="1354101" y="1213653"/>
            <a:ext cx="3408305"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r>
              <a:rPr lang="en-US" altLang="zh-CN" b="1">
                <a:solidFill>
                  <a:schemeClr val="tx1"/>
                </a:solidFill>
                <a:latin typeface="Times New Roman" pitchFamily="18" charset="0"/>
                <a:ea typeface="宋体" charset="-122"/>
              </a:rPr>
              <a:t>while</a:t>
            </a:r>
            <a:r>
              <a:rPr lang="en-US" altLang="zh-CN" b="1">
                <a:solidFill>
                  <a:schemeClr val="accent2"/>
                </a:solidFill>
                <a:latin typeface="Times New Roman" pitchFamily="18" charset="0"/>
                <a:ea typeface="宋体" charset="-122"/>
              </a:rPr>
              <a:t>  </a:t>
            </a:r>
            <a:r>
              <a:rPr lang="en-US" altLang="zh-CN" b="1">
                <a:solidFill>
                  <a:srgbClr val="008000"/>
                </a:solidFill>
                <a:latin typeface="Times New Roman" pitchFamily="18" charset="0"/>
                <a:ea typeface="宋体" charset="-122"/>
              </a:rPr>
              <a:t>condition </a:t>
            </a:r>
            <a:r>
              <a:rPr lang="en-US" altLang="zh-CN" b="1">
                <a:solidFill>
                  <a:schemeClr val="tx1"/>
                </a:solidFill>
                <a:latin typeface="Times New Roman" pitchFamily="18" charset="0"/>
                <a:ea typeface="宋体" charset="-122"/>
              </a:rPr>
              <a:t>:</a:t>
            </a:r>
            <a:r>
              <a:rPr lang="en-US" altLang="zh-CN" b="1">
                <a:solidFill>
                  <a:schemeClr val="accent2"/>
                </a:solidFill>
                <a:latin typeface="Times New Roman" pitchFamily="18" charset="0"/>
                <a:ea typeface="宋体" charset="-122"/>
              </a:rPr>
              <a:t>  </a:t>
            </a:r>
          </a:p>
          <a:p>
            <a:pPr eaLnBrk="1" hangingPunct="1">
              <a:spcBef>
                <a:spcPts val="1200"/>
              </a:spcBef>
            </a:pPr>
            <a:r>
              <a:rPr lang="en-US" altLang="zh-CN" b="1">
                <a:solidFill>
                  <a:schemeClr val="accent2"/>
                </a:solidFill>
                <a:latin typeface="Times New Roman" pitchFamily="18" charset="0"/>
                <a:ea typeface="宋体" charset="-122"/>
              </a:rPr>
              <a:t>        </a:t>
            </a:r>
            <a:r>
              <a:rPr lang="en-US" altLang="zh-CN" b="1">
                <a:solidFill>
                  <a:srgbClr val="990099"/>
                </a:solidFill>
                <a:latin typeface="Times New Roman" pitchFamily="18" charset="0"/>
                <a:ea typeface="宋体" charset="-122"/>
              </a:rPr>
              <a:t>statement1</a:t>
            </a:r>
            <a:endParaRPr lang="en-US" altLang="zh-CN" b="1">
              <a:solidFill>
                <a:schemeClr val="accent2"/>
              </a:solidFill>
              <a:latin typeface="Times New Roman" pitchFamily="18" charset="0"/>
              <a:ea typeface="宋体" charset="-122"/>
            </a:endParaRPr>
          </a:p>
          <a:p>
            <a:r>
              <a:rPr lang="en-US" altLang="zh-CN" b="1">
                <a:solidFill>
                  <a:schemeClr val="tx1"/>
                </a:solidFill>
                <a:latin typeface="Times New Roman" pitchFamily="18" charset="0"/>
                <a:ea typeface="宋体" charset="-122"/>
              </a:rPr>
              <a:t>        </a:t>
            </a:r>
            <a:r>
              <a:rPr lang="en-US" altLang="zh-CN" b="1">
                <a:solidFill>
                  <a:srgbClr val="990099"/>
                </a:solidFill>
                <a:latin typeface="Times New Roman" pitchFamily="18" charset="0"/>
                <a:ea typeface="宋体" charset="-122"/>
              </a:rPr>
              <a:t>statement2</a:t>
            </a:r>
          </a:p>
          <a:p>
            <a:r>
              <a:rPr lang="en-US" altLang="zh-CN" b="1">
                <a:solidFill>
                  <a:srgbClr val="990099"/>
                </a:solidFill>
                <a:latin typeface="Times New Roman" pitchFamily="18" charset="0"/>
                <a:ea typeface="宋体" charset="-122"/>
              </a:rPr>
              <a:t>        ……</a:t>
            </a:r>
            <a:endParaRPr lang="en-US" altLang="zh-CN" b="1">
              <a:solidFill>
                <a:schemeClr val="tx1"/>
              </a:solidFill>
              <a:latin typeface="Times New Roman" pitchFamily="18" charset="0"/>
              <a:ea typeface="宋体" charset="-122"/>
            </a:endParaRPr>
          </a:p>
        </p:txBody>
      </p:sp>
      <p:sp>
        <p:nvSpPr>
          <p:cNvPr id="21" name="Rectangle 4"/>
          <p:cNvSpPr>
            <a:spLocks noChangeArrowheads="1"/>
          </p:cNvSpPr>
          <p:nvPr/>
        </p:nvSpPr>
        <p:spPr bwMode="auto">
          <a:xfrm>
            <a:off x="1382707" y="3661764"/>
            <a:ext cx="8708943" cy="2292935"/>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spcBef>
                <a:spcPct val="50000"/>
              </a:spcBef>
            </a:pPr>
            <a:r>
              <a:rPr kumimoji="1" lang="en-US" altLang="zh-CN" sz="3200" b="1">
                <a:solidFill>
                  <a:srgbClr val="00B050"/>
                </a:solidFill>
                <a:latin typeface="Courier New" pitchFamily="49" charset="0"/>
                <a:ea typeface="宋体" charset="-122"/>
              </a:rPr>
              <a:t># Frog Feeding  </a:t>
            </a:r>
          </a:p>
          <a:p>
            <a:pPr eaLnBrk="1" hangingPunct="1"/>
            <a:r>
              <a:rPr kumimoji="1" lang="en-US" altLang="zh-CN" sz="3200" b="1">
                <a:solidFill>
                  <a:schemeClr val="tx1"/>
                </a:solidFill>
                <a:latin typeface="Courier New" pitchFamily="49" charset="0"/>
                <a:ea typeface="宋体" charset="-122"/>
              </a:rPr>
              <a:t>while  </a:t>
            </a:r>
            <a:r>
              <a:rPr lang="en-US" altLang="zh-CN" sz="3200" b="1">
                <a:solidFill>
                  <a:srgbClr val="FF0066"/>
                </a:solidFill>
                <a:latin typeface="Courier New" pitchFamily="49" charset="0"/>
                <a:ea typeface="宋体" charset="-122"/>
              </a:rPr>
              <a:t>see_fly() == TRUE</a:t>
            </a:r>
            <a:r>
              <a:rPr kumimoji="1" lang="en-US" altLang="zh-CN" sz="3200" b="1">
                <a:latin typeface="Courier New" pitchFamily="49" charset="0"/>
                <a:ea typeface="宋体" charset="-122"/>
              </a:rPr>
              <a:t>:</a:t>
            </a:r>
            <a:endParaRPr kumimoji="1" lang="en-US" altLang="zh-CN" sz="3200" b="1">
              <a:solidFill>
                <a:schemeClr val="tx1"/>
              </a:solidFill>
              <a:latin typeface="Courier New" pitchFamily="49" charset="0"/>
              <a:ea typeface="宋体" charset="-122"/>
            </a:endParaRPr>
          </a:p>
          <a:p>
            <a:pPr eaLnBrk="1" hangingPunct="1">
              <a:spcBef>
                <a:spcPts val="1800"/>
              </a:spcBef>
            </a:pPr>
            <a:r>
              <a:rPr kumimoji="1" lang="en-US" altLang="zh-CN" sz="3200" b="1">
                <a:solidFill>
                  <a:schemeClr val="tx1"/>
                </a:solidFill>
                <a:latin typeface="Courier New" pitchFamily="49" charset="0"/>
                <a:ea typeface="宋体" charset="-122"/>
              </a:rPr>
              <a:t>	flick_tongue()</a:t>
            </a:r>
          </a:p>
          <a:p>
            <a:pPr eaLnBrk="1" hangingPunct="1">
              <a:spcAft>
                <a:spcPts val="1200"/>
              </a:spcAft>
            </a:pPr>
            <a:r>
              <a:rPr kumimoji="1" lang="en-US" altLang="zh-CN" sz="3200" b="1">
                <a:solidFill>
                  <a:schemeClr val="tx1"/>
                </a:solidFill>
                <a:latin typeface="Courier New" pitchFamily="49" charset="0"/>
                <a:ea typeface="宋体" charset="-122"/>
              </a:rPr>
              <a:t>	clamp_mouth() </a:t>
            </a:r>
          </a:p>
        </p:txBody>
      </p:sp>
    </p:spTree>
    <p:extLst>
      <p:ext uri="{BB962C8B-B14F-4D97-AF65-F5344CB8AC3E}">
        <p14:creationId xmlns:p14="http://schemas.microsoft.com/office/powerpoint/2010/main" val="6586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blinds(horizontal)">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blinds(horizontal)">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
                                            <p:bg/>
                                          </p:spTgt>
                                        </p:tgtEl>
                                        <p:attrNameLst>
                                          <p:attrName>style.visibility</p:attrName>
                                        </p:attrNameLst>
                                      </p:cBhvr>
                                      <p:to>
                                        <p:strVal val="visible"/>
                                      </p:to>
                                    </p:set>
                                    <p:animEffect transition="in" filter="dissolve">
                                      <p:cBhvr>
                                        <p:cTn id="17" dur="500"/>
                                        <p:tgtEl>
                                          <p:spTgt spid="21">
                                            <p:bg/>
                                          </p:spTgt>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21">
                                            <p:txEl>
                                              <p:pRg st="0" end="0"/>
                                            </p:txEl>
                                          </p:spTgt>
                                        </p:tgtEl>
                                        <p:attrNameLst>
                                          <p:attrName>style.visibility</p:attrName>
                                        </p:attrNameLst>
                                      </p:cBhvr>
                                      <p:to>
                                        <p:strVal val="visible"/>
                                      </p:to>
                                    </p:set>
                                    <p:animEffect transition="in" filter="dissolve">
                                      <p:cBhvr>
                                        <p:cTn id="21" dur="500"/>
                                        <p:tgtEl>
                                          <p:spTgt spid="21">
                                            <p:txEl>
                                              <p:pRg st="0" end="0"/>
                                            </p:txEl>
                                          </p:spTgt>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21">
                                            <p:txEl>
                                              <p:pRg st="1" end="1"/>
                                            </p:txEl>
                                          </p:spTgt>
                                        </p:tgtEl>
                                        <p:attrNameLst>
                                          <p:attrName>style.visibility</p:attrName>
                                        </p:attrNameLst>
                                      </p:cBhvr>
                                      <p:to>
                                        <p:strVal val="visible"/>
                                      </p:to>
                                    </p:set>
                                    <p:animEffect transition="in" filter="dissolve">
                                      <p:cBhvr>
                                        <p:cTn id="25" dur="500"/>
                                        <p:tgtEl>
                                          <p:spTgt spid="21">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1">
                                            <p:txEl>
                                              <p:pRg st="2" end="2"/>
                                            </p:txEl>
                                          </p:spTgt>
                                        </p:tgtEl>
                                        <p:attrNameLst>
                                          <p:attrName>style.visibility</p:attrName>
                                        </p:attrNameLst>
                                      </p:cBhvr>
                                      <p:to>
                                        <p:strVal val="visible"/>
                                      </p:to>
                                    </p:set>
                                    <p:animEffect transition="in" filter="dissolve">
                                      <p:cBhvr>
                                        <p:cTn id="30" dur="500"/>
                                        <p:tgtEl>
                                          <p:spTgt spid="21">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21">
                                            <p:txEl>
                                              <p:pRg st="3" end="3"/>
                                            </p:txEl>
                                          </p:spTgt>
                                        </p:tgtEl>
                                        <p:attrNameLst>
                                          <p:attrName>style.visibility</p:attrName>
                                        </p:attrNameLst>
                                      </p:cBhvr>
                                      <p:to>
                                        <p:strVal val="visible"/>
                                      </p:to>
                                    </p:set>
                                    <p:animEffect transition="in" filter="dissolve">
                                      <p:cBhvr>
                                        <p:cTn id="35" dur="500"/>
                                        <p:tgtEl>
                                          <p:spTgt spid="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P spid="21" grpId="0" build="p"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4" y="98987"/>
            <a:ext cx="614413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一个关于码农的段子</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4"/>
          <p:cNvSpPr>
            <a:spLocks noChangeArrowheads="1"/>
          </p:cNvSpPr>
          <p:nvPr/>
        </p:nvSpPr>
        <p:spPr bwMode="auto">
          <a:xfrm>
            <a:off x="1444682" y="2033847"/>
            <a:ext cx="9228859"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buClr>
                <a:schemeClr val="tx2"/>
              </a:buClr>
              <a:buSzPct val="75000"/>
              <a:buNone/>
            </a:pPr>
            <a:r>
              <a:rPr kumimoji="1" lang="en-US" altLang="zh-CN" sz="3600" b="1">
                <a:solidFill>
                  <a:schemeClr val="tx1"/>
                </a:solidFill>
                <a:latin typeface="Comic Sans MS" pitchFamily="66" charset="0"/>
                <a:ea typeface="宋体" charset="-122"/>
                <a:cs typeface="Times New Roman" pitchFamily="18" charset="0"/>
              </a:rPr>
              <a:t>A wife calls her programmer husband and tells him "while you are out, buy some milk." </a:t>
            </a:r>
          </a:p>
          <a:p>
            <a:pPr eaLnBrk="1" hangingPunct="1">
              <a:spcBef>
                <a:spcPct val="50000"/>
              </a:spcBef>
              <a:buClr>
                <a:schemeClr val="tx2"/>
              </a:buClr>
              <a:buSzPct val="75000"/>
              <a:buNone/>
            </a:pPr>
            <a:r>
              <a:rPr kumimoji="1" lang="en-US" altLang="zh-CN" sz="3600" b="1">
                <a:solidFill>
                  <a:schemeClr val="tx1"/>
                </a:solidFill>
                <a:latin typeface="Comic Sans MS" pitchFamily="66" charset="0"/>
                <a:ea typeface="宋体" charset="-122"/>
                <a:cs typeface="Times New Roman" pitchFamily="18" charset="0"/>
              </a:rPr>
              <a:t>And he never returns home.</a:t>
            </a:r>
            <a:endParaRPr kumimoji="1" lang="zh-CN" altLang="en-US" sz="3600" b="1">
              <a:solidFill>
                <a:schemeClr val="tx1"/>
              </a:solidFill>
              <a:latin typeface="Comic Sans MS" pitchFamily="66" charset="0"/>
              <a:ea typeface="宋体" charset="-122"/>
              <a:cs typeface="Times New Roman" pitchFamily="18" charset="0"/>
            </a:endParaRPr>
          </a:p>
        </p:txBody>
      </p:sp>
    </p:spTree>
    <p:extLst>
      <p:ext uri="{BB962C8B-B14F-4D97-AF65-F5344CB8AC3E}">
        <p14:creationId xmlns:p14="http://schemas.microsoft.com/office/powerpoint/2010/main" val="155866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dissolve">
                                      <p:cBhvr>
                                        <p:cTn id="7" dur="500"/>
                                        <p:tgtEl>
                                          <p:spTgt spid="9">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dissolve">
                                      <p:cBhvr>
                                        <p:cTn id="11"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4" y="98987"/>
            <a:ext cx="614413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sz="4800">
                <a:solidFill>
                  <a:schemeClr val="accent2"/>
                </a:solidFill>
                <a:latin typeface="隶书" pitchFamily="49" charset="-122"/>
                <a:ea typeface="隶书" pitchFamily="49" charset="-122"/>
              </a:rPr>
              <a:t>脆弱的输入方式</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4"/>
          <p:cNvSpPr>
            <a:spLocks noChangeArrowheads="1"/>
          </p:cNvSpPr>
          <p:nvPr/>
        </p:nvSpPr>
        <p:spPr bwMode="auto">
          <a:xfrm>
            <a:off x="2150256" y="1500734"/>
            <a:ext cx="6530975" cy="1815882"/>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1" hangingPunct="1">
              <a:spcBef>
                <a:spcPct val="50000"/>
              </a:spcBef>
            </a:pPr>
            <a:r>
              <a:rPr kumimoji="1" lang="en-US" altLang="zh-CN" sz="3200" b="1">
                <a:solidFill>
                  <a:schemeClr val="tx1"/>
                </a:solidFill>
                <a:latin typeface="Times New Roman" pitchFamily="18" charset="0"/>
                <a:ea typeface="宋体" charset="-122"/>
              </a:rPr>
              <a:t>print("</a:t>
            </a:r>
            <a:r>
              <a:rPr kumimoji="1" lang="zh-CN" altLang="en-US" sz="3200" b="1">
                <a:solidFill>
                  <a:schemeClr val="tx1"/>
                </a:solidFill>
                <a:latin typeface="Times New Roman" pitchFamily="18" charset="0"/>
                <a:ea typeface="宋体" charset="-122"/>
              </a:rPr>
              <a:t>你是否想借书</a:t>
            </a:r>
            <a:r>
              <a:rPr kumimoji="1" lang="en-US" altLang="zh-CN" sz="3200" b="1">
                <a:solidFill>
                  <a:schemeClr val="tx1"/>
                </a:solidFill>
                <a:latin typeface="Times New Roman" pitchFamily="18" charset="0"/>
                <a:ea typeface="宋体" charset="-122"/>
              </a:rPr>
              <a:t>? (y/n)")</a:t>
            </a:r>
          </a:p>
          <a:p>
            <a:pPr eaLnBrk="1" hangingPunct="1">
              <a:spcBef>
                <a:spcPct val="50000"/>
              </a:spcBef>
            </a:pPr>
            <a:r>
              <a:rPr kumimoji="1" lang="en-US" altLang="zh-CN" sz="3200" b="1">
                <a:latin typeface="Times New Roman" pitchFamily="18" charset="0"/>
                <a:ea typeface="宋体" charset="-122"/>
              </a:rPr>
              <a:t>choice = input</a:t>
            </a:r>
            <a:r>
              <a:rPr kumimoji="1" lang="en-US" altLang="zh-CN" sz="3200" b="1">
                <a:solidFill>
                  <a:schemeClr val="tx1"/>
                </a:solidFill>
                <a:latin typeface="Times New Roman" pitchFamily="18" charset="0"/>
                <a:ea typeface="宋体" charset="-122"/>
              </a:rPr>
              <a:t>()</a:t>
            </a:r>
            <a:br>
              <a:rPr kumimoji="1" lang="en-US" altLang="zh-CN" sz="3200" b="1">
                <a:solidFill>
                  <a:schemeClr val="tx1"/>
                </a:solidFill>
                <a:latin typeface="Times New Roman" pitchFamily="18" charset="0"/>
                <a:ea typeface="宋体" charset="-122"/>
              </a:rPr>
            </a:br>
            <a:r>
              <a:rPr kumimoji="1" lang="en-US" altLang="zh-CN" sz="3200" b="1">
                <a:solidFill>
                  <a:schemeClr val="tx1"/>
                </a:solidFill>
                <a:latin typeface="Times New Roman" pitchFamily="18" charset="0"/>
                <a:ea typeface="宋体" charset="-122"/>
              </a:rPr>
              <a:t>……</a:t>
            </a:r>
          </a:p>
        </p:txBody>
      </p:sp>
      <p:sp>
        <p:nvSpPr>
          <p:cNvPr id="12" name="AutoShape 5"/>
          <p:cNvSpPr>
            <a:spLocks noChangeArrowheads="1"/>
          </p:cNvSpPr>
          <p:nvPr/>
        </p:nvSpPr>
        <p:spPr bwMode="auto">
          <a:xfrm>
            <a:off x="5049031" y="3672300"/>
            <a:ext cx="406400" cy="1204913"/>
          </a:xfrm>
          <a:prstGeom prst="downArrow">
            <a:avLst>
              <a:gd name="adj1" fmla="val 50000"/>
              <a:gd name="adj2" fmla="val 74121"/>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ea typeface="宋体" charset="-122"/>
            </a:endParaRPr>
          </a:p>
        </p:txBody>
      </p:sp>
      <p:sp>
        <p:nvSpPr>
          <p:cNvPr id="13" name="Text Box 6"/>
          <p:cNvSpPr txBox="1">
            <a:spLocks noChangeArrowheads="1"/>
          </p:cNvSpPr>
          <p:nvPr/>
        </p:nvSpPr>
        <p:spPr bwMode="auto">
          <a:xfrm>
            <a:off x="2032781" y="4960053"/>
            <a:ext cx="68453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b="1" dirty="0">
                <a:solidFill>
                  <a:schemeClr val="tx1"/>
                </a:solidFill>
                <a:latin typeface="Times New Roman" pitchFamily="18" charset="0"/>
                <a:ea typeface="宋体" charset="-122"/>
              </a:rPr>
              <a:t>如果用户输入的是</a:t>
            </a:r>
            <a:r>
              <a:rPr kumimoji="1" lang="en-US" altLang="zh-CN" b="1" dirty="0">
                <a:solidFill>
                  <a:srgbClr val="0000FF"/>
                </a:solidFill>
                <a:latin typeface="Times New Roman" pitchFamily="18" charset="0"/>
                <a:ea typeface="宋体" charset="-122"/>
              </a:rPr>
              <a:t>y/n</a:t>
            </a:r>
            <a:r>
              <a:rPr kumimoji="1" lang="zh-CN" altLang="en-US" b="1" dirty="0">
                <a:solidFill>
                  <a:schemeClr val="tx1"/>
                </a:solidFill>
                <a:latin typeface="Times New Roman" pitchFamily="18" charset="0"/>
                <a:ea typeface="宋体" charset="-122"/>
              </a:rPr>
              <a:t>以外的字符呢？</a:t>
            </a:r>
          </a:p>
        </p:txBody>
      </p:sp>
    </p:spTree>
    <p:extLst>
      <p:ext uri="{BB962C8B-B14F-4D97-AF65-F5344CB8AC3E}">
        <p14:creationId xmlns:p14="http://schemas.microsoft.com/office/powerpoint/2010/main" val="501814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ppt_x</p:attrName>
                                        </p:attrNameLst>
                                      </p:cBhvr>
                                      <p:tavLst>
                                        <p:tav tm="0">
                                          <p:val>
                                            <p:strVal val="#ppt_x"/>
                                          </p:val>
                                        </p:tav>
                                        <p:tav tm="100000">
                                          <p:val>
                                            <p:strVal val="#ppt_x"/>
                                          </p:val>
                                        </p:tav>
                                      </p:tavLst>
                                    </p:anim>
                                    <p:anim calcmode="lin" valueType="num">
                                      <p:cBhvr>
                                        <p:cTn id="8" dur="500" fill="hold"/>
                                        <p:tgtEl>
                                          <p:spTgt spid="12"/>
                                        </p:tgtEl>
                                        <p:attrNameLst>
                                          <p:attrName>ppt_y</p:attrName>
                                        </p:attrNameLst>
                                      </p:cBhvr>
                                      <p:tavLst>
                                        <p:tav tm="0">
                                          <p:val>
                                            <p:strVal val="#ppt_y-#ppt_h/2"/>
                                          </p:val>
                                        </p:tav>
                                        <p:tav tm="100000">
                                          <p:val>
                                            <p:strVal val="#ppt_y"/>
                                          </p:val>
                                        </p:tav>
                                      </p:tavLst>
                                    </p:anim>
                                    <p:anim calcmode="lin" valueType="num">
                                      <p:cBhvr>
                                        <p:cTn id="9" dur="500" fill="hold"/>
                                        <p:tgtEl>
                                          <p:spTgt spid="12"/>
                                        </p:tgtEl>
                                        <p:attrNameLst>
                                          <p:attrName>ppt_w</p:attrName>
                                        </p:attrNameLst>
                                      </p:cBhvr>
                                      <p:tavLst>
                                        <p:tav tm="0">
                                          <p:val>
                                            <p:strVal val="#ppt_w"/>
                                          </p:val>
                                        </p:tav>
                                        <p:tav tm="100000">
                                          <p:val>
                                            <p:strVal val="#ppt_w"/>
                                          </p:val>
                                        </p:tav>
                                      </p:tavLst>
                                    </p:anim>
                                    <p:anim calcmode="lin" valueType="num">
                                      <p:cBhvr>
                                        <p:cTn id="10" dur="500" fill="hold"/>
                                        <p:tgtEl>
                                          <p:spTgt spid="12"/>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9"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dissolv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4" y="98987"/>
            <a:ext cx="614413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sz="4800">
                <a:solidFill>
                  <a:schemeClr val="accent2"/>
                </a:solidFill>
                <a:latin typeface="隶书" pitchFamily="49" charset="-122"/>
                <a:ea typeface="隶书" pitchFamily="49" charset="-122"/>
              </a:rPr>
              <a:t>健壮的输入方式</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Rectangle 4"/>
          <p:cNvSpPr>
            <a:spLocks noChangeArrowheads="1"/>
          </p:cNvSpPr>
          <p:nvPr/>
        </p:nvSpPr>
        <p:spPr bwMode="auto">
          <a:xfrm>
            <a:off x="1645487" y="1611534"/>
            <a:ext cx="8105342" cy="3477875"/>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spcBef>
                <a:spcPts val="1800"/>
              </a:spcBef>
            </a:pPr>
            <a:r>
              <a:rPr kumimoji="1" lang="en-US" altLang="zh-CN" sz="3200" b="1" dirty="0">
                <a:latin typeface="Times New Roman" pitchFamily="18" charset="0"/>
                <a:ea typeface="宋体" charset="-122"/>
              </a:rPr>
              <a:t>print("</a:t>
            </a:r>
            <a:r>
              <a:rPr kumimoji="1" lang="zh-CN" altLang="en-US" sz="3200" b="1" dirty="0">
                <a:latin typeface="Times New Roman" pitchFamily="18" charset="0"/>
                <a:ea typeface="宋体" charset="-122"/>
              </a:rPr>
              <a:t>你是否想借书</a:t>
            </a:r>
            <a:r>
              <a:rPr kumimoji="1" lang="en-US" altLang="zh-CN" sz="3200" b="1" dirty="0">
                <a:latin typeface="Times New Roman" pitchFamily="18" charset="0"/>
                <a:ea typeface="宋体" charset="-122"/>
              </a:rPr>
              <a:t>? (y/n)")</a:t>
            </a:r>
          </a:p>
          <a:p>
            <a:pPr>
              <a:spcBef>
                <a:spcPts val="1800"/>
              </a:spcBef>
            </a:pPr>
            <a:r>
              <a:rPr kumimoji="1" lang="en-US" altLang="zh-CN" sz="3200" b="1" dirty="0">
                <a:latin typeface="Times New Roman" pitchFamily="18" charset="0"/>
                <a:ea typeface="宋体" charset="-122"/>
              </a:rPr>
              <a:t>choice = input()</a:t>
            </a:r>
            <a:endParaRPr kumimoji="1" lang="en-US" altLang="zh-CN" sz="3200" b="1" dirty="0">
              <a:solidFill>
                <a:schemeClr val="tx1"/>
              </a:solidFill>
              <a:latin typeface="Times New Roman" pitchFamily="18" charset="0"/>
              <a:ea typeface="宋体" charset="-122"/>
            </a:endParaRPr>
          </a:p>
          <a:p>
            <a:pPr eaLnBrk="1" hangingPunct="1">
              <a:spcBef>
                <a:spcPts val="1800"/>
              </a:spcBef>
            </a:pPr>
            <a:r>
              <a:rPr kumimoji="1" lang="en-US" altLang="zh-CN" sz="3200" b="1" dirty="0">
                <a:solidFill>
                  <a:schemeClr val="tx1"/>
                </a:solidFill>
                <a:latin typeface="Times New Roman" pitchFamily="18" charset="0"/>
                <a:ea typeface="宋体" charset="-122"/>
              </a:rPr>
              <a:t>while choice  !=  'y'  and  choice  !=  'n' :</a:t>
            </a:r>
          </a:p>
          <a:p>
            <a:pPr>
              <a:spcBef>
                <a:spcPts val="1800"/>
              </a:spcBef>
            </a:pPr>
            <a:r>
              <a:rPr kumimoji="1" lang="en-US" altLang="zh-CN" sz="3200" b="1" dirty="0">
                <a:solidFill>
                  <a:schemeClr val="tx1"/>
                </a:solidFill>
                <a:latin typeface="Times New Roman" pitchFamily="18" charset="0"/>
                <a:ea typeface="宋体" charset="-122"/>
              </a:rPr>
              <a:t>        print("</a:t>
            </a:r>
            <a:r>
              <a:rPr kumimoji="1" lang="zh-CN" altLang="en-US" sz="3200" b="1" dirty="0">
                <a:solidFill>
                  <a:schemeClr val="tx1"/>
                </a:solidFill>
                <a:latin typeface="Times New Roman" pitchFamily="18" charset="0"/>
                <a:ea typeface="宋体" charset="-122"/>
              </a:rPr>
              <a:t>你是否想借书</a:t>
            </a:r>
            <a:r>
              <a:rPr kumimoji="1" lang="en-US" altLang="zh-CN" sz="3200" b="1" dirty="0">
                <a:solidFill>
                  <a:schemeClr val="tx1"/>
                </a:solidFill>
                <a:latin typeface="Times New Roman" pitchFamily="18" charset="0"/>
                <a:ea typeface="宋体" charset="-122"/>
              </a:rPr>
              <a:t>? (y/n)")</a:t>
            </a:r>
          </a:p>
          <a:p>
            <a:pPr>
              <a:spcBef>
                <a:spcPts val="1800"/>
              </a:spcBef>
            </a:pPr>
            <a:r>
              <a:rPr kumimoji="1" lang="en-US" altLang="zh-CN" sz="3200" b="1" dirty="0">
                <a:solidFill>
                  <a:schemeClr val="tx1"/>
                </a:solidFill>
                <a:latin typeface="Times New Roman" pitchFamily="18" charset="0"/>
                <a:ea typeface="宋体" charset="-122"/>
              </a:rPr>
              <a:t>        </a:t>
            </a:r>
            <a:r>
              <a:rPr kumimoji="1" lang="en-US" altLang="zh-CN" sz="3200" b="1" dirty="0">
                <a:latin typeface="Times New Roman" pitchFamily="18" charset="0"/>
                <a:ea typeface="宋体" charset="-122"/>
              </a:rPr>
              <a:t>choice = input()</a:t>
            </a:r>
            <a:endParaRPr kumimoji="1" lang="en-US" altLang="zh-CN" sz="3200" b="1" dirty="0">
              <a:solidFill>
                <a:schemeClr val="tx1"/>
              </a:solidFill>
              <a:latin typeface="Times New Roman" pitchFamily="18" charset="0"/>
              <a:ea typeface="宋体" charset="-122"/>
            </a:endParaRPr>
          </a:p>
        </p:txBody>
      </p:sp>
    </p:spTree>
    <p:extLst>
      <p:ext uri="{BB962C8B-B14F-4D97-AF65-F5344CB8AC3E}">
        <p14:creationId xmlns:p14="http://schemas.microsoft.com/office/powerpoint/2010/main" val="9568745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4" y="98987"/>
            <a:ext cx="614413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sz="4800">
                <a:solidFill>
                  <a:schemeClr val="accent2"/>
                </a:solidFill>
                <a:latin typeface="隶书" pitchFamily="49" charset="-122"/>
                <a:ea typeface="隶书" pitchFamily="49" charset="-122"/>
              </a:rPr>
              <a:t>代码分析</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Rectangle 5"/>
          <p:cNvSpPr>
            <a:spLocks noChangeArrowheads="1"/>
          </p:cNvSpPr>
          <p:nvPr/>
        </p:nvSpPr>
        <p:spPr bwMode="auto">
          <a:xfrm>
            <a:off x="912885" y="1338541"/>
            <a:ext cx="5155392" cy="3816429"/>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spcBef>
                <a:spcPts val="1200"/>
              </a:spcBef>
            </a:pPr>
            <a:r>
              <a:rPr kumimoji="1" lang="en-US" altLang="zh-CN" sz="3200" b="1">
                <a:solidFill>
                  <a:schemeClr val="tx1"/>
                </a:solidFill>
                <a:latin typeface="Courier New" pitchFamily="49" charset="0"/>
                <a:ea typeface="宋体" charset="-122"/>
              </a:rPr>
              <a:t>sum = 0</a:t>
            </a:r>
          </a:p>
          <a:p>
            <a:pPr>
              <a:spcBef>
                <a:spcPts val="1200"/>
              </a:spcBef>
            </a:pPr>
            <a:r>
              <a:rPr kumimoji="1" lang="en-US" altLang="zh-CN" sz="3200" b="1">
                <a:latin typeface="Courier New" pitchFamily="49" charset="0"/>
                <a:ea typeface="宋体" charset="-122"/>
              </a:rPr>
              <a:t>i = 1</a:t>
            </a:r>
          </a:p>
          <a:p>
            <a:pPr eaLnBrk="1" hangingPunct="1">
              <a:spcBef>
                <a:spcPts val="1200"/>
              </a:spcBef>
            </a:pPr>
            <a:r>
              <a:rPr kumimoji="1" lang="en-US" altLang="zh-CN" sz="3200" b="1">
                <a:solidFill>
                  <a:schemeClr val="tx1"/>
                </a:solidFill>
                <a:latin typeface="Courier New" pitchFamily="49" charset="0"/>
                <a:ea typeface="宋体" charset="-122"/>
              </a:rPr>
              <a:t>while i != 10:</a:t>
            </a:r>
          </a:p>
          <a:p>
            <a:pPr eaLnBrk="1" hangingPunct="1">
              <a:spcBef>
                <a:spcPts val="1200"/>
              </a:spcBef>
            </a:pPr>
            <a:r>
              <a:rPr kumimoji="1" lang="en-US" altLang="zh-CN" sz="3200" b="1">
                <a:solidFill>
                  <a:schemeClr val="tx1"/>
                </a:solidFill>
                <a:latin typeface="Courier New" pitchFamily="49" charset="0"/>
                <a:ea typeface="宋体" charset="-122"/>
              </a:rPr>
              <a:t>    sum = sum + i </a:t>
            </a:r>
          </a:p>
          <a:p>
            <a:pPr>
              <a:spcBef>
                <a:spcPts val="1200"/>
              </a:spcBef>
            </a:pPr>
            <a:r>
              <a:rPr kumimoji="1" lang="en-US" altLang="zh-CN" sz="3200" b="1">
                <a:latin typeface="Courier New" pitchFamily="49" charset="0"/>
                <a:ea typeface="宋体" charset="-122"/>
              </a:rPr>
              <a:t>    i = i + 2</a:t>
            </a:r>
          </a:p>
          <a:p>
            <a:pPr eaLnBrk="1" hangingPunct="1">
              <a:spcBef>
                <a:spcPts val="1200"/>
              </a:spcBef>
            </a:pPr>
            <a:r>
              <a:rPr kumimoji="1" lang="en-US" altLang="zh-CN" sz="3200" b="1">
                <a:solidFill>
                  <a:schemeClr val="tx1"/>
                </a:solidFill>
                <a:latin typeface="Courier New" pitchFamily="49" charset="0"/>
                <a:ea typeface="宋体" charset="-122"/>
              </a:rPr>
              <a:t>print(sum)</a:t>
            </a:r>
          </a:p>
        </p:txBody>
      </p:sp>
      <p:grpSp>
        <p:nvGrpSpPr>
          <p:cNvPr id="3" name="组合 2"/>
          <p:cNvGrpSpPr/>
          <p:nvPr/>
        </p:nvGrpSpPr>
        <p:grpSpPr>
          <a:xfrm>
            <a:off x="4309633" y="1338541"/>
            <a:ext cx="7619132" cy="4648523"/>
            <a:chOff x="4309633" y="1338541"/>
            <a:chExt cx="7619132" cy="4648523"/>
          </a:xfrm>
        </p:grpSpPr>
        <p:sp>
          <p:nvSpPr>
            <p:cNvPr id="12" name="Text Box 6"/>
            <p:cNvSpPr txBox="1">
              <a:spLocks noChangeArrowheads="1"/>
            </p:cNvSpPr>
            <p:nvPr/>
          </p:nvSpPr>
          <p:spPr bwMode="auto">
            <a:xfrm>
              <a:off x="4309633" y="5407627"/>
              <a:ext cx="19796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000">
                  <a:solidFill>
                    <a:schemeClr val="tx1"/>
                  </a:solidFill>
                  <a:latin typeface="Tahoma" pitchFamily="34" charset="0"/>
                </a:defRPr>
              </a:lvl1pPr>
              <a:lvl2pPr>
                <a:defRPr sz="2000">
                  <a:solidFill>
                    <a:schemeClr val="tx1"/>
                  </a:solidFill>
                  <a:latin typeface="Tahoma" pitchFamily="34" charset="0"/>
                </a:defRPr>
              </a:lvl2pPr>
              <a:lvl3pPr>
                <a:defRPr sz="20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hangingPunct="0">
                <a:defRPr sz="2000">
                  <a:solidFill>
                    <a:schemeClr val="tx1"/>
                  </a:solidFill>
                  <a:latin typeface="Tahoma" pitchFamily="34" charset="0"/>
                </a:defRPr>
              </a:lvl6pPr>
              <a:lvl7pPr eaLnBrk="0" hangingPunct="0">
                <a:defRPr sz="2000">
                  <a:solidFill>
                    <a:schemeClr val="tx1"/>
                  </a:solidFill>
                  <a:latin typeface="Tahoma" pitchFamily="34" charset="0"/>
                </a:defRPr>
              </a:lvl7pPr>
              <a:lvl8pPr eaLnBrk="0" hangingPunct="0">
                <a:defRPr sz="2000">
                  <a:solidFill>
                    <a:schemeClr val="tx1"/>
                  </a:solidFill>
                  <a:latin typeface="Tahoma" pitchFamily="34" charset="0"/>
                </a:defRPr>
              </a:lvl8pPr>
              <a:lvl9pPr eaLnBrk="0" hangingPunct="0">
                <a:defRPr sz="2000">
                  <a:solidFill>
                    <a:schemeClr val="tx1"/>
                  </a:solidFill>
                  <a:latin typeface="Tahoma" pitchFamily="34" charset="0"/>
                </a:defRPr>
              </a:lvl9pPr>
            </a:lstStyle>
            <a:p>
              <a:pPr eaLnBrk="1" hangingPunct="1">
                <a:spcBef>
                  <a:spcPct val="50000"/>
                </a:spcBef>
              </a:pPr>
              <a:r>
                <a:rPr kumimoji="1" lang="zh-CN" altLang="en-US" sz="3200" b="1">
                  <a:solidFill>
                    <a:srgbClr val="FF3300"/>
                  </a:solidFill>
                  <a:latin typeface="Times New Roman" pitchFamily="18" charset="0"/>
                  <a:ea typeface="宋体" charset="-122"/>
                </a:rPr>
                <a:t>死循环</a:t>
              </a:r>
              <a:r>
                <a:rPr kumimoji="1" lang="en-US" altLang="zh-CN" sz="3200" b="1">
                  <a:solidFill>
                    <a:srgbClr val="FF3300"/>
                  </a:solidFill>
                  <a:latin typeface="Times New Roman" pitchFamily="18" charset="0"/>
                  <a:ea typeface="宋体" charset="-122"/>
                </a:rPr>
                <a:t>!?</a:t>
              </a:r>
            </a:p>
          </p:txBody>
        </p:sp>
        <p:pic>
          <p:nvPicPr>
            <p:cNvPr id="1026" name="Picture 2" descr="https://pic.rmb.bdstatic.com/bjh/down/9da2a5358dd4d7f273ddad9d8669a2c2.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8025" y="1338541"/>
              <a:ext cx="5237422" cy="3273389"/>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6344899" y="4774016"/>
              <a:ext cx="5583866" cy="923330"/>
            </a:xfrm>
            <a:prstGeom prst="rect">
              <a:avLst/>
            </a:prstGeom>
          </p:spPr>
          <p:txBody>
            <a:bodyPr wrap="square">
              <a:spAutoFit/>
            </a:bodyPr>
            <a:lstStyle/>
            <a:p>
              <a:r>
                <a:rPr lang="zh-CN" altLang="en-US" b="1"/>
                <a:t>西西弗斯触犯了众神，受到惩罚，被要求把一块巨石推上山顶，但石头每次到达山顶就又滚下山去，于是他就不断重复、永无止境地做这件事。</a:t>
              </a:r>
            </a:p>
          </p:txBody>
        </p:sp>
      </p:grpSp>
    </p:spTree>
    <p:extLst>
      <p:ext uri="{BB962C8B-B14F-4D97-AF65-F5344CB8AC3E}">
        <p14:creationId xmlns:p14="http://schemas.microsoft.com/office/powerpoint/2010/main" val="1211190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4" y="98987"/>
            <a:ext cx="614413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代码分析</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Rectangle 4"/>
          <p:cNvSpPr>
            <a:spLocks noChangeArrowheads="1"/>
          </p:cNvSpPr>
          <p:nvPr/>
        </p:nvSpPr>
        <p:spPr bwMode="auto">
          <a:xfrm>
            <a:off x="1928116" y="1659990"/>
            <a:ext cx="7731273" cy="4431983"/>
          </a:xfrm>
          <a:prstGeom prst="rect">
            <a:avLst/>
          </a:prstGeom>
          <a:noFill/>
          <a:ln w="15875">
            <a:solidFill>
              <a:schemeClr val="tx1"/>
            </a:solidFill>
            <a:miter lim="800000"/>
            <a:headEnd/>
            <a:tailEnd/>
          </a:ln>
        </p:spPr>
        <p:txBody>
          <a:bodyPr wrap="square">
            <a:spAutoFit/>
          </a:bodyPr>
          <a:lstStyle/>
          <a:p>
            <a:pPr>
              <a:spcBef>
                <a:spcPts val="600"/>
              </a:spcBef>
              <a:buNone/>
            </a:pPr>
            <a:r>
              <a:rPr kumimoji="1" lang="en-US" altLang="zh-CN" sz="3600" b="1">
                <a:solidFill>
                  <a:schemeClr val="tx1"/>
                </a:solidFill>
                <a:latin typeface="Courier New" pitchFamily="49" charset="0"/>
                <a:ea typeface="宋体" charset="-122"/>
              </a:rPr>
              <a:t>x = 1536</a:t>
            </a:r>
          </a:p>
          <a:p>
            <a:pPr>
              <a:spcBef>
                <a:spcPts val="600"/>
              </a:spcBef>
              <a:buNone/>
            </a:pPr>
            <a:r>
              <a:rPr kumimoji="1" lang="en-US" altLang="zh-CN" sz="3600" b="1">
                <a:solidFill>
                  <a:schemeClr val="tx1"/>
                </a:solidFill>
                <a:latin typeface="Courier New" pitchFamily="49" charset="0"/>
                <a:ea typeface="宋体" charset="-122"/>
              </a:rPr>
              <a:t>y = 0</a:t>
            </a:r>
          </a:p>
          <a:p>
            <a:pPr>
              <a:spcBef>
                <a:spcPts val="600"/>
              </a:spcBef>
              <a:buNone/>
            </a:pPr>
            <a:r>
              <a:rPr kumimoji="1" lang="en-US" altLang="zh-CN" sz="3600" b="1">
                <a:solidFill>
                  <a:schemeClr val="tx1"/>
                </a:solidFill>
                <a:latin typeface="Courier New" pitchFamily="49" charset="0"/>
                <a:ea typeface="宋体" charset="-122"/>
              </a:rPr>
              <a:t>while x != 0 </a:t>
            </a:r>
            <a:r>
              <a:rPr kumimoji="1" lang="en-US" altLang="zh-CN" sz="3600" b="1">
                <a:latin typeface="Courier New" pitchFamily="49" charset="0"/>
                <a:ea typeface="宋体" charset="-122"/>
              </a:rPr>
              <a:t>:</a:t>
            </a:r>
            <a:endParaRPr kumimoji="1" lang="en-US" altLang="zh-CN" sz="3600" b="1">
              <a:solidFill>
                <a:schemeClr val="tx1"/>
              </a:solidFill>
              <a:latin typeface="Courier New" pitchFamily="49" charset="0"/>
              <a:ea typeface="宋体" charset="-122"/>
            </a:endParaRPr>
          </a:p>
          <a:p>
            <a:pPr>
              <a:spcBef>
                <a:spcPts val="600"/>
              </a:spcBef>
              <a:buNone/>
            </a:pPr>
            <a:r>
              <a:rPr kumimoji="1" lang="en-US" altLang="zh-CN" sz="3600" b="1">
                <a:solidFill>
                  <a:schemeClr val="tx1"/>
                </a:solidFill>
                <a:latin typeface="Courier New" pitchFamily="49" charset="0"/>
                <a:ea typeface="宋体" charset="-122"/>
              </a:rPr>
              <a:t>    y = y * 10 + x % 10</a:t>
            </a:r>
          </a:p>
          <a:p>
            <a:pPr>
              <a:spcBef>
                <a:spcPts val="600"/>
              </a:spcBef>
              <a:buNone/>
            </a:pPr>
            <a:r>
              <a:rPr kumimoji="1" lang="en-US" altLang="zh-CN" sz="3600" b="1">
                <a:solidFill>
                  <a:schemeClr val="tx1"/>
                </a:solidFill>
                <a:latin typeface="Courier New" pitchFamily="49" charset="0"/>
                <a:ea typeface="宋体" charset="-122"/>
              </a:rPr>
              <a:t>    x = x /</a:t>
            </a:r>
            <a:r>
              <a:rPr kumimoji="1" lang="en-US" altLang="zh-CN" sz="3600" b="1">
                <a:latin typeface="Courier New" pitchFamily="49" charset="0"/>
                <a:ea typeface="宋体" charset="-122"/>
              </a:rPr>
              <a:t>/</a:t>
            </a:r>
            <a:r>
              <a:rPr kumimoji="1" lang="en-US" altLang="zh-CN" sz="3600" b="1">
                <a:solidFill>
                  <a:schemeClr val="tx1"/>
                </a:solidFill>
                <a:latin typeface="Courier New" pitchFamily="49" charset="0"/>
                <a:ea typeface="宋体" charset="-122"/>
              </a:rPr>
              <a:t> 10</a:t>
            </a:r>
          </a:p>
          <a:p>
            <a:pPr>
              <a:spcBef>
                <a:spcPts val="600"/>
              </a:spcBef>
              <a:buNone/>
            </a:pPr>
            <a:endParaRPr kumimoji="1" lang="en-US" altLang="zh-CN" sz="3600" b="1">
              <a:solidFill>
                <a:schemeClr val="tx1"/>
              </a:solidFill>
              <a:latin typeface="Courier New" pitchFamily="49" charset="0"/>
              <a:ea typeface="宋体" charset="-122"/>
            </a:endParaRPr>
          </a:p>
          <a:p>
            <a:pPr>
              <a:spcBef>
                <a:spcPts val="600"/>
              </a:spcBef>
              <a:buNone/>
            </a:pPr>
            <a:r>
              <a:rPr kumimoji="1" lang="en-US" altLang="zh-CN" sz="3600" b="1">
                <a:latin typeface="Courier New" pitchFamily="49" charset="0"/>
                <a:ea typeface="宋体" charset="-122"/>
              </a:rPr>
              <a:t>print </a:t>
            </a:r>
            <a:r>
              <a:rPr kumimoji="1" lang="en-US" altLang="zh-CN" sz="3600" b="1">
                <a:solidFill>
                  <a:schemeClr val="tx1"/>
                </a:solidFill>
                <a:latin typeface="Courier New" pitchFamily="49" charset="0"/>
                <a:ea typeface="宋体" charset="-122"/>
              </a:rPr>
              <a:t>(y)</a:t>
            </a:r>
          </a:p>
        </p:txBody>
      </p:sp>
      <p:sp>
        <p:nvSpPr>
          <p:cNvPr id="11" name="Rectangle 5"/>
          <p:cNvSpPr>
            <a:spLocks noChangeArrowheads="1"/>
          </p:cNvSpPr>
          <p:nvPr/>
        </p:nvSpPr>
        <p:spPr bwMode="auto">
          <a:xfrm>
            <a:off x="8170128" y="2136477"/>
            <a:ext cx="1098550" cy="641350"/>
          </a:xfrm>
          <a:prstGeom prst="rect">
            <a:avLst/>
          </a:prstGeom>
          <a:noFill/>
          <a:ln w="9525">
            <a:noFill/>
            <a:miter lim="800000"/>
            <a:headEnd/>
            <a:tailEnd/>
          </a:ln>
        </p:spPr>
        <p:txBody>
          <a:bodyPr wrap="none">
            <a:spAutoFit/>
          </a:bodyPr>
          <a:lstStyle/>
          <a:p>
            <a:pPr marL="457200" indent="-457200">
              <a:spcBef>
                <a:spcPct val="50000"/>
              </a:spcBef>
              <a:buNone/>
            </a:pPr>
            <a:r>
              <a:rPr kumimoji="1" lang="en-US" altLang="zh-CN" sz="3600" b="1">
                <a:solidFill>
                  <a:srgbClr val="FF0000"/>
                </a:solidFill>
                <a:latin typeface="Times New Roman" pitchFamily="18" charset="0"/>
                <a:ea typeface="宋体" charset="-122"/>
              </a:rPr>
              <a:t>6351</a:t>
            </a:r>
          </a:p>
        </p:txBody>
      </p:sp>
    </p:spTree>
    <p:extLst>
      <p:ext uri="{BB962C8B-B14F-4D97-AF65-F5344CB8AC3E}">
        <p14:creationId xmlns:p14="http://schemas.microsoft.com/office/powerpoint/2010/main" val="1558811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4" y="98987"/>
            <a:ext cx="614413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sz="4800">
                <a:solidFill>
                  <a:schemeClr val="accent2"/>
                </a:solidFill>
                <a:latin typeface="隶书" pitchFamily="49" charset="-122"/>
                <a:ea typeface="隶书" pitchFamily="49" charset="-122"/>
              </a:rPr>
              <a:t>Double Your Money</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4"/>
          <p:cNvSpPr>
            <a:spLocks noChangeArrowheads="1"/>
          </p:cNvSpPr>
          <p:nvPr/>
        </p:nvSpPr>
        <p:spPr bwMode="auto">
          <a:xfrm>
            <a:off x="1329608" y="1223349"/>
            <a:ext cx="819677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kumimoji="1" lang="en-US" altLang="zh-CN" sz="2800" b="1">
                <a:solidFill>
                  <a:srgbClr val="00B050"/>
                </a:solidFill>
                <a:latin typeface="Times New Roman" pitchFamily="18" charset="0"/>
                <a:ea typeface="宋体" charset="-122"/>
              </a:rPr>
              <a:t># </a:t>
            </a:r>
            <a:r>
              <a:rPr kumimoji="1" lang="zh-CN" altLang="en-US" sz="2800" b="1">
                <a:solidFill>
                  <a:srgbClr val="00B050"/>
                </a:solidFill>
                <a:latin typeface="Times New Roman" pitchFamily="18" charset="0"/>
                <a:ea typeface="宋体" charset="-122"/>
              </a:rPr>
              <a:t>假定你有</a:t>
            </a:r>
            <a:r>
              <a:rPr kumimoji="1" lang="en-US" altLang="zh-CN" sz="2800" b="1">
                <a:solidFill>
                  <a:srgbClr val="00B050"/>
                </a:solidFill>
                <a:latin typeface="Times New Roman" pitchFamily="18" charset="0"/>
                <a:ea typeface="宋体" charset="-122"/>
              </a:rPr>
              <a:t>1000</a:t>
            </a:r>
            <a:r>
              <a:rPr kumimoji="1" lang="zh-CN" altLang="en-US" sz="2800" b="1">
                <a:solidFill>
                  <a:srgbClr val="00B050"/>
                </a:solidFill>
                <a:latin typeface="Times New Roman" pitchFamily="18" charset="0"/>
                <a:ea typeface="宋体" charset="-122"/>
              </a:rPr>
              <a:t>元，每年投资收益为</a:t>
            </a:r>
            <a:r>
              <a:rPr kumimoji="1" lang="en-US" altLang="zh-CN" sz="2800" b="1">
                <a:solidFill>
                  <a:srgbClr val="00B050"/>
                </a:solidFill>
                <a:latin typeface="Times New Roman" pitchFamily="18" charset="0"/>
                <a:ea typeface="宋体" charset="-122"/>
              </a:rPr>
              <a:t>5%</a:t>
            </a:r>
            <a:r>
              <a:rPr kumimoji="1" lang="zh-CN" altLang="en-US" sz="2800" b="1">
                <a:solidFill>
                  <a:srgbClr val="00B050"/>
                </a:solidFill>
                <a:latin typeface="Times New Roman" pitchFamily="18" charset="0"/>
                <a:ea typeface="宋体" charset="-122"/>
              </a:rPr>
              <a:t>，经过多少</a:t>
            </a:r>
            <a:r>
              <a:rPr kumimoji="1" lang="en-US" altLang="zh-CN" sz="2800" b="1">
                <a:solidFill>
                  <a:srgbClr val="00B050"/>
                </a:solidFill>
                <a:latin typeface="Times New Roman" pitchFamily="18" charset="0"/>
                <a:ea typeface="宋体" charset="-122"/>
              </a:rPr>
              <a:t># </a:t>
            </a:r>
            <a:r>
              <a:rPr kumimoji="1" lang="zh-CN" altLang="en-US" sz="2800" b="1">
                <a:solidFill>
                  <a:srgbClr val="00B050"/>
                </a:solidFill>
                <a:latin typeface="Times New Roman" pitchFamily="18" charset="0"/>
                <a:ea typeface="宋体" charset="-122"/>
              </a:rPr>
              <a:t>年后，你的钱会翻番？</a:t>
            </a:r>
            <a:endParaRPr kumimoji="1" lang="en-US" altLang="zh-CN" sz="2800" b="1">
              <a:solidFill>
                <a:srgbClr val="00B050"/>
              </a:solidFill>
              <a:latin typeface="Times New Roman" pitchFamily="18" charset="0"/>
              <a:ea typeface="宋体" charset="-122"/>
            </a:endParaRPr>
          </a:p>
        </p:txBody>
      </p:sp>
      <p:sp>
        <p:nvSpPr>
          <p:cNvPr id="12" name="Rectangle 5"/>
          <p:cNvSpPr>
            <a:spLocks noChangeArrowheads="1"/>
          </p:cNvSpPr>
          <p:nvPr/>
        </p:nvSpPr>
        <p:spPr bwMode="auto">
          <a:xfrm>
            <a:off x="1296269" y="1038313"/>
            <a:ext cx="8712125" cy="4493538"/>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spcBef>
                <a:spcPct val="50000"/>
              </a:spcBef>
            </a:pPr>
            <a:br>
              <a:rPr kumimoji="1" lang="zh-CN" altLang="en-US" sz="3200" b="1" dirty="0">
                <a:solidFill>
                  <a:schemeClr val="tx1"/>
                </a:solidFill>
                <a:latin typeface="Times New Roman" pitchFamily="18" charset="0"/>
                <a:ea typeface="宋体" charset="-122"/>
              </a:rPr>
            </a:br>
            <a:endParaRPr kumimoji="1" lang="zh-CN" altLang="en-US" sz="3200" b="1" dirty="0">
              <a:solidFill>
                <a:schemeClr val="tx1"/>
              </a:solidFill>
              <a:latin typeface="Times New Roman" pitchFamily="18" charset="0"/>
              <a:ea typeface="宋体" charset="-122"/>
            </a:endParaRPr>
          </a:p>
          <a:p>
            <a:pPr eaLnBrk="1" hangingPunct="1"/>
            <a:r>
              <a:rPr kumimoji="1" lang="en-US" altLang="zh-CN" sz="3200" b="1" dirty="0" err="1">
                <a:solidFill>
                  <a:schemeClr val="tx1"/>
                </a:solidFill>
                <a:latin typeface="Times New Roman" pitchFamily="18" charset="0"/>
                <a:ea typeface="宋体" charset="-122"/>
              </a:rPr>
              <a:t>my_money</a:t>
            </a:r>
            <a:r>
              <a:rPr kumimoji="1" lang="en-US" altLang="zh-CN" sz="3200" b="1" dirty="0">
                <a:solidFill>
                  <a:schemeClr val="tx1"/>
                </a:solidFill>
                <a:latin typeface="Times New Roman" pitchFamily="18" charset="0"/>
                <a:ea typeface="宋体" charset="-122"/>
              </a:rPr>
              <a:t> = 1000.0;</a:t>
            </a:r>
          </a:p>
          <a:p>
            <a:pPr eaLnBrk="1" hangingPunct="1"/>
            <a:r>
              <a:rPr kumimoji="1" lang="en-US" altLang="zh-CN" sz="3200" b="1" dirty="0">
                <a:solidFill>
                  <a:srgbClr val="00CC00"/>
                </a:solidFill>
                <a:latin typeface="Times New Roman" pitchFamily="18" charset="0"/>
                <a:ea typeface="宋体" charset="-122"/>
              </a:rPr>
              <a:t>n = 0;</a:t>
            </a:r>
          </a:p>
          <a:p>
            <a:pPr eaLnBrk="1" hangingPunct="1"/>
            <a:r>
              <a:rPr kumimoji="1" lang="en-US" altLang="zh-CN" sz="3200" b="1" dirty="0">
                <a:solidFill>
                  <a:schemeClr val="tx1"/>
                </a:solidFill>
                <a:latin typeface="Times New Roman" pitchFamily="18" charset="0"/>
                <a:ea typeface="宋体" charset="-122"/>
              </a:rPr>
              <a:t>while </a:t>
            </a:r>
            <a:r>
              <a:rPr kumimoji="1" lang="en-US" altLang="zh-CN" sz="3200" b="1" dirty="0" err="1">
                <a:solidFill>
                  <a:srgbClr val="C80495"/>
                </a:solidFill>
                <a:latin typeface="Times New Roman" pitchFamily="18" charset="0"/>
                <a:ea typeface="宋体" charset="-122"/>
              </a:rPr>
              <a:t>my_money</a:t>
            </a:r>
            <a:r>
              <a:rPr kumimoji="1" lang="en-US" altLang="zh-CN" sz="3200" b="1" dirty="0">
                <a:solidFill>
                  <a:srgbClr val="C80495"/>
                </a:solidFill>
                <a:latin typeface="Times New Roman" pitchFamily="18" charset="0"/>
                <a:ea typeface="宋体" charset="-122"/>
              </a:rPr>
              <a:t> &lt; 2000.0</a:t>
            </a:r>
            <a:r>
              <a:rPr kumimoji="1" lang="en-US" altLang="zh-CN" sz="3200" b="1" dirty="0">
                <a:solidFill>
                  <a:schemeClr val="tx1"/>
                </a:solidFill>
                <a:latin typeface="Times New Roman" pitchFamily="18" charset="0"/>
                <a:ea typeface="宋体" charset="-122"/>
              </a:rPr>
              <a:t> : </a:t>
            </a:r>
            <a:endParaRPr kumimoji="1" lang="en-US" altLang="zh-CN" sz="3200" b="1" dirty="0">
              <a:latin typeface="Times New Roman" pitchFamily="18" charset="0"/>
              <a:ea typeface="宋体" charset="-122"/>
            </a:endParaRPr>
          </a:p>
          <a:p>
            <a:pPr eaLnBrk="1" hangingPunct="1">
              <a:spcBef>
                <a:spcPts val="1800"/>
              </a:spcBef>
            </a:pPr>
            <a:r>
              <a:rPr kumimoji="1" lang="en-US" altLang="zh-CN" sz="3200" b="1" dirty="0">
                <a:solidFill>
                  <a:schemeClr val="tx1"/>
                </a:solidFill>
                <a:latin typeface="Times New Roman" pitchFamily="18" charset="0"/>
                <a:ea typeface="宋体" charset="-122"/>
              </a:rPr>
              <a:t>        </a:t>
            </a:r>
            <a:r>
              <a:rPr kumimoji="1" lang="en-US" altLang="zh-CN" sz="3200" b="1" dirty="0" err="1">
                <a:solidFill>
                  <a:srgbClr val="FF0000"/>
                </a:solidFill>
                <a:latin typeface="Times New Roman" pitchFamily="18" charset="0"/>
                <a:ea typeface="宋体" charset="-122"/>
              </a:rPr>
              <a:t>my_money</a:t>
            </a:r>
            <a:r>
              <a:rPr kumimoji="1" lang="en-US" altLang="zh-CN" sz="3200" b="1" dirty="0">
                <a:solidFill>
                  <a:srgbClr val="FF0000"/>
                </a:solidFill>
                <a:latin typeface="Times New Roman" pitchFamily="18" charset="0"/>
                <a:ea typeface="宋体" charset="-122"/>
              </a:rPr>
              <a:t> = </a:t>
            </a:r>
            <a:r>
              <a:rPr kumimoji="1" lang="en-US" altLang="zh-CN" sz="3200" b="1" dirty="0" err="1">
                <a:solidFill>
                  <a:srgbClr val="FF0000"/>
                </a:solidFill>
                <a:latin typeface="Times New Roman" pitchFamily="18" charset="0"/>
                <a:ea typeface="宋体" charset="-122"/>
              </a:rPr>
              <a:t>my_money</a:t>
            </a:r>
            <a:r>
              <a:rPr kumimoji="1" lang="en-US" altLang="zh-CN" sz="3200" b="1" dirty="0">
                <a:solidFill>
                  <a:srgbClr val="FF0000"/>
                </a:solidFill>
                <a:latin typeface="Times New Roman" pitchFamily="18" charset="0"/>
                <a:ea typeface="宋体" charset="-122"/>
              </a:rPr>
              <a:t> *1.05</a:t>
            </a:r>
          </a:p>
          <a:p>
            <a:pPr eaLnBrk="1" hangingPunct="1"/>
            <a:r>
              <a:rPr kumimoji="1" lang="en-US" altLang="zh-CN" sz="3200" b="1" dirty="0">
                <a:solidFill>
                  <a:schemeClr val="tx1"/>
                </a:solidFill>
                <a:latin typeface="Times New Roman" pitchFamily="18" charset="0"/>
                <a:ea typeface="宋体" charset="-122"/>
              </a:rPr>
              <a:t>        </a:t>
            </a:r>
            <a:r>
              <a:rPr kumimoji="1" lang="en-US" altLang="zh-CN" sz="3200" b="1" dirty="0">
                <a:solidFill>
                  <a:srgbClr val="00CC00"/>
                </a:solidFill>
                <a:latin typeface="Times New Roman" pitchFamily="18" charset="0"/>
                <a:ea typeface="宋体" charset="-122"/>
              </a:rPr>
              <a:t>n = n + 1</a:t>
            </a:r>
          </a:p>
          <a:p>
            <a:pPr>
              <a:spcBef>
                <a:spcPts val="1800"/>
              </a:spcBef>
            </a:pPr>
            <a:r>
              <a:rPr kumimoji="1" lang="en-US" altLang="zh-CN" sz="3200" b="1" dirty="0">
                <a:solidFill>
                  <a:schemeClr val="tx1"/>
                </a:solidFill>
                <a:latin typeface="Times New Roman" pitchFamily="18" charset="0"/>
                <a:ea typeface="宋体" charset="-122"/>
              </a:rPr>
              <a:t>print( "</a:t>
            </a:r>
            <a:r>
              <a:rPr kumimoji="1" lang="zh-CN" altLang="en-US" sz="3200" b="1" dirty="0">
                <a:solidFill>
                  <a:schemeClr val="tx1"/>
                </a:solidFill>
                <a:latin typeface="Times New Roman" pitchFamily="18" charset="0"/>
                <a:ea typeface="宋体" charset="-122"/>
              </a:rPr>
              <a:t>我的钱将会在</a:t>
            </a:r>
            <a:r>
              <a:rPr kumimoji="1" lang="en-US" altLang="zh-CN" sz="3200" b="1" dirty="0">
                <a:latin typeface="Times New Roman" pitchFamily="18" charset="0"/>
                <a:ea typeface="宋体" charset="-122"/>
              </a:rPr>
              <a:t>" ,  </a:t>
            </a:r>
            <a:r>
              <a:rPr kumimoji="1" lang="en-US" altLang="zh-CN" sz="3200" b="1" dirty="0">
                <a:solidFill>
                  <a:schemeClr val="tx1"/>
                </a:solidFill>
                <a:latin typeface="Times New Roman" pitchFamily="18" charset="0"/>
                <a:ea typeface="宋体" charset="-122"/>
              </a:rPr>
              <a:t>n,  </a:t>
            </a:r>
            <a:r>
              <a:rPr kumimoji="1" lang="en-US" altLang="zh-CN" sz="3200" b="1" dirty="0">
                <a:latin typeface="Times New Roman" pitchFamily="18" charset="0"/>
                <a:ea typeface="宋体" charset="-122"/>
              </a:rPr>
              <a:t>"</a:t>
            </a:r>
            <a:r>
              <a:rPr kumimoji="1" lang="zh-CN" altLang="en-US" sz="3200" b="1" dirty="0">
                <a:solidFill>
                  <a:schemeClr val="tx1"/>
                </a:solidFill>
                <a:latin typeface="Times New Roman" pitchFamily="18" charset="0"/>
                <a:ea typeface="宋体" charset="-122"/>
              </a:rPr>
              <a:t>年内翻番</a:t>
            </a:r>
            <a:r>
              <a:rPr kumimoji="1" lang="en-US" altLang="zh-CN" sz="3200" b="1" dirty="0">
                <a:solidFill>
                  <a:schemeClr val="tx1"/>
                </a:solidFill>
                <a:latin typeface="Times New Roman" pitchFamily="18" charset="0"/>
                <a:ea typeface="宋体" charset="-122"/>
              </a:rPr>
              <a:t>")</a:t>
            </a:r>
          </a:p>
        </p:txBody>
      </p:sp>
      <p:sp>
        <p:nvSpPr>
          <p:cNvPr id="13" name="Text Box 6"/>
          <p:cNvSpPr txBox="1">
            <a:spLocks noChangeArrowheads="1"/>
          </p:cNvSpPr>
          <p:nvPr/>
        </p:nvSpPr>
        <p:spPr bwMode="auto">
          <a:xfrm>
            <a:off x="6828436" y="5363093"/>
            <a:ext cx="5130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buFontTx/>
              <a:buAutoNum type="arabicPeriod"/>
            </a:pPr>
            <a:r>
              <a:rPr kumimoji="1" lang="zh-CN" altLang="en-US" sz="2400" b="1">
                <a:solidFill>
                  <a:srgbClr val="FF3300"/>
                </a:solidFill>
                <a:latin typeface="Times New Roman" pitchFamily="18" charset="0"/>
                <a:ea typeface="宋体" charset="-122"/>
              </a:rPr>
              <a:t>多少年？</a:t>
            </a:r>
          </a:p>
          <a:p>
            <a:pPr eaLnBrk="1" hangingPunct="1">
              <a:buFontTx/>
              <a:buAutoNum type="arabicPeriod"/>
            </a:pPr>
            <a:r>
              <a:rPr kumimoji="1" lang="zh-CN" altLang="en-US" sz="2400" b="1">
                <a:solidFill>
                  <a:srgbClr val="FF3300"/>
                </a:solidFill>
                <a:latin typeface="Times New Roman" pitchFamily="18" charset="0"/>
                <a:ea typeface="宋体" charset="-122"/>
              </a:rPr>
              <a:t>若存银行需多少年？再翻</a:t>
            </a:r>
            <a:r>
              <a:rPr kumimoji="1" lang="en-US" altLang="zh-CN" sz="2400" b="1">
                <a:solidFill>
                  <a:srgbClr val="FF3300"/>
                </a:solidFill>
                <a:latin typeface="Times New Roman" pitchFamily="18" charset="0"/>
                <a:ea typeface="宋体" charset="-122"/>
              </a:rPr>
              <a:t>2</a:t>
            </a:r>
            <a:r>
              <a:rPr kumimoji="1" lang="zh-CN" altLang="en-US" sz="2400" b="1">
                <a:solidFill>
                  <a:srgbClr val="FF3300"/>
                </a:solidFill>
                <a:latin typeface="Times New Roman" pitchFamily="18" charset="0"/>
                <a:ea typeface="宋体" charset="-122"/>
              </a:rPr>
              <a:t>番呢？</a:t>
            </a:r>
          </a:p>
          <a:p>
            <a:pPr eaLnBrk="1" hangingPunct="1">
              <a:buFontTx/>
              <a:buAutoNum type="arabicPeriod"/>
            </a:pPr>
            <a:r>
              <a:rPr kumimoji="1" lang="en-US" altLang="zh-CN" sz="2400" b="1">
                <a:solidFill>
                  <a:srgbClr val="FF3300"/>
                </a:solidFill>
                <a:latin typeface="Times New Roman" pitchFamily="18" charset="0"/>
                <a:ea typeface="宋体" charset="-122"/>
              </a:rPr>
              <a:t>21%</a:t>
            </a:r>
            <a:r>
              <a:rPr kumimoji="1" lang="zh-CN" altLang="en-US" sz="2400" b="1">
                <a:solidFill>
                  <a:srgbClr val="FF3300"/>
                </a:solidFill>
                <a:latin typeface="Times New Roman" pitchFamily="18" charset="0"/>
                <a:ea typeface="宋体" charset="-122"/>
              </a:rPr>
              <a:t>、</a:t>
            </a:r>
            <a:r>
              <a:rPr kumimoji="1" lang="en-US" altLang="zh-CN" sz="2400" b="1">
                <a:solidFill>
                  <a:srgbClr val="FF3300"/>
                </a:solidFill>
                <a:latin typeface="Times New Roman" pitchFamily="18" charset="0"/>
                <a:ea typeface="宋体" charset="-122"/>
              </a:rPr>
              <a:t>43</a:t>
            </a:r>
            <a:r>
              <a:rPr kumimoji="1" lang="zh-CN" altLang="en-US" sz="2400" b="1">
                <a:solidFill>
                  <a:srgbClr val="FF3300"/>
                </a:solidFill>
                <a:latin typeface="Times New Roman" pitchFamily="18" charset="0"/>
                <a:ea typeface="宋体" charset="-122"/>
              </a:rPr>
              <a:t>、</a:t>
            </a:r>
            <a:r>
              <a:rPr kumimoji="1" lang="en-US" altLang="zh-CN" sz="2400" b="1">
                <a:solidFill>
                  <a:srgbClr val="FF3300"/>
                </a:solidFill>
                <a:latin typeface="Times New Roman" pitchFamily="18" charset="0"/>
                <a:ea typeface="宋体" charset="-122"/>
              </a:rPr>
              <a:t>4000</a:t>
            </a:r>
          </a:p>
        </p:txBody>
      </p:sp>
    </p:spTree>
    <p:extLst>
      <p:ext uri="{BB962C8B-B14F-4D97-AF65-F5344CB8AC3E}">
        <p14:creationId xmlns:p14="http://schemas.microsoft.com/office/powerpoint/2010/main" val="4033440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box(in)">
                                      <p:cBhvr>
                                        <p:cTn id="7" dur="500"/>
                                        <p:tgtEl>
                                          <p:spTgt spid="12">
                                            <p:bg/>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box(in)">
                                      <p:cBhvr>
                                        <p:cTn id="10" dur="500"/>
                                        <p:tgtEl>
                                          <p:spTgt spid="12">
                                            <p:txEl>
                                              <p:pRg st="0" end="0"/>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Effect transition="in" filter="box(in)">
                                      <p:cBhvr>
                                        <p:cTn id="13" dur="500"/>
                                        <p:tgtEl>
                                          <p:spTgt spid="12">
                                            <p:txEl>
                                              <p:pRg st="1" end="1"/>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2">
                                            <p:txEl>
                                              <p:pRg st="2" end="2"/>
                                            </p:txEl>
                                          </p:spTgt>
                                        </p:tgtEl>
                                        <p:attrNameLst>
                                          <p:attrName>style.visibility</p:attrName>
                                        </p:attrNameLst>
                                      </p:cBhvr>
                                      <p:to>
                                        <p:strVal val="visible"/>
                                      </p:to>
                                    </p:set>
                                    <p:animEffect transition="in" filter="box(in)">
                                      <p:cBhvr>
                                        <p:cTn id="16" dur="500"/>
                                        <p:tgtEl>
                                          <p:spTgt spid="12">
                                            <p:txEl>
                                              <p:pRg st="2" end="2"/>
                                            </p:txEl>
                                          </p:spTgt>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Effect transition="in" filter="box(in)">
                                      <p:cBhvr>
                                        <p:cTn id="19" dur="500"/>
                                        <p:tgtEl>
                                          <p:spTgt spid="12">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12">
                                            <p:txEl>
                                              <p:pRg st="4" end="4"/>
                                            </p:txEl>
                                          </p:spTgt>
                                        </p:tgtEl>
                                        <p:attrNameLst>
                                          <p:attrName>style.visibility</p:attrName>
                                        </p:attrNameLst>
                                      </p:cBhvr>
                                      <p:to>
                                        <p:strVal val="visible"/>
                                      </p:to>
                                    </p:set>
                                    <p:animEffect transition="in" filter="box(in)">
                                      <p:cBhvr>
                                        <p:cTn id="24" dur="500"/>
                                        <p:tgtEl>
                                          <p:spTgt spid="12">
                                            <p:txEl>
                                              <p:pRg st="4" end="4"/>
                                            </p:txEl>
                                          </p:spTgt>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animEffect transition="in" filter="box(in)">
                                      <p:cBhvr>
                                        <p:cTn id="27" dur="500"/>
                                        <p:tgtEl>
                                          <p:spTgt spid="12">
                                            <p:txEl>
                                              <p:pRg st="5" end="5"/>
                                            </p:txEl>
                                          </p:spTgt>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12">
                                            <p:txEl>
                                              <p:pRg st="6" end="6"/>
                                            </p:txEl>
                                          </p:spTgt>
                                        </p:tgtEl>
                                        <p:attrNameLst>
                                          <p:attrName>style.visibility</p:attrName>
                                        </p:attrNameLst>
                                      </p:cBhvr>
                                      <p:to>
                                        <p:strVal val="visible"/>
                                      </p:to>
                                    </p:set>
                                    <p:animEffect transition="in" filter="box(in)">
                                      <p:cBhvr>
                                        <p:cTn id="30" dur="500"/>
                                        <p:tgtEl>
                                          <p:spTgt spid="12">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anim calcmode="lin" valueType="num">
                                      <p:cBhvr additive="base">
                                        <p:cTn id="35"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3">
                                            <p:txEl>
                                              <p:pRg st="1" end="1"/>
                                            </p:txEl>
                                          </p:spTgt>
                                        </p:tgtEl>
                                        <p:attrNameLst>
                                          <p:attrName>style.visibility</p:attrName>
                                        </p:attrNameLst>
                                      </p:cBhvr>
                                      <p:to>
                                        <p:strVal val="visible"/>
                                      </p:to>
                                    </p:set>
                                    <p:anim calcmode="lin" valueType="num">
                                      <p:cBhvr additive="base">
                                        <p:cTn id="41"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3">
                                            <p:txEl>
                                              <p:pRg st="2" end="2"/>
                                            </p:txEl>
                                          </p:spTgt>
                                        </p:tgtEl>
                                        <p:attrNameLst>
                                          <p:attrName>style.visibility</p:attrName>
                                        </p:attrNameLst>
                                      </p:cBhvr>
                                      <p:to>
                                        <p:strVal val="visible"/>
                                      </p:to>
                                    </p:set>
                                    <p:anim calcmode="lin" valueType="num">
                                      <p:cBhvr additive="base">
                                        <p:cTn id="4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P spid="1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4" y="98987"/>
            <a:ext cx="614413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现实中的案例</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Rectangle 4"/>
          <p:cNvSpPr>
            <a:spLocks noChangeArrowheads="1"/>
          </p:cNvSpPr>
          <p:nvPr/>
        </p:nvSpPr>
        <p:spPr bwMode="auto">
          <a:xfrm>
            <a:off x="764781" y="1050189"/>
            <a:ext cx="1018308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kumimoji="1" lang="en-US" altLang="zh-CN" sz="2800" b="1">
                <a:solidFill>
                  <a:schemeClr val="tx1"/>
                </a:solidFill>
                <a:latin typeface="Times New Roman" pitchFamily="18" charset="0"/>
                <a:ea typeface="宋体" charset="-122"/>
              </a:rPr>
              <a:t>【</a:t>
            </a:r>
            <a:r>
              <a:rPr kumimoji="1" lang="zh-CN" altLang="en-US" sz="2800" b="1">
                <a:solidFill>
                  <a:schemeClr val="tx1"/>
                </a:solidFill>
                <a:latin typeface="Times New Roman" pitchFamily="18" charset="0"/>
                <a:ea typeface="宋体" charset="-122"/>
              </a:rPr>
              <a:t>女子</a:t>
            </a:r>
            <a:r>
              <a:rPr kumimoji="1" lang="en-US" altLang="zh-CN" sz="2800" b="1">
                <a:solidFill>
                  <a:schemeClr val="tx1"/>
                </a:solidFill>
                <a:latin typeface="Times New Roman" pitchFamily="18" charset="0"/>
                <a:ea typeface="宋体" charset="-122"/>
              </a:rPr>
              <a:t>44</a:t>
            </a:r>
            <a:r>
              <a:rPr kumimoji="1" lang="zh-CN" altLang="en-US" sz="2800" b="1">
                <a:solidFill>
                  <a:schemeClr val="tx1"/>
                </a:solidFill>
                <a:latin typeface="Times New Roman" pitchFamily="18" charset="0"/>
                <a:ea typeface="宋体" charset="-122"/>
              </a:rPr>
              <a:t>年前存银行</a:t>
            </a:r>
            <a:r>
              <a:rPr kumimoji="1" lang="en-US" altLang="zh-CN" sz="2800" b="1">
                <a:solidFill>
                  <a:schemeClr val="tx1"/>
                </a:solidFill>
                <a:latin typeface="Times New Roman" pitchFamily="18" charset="0"/>
                <a:ea typeface="宋体" charset="-122"/>
              </a:rPr>
              <a:t>1200</a:t>
            </a:r>
            <a:r>
              <a:rPr kumimoji="1" lang="zh-CN" altLang="en-US" sz="2800" b="1">
                <a:solidFill>
                  <a:schemeClr val="tx1"/>
                </a:solidFill>
                <a:latin typeface="Times New Roman" pitchFamily="18" charset="0"/>
                <a:ea typeface="宋体" charset="-122"/>
              </a:rPr>
              <a:t>元 如今取出</a:t>
            </a:r>
            <a:r>
              <a:rPr kumimoji="1" lang="en-US" altLang="zh-CN" sz="2800" b="1">
                <a:solidFill>
                  <a:schemeClr val="tx1"/>
                </a:solidFill>
                <a:latin typeface="Times New Roman" pitchFamily="18" charset="0"/>
                <a:ea typeface="宋体" charset="-122"/>
              </a:rPr>
              <a:t>2684.04</a:t>
            </a:r>
            <a:r>
              <a:rPr kumimoji="1" lang="zh-CN" altLang="en-US" sz="2800" b="1">
                <a:solidFill>
                  <a:schemeClr val="tx1"/>
                </a:solidFill>
                <a:latin typeface="Times New Roman" pitchFamily="18" charset="0"/>
                <a:ea typeface="宋体" charset="-122"/>
              </a:rPr>
              <a:t>元</a:t>
            </a:r>
            <a:r>
              <a:rPr kumimoji="1" lang="en-US" altLang="zh-CN" sz="2800" b="1">
                <a:solidFill>
                  <a:schemeClr val="tx1"/>
                </a:solidFill>
                <a:latin typeface="Times New Roman" pitchFamily="18" charset="0"/>
                <a:ea typeface="宋体" charset="-122"/>
              </a:rPr>
              <a:t>】</a:t>
            </a:r>
            <a:r>
              <a:rPr kumimoji="1" lang="zh-CN" altLang="en-US" sz="2800" b="1">
                <a:solidFill>
                  <a:schemeClr val="tx1"/>
                </a:solidFill>
                <a:latin typeface="Times New Roman" pitchFamily="18" charset="0"/>
                <a:ea typeface="宋体" charset="-122"/>
              </a:rPr>
              <a:t>厦门市民陈女士手中有一张</a:t>
            </a:r>
            <a:r>
              <a:rPr kumimoji="1" lang="en-US" altLang="zh-CN" sz="2800" b="1">
                <a:solidFill>
                  <a:schemeClr val="tx1"/>
                </a:solidFill>
                <a:latin typeface="Times New Roman" pitchFamily="18" charset="0"/>
                <a:ea typeface="宋体" charset="-122"/>
              </a:rPr>
              <a:t>1973</a:t>
            </a:r>
            <a:r>
              <a:rPr kumimoji="1" lang="zh-CN" altLang="en-US" sz="2800" b="1">
                <a:solidFill>
                  <a:schemeClr val="tx1"/>
                </a:solidFill>
                <a:latin typeface="Times New Roman" pitchFamily="18" charset="0"/>
                <a:ea typeface="宋体" charset="-122"/>
              </a:rPr>
              <a:t>年的老存单，上面存有</a:t>
            </a:r>
            <a:r>
              <a:rPr kumimoji="1" lang="en-US" altLang="zh-CN" sz="2800" b="1">
                <a:solidFill>
                  <a:schemeClr val="tx1"/>
                </a:solidFill>
                <a:latin typeface="Times New Roman" pitchFamily="18" charset="0"/>
                <a:ea typeface="宋体" charset="-122"/>
              </a:rPr>
              <a:t>1200</a:t>
            </a:r>
            <a:r>
              <a:rPr kumimoji="1" lang="zh-CN" altLang="en-US" sz="2800" b="1">
                <a:solidFill>
                  <a:schemeClr val="tx1"/>
                </a:solidFill>
                <a:latin typeface="Times New Roman" pitchFamily="18" charset="0"/>
                <a:ea typeface="宋体" charset="-122"/>
              </a:rPr>
              <a:t>元。据悉，这笔存单的利息计算涉及</a:t>
            </a:r>
            <a:r>
              <a:rPr kumimoji="1" lang="en-US" altLang="zh-CN" sz="2800" b="1">
                <a:solidFill>
                  <a:schemeClr val="tx1"/>
                </a:solidFill>
                <a:latin typeface="Times New Roman" pitchFamily="18" charset="0"/>
                <a:ea typeface="宋体" charset="-122"/>
              </a:rPr>
              <a:t>1972</a:t>
            </a:r>
            <a:r>
              <a:rPr kumimoji="1" lang="zh-CN" altLang="en-US" sz="2800" b="1">
                <a:solidFill>
                  <a:schemeClr val="tx1"/>
                </a:solidFill>
                <a:latin typeface="Times New Roman" pitchFamily="18" charset="0"/>
                <a:ea typeface="宋体" charset="-122"/>
              </a:rPr>
              <a:t>年、</a:t>
            </a:r>
            <a:r>
              <a:rPr kumimoji="1" lang="en-US" altLang="zh-CN" sz="2800" b="1">
                <a:solidFill>
                  <a:schemeClr val="tx1"/>
                </a:solidFill>
                <a:latin typeface="Times New Roman" pitchFamily="18" charset="0"/>
                <a:ea typeface="宋体" charset="-122"/>
              </a:rPr>
              <a:t>1980</a:t>
            </a:r>
            <a:r>
              <a:rPr kumimoji="1" lang="zh-CN" altLang="en-US" sz="2800" b="1">
                <a:solidFill>
                  <a:schemeClr val="tx1"/>
                </a:solidFill>
                <a:latin typeface="Times New Roman" pitchFamily="18" charset="0"/>
                <a:ea typeface="宋体" charset="-122"/>
              </a:rPr>
              <a:t>年、</a:t>
            </a:r>
            <a:r>
              <a:rPr kumimoji="1" lang="en-US" altLang="zh-CN" sz="2800" b="1">
                <a:solidFill>
                  <a:schemeClr val="tx1"/>
                </a:solidFill>
                <a:latin typeface="Times New Roman" pitchFamily="18" charset="0"/>
                <a:ea typeface="宋体" charset="-122"/>
              </a:rPr>
              <a:t>1993</a:t>
            </a:r>
            <a:r>
              <a:rPr kumimoji="1" lang="zh-CN" altLang="en-US" sz="2800" b="1">
                <a:solidFill>
                  <a:schemeClr val="tx1"/>
                </a:solidFill>
                <a:latin typeface="Times New Roman" pitchFamily="18" charset="0"/>
                <a:ea typeface="宋体" charset="-122"/>
              </a:rPr>
              <a:t>年的多次储蓄管理制度变革、至少</a:t>
            </a:r>
            <a:r>
              <a:rPr kumimoji="1" lang="en-US" altLang="zh-CN" sz="2800" b="1">
                <a:solidFill>
                  <a:schemeClr val="tx1"/>
                </a:solidFill>
                <a:latin typeface="Times New Roman" pitchFamily="18" charset="0"/>
                <a:ea typeface="宋体" charset="-122"/>
              </a:rPr>
              <a:t>16</a:t>
            </a:r>
            <a:r>
              <a:rPr kumimoji="1" lang="zh-CN" altLang="en-US" sz="2800" b="1">
                <a:solidFill>
                  <a:schemeClr val="tx1"/>
                </a:solidFill>
                <a:latin typeface="Times New Roman" pitchFamily="18" charset="0"/>
                <a:ea typeface="宋体" charset="-122"/>
              </a:rPr>
              <a:t>次利率调整，还要考虑到利息个人所得税的多次变化。最终经多方计算确认，陈女士成功提取本息合计</a:t>
            </a:r>
            <a:r>
              <a:rPr kumimoji="1" lang="en-US" altLang="zh-CN" sz="2800" b="1">
                <a:solidFill>
                  <a:schemeClr val="tx1"/>
                </a:solidFill>
                <a:latin typeface="Times New Roman" pitchFamily="18" charset="0"/>
                <a:ea typeface="宋体" charset="-122"/>
              </a:rPr>
              <a:t>2684.04</a:t>
            </a:r>
            <a:r>
              <a:rPr kumimoji="1" lang="zh-CN" altLang="en-US" sz="2800" b="1">
                <a:solidFill>
                  <a:schemeClr val="tx1"/>
                </a:solidFill>
                <a:latin typeface="Times New Roman" pitchFamily="18" charset="0"/>
                <a:ea typeface="宋体" charset="-122"/>
              </a:rPr>
              <a:t>元，其中利息</a:t>
            </a:r>
            <a:r>
              <a:rPr kumimoji="1" lang="en-US" altLang="zh-CN" sz="2800" b="1">
                <a:solidFill>
                  <a:schemeClr val="tx1"/>
                </a:solidFill>
                <a:latin typeface="Times New Roman" pitchFamily="18" charset="0"/>
                <a:ea typeface="宋体" charset="-122"/>
              </a:rPr>
              <a:t>1484.04</a:t>
            </a:r>
            <a:r>
              <a:rPr kumimoji="1" lang="zh-CN" altLang="en-US" sz="2800" b="1">
                <a:solidFill>
                  <a:schemeClr val="tx1"/>
                </a:solidFill>
                <a:latin typeface="Times New Roman" pitchFamily="18" charset="0"/>
                <a:ea typeface="宋体" charset="-122"/>
              </a:rPr>
              <a:t>元。</a:t>
            </a:r>
            <a:endParaRPr kumimoji="1" lang="en-US" altLang="zh-CN" sz="2800" b="1">
              <a:solidFill>
                <a:schemeClr val="tx1"/>
              </a:solidFill>
              <a:latin typeface="Times New Roman" pitchFamily="18" charset="0"/>
              <a:ea typeface="宋体" charset="-122"/>
            </a:endParaRPr>
          </a:p>
        </p:txBody>
      </p:sp>
      <p:pic>
        <p:nvPicPr>
          <p:cNvPr id="11"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5786" y="3913921"/>
            <a:ext cx="5046663"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8382" y="3711266"/>
            <a:ext cx="2057400" cy="275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4"/>
          <p:cNvSpPr>
            <a:spLocks noChangeArrowheads="1"/>
          </p:cNvSpPr>
          <p:nvPr/>
        </p:nvSpPr>
        <p:spPr bwMode="auto">
          <a:xfrm>
            <a:off x="9002671" y="3779221"/>
            <a:ext cx="2086495" cy="255454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spcBef>
                <a:spcPct val="50000"/>
              </a:spcBef>
            </a:pPr>
            <a:r>
              <a:rPr kumimoji="1" lang="zh-CN" altLang="en-US" sz="2000" b="1">
                <a:solidFill>
                  <a:schemeClr val="tx1"/>
                </a:solidFill>
                <a:latin typeface="Times New Roman" pitchFamily="18" charset="0"/>
                <a:ea typeface="宋体" charset="-122"/>
              </a:rPr>
              <a:t>上世纪</a:t>
            </a:r>
            <a:r>
              <a:rPr kumimoji="1" lang="en-US" altLang="zh-CN" sz="2000" b="1">
                <a:solidFill>
                  <a:schemeClr val="tx1"/>
                </a:solidFill>
                <a:latin typeface="Times New Roman" pitchFamily="18" charset="0"/>
                <a:ea typeface="宋体" charset="-122"/>
              </a:rPr>
              <a:t>70</a:t>
            </a:r>
            <a:r>
              <a:rPr kumimoji="1" lang="zh-CN" altLang="en-US" sz="2000" b="1">
                <a:solidFill>
                  <a:schemeClr val="tx1"/>
                </a:solidFill>
                <a:latin typeface="Times New Roman" pitchFamily="18" charset="0"/>
                <a:ea typeface="宋体" charset="-122"/>
              </a:rPr>
              <a:t>年代职工平均工资每月</a:t>
            </a:r>
            <a:r>
              <a:rPr kumimoji="1" lang="en-US" altLang="zh-CN" sz="2000" b="1">
                <a:solidFill>
                  <a:schemeClr val="tx1"/>
                </a:solidFill>
                <a:latin typeface="Times New Roman" pitchFamily="18" charset="0"/>
                <a:ea typeface="宋体" charset="-122"/>
              </a:rPr>
              <a:t>20</a:t>
            </a:r>
            <a:r>
              <a:rPr kumimoji="1" lang="zh-CN" altLang="en-US" sz="2000" b="1">
                <a:solidFill>
                  <a:schemeClr val="tx1"/>
                </a:solidFill>
                <a:latin typeface="Times New Roman" pitchFamily="18" charset="0"/>
                <a:ea typeface="宋体" charset="-122"/>
              </a:rPr>
              <a:t>元，</a:t>
            </a:r>
            <a:r>
              <a:rPr kumimoji="1" lang="en-US" altLang="zh-CN" sz="2000" b="1">
                <a:solidFill>
                  <a:schemeClr val="tx1"/>
                </a:solidFill>
                <a:latin typeface="Times New Roman" pitchFamily="18" charset="0"/>
                <a:ea typeface="宋体" charset="-122"/>
              </a:rPr>
              <a:t>1200</a:t>
            </a:r>
            <a:r>
              <a:rPr kumimoji="1" lang="zh-CN" altLang="en-US" sz="2000" b="1">
                <a:solidFill>
                  <a:schemeClr val="tx1"/>
                </a:solidFill>
                <a:latin typeface="Times New Roman" pitchFamily="18" charset="0"/>
                <a:ea typeface="宋体" charset="-122"/>
              </a:rPr>
              <a:t>元合</a:t>
            </a:r>
            <a:r>
              <a:rPr kumimoji="1" lang="en-US" altLang="zh-CN" sz="2000" b="1">
                <a:solidFill>
                  <a:schemeClr val="tx1"/>
                </a:solidFill>
                <a:latin typeface="Times New Roman" pitchFamily="18" charset="0"/>
                <a:ea typeface="宋体" charset="-122"/>
              </a:rPr>
              <a:t>60</a:t>
            </a:r>
            <a:r>
              <a:rPr kumimoji="1" lang="zh-CN" altLang="en-US" sz="2000" b="1">
                <a:solidFill>
                  <a:schemeClr val="tx1"/>
                </a:solidFill>
                <a:latin typeface="Times New Roman" pitchFamily="18" charset="0"/>
                <a:ea typeface="宋体" charset="-122"/>
              </a:rPr>
              <a:t>个月工资。</a:t>
            </a:r>
            <a:r>
              <a:rPr kumimoji="1" lang="en-US" altLang="zh-CN" sz="2000" b="1">
                <a:solidFill>
                  <a:schemeClr val="tx1"/>
                </a:solidFill>
                <a:latin typeface="Times New Roman" pitchFamily="18" charset="0"/>
                <a:ea typeface="宋体" charset="-122"/>
              </a:rPr>
              <a:t>2017</a:t>
            </a:r>
            <a:r>
              <a:rPr kumimoji="1" lang="zh-CN" altLang="en-US" sz="2000" b="1">
                <a:solidFill>
                  <a:schemeClr val="tx1"/>
                </a:solidFill>
                <a:latin typeface="Times New Roman" pitchFamily="18" charset="0"/>
                <a:ea typeface="宋体" charset="-122"/>
              </a:rPr>
              <a:t>年全国平均收入每月</a:t>
            </a:r>
            <a:r>
              <a:rPr kumimoji="1" lang="en-US" altLang="zh-CN" sz="2000" b="1">
                <a:solidFill>
                  <a:schemeClr val="tx1"/>
                </a:solidFill>
                <a:latin typeface="Times New Roman" pitchFamily="18" charset="0"/>
                <a:ea typeface="宋体" charset="-122"/>
              </a:rPr>
              <a:t>3053</a:t>
            </a:r>
            <a:r>
              <a:rPr kumimoji="1" lang="zh-CN" altLang="en-US" sz="2000" b="1">
                <a:solidFill>
                  <a:schemeClr val="tx1"/>
                </a:solidFill>
                <a:latin typeface="Times New Roman" pitchFamily="18" charset="0"/>
                <a:ea typeface="宋体" charset="-122"/>
              </a:rPr>
              <a:t>，</a:t>
            </a:r>
            <a:r>
              <a:rPr kumimoji="1" lang="en-US" altLang="zh-CN" sz="2000" b="1">
                <a:solidFill>
                  <a:schemeClr val="tx1"/>
                </a:solidFill>
                <a:latin typeface="Times New Roman" pitchFamily="18" charset="0"/>
                <a:ea typeface="宋体" charset="-122"/>
              </a:rPr>
              <a:t>2684</a:t>
            </a:r>
            <a:r>
              <a:rPr kumimoji="1" lang="zh-CN" altLang="en-US" sz="2000" b="1">
                <a:solidFill>
                  <a:schemeClr val="tx1"/>
                </a:solidFill>
                <a:latin typeface="Times New Roman" pitchFamily="18" charset="0"/>
                <a:ea typeface="宋体" charset="-122"/>
              </a:rPr>
              <a:t>元合</a:t>
            </a:r>
            <a:r>
              <a:rPr kumimoji="1" lang="en-US" altLang="zh-CN" sz="2000" b="1">
                <a:solidFill>
                  <a:schemeClr val="tx1"/>
                </a:solidFill>
                <a:latin typeface="Times New Roman" pitchFamily="18" charset="0"/>
                <a:ea typeface="宋体" charset="-122"/>
              </a:rPr>
              <a:t>0.9</a:t>
            </a:r>
            <a:r>
              <a:rPr kumimoji="1" lang="zh-CN" altLang="en-US" sz="2000" b="1">
                <a:solidFill>
                  <a:schemeClr val="tx1"/>
                </a:solidFill>
                <a:latin typeface="Times New Roman" pitchFamily="18" charset="0"/>
                <a:ea typeface="宋体" charset="-122"/>
              </a:rPr>
              <a:t>个月工资，相差</a:t>
            </a:r>
            <a:r>
              <a:rPr kumimoji="1" lang="en-US" altLang="zh-CN" sz="2000" b="1">
                <a:solidFill>
                  <a:schemeClr val="tx1"/>
                </a:solidFill>
                <a:latin typeface="Times New Roman" pitchFamily="18" charset="0"/>
                <a:ea typeface="宋体" charset="-122"/>
              </a:rPr>
              <a:t>67</a:t>
            </a:r>
            <a:r>
              <a:rPr kumimoji="1" lang="zh-CN" altLang="en-US" sz="2000" b="1">
                <a:solidFill>
                  <a:schemeClr val="tx1"/>
                </a:solidFill>
                <a:latin typeface="Times New Roman" pitchFamily="18" charset="0"/>
                <a:ea typeface="宋体" charset="-122"/>
              </a:rPr>
              <a:t>倍。</a:t>
            </a:r>
            <a:endParaRPr kumimoji="1" lang="en-US" altLang="zh-CN" sz="2000" b="1">
              <a:solidFill>
                <a:schemeClr val="tx1"/>
              </a:solidFill>
              <a:latin typeface="Times New Roman" pitchFamily="18" charset="0"/>
              <a:ea typeface="宋体" charset="-122"/>
            </a:endParaRPr>
          </a:p>
        </p:txBody>
      </p:sp>
    </p:spTree>
    <p:extLst>
      <p:ext uri="{BB962C8B-B14F-4D97-AF65-F5344CB8AC3E}">
        <p14:creationId xmlns:p14="http://schemas.microsoft.com/office/powerpoint/2010/main" val="17369561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3.3 break</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和</a:t>
            </a: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continue</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28" name="Text Box 14"/>
          <p:cNvSpPr txBox="1">
            <a:spLocks noChangeArrowheads="1"/>
          </p:cNvSpPr>
          <p:nvPr/>
        </p:nvSpPr>
        <p:spPr bwMode="auto">
          <a:xfrm>
            <a:off x="1470944" y="1694209"/>
            <a:ext cx="9277408" cy="2616101"/>
          </a:xfrm>
          <a:prstGeom prst="rect">
            <a:avLst/>
          </a:prstGeom>
          <a:noFill/>
          <a:ln w="9525">
            <a:noFill/>
            <a:miter lim="800000"/>
            <a:headEnd/>
            <a:tailEnd/>
          </a:ln>
        </p:spPr>
        <p:txBody>
          <a:bodyPr wrap="square">
            <a:spAutoFit/>
          </a:bodyPr>
          <a:lstStyle/>
          <a:p>
            <a:pPr marL="457200" indent="-457200">
              <a:spcBef>
                <a:spcPct val="50000"/>
              </a:spcBef>
              <a:buNone/>
            </a:pPr>
            <a:r>
              <a:rPr kumimoji="1" lang="en-US" altLang="zh-CN" sz="3600" b="1">
                <a:solidFill>
                  <a:schemeClr val="tx1"/>
                </a:solidFill>
                <a:latin typeface="Times New Roman" pitchFamily="18" charset="0"/>
                <a:ea typeface="宋体" charset="-122"/>
              </a:rPr>
              <a:t>break</a:t>
            </a:r>
            <a:r>
              <a:rPr kumimoji="1" lang="zh-CN" altLang="en-US" sz="3600" b="1">
                <a:solidFill>
                  <a:schemeClr val="tx1"/>
                </a:solidFill>
                <a:latin typeface="Times New Roman" pitchFamily="18" charset="0"/>
                <a:ea typeface="宋体" charset="-122"/>
              </a:rPr>
              <a:t>语句的功能：</a:t>
            </a:r>
          </a:p>
          <a:p>
            <a:pPr marL="457200" indent="-457200">
              <a:spcBef>
                <a:spcPct val="50000"/>
              </a:spcBef>
              <a:buFontTx/>
              <a:buAutoNum type="arabicPeriod"/>
            </a:pPr>
            <a:r>
              <a:rPr kumimoji="1" lang="zh-CN" altLang="en-US" sz="3200" b="1">
                <a:latin typeface="Times New Roman" pitchFamily="18" charset="0"/>
                <a:ea typeface="宋体" charset="-122"/>
              </a:rPr>
              <a:t>用来从循环体内跳出循环体，即提前结束循环，接着执行循环下面的语句</a:t>
            </a:r>
            <a:endParaRPr kumimoji="1" lang="zh-CN" altLang="en-US" sz="3200" b="1">
              <a:solidFill>
                <a:schemeClr val="tx1"/>
              </a:solidFill>
              <a:latin typeface="Times New Roman" pitchFamily="18" charset="0"/>
              <a:ea typeface="宋体" charset="-122"/>
            </a:endParaRPr>
          </a:p>
          <a:p>
            <a:pPr marL="457200" indent="-457200">
              <a:spcBef>
                <a:spcPct val="50000"/>
              </a:spcBef>
              <a:buFontTx/>
              <a:buAutoNum type="arabicPeriod"/>
            </a:pPr>
            <a:r>
              <a:rPr kumimoji="1" lang="zh-CN" altLang="en-US" sz="3200" b="1">
                <a:solidFill>
                  <a:schemeClr val="tx1"/>
                </a:solidFill>
                <a:latin typeface="Times New Roman" pitchFamily="18" charset="0"/>
                <a:ea typeface="宋体" charset="-122"/>
              </a:rPr>
              <a:t>只跳出最</a:t>
            </a:r>
            <a:r>
              <a:rPr kumimoji="1" lang="zh-CN" altLang="en-US" sz="3200" b="1">
                <a:latin typeface="Times New Roman" pitchFamily="18" charset="0"/>
                <a:ea typeface="宋体" charset="-122"/>
              </a:rPr>
              <a:t>近</a:t>
            </a:r>
            <a:r>
              <a:rPr kumimoji="1" lang="zh-CN" altLang="en-US" sz="3200" b="1">
                <a:solidFill>
                  <a:schemeClr val="tx1"/>
                </a:solidFill>
                <a:latin typeface="Times New Roman" pitchFamily="18" charset="0"/>
                <a:ea typeface="宋体" charset="-122"/>
              </a:rPr>
              <a:t>的循环</a:t>
            </a:r>
          </a:p>
        </p:txBody>
      </p:sp>
      <p:sp>
        <p:nvSpPr>
          <p:cNvPr id="29" name="Text Box 15"/>
          <p:cNvSpPr txBox="1">
            <a:spLocks noChangeArrowheads="1"/>
          </p:cNvSpPr>
          <p:nvPr/>
        </p:nvSpPr>
        <p:spPr bwMode="auto">
          <a:xfrm>
            <a:off x="1601124" y="4719088"/>
            <a:ext cx="4232275" cy="641350"/>
          </a:xfrm>
          <a:prstGeom prst="rect">
            <a:avLst/>
          </a:prstGeom>
          <a:noFill/>
          <a:ln w="9525">
            <a:noFill/>
            <a:miter lim="800000"/>
            <a:headEnd/>
            <a:tailEnd/>
          </a:ln>
        </p:spPr>
        <p:txBody>
          <a:bodyPr wrap="none">
            <a:spAutoFit/>
          </a:bodyPr>
          <a:lstStyle/>
          <a:p>
            <a:pPr>
              <a:spcBef>
                <a:spcPct val="50000"/>
              </a:spcBef>
              <a:buNone/>
            </a:pPr>
            <a:r>
              <a:rPr kumimoji="1" lang="zh-CN" altLang="en-US" sz="3600" b="1">
                <a:solidFill>
                  <a:schemeClr val="tx1"/>
                </a:solidFill>
                <a:latin typeface="Times New Roman" pitchFamily="18" charset="0"/>
                <a:ea typeface="宋体" charset="-122"/>
              </a:rPr>
              <a:t>一般形式为：</a:t>
            </a:r>
            <a:r>
              <a:rPr kumimoji="1" lang="en-US" altLang="zh-CN" sz="3600" b="1">
                <a:solidFill>
                  <a:schemeClr val="tx2"/>
                </a:solidFill>
                <a:latin typeface="Times New Roman" pitchFamily="18" charset="0"/>
                <a:ea typeface="宋体" charset="-122"/>
              </a:rPr>
              <a:t>break</a:t>
            </a:r>
          </a:p>
        </p:txBody>
      </p:sp>
    </p:spTree>
    <p:extLst>
      <p:ext uri="{BB962C8B-B14F-4D97-AF65-F5344CB8AC3E}">
        <p14:creationId xmlns:p14="http://schemas.microsoft.com/office/powerpoint/2010/main" val="42660847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4" y="98987"/>
            <a:ext cx="614413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青蛙</a:t>
            </a:r>
            <a:r>
              <a:rPr lang="en-US" altLang="zh-CN" sz="4800">
                <a:solidFill>
                  <a:schemeClr val="accent2"/>
                </a:solidFill>
                <a:latin typeface="隶书" pitchFamily="49" charset="-122"/>
                <a:ea typeface="隶书" pitchFamily="49" charset="-122"/>
              </a:rPr>
              <a:t>again</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4"/>
          <p:cNvSpPr>
            <a:spLocks noChangeArrowheads="1"/>
          </p:cNvSpPr>
          <p:nvPr/>
        </p:nvSpPr>
        <p:spPr bwMode="auto">
          <a:xfrm>
            <a:off x="1596043" y="1493514"/>
            <a:ext cx="8803179" cy="4524315"/>
          </a:xfrm>
          <a:prstGeom prst="rect">
            <a:avLst/>
          </a:prstGeom>
          <a:noFill/>
          <a:ln w="9525">
            <a:solidFill>
              <a:schemeClr val="tx1"/>
            </a:solidFill>
            <a:miter lim="800000"/>
            <a:headEnd/>
            <a:tailEnd/>
          </a:ln>
        </p:spPr>
        <p:txBody>
          <a:bodyPr wrap="square">
            <a:spAutoFit/>
          </a:bodyPr>
          <a:lstStyle/>
          <a:p>
            <a:pPr>
              <a:spcBef>
                <a:spcPts val="0"/>
              </a:spcBef>
              <a:buNone/>
            </a:pPr>
            <a:r>
              <a:rPr kumimoji="1" lang="en-US" altLang="zh-CN" sz="3200" b="1">
                <a:solidFill>
                  <a:schemeClr val="tx1"/>
                </a:solidFill>
                <a:latin typeface="Courier New" pitchFamily="49" charset="0"/>
                <a:ea typeface="宋体" charset="-122"/>
                <a:cs typeface="Courier New" pitchFamily="49" charset="0"/>
              </a:rPr>
              <a:t>food = 0</a:t>
            </a:r>
          </a:p>
          <a:p>
            <a:pPr>
              <a:spcBef>
                <a:spcPts val="0"/>
              </a:spcBef>
              <a:buNone/>
            </a:pPr>
            <a:r>
              <a:rPr kumimoji="1" lang="en-US" altLang="zh-CN" sz="3200" b="1">
                <a:latin typeface="Courier New" pitchFamily="49" charset="0"/>
                <a:ea typeface="宋体" charset="-122"/>
                <a:cs typeface="Courier New" pitchFamily="49" charset="0"/>
              </a:rPr>
              <a:t>fat = 0.5</a:t>
            </a:r>
            <a:endParaRPr kumimoji="1" lang="en-US" altLang="zh-CN" sz="3200" b="1">
              <a:solidFill>
                <a:schemeClr val="tx1"/>
              </a:solidFill>
              <a:latin typeface="Courier New" pitchFamily="49" charset="0"/>
              <a:ea typeface="宋体" charset="-122"/>
              <a:cs typeface="Courier New" pitchFamily="49" charset="0"/>
            </a:endParaRPr>
          </a:p>
          <a:p>
            <a:pPr>
              <a:spcBef>
                <a:spcPts val="0"/>
              </a:spcBef>
              <a:buNone/>
            </a:pPr>
            <a:r>
              <a:rPr kumimoji="1" lang="en-US" altLang="zh-CN" sz="3200" b="1">
                <a:solidFill>
                  <a:schemeClr val="tx1"/>
                </a:solidFill>
                <a:latin typeface="Courier New" pitchFamily="49" charset="0"/>
                <a:ea typeface="宋体" charset="-122"/>
                <a:cs typeface="Courier New" pitchFamily="49" charset="0"/>
              </a:rPr>
              <a:t>for days in range(155, 0, -1)</a:t>
            </a:r>
            <a:r>
              <a:rPr kumimoji="1" lang="en-US" altLang="zh-CN" sz="3200" b="1">
                <a:latin typeface="Courier New" pitchFamily="49" charset="0"/>
                <a:ea typeface="宋体" charset="-122"/>
                <a:cs typeface="Courier New" pitchFamily="49" charset="0"/>
              </a:rPr>
              <a:t>:</a:t>
            </a:r>
            <a:endParaRPr kumimoji="1" lang="en-US" altLang="zh-CN" sz="3200" b="1">
              <a:solidFill>
                <a:schemeClr val="tx1"/>
              </a:solidFill>
              <a:latin typeface="Courier New" pitchFamily="49" charset="0"/>
              <a:ea typeface="宋体" charset="-122"/>
              <a:cs typeface="Courier New" pitchFamily="49" charset="0"/>
            </a:endParaRPr>
          </a:p>
          <a:p>
            <a:pPr>
              <a:spcBef>
                <a:spcPts val="0"/>
              </a:spcBef>
              <a:buNone/>
            </a:pPr>
            <a:r>
              <a:rPr kumimoji="1" lang="en-US" altLang="zh-CN" sz="3200" b="1">
                <a:solidFill>
                  <a:schemeClr val="tx1"/>
                </a:solidFill>
                <a:latin typeface="Courier New" pitchFamily="49" charset="0"/>
                <a:ea typeface="宋体" charset="-122"/>
                <a:cs typeface="Courier New" pitchFamily="49" charset="0"/>
              </a:rPr>
              <a:t>    print(</a:t>
            </a:r>
            <a:r>
              <a:rPr kumimoji="1" lang="en-US" altLang="zh-CN" sz="3200" b="1">
                <a:latin typeface="Courier New" pitchFamily="49" charset="0"/>
                <a:ea typeface="宋体" pitchFamily="2" charset="-122"/>
                <a:cs typeface="Courier New" pitchFamily="49" charset="0"/>
              </a:rPr>
              <a:t>"</a:t>
            </a:r>
            <a:r>
              <a:rPr kumimoji="1" lang="en-US" altLang="zh-CN" sz="3200" b="1">
                <a:solidFill>
                  <a:schemeClr val="tx1"/>
                </a:solidFill>
                <a:latin typeface="Courier New" pitchFamily="49" charset="0"/>
                <a:ea typeface="宋体" charset="-122"/>
                <a:cs typeface="Courier New" pitchFamily="49" charset="0"/>
              </a:rPr>
              <a:t>work all day</a:t>
            </a:r>
            <a:r>
              <a:rPr kumimoji="1" lang="en-US" altLang="zh-CN" sz="3200" b="1">
                <a:latin typeface="Courier New" pitchFamily="49" charset="0"/>
                <a:ea typeface="宋体" pitchFamily="2" charset="-122"/>
                <a:cs typeface="Courier New" pitchFamily="49" charset="0"/>
              </a:rPr>
              <a:t>"</a:t>
            </a:r>
            <a:r>
              <a:rPr kumimoji="1" lang="en-US" altLang="zh-CN" sz="3200" b="1">
                <a:solidFill>
                  <a:schemeClr val="tx1"/>
                </a:solidFill>
                <a:latin typeface="Courier New" pitchFamily="49" charset="0"/>
                <a:ea typeface="宋体" charset="-122"/>
                <a:cs typeface="Courier New" pitchFamily="49" charset="0"/>
              </a:rPr>
              <a:t>)</a:t>
            </a:r>
          </a:p>
          <a:p>
            <a:pPr>
              <a:spcBef>
                <a:spcPts val="0"/>
              </a:spcBef>
              <a:buNone/>
            </a:pPr>
            <a:r>
              <a:rPr kumimoji="1" lang="en-US" altLang="zh-CN" sz="3200" b="1">
                <a:solidFill>
                  <a:schemeClr val="tx1"/>
                </a:solidFill>
                <a:latin typeface="Courier New" pitchFamily="49" charset="0"/>
                <a:ea typeface="宋体" charset="-122"/>
                <a:cs typeface="Courier New" pitchFamily="49" charset="0"/>
              </a:rPr>
              <a:t>    if(food+fat &lt; 0.01):</a:t>
            </a:r>
          </a:p>
          <a:p>
            <a:pPr>
              <a:spcBef>
                <a:spcPts val="0"/>
              </a:spcBef>
              <a:buNone/>
            </a:pPr>
            <a:r>
              <a:rPr kumimoji="1" lang="en-US" altLang="zh-CN" sz="3200" b="1">
                <a:latin typeface="Courier New" pitchFamily="49" charset="0"/>
                <a:ea typeface="宋体" charset="-122"/>
                <a:cs typeface="Courier New" pitchFamily="49" charset="0"/>
              </a:rPr>
              <a:t>    </a:t>
            </a:r>
            <a:r>
              <a:rPr kumimoji="1" lang="en-US" altLang="zh-CN" sz="3200" b="1">
                <a:solidFill>
                  <a:schemeClr val="tx1"/>
                </a:solidFill>
                <a:latin typeface="Courier New" pitchFamily="49" charset="0"/>
                <a:ea typeface="宋体" charset="-122"/>
                <a:cs typeface="Courier New" pitchFamily="49" charset="0"/>
              </a:rPr>
              <a:t>    break</a:t>
            </a:r>
          </a:p>
          <a:p>
            <a:pPr>
              <a:spcBef>
                <a:spcPts val="0"/>
              </a:spcBef>
              <a:buNone/>
            </a:pPr>
            <a:r>
              <a:rPr kumimoji="1" lang="en-US" altLang="zh-CN" sz="3200" b="1">
                <a:solidFill>
                  <a:schemeClr val="tx1"/>
                </a:solidFill>
                <a:latin typeface="Courier New" pitchFamily="49" charset="0"/>
                <a:ea typeface="宋体" charset="-122"/>
                <a:cs typeface="Courier New" pitchFamily="49" charset="0"/>
              </a:rPr>
              <a:t>    print(</a:t>
            </a:r>
            <a:r>
              <a:rPr kumimoji="1" lang="en-US" altLang="zh-CN" sz="3200" b="1">
                <a:latin typeface="Courier New" pitchFamily="49" charset="0"/>
                <a:ea typeface="宋体" pitchFamily="2" charset="-122"/>
                <a:cs typeface="Courier New" pitchFamily="49" charset="0"/>
              </a:rPr>
              <a:t>"</a:t>
            </a:r>
            <a:r>
              <a:rPr kumimoji="1" lang="en-US" altLang="zh-CN" sz="3200" b="1">
                <a:solidFill>
                  <a:schemeClr val="tx1"/>
                </a:solidFill>
                <a:latin typeface="Courier New" pitchFamily="49" charset="0"/>
                <a:ea typeface="宋体" charset="-122"/>
                <a:cs typeface="Courier New" pitchFamily="49" charset="0"/>
              </a:rPr>
              <a:t>sleep all night</a:t>
            </a:r>
            <a:r>
              <a:rPr kumimoji="1" lang="en-US" altLang="zh-CN" sz="3200" b="1">
                <a:latin typeface="Courier New" pitchFamily="49" charset="0"/>
                <a:ea typeface="宋体" pitchFamily="2" charset="-122"/>
                <a:cs typeface="Courier New" pitchFamily="49" charset="0"/>
              </a:rPr>
              <a:t>"</a:t>
            </a:r>
            <a:r>
              <a:rPr kumimoji="1" lang="en-US" altLang="zh-CN" sz="3200" b="1">
                <a:solidFill>
                  <a:schemeClr val="tx1"/>
                </a:solidFill>
                <a:latin typeface="Courier New" pitchFamily="49" charset="0"/>
                <a:ea typeface="宋体" charset="-122"/>
                <a:cs typeface="Courier New" pitchFamily="49" charset="0"/>
              </a:rPr>
              <a:t>)</a:t>
            </a:r>
          </a:p>
          <a:p>
            <a:pPr>
              <a:spcBef>
                <a:spcPts val="0"/>
              </a:spcBef>
              <a:buNone/>
            </a:pPr>
            <a:endParaRPr kumimoji="1" lang="en-US" altLang="zh-CN" sz="3200" b="1">
              <a:solidFill>
                <a:schemeClr val="tx1"/>
              </a:solidFill>
              <a:latin typeface="Courier New" pitchFamily="49" charset="0"/>
              <a:ea typeface="宋体" charset="-122"/>
              <a:cs typeface="Courier New" pitchFamily="49" charset="0"/>
            </a:endParaRPr>
          </a:p>
          <a:p>
            <a:pPr>
              <a:spcBef>
                <a:spcPts val="0"/>
              </a:spcBef>
              <a:buNone/>
            </a:pPr>
            <a:r>
              <a:rPr kumimoji="1" lang="en-US" altLang="zh-CN" sz="3200" b="1">
                <a:solidFill>
                  <a:schemeClr val="tx1"/>
                </a:solidFill>
                <a:latin typeface="Courier New" pitchFamily="49" charset="0"/>
                <a:ea typeface="宋体" charset="-122"/>
                <a:cs typeface="Courier New" pitchFamily="49" charset="0"/>
              </a:rPr>
              <a:t>print(</a:t>
            </a:r>
            <a:r>
              <a:rPr kumimoji="1" lang="en-US" altLang="zh-CN" sz="3200" b="1">
                <a:latin typeface="Courier New" pitchFamily="49" charset="0"/>
                <a:ea typeface="宋体" pitchFamily="2" charset="-122"/>
                <a:cs typeface="Courier New" pitchFamily="49" charset="0"/>
              </a:rPr>
              <a:t>"</a:t>
            </a:r>
            <a:r>
              <a:rPr kumimoji="1" lang="en-US" altLang="zh-CN" sz="3200" b="1">
                <a:solidFill>
                  <a:schemeClr val="tx1"/>
                </a:solidFill>
                <a:latin typeface="Courier New" pitchFamily="49" charset="0"/>
                <a:ea typeface="宋体" charset="-122"/>
                <a:cs typeface="Courier New" pitchFamily="49" charset="0"/>
              </a:rPr>
              <a:t>die quietly</a:t>
            </a:r>
            <a:r>
              <a:rPr kumimoji="1" lang="en-US" altLang="zh-CN" sz="3200" b="1">
                <a:latin typeface="Courier New" pitchFamily="49" charset="0"/>
                <a:ea typeface="宋体" pitchFamily="2" charset="-122"/>
                <a:cs typeface="Courier New" pitchFamily="49" charset="0"/>
              </a:rPr>
              <a:t>"</a:t>
            </a:r>
            <a:r>
              <a:rPr kumimoji="1" lang="en-US" altLang="zh-CN" sz="3200" b="1">
                <a:solidFill>
                  <a:schemeClr val="tx1"/>
                </a:solidFill>
                <a:latin typeface="Courier New" pitchFamily="49" charset="0"/>
                <a:ea typeface="宋体" charset="-122"/>
                <a:cs typeface="Courier New" pitchFamily="49" charset="0"/>
              </a:rPr>
              <a:t>)</a:t>
            </a:r>
          </a:p>
        </p:txBody>
      </p:sp>
    </p:spTree>
    <p:extLst>
      <p:ext uri="{BB962C8B-B14F-4D97-AF65-F5344CB8AC3E}">
        <p14:creationId xmlns:p14="http://schemas.microsoft.com/office/powerpoint/2010/main" val="3535081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4" y="98987"/>
            <a:ext cx="614413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sz="4800">
                <a:solidFill>
                  <a:schemeClr val="accent2"/>
                </a:solidFill>
                <a:latin typeface="隶书" pitchFamily="49" charset="-122"/>
                <a:ea typeface="隶书" pitchFamily="49" charset="-122"/>
              </a:rPr>
              <a:t>健壮的输入方式</a:t>
            </a:r>
            <a:r>
              <a:rPr lang="en-US" altLang="zh-CN" sz="4800">
                <a:solidFill>
                  <a:schemeClr val="accent2"/>
                </a:solidFill>
                <a:latin typeface="隶书" pitchFamily="49" charset="-122"/>
                <a:ea typeface="隶书" pitchFamily="49" charset="-122"/>
              </a:rPr>
              <a:t>again</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4"/>
          <p:cNvSpPr>
            <a:spLocks noChangeArrowheads="1"/>
          </p:cNvSpPr>
          <p:nvPr/>
        </p:nvSpPr>
        <p:spPr bwMode="auto">
          <a:xfrm>
            <a:off x="1422620" y="1450856"/>
            <a:ext cx="8777096" cy="3170099"/>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spcBef>
                <a:spcPts val="1200"/>
              </a:spcBef>
            </a:pPr>
            <a:r>
              <a:rPr kumimoji="1" lang="en-US" altLang="zh-CN" sz="3200" b="1">
                <a:solidFill>
                  <a:srgbClr val="0000FF"/>
                </a:solidFill>
                <a:latin typeface="Times New Roman" pitchFamily="18" charset="0"/>
                <a:ea typeface="宋体" charset="-122"/>
              </a:rPr>
              <a:t>while True:</a:t>
            </a:r>
          </a:p>
          <a:p>
            <a:pPr eaLnBrk="1" hangingPunct="1">
              <a:spcBef>
                <a:spcPts val="1200"/>
              </a:spcBef>
            </a:pPr>
            <a:r>
              <a:rPr kumimoji="1" lang="en-US" altLang="zh-CN" sz="3200" b="1">
                <a:solidFill>
                  <a:schemeClr val="tx1"/>
                </a:solidFill>
                <a:latin typeface="Times New Roman" pitchFamily="18" charset="0"/>
                <a:ea typeface="宋体" charset="-122"/>
              </a:rPr>
              <a:t>        print("</a:t>
            </a:r>
            <a:r>
              <a:rPr kumimoji="1" lang="zh-CN" altLang="en-US" sz="3200" b="1">
                <a:solidFill>
                  <a:schemeClr val="tx1"/>
                </a:solidFill>
                <a:latin typeface="Times New Roman" pitchFamily="18" charset="0"/>
                <a:ea typeface="宋体" charset="-122"/>
              </a:rPr>
              <a:t>你是否想借书</a:t>
            </a:r>
            <a:r>
              <a:rPr kumimoji="1" lang="en-US" altLang="zh-CN" sz="3200" b="1">
                <a:solidFill>
                  <a:schemeClr val="tx1"/>
                </a:solidFill>
                <a:latin typeface="Times New Roman" pitchFamily="18" charset="0"/>
                <a:ea typeface="宋体" charset="-122"/>
              </a:rPr>
              <a:t>? (y/n)")</a:t>
            </a:r>
          </a:p>
          <a:p>
            <a:pPr eaLnBrk="1" hangingPunct="1">
              <a:spcBef>
                <a:spcPts val="1200"/>
              </a:spcBef>
            </a:pPr>
            <a:r>
              <a:rPr kumimoji="1" lang="en-US" altLang="zh-CN" sz="3200" b="1">
                <a:solidFill>
                  <a:schemeClr val="tx1"/>
                </a:solidFill>
                <a:latin typeface="Times New Roman" pitchFamily="18" charset="0"/>
                <a:ea typeface="宋体" charset="-122"/>
              </a:rPr>
              <a:t>        choice = input()</a:t>
            </a:r>
          </a:p>
          <a:p>
            <a:pPr eaLnBrk="1" hangingPunct="1">
              <a:spcBef>
                <a:spcPts val="1200"/>
              </a:spcBef>
            </a:pPr>
            <a:r>
              <a:rPr kumimoji="1" lang="en-US" altLang="zh-CN" sz="3200" b="1">
                <a:solidFill>
                  <a:schemeClr val="tx1"/>
                </a:solidFill>
                <a:latin typeface="Times New Roman" pitchFamily="18" charset="0"/>
                <a:ea typeface="宋体" charset="-122"/>
              </a:rPr>
              <a:t>        </a:t>
            </a:r>
            <a:r>
              <a:rPr kumimoji="1" lang="en-US" altLang="zh-CN" sz="3200" b="1">
                <a:solidFill>
                  <a:srgbClr val="0000FF"/>
                </a:solidFill>
                <a:latin typeface="Times New Roman" pitchFamily="18" charset="0"/>
                <a:ea typeface="宋体" charset="-122"/>
              </a:rPr>
              <a:t>if  choice == 'y'  or  choice == 'n' :</a:t>
            </a:r>
          </a:p>
          <a:p>
            <a:pPr eaLnBrk="1" hangingPunct="1">
              <a:spcBef>
                <a:spcPts val="1200"/>
              </a:spcBef>
            </a:pPr>
            <a:r>
              <a:rPr kumimoji="1" lang="en-US" altLang="zh-CN" sz="3200" b="1">
                <a:solidFill>
                  <a:srgbClr val="0000FF"/>
                </a:solidFill>
                <a:latin typeface="Times New Roman" pitchFamily="18" charset="0"/>
                <a:ea typeface="宋体" charset="-122"/>
              </a:rPr>
              <a:t>                break</a:t>
            </a:r>
          </a:p>
        </p:txBody>
      </p:sp>
      <p:sp>
        <p:nvSpPr>
          <p:cNvPr id="11" name="Text Box 5"/>
          <p:cNvSpPr txBox="1">
            <a:spLocks noChangeArrowheads="1"/>
          </p:cNvSpPr>
          <p:nvPr/>
        </p:nvSpPr>
        <p:spPr bwMode="auto">
          <a:xfrm>
            <a:off x="6313534" y="5133496"/>
            <a:ext cx="304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sz="2800" b="1">
                <a:solidFill>
                  <a:srgbClr val="0000FF"/>
                </a:solidFill>
                <a:latin typeface="Times New Roman" pitchFamily="18" charset="0"/>
                <a:ea typeface="宋体" charset="-122"/>
              </a:rPr>
              <a:t>循环条件永真模式</a:t>
            </a:r>
          </a:p>
        </p:txBody>
      </p:sp>
    </p:spTree>
    <p:extLst>
      <p:ext uri="{BB962C8B-B14F-4D97-AF65-F5344CB8AC3E}">
        <p14:creationId xmlns:p14="http://schemas.microsoft.com/office/powerpoint/2010/main" val="2285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7748495"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例题：</a:t>
            </a:r>
            <a:r>
              <a:rPr lang="zh-CN" altLang="en-US" sz="4800">
                <a:solidFill>
                  <a:schemeClr val="accent2"/>
                </a:solidFill>
                <a:latin typeface="隶书" pitchFamily="49" charset="-122"/>
                <a:ea typeface="隶书" pitchFamily="49" charset="-122"/>
              </a:rPr>
              <a:t>统计正数和负数个数</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4"/>
          <p:cNvSpPr>
            <a:spLocks noChangeArrowheads="1"/>
          </p:cNvSpPr>
          <p:nvPr/>
        </p:nvSpPr>
        <p:spPr bwMode="auto">
          <a:xfrm>
            <a:off x="1237564" y="1161749"/>
            <a:ext cx="9319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50900" eaLnBrk="1" hangingPunct="1">
              <a:spcBef>
                <a:spcPct val="50000"/>
              </a:spcBef>
              <a:buClr>
                <a:srgbClr val="FFFF66"/>
              </a:buClr>
              <a:buFont typeface="Wingdings" pitchFamily="2" charset="2"/>
              <a:buNone/>
            </a:pPr>
            <a:r>
              <a:rPr kumimoji="1" lang="zh-CN" altLang="en-US" sz="3600" b="1">
                <a:solidFill>
                  <a:schemeClr val="tx1"/>
                </a:solidFill>
                <a:latin typeface="Times New Roman" pitchFamily="18" charset="0"/>
                <a:ea typeface="黑体" pitchFamily="49" charset="-122"/>
              </a:rPr>
              <a:t>问题描述：</a:t>
            </a:r>
          </a:p>
        </p:txBody>
      </p:sp>
      <p:sp>
        <p:nvSpPr>
          <p:cNvPr id="11" name="Rectangle 3"/>
          <p:cNvSpPr>
            <a:spLocks noChangeArrowheads="1"/>
          </p:cNvSpPr>
          <p:nvPr/>
        </p:nvSpPr>
        <p:spPr bwMode="auto">
          <a:xfrm>
            <a:off x="1314123" y="1997008"/>
            <a:ext cx="9750117"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kumimoji="1" lang="zh-CN" altLang="en-US" sz="3200" b="1">
                <a:solidFill>
                  <a:schemeClr val="tx1"/>
                </a:solidFill>
                <a:latin typeface="Times New Roman" pitchFamily="18" charset="0"/>
                <a:ea typeface="宋体" charset="-122"/>
              </a:rPr>
              <a:t>输入一组整数，当输入 </a:t>
            </a:r>
            <a:r>
              <a:rPr kumimoji="1" lang="en-US" altLang="zh-CN" sz="3200" b="1">
                <a:solidFill>
                  <a:schemeClr val="tx1"/>
                </a:solidFill>
                <a:latin typeface="Times New Roman" pitchFamily="18" charset="0"/>
                <a:ea typeface="宋体" charset="-122"/>
              </a:rPr>
              <a:t>0 </a:t>
            </a:r>
            <a:r>
              <a:rPr kumimoji="1" lang="zh-CN" altLang="en-US" sz="3200" b="1">
                <a:solidFill>
                  <a:schemeClr val="tx1"/>
                </a:solidFill>
                <a:latin typeface="Times New Roman" pitchFamily="18" charset="0"/>
                <a:ea typeface="宋体" charset="-122"/>
              </a:rPr>
              <a:t>时表示输入结束，然后统计这组整数中正数和负数的个数。</a:t>
            </a:r>
          </a:p>
        </p:txBody>
      </p:sp>
      <p:sp>
        <p:nvSpPr>
          <p:cNvPr id="12" name="Rectangle 5"/>
          <p:cNvSpPr>
            <a:spLocks noChangeArrowheads="1"/>
          </p:cNvSpPr>
          <p:nvPr/>
        </p:nvSpPr>
        <p:spPr bwMode="auto">
          <a:xfrm>
            <a:off x="4938724" y="3175770"/>
            <a:ext cx="835025" cy="301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eaLnBrk="1" hangingPunct="1">
              <a:spcBef>
                <a:spcPct val="25000"/>
              </a:spcBef>
            </a:pPr>
            <a:r>
              <a:rPr kumimoji="1" lang="en-US" altLang="zh-CN" sz="3200" b="1">
                <a:solidFill>
                  <a:schemeClr val="tx1"/>
                </a:solidFill>
                <a:latin typeface="Times New Roman" pitchFamily="18" charset="0"/>
                <a:ea typeface="宋体" charset="-122"/>
              </a:rPr>
              <a:t>12</a:t>
            </a:r>
          </a:p>
          <a:p>
            <a:pPr marL="457200" indent="-457200" eaLnBrk="1" hangingPunct="1">
              <a:spcBef>
                <a:spcPct val="25000"/>
              </a:spcBef>
            </a:pPr>
            <a:r>
              <a:rPr kumimoji="1" lang="en-US" altLang="zh-CN" sz="3200" b="1">
                <a:solidFill>
                  <a:schemeClr val="tx1"/>
                </a:solidFill>
                <a:latin typeface="Courier New" pitchFamily="49" charset="0"/>
                <a:ea typeface="宋体" charset="-122"/>
              </a:rPr>
              <a:t>-</a:t>
            </a:r>
            <a:r>
              <a:rPr kumimoji="1" lang="en-US" altLang="zh-CN" sz="3200" b="1">
                <a:solidFill>
                  <a:schemeClr val="tx1"/>
                </a:solidFill>
                <a:latin typeface="Times New Roman" pitchFamily="18" charset="0"/>
                <a:ea typeface="宋体" charset="-122"/>
              </a:rPr>
              <a:t>4</a:t>
            </a:r>
          </a:p>
          <a:p>
            <a:pPr marL="457200" indent="-457200" eaLnBrk="1" hangingPunct="1">
              <a:spcBef>
                <a:spcPct val="25000"/>
              </a:spcBef>
            </a:pPr>
            <a:r>
              <a:rPr kumimoji="1" lang="en-US" altLang="zh-CN" sz="3200" b="1">
                <a:solidFill>
                  <a:schemeClr val="tx1"/>
                </a:solidFill>
                <a:latin typeface="Courier New" pitchFamily="49" charset="0"/>
                <a:ea typeface="宋体" charset="-122"/>
              </a:rPr>
              <a:t>-</a:t>
            </a:r>
            <a:r>
              <a:rPr kumimoji="1" lang="en-US" altLang="zh-CN" sz="3200" b="1">
                <a:solidFill>
                  <a:schemeClr val="tx1"/>
                </a:solidFill>
                <a:latin typeface="Times New Roman" pitchFamily="18" charset="0"/>
                <a:ea typeface="宋体" charset="-122"/>
              </a:rPr>
              <a:t>25</a:t>
            </a:r>
          </a:p>
          <a:p>
            <a:pPr marL="457200" indent="-457200" eaLnBrk="1" hangingPunct="1">
              <a:spcBef>
                <a:spcPct val="25000"/>
              </a:spcBef>
            </a:pPr>
            <a:r>
              <a:rPr kumimoji="1" lang="en-US" altLang="zh-CN" sz="3200" b="1">
                <a:solidFill>
                  <a:schemeClr val="tx1"/>
                </a:solidFill>
                <a:latin typeface="Times New Roman" pitchFamily="18" charset="0"/>
                <a:ea typeface="宋体" charset="-122"/>
              </a:rPr>
              <a:t>47</a:t>
            </a:r>
          </a:p>
          <a:p>
            <a:pPr marL="457200" indent="-457200" eaLnBrk="1" hangingPunct="1">
              <a:spcBef>
                <a:spcPct val="25000"/>
              </a:spcBef>
            </a:pPr>
            <a:r>
              <a:rPr kumimoji="1" lang="en-US" altLang="zh-CN" sz="3200" b="1">
                <a:solidFill>
                  <a:schemeClr val="tx1"/>
                </a:solidFill>
                <a:latin typeface="Times New Roman" pitchFamily="18" charset="0"/>
                <a:ea typeface="宋体" charset="-122"/>
                <a:cs typeface="Times New Roman" pitchFamily="18" charset="0"/>
              </a:rPr>
              <a:t>0</a:t>
            </a:r>
            <a:endParaRPr kumimoji="1" lang="en-US" altLang="zh-CN" sz="3200" b="1">
              <a:solidFill>
                <a:schemeClr val="tx1"/>
              </a:solidFill>
              <a:latin typeface="Times New Roman" pitchFamily="18" charset="0"/>
              <a:ea typeface="宋体" charset="-122"/>
            </a:endParaRPr>
          </a:p>
        </p:txBody>
      </p:sp>
      <p:sp>
        <p:nvSpPr>
          <p:cNvPr id="13" name="AutoShape 7"/>
          <p:cNvSpPr>
            <a:spLocks noChangeArrowheads="1"/>
          </p:cNvSpPr>
          <p:nvPr/>
        </p:nvSpPr>
        <p:spPr bwMode="auto">
          <a:xfrm>
            <a:off x="7246522" y="3876608"/>
            <a:ext cx="1911350" cy="1147763"/>
          </a:xfrm>
          <a:prstGeom prst="irregularSeal1">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marL="457200" indent="-457200" algn="ctr" eaLnBrk="1" hangingPunct="1">
              <a:spcBef>
                <a:spcPct val="50000"/>
              </a:spcBef>
            </a:pPr>
            <a:r>
              <a:rPr kumimoji="1" lang="zh-CN" altLang="en-US" sz="2400" b="1">
                <a:solidFill>
                  <a:srgbClr val="0000FF"/>
                </a:solidFill>
                <a:latin typeface="Times New Roman" pitchFamily="18" charset="0"/>
                <a:ea typeface="宋体" charset="-122"/>
              </a:rPr>
              <a:t>讨论</a:t>
            </a:r>
          </a:p>
        </p:txBody>
      </p:sp>
    </p:spTree>
    <p:extLst>
      <p:ext uri="{BB962C8B-B14F-4D97-AF65-F5344CB8AC3E}">
        <p14:creationId xmlns:p14="http://schemas.microsoft.com/office/powerpoint/2010/main" val="377619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in)">
                                      <p:cBhvr>
                                        <p:cTn id="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7748495"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sz="4800">
                <a:solidFill>
                  <a:schemeClr val="accent2"/>
                </a:solidFill>
                <a:latin typeface="隶书" pitchFamily="49" charset="-122"/>
                <a:ea typeface="隶书" pitchFamily="49" charset="-122"/>
              </a:rPr>
              <a:t>统计正数和负数个数</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4"/>
          <p:cNvSpPr>
            <a:spLocks noChangeArrowheads="1"/>
          </p:cNvSpPr>
          <p:nvPr/>
        </p:nvSpPr>
        <p:spPr bwMode="auto">
          <a:xfrm>
            <a:off x="1237564" y="1161749"/>
            <a:ext cx="9319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50900" eaLnBrk="1" hangingPunct="1">
              <a:spcBef>
                <a:spcPct val="50000"/>
              </a:spcBef>
              <a:buClr>
                <a:srgbClr val="FFFF66"/>
              </a:buClr>
              <a:buFont typeface="Wingdings" pitchFamily="2" charset="2"/>
              <a:buNone/>
            </a:pPr>
            <a:r>
              <a:rPr kumimoji="1" lang="zh-CN" altLang="en-US" sz="3600" b="1">
                <a:solidFill>
                  <a:schemeClr val="tx1"/>
                </a:solidFill>
                <a:latin typeface="Times New Roman" pitchFamily="18" charset="0"/>
                <a:ea typeface="黑体" pitchFamily="49" charset="-122"/>
              </a:rPr>
              <a:t>问题分析：</a:t>
            </a:r>
          </a:p>
        </p:txBody>
      </p:sp>
      <p:sp>
        <p:nvSpPr>
          <p:cNvPr id="14" name="Rectangle 2"/>
          <p:cNvSpPr>
            <a:spLocks noChangeArrowheads="1"/>
          </p:cNvSpPr>
          <p:nvPr/>
        </p:nvSpPr>
        <p:spPr bwMode="auto">
          <a:xfrm>
            <a:off x="1279205" y="1938945"/>
            <a:ext cx="9585526"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endParaRPr kumimoji="1" lang="zh-CN" altLang="en-US" sz="3200" b="1">
              <a:solidFill>
                <a:schemeClr val="tx1"/>
              </a:solidFill>
              <a:latin typeface="Times New Roman" pitchFamily="18" charset="0"/>
              <a:ea typeface="宋体" charset="-122"/>
            </a:endParaRPr>
          </a:p>
          <a:p>
            <a:r>
              <a:rPr kumimoji="1" lang="zh-CN" altLang="en-US" sz="3200" b="1">
                <a:solidFill>
                  <a:schemeClr val="tx1"/>
                </a:solidFill>
                <a:latin typeface="Times New Roman" pitchFamily="18" charset="0"/>
                <a:ea typeface="宋体" charset="-122"/>
              </a:rPr>
              <a:t>    </a:t>
            </a:r>
            <a:r>
              <a:rPr kumimoji="1" lang="en-US" altLang="zh-CN" sz="3200" b="1">
                <a:solidFill>
                  <a:schemeClr val="tx1"/>
                </a:solidFill>
                <a:latin typeface="Times New Roman" pitchFamily="18" charset="0"/>
                <a:ea typeface="宋体" charset="-122"/>
              </a:rPr>
              <a:t>1. “</a:t>
            </a:r>
            <a:r>
              <a:rPr kumimoji="1" lang="zh-CN" altLang="en-US" sz="3200" b="1">
                <a:solidFill>
                  <a:schemeClr val="tx1"/>
                </a:solidFill>
                <a:latin typeface="Times New Roman" pitchFamily="18" charset="0"/>
                <a:ea typeface="宋体" charset="-122"/>
              </a:rPr>
              <a:t>输入一组整数，直到输入</a:t>
            </a:r>
            <a:r>
              <a:rPr kumimoji="1" lang="en-US" altLang="zh-CN" sz="3200" b="1">
                <a:solidFill>
                  <a:schemeClr val="tx1"/>
                </a:solidFill>
                <a:latin typeface="Times New Roman" pitchFamily="18" charset="0"/>
                <a:ea typeface="宋体" charset="-122"/>
              </a:rPr>
              <a:t>0”</a:t>
            </a:r>
            <a:r>
              <a:rPr kumimoji="1" lang="zh-CN" altLang="en-US" sz="3200" b="1">
                <a:solidFill>
                  <a:schemeClr val="tx1"/>
                </a:solidFill>
                <a:latin typeface="Times New Roman" pitchFamily="18" charset="0"/>
                <a:ea typeface="宋体" charset="-122"/>
              </a:rPr>
              <a:t>，可用循环条件为永真的编程模式；</a:t>
            </a:r>
          </a:p>
          <a:p>
            <a:br>
              <a:rPr kumimoji="1" lang="zh-CN" altLang="en-US" sz="3200" b="1">
                <a:solidFill>
                  <a:schemeClr val="tx1"/>
                </a:solidFill>
                <a:latin typeface="Times New Roman" pitchFamily="18" charset="0"/>
                <a:ea typeface="宋体" charset="-122"/>
                <a:sym typeface="Wingdings" pitchFamily="2" charset="2"/>
              </a:rPr>
            </a:br>
            <a:r>
              <a:rPr kumimoji="1" lang="zh-CN" altLang="en-US" sz="3200" b="1">
                <a:solidFill>
                  <a:schemeClr val="tx1"/>
                </a:solidFill>
                <a:latin typeface="Times New Roman" pitchFamily="18" charset="0"/>
                <a:ea typeface="宋体" charset="-122"/>
                <a:sym typeface="Wingdings" pitchFamily="2" charset="2"/>
              </a:rPr>
              <a:t>    </a:t>
            </a:r>
            <a:r>
              <a:rPr kumimoji="1" lang="en-US" altLang="zh-CN" sz="3200" b="1">
                <a:solidFill>
                  <a:schemeClr val="tx1"/>
                </a:solidFill>
                <a:latin typeface="Times New Roman" pitchFamily="18" charset="0"/>
                <a:ea typeface="宋体" charset="-122"/>
                <a:sym typeface="Wingdings" pitchFamily="2" charset="2"/>
              </a:rPr>
              <a:t>2. “</a:t>
            </a:r>
            <a:r>
              <a:rPr kumimoji="1" lang="zh-CN" altLang="en-US" sz="3200" b="1">
                <a:solidFill>
                  <a:schemeClr val="tx1"/>
                </a:solidFill>
                <a:latin typeface="Times New Roman" pitchFamily="18" charset="0"/>
                <a:ea typeface="宋体" charset="-122"/>
                <a:sym typeface="Wingdings" pitchFamily="2" charset="2"/>
              </a:rPr>
              <a:t>统计正数和负数的个数”，即为累加编程模式。</a:t>
            </a:r>
          </a:p>
        </p:txBody>
      </p:sp>
    </p:spTree>
    <p:extLst>
      <p:ext uri="{BB962C8B-B14F-4D97-AF65-F5344CB8AC3E}">
        <p14:creationId xmlns:p14="http://schemas.microsoft.com/office/powerpoint/2010/main" val="328185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animEffect transition="in" filter="dissolve">
                                      <p:cBhvr>
                                        <p:cTn id="7"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参考代码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33" name="Rectangle 3"/>
          <p:cNvSpPr>
            <a:spLocks noChangeArrowheads="1"/>
          </p:cNvSpPr>
          <p:nvPr/>
        </p:nvSpPr>
        <p:spPr bwMode="auto">
          <a:xfrm>
            <a:off x="966136" y="1003025"/>
            <a:ext cx="10563611" cy="5332229"/>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spcBef>
                <a:spcPts val="300"/>
              </a:spcBef>
            </a:pPr>
            <a:r>
              <a:rPr kumimoji="1" lang="en-US" altLang="zh-CN" sz="2800" b="1">
                <a:latin typeface="Courier New" pitchFamily="49" charset="0"/>
                <a:ea typeface="宋体" charset="-122"/>
              </a:rPr>
              <a:t>PosNum = 0</a:t>
            </a:r>
          </a:p>
          <a:p>
            <a:pPr>
              <a:spcBef>
                <a:spcPts val="300"/>
              </a:spcBef>
            </a:pPr>
            <a:r>
              <a:rPr kumimoji="1" lang="en-US" altLang="zh-CN" sz="2800" b="1">
                <a:latin typeface="Courier New" pitchFamily="49" charset="0"/>
                <a:ea typeface="宋体" charset="-122"/>
              </a:rPr>
              <a:t>NegNum = 0 </a:t>
            </a:r>
          </a:p>
          <a:p>
            <a:pPr>
              <a:spcBef>
                <a:spcPts val="300"/>
              </a:spcBef>
            </a:pPr>
            <a:r>
              <a:rPr kumimoji="1" lang="en-US" altLang="zh-CN" sz="2800" b="1">
                <a:latin typeface="Courier New" pitchFamily="49" charset="0"/>
                <a:ea typeface="宋体" charset="-122"/>
              </a:rPr>
              <a:t>while True:</a:t>
            </a:r>
          </a:p>
          <a:p>
            <a:pPr>
              <a:spcBef>
                <a:spcPts val="300"/>
              </a:spcBef>
            </a:pPr>
            <a:r>
              <a:rPr kumimoji="1" lang="en-US" altLang="zh-CN" sz="2800" b="1">
                <a:latin typeface="Courier New" pitchFamily="49" charset="0"/>
                <a:ea typeface="宋体" charset="-122"/>
              </a:rPr>
              <a:t>    Value = int(input())</a:t>
            </a:r>
          </a:p>
          <a:p>
            <a:pPr>
              <a:spcBef>
                <a:spcPts val="300"/>
              </a:spcBef>
            </a:pPr>
            <a:r>
              <a:rPr kumimoji="1" lang="en-US" altLang="zh-CN" sz="2800" b="1">
                <a:latin typeface="Courier New" pitchFamily="49" charset="0"/>
                <a:ea typeface="宋体" charset="-122"/>
              </a:rPr>
              <a:t>    if Value == 0:</a:t>
            </a:r>
          </a:p>
          <a:p>
            <a:pPr>
              <a:spcBef>
                <a:spcPts val="300"/>
              </a:spcBef>
            </a:pPr>
            <a:r>
              <a:rPr kumimoji="1" lang="en-US" altLang="zh-CN" sz="2800" b="1">
                <a:latin typeface="Courier New" pitchFamily="49" charset="0"/>
                <a:ea typeface="宋体" charset="-122"/>
              </a:rPr>
              <a:t>        break</a:t>
            </a:r>
          </a:p>
          <a:p>
            <a:pPr>
              <a:spcBef>
                <a:spcPts val="300"/>
              </a:spcBef>
            </a:pPr>
            <a:r>
              <a:rPr kumimoji="1" lang="en-US" altLang="zh-CN" sz="2800" b="1">
                <a:latin typeface="Courier New" pitchFamily="49" charset="0"/>
                <a:ea typeface="宋体" charset="-122"/>
              </a:rPr>
              <a:t>    elif Value &lt; 0:</a:t>
            </a:r>
          </a:p>
          <a:p>
            <a:pPr>
              <a:spcBef>
                <a:spcPts val="300"/>
              </a:spcBef>
            </a:pPr>
            <a:r>
              <a:rPr kumimoji="1" lang="en-US" altLang="zh-CN" sz="2800" b="1">
                <a:latin typeface="Courier New" pitchFamily="49" charset="0"/>
                <a:ea typeface="宋体" charset="-122"/>
              </a:rPr>
              <a:t>        NegNum += 1</a:t>
            </a:r>
          </a:p>
          <a:p>
            <a:pPr>
              <a:spcBef>
                <a:spcPts val="300"/>
              </a:spcBef>
            </a:pPr>
            <a:r>
              <a:rPr kumimoji="1" lang="en-US" altLang="zh-CN" sz="2800" b="1">
                <a:latin typeface="Courier New" pitchFamily="49" charset="0"/>
                <a:ea typeface="宋体" charset="-122"/>
              </a:rPr>
              <a:t>    else:</a:t>
            </a:r>
          </a:p>
          <a:p>
            <a:pPr>
              <a:spcBef>
                <a:spcPts val="300"/>
              </a:spcBef>
            </a:pPr>
            <a:r>
              <a:rPr kumimoji="1" lang="en-US" altLang="zh-CN" sz="2800" b="1">
                <a:latin typeface="Courier New" pitchFamily="49" charset="0"/>
                <a:ea typeface="宋体" charset="-122"/>
              </a:rPr>
              <a:t>        PosNum += 1</a:t>
            </a:r>
          </a:p>
          <a:p>
            <a:pPr>
              <a:spcBef>
                <a:spcPts val="1200"/>
              </a:spcBef>
            </a:pPr>
            <a:r>
              <a:rPr kumimoji="1" lang="en-US" altLang="zh-CN" sz="2800" b="1">
                <a:latin typeface="Courier New" pitchFamily="49" charset="0"/>
                <a:ea typeface="宋体" charset="-122"/>
              </a:rPr>
              <a:t>print("</a:t>
            </a:r>
            <a:r>
              <a:rPr kumimoji="1" lang="zh-CN" altLang="en-US" sz="2800" b="1">
                <a:latin typeface="Courier New" pitchFamily="49" charset="0"/>
                <a:ea typeface="宋体" charset="-122"/>
              </a:rPr>
              <a:t>正数个数：</a:t>
            </a:r>
            <a:r>
              <a:rPr kumimoji="1" lang="en-US" altLang="zh-CN" sz="2800" b="1">
                <a:latin typeface="Courier New" pitchFamily="49" charset="0"/>
                <a:ea typeface="宋体" charset="-122"/>
              </a:rPr>
              <a:t>", PosNum, "</a:t>
            </a:r>
            <a:r>
              <a:rPr kumimoji="1" lang="zh-CN" altLang="en-US" sz="2800" b="1">
                <a:latin typeface="Courier New" pitchFamily="49" charset="0"/>
                <a:ea typeface="宋体" charset="-122"/>
              </a:rPr>
              <a:t>负数个数：</a:t>
            </a:r>
            <a:r>
              <a:rPr kumimoji="1" lang="en-US" altLang="zh-CN" sz="2800" b="1">
                <a:latin typeface="Courier New" pitchFamily="49" charset="0"/>
                <a:ea typeface="宋体" charset="-122"/>
              </a:rPr>
              <a:t>", NegNum)</a:t>
            </a:r>
          </a:p>
        </p:txBody>
      </p:sp>
    </p:spTree>
    <p:extLst>
      <p:ext uri="{BB962C8B-B14F-4D97-AF65-F5344CB8AC3E}">
        <p14:creationId xmlns:p14="http://schemas.microsoft.com/office/powerpoint/2010/main" val="31032744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多重循环？</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3"/>
          <p:cNvSpPr>
            <a:spLocks noChangeArrowheads="1"/>
          </p:cNvSpPr>
          <p:nvPr/>
        </p:nvSpPr>
        <p:spPr bwMode="auto">
          <a:xfrm>
            <a:off x="1924454" y="1509436"/>
            <a:ext cx="5457248" cy="461664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spcBef>
                <a:spcPct val="50000"/>
              </a:spcBef>
            </a:pPr>
            <a:r>
              <a:rPr kumimoji="1" lang="en-US" altLang="zh-CN" sz="2800" b="1">
                <a:solidFill>
                  <a:schemeClr val="tx1"/>
                </a:solidFill>
                <a:latin typeface="Times New Roman" pitchFamily="18" charset="0"/>
                <a:ea typeface="宋体" charset="-122"/>
              </a:rPr>
              <a:t>while (…) </a:t>
            </a:r>
            <a:r>
              <a:rPr kumimoji="1" lang="en-US" altLang="zh-CN" sz="2800" b="1">
                <a:latin typeface="Times New Roman" pitchFamily="18" charset="0"/>
                <a:ea typeface="宋体" charset="-122"/>
              </a:rPr>
              <a:t>:</a:t>
            </a:r>
            <a:endParaRPr kumimoji="1" lang="en-US" altLang="zh-CN" sz="2800" b="1">
              <a:solidFill>
                <a:schemeClr val="tx1"/>
              </a:solidFill>
              <a:latin typeface="Times New Roman" pitchFamily="18" charset="0"/>
              <a:ea typeface="宋体" charset="-122"/>
            </a:endParaRPr>
          </a:p>
          <a:p>
            <a:pPr eaLnBrk="1" hangingPunct="1">
              <a:spcBef>
                <a:spcPct val="50000"/>
              </a:spcBef>
            </a:pPr>
            <a:r>
              <a:rPr kumimoji="1" lang="en-US" altLang="zh-CN" sz="2800" b="1">
                <a:solidFill>
                  <a:schemeClr val="tx1"/>
                </a:solidFill>
                <a:latin typeface="Times New Roman" pitchFamily="18" charset="0"/>
                <a:ea typeface="宋体" charset="-122"/>
              </a:rPr>
              <a:t>        ….</a:t>
            </a:r>
          </a:p>
          <a:p>
            <a:pPr eaLnBrk="1" hangingPunct="1">
              <a:spcBef>
                <a:spcPct val="50000"/>
              </a:spcBef>
            </a:pPr>
            <a:r>
              <a:rPr kumimoji="1" lang="en-US" altLang="zh-CN" sz="2800" b="1">
                <a:solidFill>
                  <a:schemeClr val="tx1"/>
                </a:solidFill>
                <a:latin typeface="Times New Roman" pitchFamily="18" charset="0"/>
                <a:ea typeface="宋体" charset="-122"/>
              </a:rPr>
              <a:t>        while (…):</a:t>
            </a:r>
            <a:br>
              <a:rPr kumimoji="1" lang="en-US" altLang="zh-CN" sz="2800" b="1">
                <a:solidFill>
                  <a:schemeClr val="tx1"/>
                </a:solidFill>
                <a:latin typeface="Times New Roman" pitchFamily="18" charset="0"/>
                <a:ea typeface="宋体" charset="-122"/>
              </a:rPr>
            </a:br>
            <a:r>
              <a:rPr kumimoji="1" lang="en-US" altLang="zh-CN" sz="2800" b="1">
                <a:solidFill>
                  <a:schemeClr val="tx1"/>
                </a:solidFill>
                <a:latin typeface="Times New Roman" pitchFamily="18" charset="0"/>
                <a:ea typeface="宋体" charset="-122"/>
              </a:rPr>
              <a:t>                ……</a:t>
            </a:r>
          </a:p>
          <a:p>
            <a:pPr eaLnBrk="1" hangingPunct="1">
              <a:spcBef>
                <a:spcPct val="50000"/>
              </a:spcBef>
            </a:pPr>
            <a:r>
              <a:rPr kumimoji="1" lang="en-US" altLang="zh-CN" sz="2800" b="1">
                <a:solidFill>
                  <a:schemeClr val="tx1"/>
                </a:solidFill>
                <a:latin typeface="Times New Roman" pitchFamily="18" charset="0"/>
                <a:ea typeface="宋体" charset="-122"/>
              </a:rPr>
              <a:t>                break</a:t>
            </a:r>
          </a:p>
          <a:p>
            <a:pPr>
              <a:spcBef>
                <a:spcPct val="50000"/>
              </a:spcBef>
            </a:pPr>
            <a:r>
              <a:rPr kumimoji="1" lang="en-US" altLang="zh-CN" sz="2800" b="1">
                <a:latin typeface="Times New Roman" pitchFamily="18" charset="0"/>
                <a:ea typeface="宋体" charset="-122"/>
              </a:rPr>
              <a:t>                ……</a:t>
            </a:r>
            <a:endParaRPr kumimoji="1" lang="en-US" altLang="zh-CN" sz="2800" b="1">
              <a:solidFill>
                <a:schemeClr val="tx1"/>
              </a:solidFill>
              <a:latin typeface="Times New Roman" pitchFamily="18" charset="0"/>
              <a:ea typeface="宋体" charset="-122"/>
            </a:endParaRPr>
          </a:p>
          <a:p>
            <a:pPr eaLnBrk="1" hangingPunct="1">
              <a:spcBef>
                <a:spcPct val="50000"/>
              </a:spcBef>
            </a:pPr>
            <a:r>
              <a:rPr kumimoji="1" lang="en-US" altLang="zh-CN" sz="2800" b="1">
                <a:solidFill>
                  <a:schemeClr val="tx1"/>
                </a:solidFill>
                <a:latin typeface="Times New Roman" pitchFamily="18" charset="0"/>
                <a:ea typeface="宋体" charset="-122"/>
              </a:rPr>
              <a:t>          ……</a:t>
            </a:r>
            <a:br>
              <a:rPr kumimoji="1" lang="en-US" altLang="zh-CN" sz="2800" b="1">
                <a:solidFill>
                  <a:schemeClr val="tx1"/>
                </a:solidFill>
                <a:latin typeface="Times New Roman" pitchFamily="18" charset="0"/>
                <a:ea typeface="宋体" charset="-122"/>
              </a:rPr>
            </a:br>
            <a:r>
              <a:rPr kumimoji="1" lang="en-US" altLang="zh-CN" sz="2800" b="1">
                <a:solidFill>
                  <a:schemeClr val="tx1"/>
                </a:solidFill>
                <a:latin typeface="Times New Roman" pitchFamily="18" charset="0"/>
                <a:ea typeface="宋体" charset="-122"/>
              </a:rPr>
              <a:t>…...</a:t>
            </a:r>
          </a:p>
        </p:txBody>
      </p:sp>
      <p:grpSp>
        <p:nvGrpSpPr>
          <p:cNvPr id="10" name="Group 4"/>
          <p:cNvGrpSpPr>
            <a:grpSpLocks/>
          </p:cNvGrpSpPr>
          <p:nvPr/>
        </p:nvGrpSpPr>
        <p:grpSpPr bwMode="auto">
          <a:xfrm>
            <a:off x="3658789" y="4315697"/>
            <a:ext cx="860425" cy="1089025"/>
            <a:chOff x="1535" y="2699"/>
            <a:chExt cx="542" cy="686"/>
          </a:xfrm>
        </p:grpSpPr>
        <p:sp>
          <p:nvSpPr>
            <p:cNvPr id="11" name="Freeform 5"/>
            <p:cNvSpPr>
              <a:spLocks/>
            </p:cNvSpPr>
            <p:nvPr/>
          </p:nvSpPr>
          <p:spPr bwMode="auto">
            <a:xfrm>
              <a:off x="1535" y="2699"/>
              <a:ext cx="542" cy="686"/>
            </a:xfrm>
            <a:custGeom>
              <a:avLst/>
              <a:gdLst>
                <a:gd name="T0" fmla="*/ 402 w 542"/>
                <a:gd name="T1" fmla="*/ 0 h 686"/>
                <a:gd name="T2" fmla="*/ 539 w 542"/>
                <a:gd name="T3" fmla="*/ 156 h 686"/>
                <a:gd name="T4" fmla="*/ 384 w 542"/>
                <a:gd name="T5" fmla="*/ 476 h 686"/>
                <a:gd name="T6" fmla="*/ 0 w 542"/>
                <a:gd name="T7" fmla="*/ 686 h 686"/>
                <a:gd name="T8" fmla="*/ 0 60000 65536"/>
                <a:gd name="T9" fmla="*/ 0 60000 65536"/>
                <a:gd name="T10" fmla="*/ 0 60000 65536"/>
                <a:gd name="T11" fmla="*/ 0 60000 65536"/>
                <a:gd name="T12" fmla="*/ 0 w 542"/>
                <a:gd name="T13" fmla="*/ 0 h 686"/>
                <a:gd name="T14" fmla="*/ 542 w 542"/>
                <a:gd name="T15" fmla="*/ 686 h 686"/>
              </a:gdLst>
              <a:ahLst/>
              <a:cxnLst>
                <a:cxn ang="T8">
                  <a:pos x="T0" y="T1"/>
                </a:cxn>
                <a:cxn ang="T9">
                  <a:pos x="T2" y="T3"/>
                </a:cxn>
                <a:cxn ang="T10">
                  <a:pos x="T4" y="T5"/>
                </a:cxn>
                <a:cxn ang="T11">
                  <a:pos x="T6" y="T7"/>
                </a:cxn>
              </a:cxnLst>
              <a:rect l="T12" t="T13" r="T14" b="T15"/>
              <a:pathLst>
                <a:path w="542" h="686">
                  <a:moveTo>
                    <a:pt x="402" y="0"/>
                  </a:moveTo>
                  <a:cubicBezTo>
                    <a:pt x="472" y="38"/>
                    <a:pt x="542" y="77"/>
                    <a:pt x="539" y="156"/>
                  </a:cubicBezTo>
                  <a:cubicBezTo>
                    <a:pt x="536" y="235"/>
                    <a:pt x="474" y="388"/>
                    <a:pt x="384" y="476"/>
                  </a:cubicBezTo>
                  <a:cubicBezTo>
                    <a:pt x="294" y="564"/>
                    <a:pt x="147" y="625"/>
                    <a:pt x="0" y="686"/>
                  </a:cubicBezTo>
                </a:path>
              </a:pathLst>
            </a:custGeom>
            <a:noFill/>
            <a:ln w="38100" cap="flat" cmpd="sng">
              <a:solidFill>
                <a:schemeClr val="tx2"/>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12" name="Rectangle 6"/>
            <p:cNvSpPr>
              <a:spLocks noChangeArrowheads="1"/>
            </p:cNvSpPr>
            <p:nvPr/>
          </p:nvSpPr>
          <p:spPr bwMode="auto">
            <a:xfrm>
              <a:off x="1717" y="2879"/>
              <a:ext cx="27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kumimoji="1" lang="zh-CN" altLang="en-US" sz="3600" b="1">
                  <a:solidFill>
                    <a:schemeClr val="tx2"/>
                  </a:solidFill>
                  <a:latin typeface="Times New Roman" pitchFamily="18" charset="0"/>
                  <a:ea typeface="宋体" charset="-122"/>
                  <a:sym typeface="Symbol" pitchFamily="18" charset="2"/>
                </a:rPr>
                <a:t></a:t>
              </a:r>
              <a:endParaRPr kumimoji="1" lang="zh-CN" altLang="en-US" sz="3600" b="1">
                <a:solidFill>
                  <a:schemeClr val="tx2"/>
                </a:solidFill>
                <a:latin typeface="Times New Roman" pitchFamily="18" charset="0"/>
                <a:ea typeface="宋体" charset="-122"/>
              </a:endParaRPr>
            </a:p>
          </p:txBody>
        </p:sp>
      </p:grpSp>
      <p:grpSp>
        <p:nvGrpSpPr>
          <p:cNvPr id="13" name="Group 7"/>
          <p:cNvGrpSpPr>
            <a:grpSpLocks/>
          </p:cNvGrpSpPr>
          <p:nvPr/>
        </p:nvGrpSpPr>
        <p:grpSpPr bwMode="auto">
          <a:xfrm>
            <a:off x="2826327" y="4320545"/>
            <a:ext cx="2159987" cy="1672931"/>
            <a:chOff x="1067" y="2723"/>
            <a:chExt cx="1299" cy="1180"/>
          </a:xfrm>
        </p:grpSpPr>
        <p:sp>
          <p:nvSpPr>
            <p:cNvPr id="14" name="Freeform 8"/>
            <p:cNvSpPr>
              <a:spLocks/>
            </p:cNvSpPr>
            <p:nvPr/>
          </p:nvSpPr>
          <p:spPr bwMode="auto">
            <a:xfrm>
              <a:off x="1067" y="2723"/>
              <a:ext cx="1267" cy="1180"/>
            </a:xfrm>
            <a:custGeom>
              <a:avLst/>
              <a:gdLst>
                <a:gd name="T0" fmla="*/ 970 w 1267"/>
                <a:gd name="T1" fmla="*/ 0 h 1180"/>
                <a:gd name="T2" fmla="*/ 1235 w 1267"/>
                <a:gd name="T3" fmla="*/ 201 h 1180"/>
                <a:gd name="T4" fmla="*/ 1162 w 1267"/>
                <a:gd name="T5" fmla="*/ 732 h 1180"/>
                <a:gd name="T6" fmla="*/ 622 w 1267"/>
                <a:gd name="T7" fmla="*/ 1015 h 1180"/>
                <a:gd name="T8" fmla="*/ 0 w 1267"/>
                <a:gd name="T9" fmla="*/ 1180 h 1180"/>
                <a:gd name="T10" fmla="*/ 0 60000 65536"/>
                <a:gd name="T11" fmla="*/ 0 60000 65536"/>
                <a:gd name="T12" fmla="*/ 0 60000 65536"/>
                <a:gd name="T13" fmla="*/ 0 60000 65536"/>
                <a:gd name="T14" fmla="*/ 0 60000 65536"/>
                <a:gd name="T15" fmla="*/ 0 w 1267"/>
                <a:gd name="T16" fmla="*/ 0 h 1180"/>
                <a:gd name="T17" fmla="*/ 1267 w 1267"/>
                <a:gd name="T18" fmla="*/ 1180 h 1180"/>
              </a:gdLst>
              <a:ahLst/>
              <a:cxnLst>
                <a:cxn ang="T10">
                  <a:pos x="T0" y="T1"/>
                </a:cxn>
                <a:cxn ang="T11">
                  <a:pos x="T2" y="T3"/>
                </a:cxn>
                <a:cxn ang="T12">
                  <a:pos x="T4" y="T5"/>
                </a:cxn>
                <a:cxn ang="T13">
                  <a:pos x="T6" y="T7"/>
                </a:cxn>
                <a:cxn ang="T14">
                  <a:pos x="T8" y="T9"/>
                </a:cxn>
              </a:cxnLst>
              <a:rect l="T15" t="T16" r="T17" b="T18"/>
              <a:pathLst>
                <a:path w="1267" h="1180">
                  <a:moveTo>
                    <a:pt x="970" y="0"/>
                  </a:moveTo>
                  <a:cubicBezTo>
                    <a:pt x="1086" y="39"/>
                    <a:pt x="1203" y="79"/>
                    <a:pt x="1235" y="201"/>
                  </a:cubicBezTo>
                  <a:cubicBezTo>
                    <a:pt x="1267" y="323"/>
                    <a:pt x="1264" y="596"/>
                    <a:pt x="1162" y="732"/>
                  </a:cubicBezTo>
                  <a:cubicBezTo>
                    <a:pt x="1060" y="868"/>
                    <a:pt x="816" y="940"/>
                    <a:pt x="622" y="1015"/>
                  </a:cubicBezTo>
                  <a:cubicBezTo>
                    <a:pt x="428" y="1090"/>
                    <a:pt x="102" y="1153"/>
                    <a:pt x="0" y="1180"/>
                  </a:cubicBezTo>
                </a:path>
              </a:pathLst>
            </a:custGeom>
            <a:noFill/>
            <a:ln w="38100" cap="flat" cmpd="sng">
              <a:solidFill>
                <a:schemeClr val="tx2"/>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5" name="Rectangle 9"/>
            <p:cNvSpPr>
              <a:spLocks noChangeArrowheads="1"/>
            </p:cNvSpPr>
            <p:nvPr/>
          </p:nvSpPr>
          <p:spPr bwMode="auto">
            <a:xfrm>
              <a:off x="2092" y="3421"/>
              <a:ext cx="27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kumimoji="1" lang="zh-CN" altLang="en-US" sz="3600" b="1">
                  <a:solidFill>
                    <a:schemeClr val="tx2"/>
                  </a:solidFill>
                  <a:latin typeface="Times New Roman" pitchFamily="18" charset="0"/>
                  <a:ea typeface="宋体" charset="-122"/>
                  <a:sym typeface="Symbol" pitchFamily="18" charset="2"/>
                </a:rPr>
                <a:t></a:t>
              </a:r>
              <a:endParaRPr kumimoji="1" lang="zh-CN" altLang="en-US" sz="3600" b="1">
                <a:solidFill>
                  <a:schemeClr val="tx2"/>
                </a:solidFill>
                <a:latin typeface="Times New Roman" pitchFamily="18" charset="0"/>
                <a:ea typeface="宋体" charset="-122"/>
              </a:endParaRPr>
            </a:p>
          </p:txBody>
        </p:sp>
      </p:grpSp>
      <p:sp>
        <p:nvSpPr>
          <p:cNvPr id="16" name="Text Box 10"/>
          <p:cNvSpPr txBox="1">
            <a:spLocks noChangeArrowheads="1"/>
          </p:cNvSpPr>
          <p:nvPr/>
        </p:nvSpPr>
        <p:spPr bwMode="auto">
          <a:xfrm>
            <a:off x="7638732" y="3248116"/>
            <a:ext cx="34480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b="1">
                <a:solidFill>
                  <a:schemeClr val="tx2"/>
                </a:solidFill>
                <a:latin typeface="Times New Roman" pitchFamily="18" charset="0"/>
                <a:ea typeface="宋体" charset="-122"/>
              </a:rPr>
              <a:t>跳出</a:t>
            </a:r>
            <a:r>
              <a:rPr kumimoji="1" lang="zh-CN" altLang="en-US" b="1">
                <a:solidFill>
                  <a:srgbClr val="FF0000"/>
                </a:solidFill>
                <a:latin typeface="Times New Roman" pitchFamily="18" charset="0"/>
                <a:ea typeface="宋体" charset="-122"/>
              </a:rPr>
              <a:t>最近的</a:t>
            </a:r>
            <a:r>
              <a:rPr kumimoji="1" lang="zh-CN" altLang="en-US" b="1">
                <a:solidFill>
                  <a:schemeClr val="tx2"/>
                </a:solidFill>
                <a:latin typeface="Times New Roman" pitchFamily="18" charset="0"/>
                <a:ea typeface="宋体" charset="-122"/>
              </a:rPr>
              <a:t>循环。</a:t>
            </a:r>
          </a:p>
        </p:txBody>
      </p:sp>
    </p:spTree>
    <p:extLst>
      <p:ext uri="{BB962C8B-B14F-4D97-AF65-F5344CB8AC3E}">
        <p14:creationId xmlns:p14="http://schemas.microsoft.com/office/powerpoint/2010/main" val="3773196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continue</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语句</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3"/>
          <p:cNvSpPr>
            <a:spLocks noChangeArrowheads="1"/>
          </p:cNvSpPr>
          <p:nvPr/>
        </p:nvSpPr>
        <p:spPr bwMode="auto">
          <a:xfrm>
            <a:off x="1924454" y="1509436"/>
            <a:ext cx="5457248" cy="461664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spcBef>
                <a:spcPct val="50000"/>
              </a:spcBef>
            </a:pPr>
            <a:r>
              <a:rPr kumimoji="1" lang="en-US" altLang="zh-CN" sz="2800" b="1" dirty="0">
                <a:solidFill>
                  <a:schemeClr val="tx1"/>
                </a:solidFill>
                <a:latin typeface="Times New Roman" pitchFamily="18" charset="0"/>
                <a:ea typeface="宋体" charset="-122"/>
              </a:rPr>
              <a:t>while (…) </a:t>
            </a:r>
            <a:r>
              <a:rPr kumimoji="1" lang="en-US" altLang="zh-CN" sz="2800" b="1" dirty="0">
                <a:latin typeface="Times New Roman" pitchFamily="18" charset="0"/>
                <a:ea typeface="宋体" charset="-122"/>
              </a:rPr>
              <a:t>:</a:t>
            </a:r>
            <a:endParaRPr kumimoji="1" lang="en-US" altLang="zh-CN" sz="2800" b="1" dirty="0">
              <a:solidFill>
                <a:schemeClr val="tx1"/>
              </a:solidFill>
              <a:latin typeface="Times New Roman" pitchFamily="18" charset="0"/>
              <a:ea typeface="宋体" charset="-122"/>
            </a:endParaRPr>
          </a:p>
          <a:p>
            <a:pPr eaLnBrk="1" hangingPunct="1">
              <a:spcBef>
                <a:spcPct val="50000"/>
              </a:spcBef>
            </a:pPr>
            <a:r>
              <a:rPr kumimoji="1" lang="en-US" altLang="zh-CN" sz="2800" b="1" dirty="0">
                <a:solidFill>
                  <a:schemeClr val="tx1"/>
                </a:solidFill>
                <a:latin typeface="Times New Roman" pitchFamily="18" charset="0"/>
                <a:ea typeface="宋体" charset="-122"/>
              </a:rPr>
              <a:t>        ….</a:t>
            </a:r>
          </a:p>
          <a:p>
            <a:pPr eaLnBrk="1" hangingPunct="1">
              <a:spcBef>
                <a:spcPct val="50000"/>
              </a:spcBef>
            </a:pPr>
            <a:r>
              <a:rPr kumimoji="1" lang="en-US" altLang="zh-CN" sz="2800" b="1" dirty="0">
                <a:solidFill>
                  <a:schemeClr val="tx1"/>
                </a:solidFill>
                <a:latin typeface="Times New Roman" pitchFamily="18" charset="0"/>
                <a:ea typeface="宋体" charset="-122"/>
              </a:rPr>
              <a:t>        while (…):</a:t>
            </a:r>
            <a:br>
              <a:rPr kumimoji="1" lang="en-US" altLang="zh-CN" sz="2800" b="1" dirty="0">
                <a:solidFill>
                  <a:schemeClr val="tx1"/>
                </a:solidFill>
                <a:latin typeface="Times New Roman" pitchFamily="18" charset="0"/>
                <a:ea typeface="宋体" charset="-122"/>
              </a:rPr>
            </a:br>
            <a:r>
              <a:rPr kumimoji="1" lang="en-US" altLang="zh-CN" sz="2800" b="1" dirty="0">
                <a:solidFill>
                  <a:schemeClr val="tx1"/>
                </a:solidFill>
                <a:latin typeface="Times New Roman" pitchFamily="18" charset="0"/>
                <a:ea typeface="宋体" charset="-122"/>
              </a:rPr>
              <a:t>                ……</a:t>
            </a:r>
          </a:p>
          <a:p>
            <a:pPr eaLnBrk="1" hangingPunct="1">
              <a:spcBef>
                <a:spcPct val="50000"/>
              </a:spcBef>
            </a:pPr>
            <a:r>
              <a:rPr kumimoji="1" lang="en-US" altLang="zh-CN" sz="2800" b="1" dirty="0">
                <a:solidFill>
                  <a:schemeClr val="tx1"/>
                </a:solidFill>
                <a:latin typeface="Times New Roman" pitchFamily="18" charset="0"/>
                <a:ea typeface="宋体" charset="-122"/>
              </a:rPr>
              <a:t>                continue</a:t>
            </a:r>
          </a:p>
          <a:p>
            <a:pPr>
              <a:spcBef>
                <a:spcPct val="50000"/>
              </a:spcBef>
            </a:pPr>
            <a:r>
              <a:rPr kumimoji="1" lang="en-US" altLang="zh-CN" sz="2800" b="1" dirty="0">
                <a:latin typeface="Times New Roman" pitchFamily="18" charset="0"/>
                <a:ea typeface="宋体" charset="-122"/>
              </a:rPr>
              <a:t>                ……</a:t>
            </a:r>
            <a:endParaRPr kumimoji="1" lang="en-US" altLang="zh-CN" sz="2800" b="1" dirty="0">
              <a:solidFill>
                <a:schemeClr val="tx1"/>
              </a:solidFill>
              <a:latin typeface="Times New Roman" pitchFamily="18" charset="0"/>
              <a:ea typeface="宋体" charset="-122"/>
            </a:endParaRPr>
          </a:p>
          <a:p>
            <a:pPr eaLnBrk="1" hangingPunct="1">
              <a:spcBef>
                <a:spcPct val="50000"/>
              </a:spcBef>
            </a:pPr>
            <a:r>
              <a:rPr kumimoji="1" lang="en-US" altLang="zh-CN" sz="2800" b="1" dirty="0">
                <a:solidFill>
                  <a:schemeClr val="tx1"/>
                </a:solidFill>
                <a:latin typeface="Times New Roman" pitchFamily="18" charset="0"/>
                <a:ea typeface="宋体" charset="-122"/>
              </a:rPr>
              <a:t>          ……</a:t>
            </a:r>
            <a:br>
              <a:rPr kumimoji="1" lang="en-US" altLang="zh-CN" sz="2800" b="1" dirty="0">
                <a:solidFill>
                  <a:schemeClr val="tx1"/>
                </a:solidFill>
                <a:latin typeface="Times New Roman" pitchFamily="18" charset="0"/>
                <a:ea typeface="宋体" charset="-122"/>
              </a:rPr>
            </a:br>
            <a:r>
              <a:rPr kumimoji="1" lang="en-US" altLang="zh-CN" sz="2800" b="1" dirty="0">
                <a:solidFill>
                  <a:schemeClr val="tx1"/>
                </a:solidFill>
                <a:latin typeface="Times New Roman" pitchFamily="18" charset="0"/>
                <a:ea typeface="宋体" charset="-122"/>
              </a:rPr>
              <a:t>…...</a:t>
            </a:r>
          </a:p>
        </p:txBody>
      </p:sp>
      <p:sp>
        <p:nvSpPr>
          <p:cNvPr id="17" name="Freeform 6"/>
          <p:cNvSpPr>
            <a:spLocks/>
          </p:cNvSpPr>
          <p:nvPr/>
        </p:nvSpPr>
        <p:spPr bwMode="auto">
          <a:xfrm>
            <a:off x="3919430" y="1953938"/>
            <a:ext cx="1174750" cy="2625725"/>
          </a:xfrm>
          <a:custGeom>
            <a:avLst/>
            <a:gdLst>
              <a:gd name="T0" fmla="*/ 2147483647 w 740"/>
              <a:gd name="T1" fmla="*/ 2147483647 h 1241"/>
              <a:gd name="T2" fmla="*/ 2147483647 w 740"/>
              <a:gd name="T3" fmla="*/ 2147483647 h 1241"/>
              <a:gd name="T4" fmla="*/ 2147483647 w 740"/>
              <a:gd name="T5" fmla="*/ 2147483647 h 1241"/>
              <a:gd name="T6" fmla="*/ 2147483647 w 740"/>
              <a:gd name="T7" fmla="*/ 2147483647 h 1241"/>
              <a:gd name="T8" fmla="*/ 0 w 740"/>
              <a:gd name="T9" fmla="*/ 2147483647 h 1241"/>
              <a:gd name="T10" fmla="*/ 0 60000 65536"/>
              <a:gd name="T11" fmla="*/ 0 60000 65536"/>
              <a:gd name="T12" fmla="*/ 0 60000 65536"/>
              <a:gd name="T13" fmla="*/ 0 60000 65536"/>
              <a:gd name="T14" fmla="*/ 0 60000 65536"/>
              <a:gd name="T15" fmla="*/ 0 w 740"/>
              <a:gd name="T16" fmla="*/ 0 h 1241"/>
              <a:gd name="T17" fmla="*/ 740 w 740"/>
              <a:gd name="T18" fmla="*/ 1241 h 1241"/>
            </a:gdLst>
            <a:ahLst/>
            <a:cxnLst>
              <a:cxn ang="T10">
                <a:pos x="T0" y="T1"/>
              </a:cxn>
              <a:cxn ang="T11">
                <a:pos x="T2" y="T3"/>
              </a:cxn>
              <a:cxn ang="T12">
                <a:pos x="T4" y="T5"/>
              </a:cxn>
              <a:cxn ang="T13">
                <a:pos x="T6" y="T7"/>
              </a:cxn>
              <a:cxn ang="T14">
                <a:pos x="T8" y="T9"/>
              </a:cxn>
            </a:cxnLst>
            <a:rect l="T15" t="T16" r="T17" b="T18"/>
            <a:pathLst>
              <a:path w="740" h="1241">
                <a:moveTo>
                  <a:pt x="512" y="1148"/>
                </a:moveTo>
                <a:cubicBezTo>
                  <a:pt x="583" y="1194"/>
                  <a:pt x="654" y="1241"/>
                  <a:pt x="677" y="1075"/>
                </a:cubicBezTo>
                <a:cubicBezTo>
                  <a:pt x="700" y="909"/>
                  <a:pt x="740" y="304"/>
                  <a:pt x="649" y="152"/>
                </a:cubicBezTo>
                <a:cubicBezTo>
                  <a:pt x="558" y="0"/>
                  <a:pt x="236" y="121"/>
                  <a:pt x="128" y="161"/>
                </a:cubicBezTo>
                <a:cubicBezTo>
                  <a:pt x="20" y="201"/>
                  <a:pt x="10" y="295"/>
                  <a:pt x="0" y="390"/>
                </a:cubicBezTo>
              </a:path>
            </a:pathLst>
          </a:custGeom>
          <a:noFill/>
          <a:ln w="38100" cap="flat" cmpd="sng">
            <a:solidFill>
              <a:srgbClr val="993300"/>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8" name="Rectangle 4"/>
          <p:cNvSpPr>
            <a:spLocks noChangeArrowheads="1"/>
          </p:cNvSpPr>
          <p:nvPr/>
        </p:nvSpPr>
        <p:spPr bwMode="auto">
          <a:xfrm>
            <a:off x="7627654" y="2692097"/>
            <a:ext cx="340333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kumimoji="1" lang="zh-CN" altLang="en-US" sz="2800" b="1" dirty="0">
                <a:solidFill>
                  <a:schemeClr val="tx1"/>
                </a:solidFill>
                <a:latin typeface="Times New Roman" pitchFamily="18" charset="0"/>
                <a:ea typeface="宋体" charset="-122"/>
              </a:rPr>
              <a:t>结束本次循环，即跳过循环体中尚未执行的语句，直接回到循环条件的判别。</a:t>
            </a:r>
          </a:p>
        </p:txBody>
      </p:sp>
    </p:spTree>
    <p:extLst>
      <p:ext uri="{BB962C8B-B14F-4D97-AF65-F5344CB8AC3E}">
        <p14:creationId xmlns:p14="http://schemas.microsoft.com/office/powerpoint/2010/main" val="34399795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代码</a:t>
            </a:r>
            <a:r>
              <a:rPr lang="zh-CN" altLang="en-US" sz="4800" noProof="0">
                <a:solidFill>
                  <a:schemeClr val="accent2"/>
                </a:solidFill>
                <a:latin typeface="隶书" pitchFamily="49" charset="-122"/>
                <a:ea typeface="隶书" pitchFamily="49" charset="-122"/>
              </a:rPr>
              <a:t>分析</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4"/>
          <p:cNvSpPr>
            <a:spLocks noChangeArrowheads="1"/>
          </p:cNvSpPr>
          <p:nvPr/>
        </p:nvSpPr>
        <p:spPr bwMode="auto">
          <a:xfrm>
            <a:off x="1572231" y="1484106"/>
            <a:ext cx="7339012" cy="4524315"/>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1" hangingPunct="1"/>
            <a:r>
              <a:rPr kumimoji="1" lang="en-US" altLang="zh-CN" sz="3600" b="1" dirty="0">
                <a:solidFill>
                  <a:schemeClr val="tx1"/>
                </a:solidFill>
                <a:latin typeface="Courier New" pitchFamily="49" charset="0"/>
                <a:ea typeface="宋体" charset="-122"/>
              </a:rPr>
              <a:t>sum = 0</a:t>
            </a:r>
          </a:p>
          <a:p>
            <a:pPr eaLnBrk="1" hangingPunct="1"/>
            <a:r>
              <a:rPr kumimoji="1" lang="en-US" altLang="zh-CN" sz="3600" b="1" dirty="0">
                <a:solidFill>
                  <a:schemeClr val="tx1"/>
                </a:solidFill>
                <a:latin typeface="Courier New" pitchFamily="49" charset="0"/>
                <a:ea typeface="宋体" charset="-122"/>
              </a:rPr>
              <a:t>for </a:t>
            </a:r>
            <a:r>
              <a:rPr kumimoji="1" lang="en-US" altLang="zh-CN" sz="3600" b="1" dirty="0" err="1">
                <a:solidFill>
                  <a:schemeClr val="tx1"/>
                </a:solidFill>
                <a:latin typeface="Courier New" pitchFamily="49" charset="0"/>
                <a:ea typeface="宋体" charset="-122"/>
              </a:rPr>
              <a:t>i</a:t>
            </a:r>
            <a:r>
              <a:rPr kumimoji="1" lang="en-US" altLang="zh-CN" sz="3600" b="1" dirty="0">
                <a:solidFill>
                  <a:schemeClr val="tx1"/>
                </a:solidFill>
                <a:latin typeface="Courier New" pitchFamily="49" charset="0"/>
                <a:ea typeface="宋体" charset="-122"/>
              </a:rPr>
              <a:t> in range(10):</a:t>
            </a:r>
          </a:p>
          <a:p>
            <a:pPr eaLnBrk="1" hangingPunct="1"/>
            <a:r>
              <a:rPr kumimoji="1" lang="en-US" altLang="zh-CN" sz="3600" b="1" dirty="0">
                <a:solidFill>
                  <a:schemeClr val="tx1"/>
                </a:solidFill>
                <a:latin typeface="Courier New" pitchFamily="49" charset="0"/>
                <a:ea typeface="宋体" charset="-122"/>
              </a:rPr>
              <a:t>    if </a:t>
            </a:r>
            <a:r>
              <a:rPr kumimoji="1" lang="en-US" altLang="zh-CN" sz="3600" b="1" dirty="0" err="1">
                <a:solidFill>
                  <a:schemeClr val="tx1"/>
                </a:solidFill>
                <a:latin typeface="Courier New" pitchFamily="49" charset="0"/>
                <a:ea typeface="宋体" charset="-122"/>
              </a:rPr>
              <a:t>i</a:t>
            </a:r>
            <a:r>
              <a:rPr kumimoji="1" lang="en-US" altLang="zh-CN" sz="3600" b="1" dirty="0">
                <a:solidFill>
                  <a:schemeClr val="tx1"/>
                </a:solidFill>
                <a:latin typeface="Courier New" pitchFamily="49" charset="0"/>
                <a:ea typeface="宋体" charset="-122"/>
              </a:rPr>
              <a:t> == 4:</a:t>
            </a:r>
          </a:p>
          <a:p>
            <a:pPr eaLnBrk="1" hangingPunct="1"/>
            <a:r>
              <a:rPr kumimoji="1" lang="en-US" altLang="zh-CN" sz="3600" b="1" dirty="0">
                <a:latin typeface="Courier New" pitchFamily="49" charset="0"/>
                <a:ea typeface="宋体" charset="-122"/>
              </a:rPr>
              <a:t>    </a:t>
            </a:r>
            <a:r>
              <a:rPr kumimoji="1" lang="en-US" altLang="zh-CN" sz="3600" b="1" dirty="0">
                <a:solidFill>
                  <a:schemeClr val="tx1"/>
                </a:solidFill>
                <a:latin typeface="Courier New" pitchFamily="49" charset="0"/>
                <a:ea typeface="宋体" charset="-122"/>
              </a:rPr>
              <a:t>    break</a:t>
            </a:r>
            <a:endParaRPr kumimoji="1" lang="zh-CN" altLang="en-US" sz="3600" b="1" dirty="0">
              <a:solidFill>
                <a:schemeClr val="tx1"/>
              </a:solidFill>
              <a:latin typeface="Courier New" pitchFamily="49" charset="0"/>
              <a:ea typeface="宋体" charset="-122"/>
            </a:endParaRPr>
          </a:p>
          <a:p>
            <a:pPr eaLnBrk="1" hangingPunct="1"/>
            <a:r>
              <a:rPr kumimoji="1" lang="en-US" altLang="zh-CN" sz="3600" b="1" dirty="0">
                <a:solidFill>
                  <a:schemeClr val="tx1"/>
                </a:solidFill>
                <a:latin typeface="Courier New" pitchFamily="49" charset="0"/>
                <a:ea typeface="宋体" charset="-122"/>
              </a:rPr>
              <a:t>    if </a:t>
            </a:r>
            <a:r>
              <a:rPr kumimoji="1" lang="en-US" altLang="zh-CN" sz="3600" b="1" dirty="0" err="1">
                <a:solidFill>
                  <a:schemeClr val="tx1"/>
                </a:solidFill>
                <a:latin typeface="Courier New" pitchFamily="49" charset="0"/>
                <a:ea typeface="宋体" charset="-122"/>
              </a:rPr>
              <a:t>i</a:t>
            </a:r>
            <a:r>
              <a:rPr kumimoji="1" lang="en-US" altLang="zh-CN" sz="3600" b="1" dirty="0">
                <a:solidFill>
                  <a:schemeClr val="tx1"/>
                </a:solidFill>
                <a:latin typeface="Courier New" pitchFamily="49" charset="0"/>
                <a:ea typeface="宋体" charset="-122"/>
              </a:rPr>
              <a:t> == 2</a:t>
            </a:r>
            <a:r>
              <a:rPr kumimoji="1" lang="en-US" altLang="zh-CN" sz="3600" b="1" dirty="0">
                <a:latin typeface="Courier New" pitchFamily="49" charset="0"/>
                <a:ea typeface="宋体" charset="-122"/>
              </a:rPr>
              <a:t>:</a:t>
            </a:r>
          </a:p>
          <a:p>
            <a:pPr eaLnBrk="1" hangingPunct="1"/>
            <a:r>
              <a:rPr kumimoji="1" lang="en-US" altLang="zh-CN" sz="3600" b="1" dirty="0">
                <a:solidFill>
                  <a:schemeClr val="tx1"/>
                </a:solidFill>
                <a:latin typeface="Courier New" pitchFamily="49" charset="0"/>
                <a:ea typeface="宋体" charset="-122"/>
              </a:rPr>
              <a:t>        continue</a:t>
            </a:r>
          </a:p>
          <a:p>
            <a:pPr eaLnBrk="1" hangingPunct="1"/>
            <a:r>
              <a:rPr kumimoji="1" lang="en-US" altLang="zh-CN" sz="3600" b="1" dirty="0">
                <a:solidFill>
                  <a:schemeClr val="tx1"/>
                </a:solidFill>
                <a:latin typeface="Courier New" pitchFamily="49" charset="0"/>
                <a:ea typeface="宋体" charset="-122"/>
              </a:rPr>
              <a:t>    sum += </a:t>
            </a:r>
            <a:r>
              <a:rPr kumimoji="1" lang="en-US" altLang="zh-CN" sz="3600" b="1" dirty="0" err="1">
                <a:solidFill>
                  <a:schemeClr val="tx1"/>
                </a:solidFill>
                <a:latin typeface="Courier New" pitchFamily="49" charset="0"/>
                <a:ea typeface="宋体" charset="-122"/>
              </a:rPr>
              <a:t>i</a:t>
            </a:r>
            <a:endParaRPr kumimoji="1" lang="en-US" altLang="zh-CN" sz="3600" b="1" dirty="0">
              <a:solidFill>
                <a:schemeClr val="tx1"/>
              </a:solidFill>
              <a:latin typeface="Courier New" pitchFamily="49" charset="0"/>
              <a:ea typeface="宋体" charset="-122"/>
            </a:endParaRPr>
          </a:p>
          <a:p>
            <a:pPr eaLnBrk="1" hangingPunct="1"/>
            <a:r>
              <a:rPr kumimoji="1" lang="en-US" altLang="zh-CN" sz="3600" b="1" dirty="0">
                <a:solidFill>
                  <a:schemeClr val="tx1"/>
                </a:solidFill>
                <a:latin typeface="Courier New" pitchFamily="49" charset="0"/>
                <a:ea typeface="宋体" charset="-122"/>
              </a:rPr>
              <a:t>print(sum)</a:t>
            </a:r>
          </a:p>
        </p:txBody>
      </p:sp>
      <p:sp>
        <p:nvSpPr>
          <p:cNvPr id="10" name="Rectangle 5"/>
          <p:cNvSpPr>
            <a:spLocks noChangeArrowheads="1"/>
          </p:cNvSpPr>
          <p:nvPr/>
        </p:nvSpPr>
        <p:spPr bwMode="auto">
          <a:xfrm>
            <a:off x="9440654" y="2974514"/>
            <a:ext cx="49244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eaLnBrk="1" hangingPunct="1">
              <a:spcBef>
                <a:spcPct val="50000"/>
              </a:spcBef>
            </a:pPr>
            <a:r>
              <a:rPr kumimoji="1" lang="en-US" altLang="zh-CN" sz="4800" b="1">
                <a:solidFill>
                  <a:schemeClr val="tx2"/>
                </a:solidFill>
                <a:latin typeface="Times New Roman" pitchFamily="18" charset="0"/>
                <a:ea typeface="宋体" charset="-122"/>
              </a:rPr>
              <a:t>4</a:t>
            </a:r>
          </a:p>
        </p:txBody>
      </p:sp>
    </p:spTree>
    <p:extLst>
      <p:ext uri="{BB962C8B-B14F-4D97-AF65-F5344CB8AC3E}">
        <p14:creationId xmlns:p14="http://schemas.microsoft.com/office/powerpoint/2010/main" val="97209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3.4 </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程序举例</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3"/>
          <p:cNvSpPr>
            <a:spLocks noChangeArrowheads="1"/>
          </p:cNvSpPr>
          <p:nvPr/>
        </p:nvSpPr>
        <p:spPr bwMode="auto">
          <a:xfrm>
            <a:off x="669959" y="1275993"/>
            <a:ext cx="10311158" cy="202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50900" eaLnBrk="1" hangingPunct="1">
              <a:spcBef>
                <a:spcPct val="50000"/>
              </a:spcBef>
              <a:buClr>
                <a:srgbClr val="FFFF66"/>
              </a:buClr>
              <a:buFont typeface="Wingdings" pitchFamily="2" charset="2"/>
              <a:buNone/>
            </a:pPr>
            <a:r>
              <a:rPr kumimoji="1" lang="en-US" altLang="zh-CN" sz="3600" b="1">
                <a:solidFill>
                  <a:schemeClr val="tx1"/>
                </a:solidFill>
                <a:latin typeface="Times New Roman" pitchFamily="18" charset="0"/>
                <a:ea typeface="黑体" pitchFamily="49" charset="-122"/>
              </a:rPr>
              <a:t>3.4.1 </a:t>
            </a:r>
            <a:r>
              <a:rPr kumimoji="1" lang="zh-CN" altLang="en-US" sz="3600" b="1">
                <a:solidFill>
                  <a:schemeClr val="tx1"/>
                </a:solidFill>
                <a:latin typeface="Times New Roman" pitchFamily="18" charset="0"/>
                <a:ea typeface="黑体" pitchFamily="49" charset="-122"/>
              </a:rPr>
              <a:t>求最大公约数：</a:t>
            </a:r>
          </a:p>
          <a:p>
            <a:pPr defTabSz="850900" eaLnBrk="1" hangingPunct="1">
              <a:spcBef>
                <a:spcPct val="80000"/>
              </a:spcBef>
              <a:buClr>
                <a:srgbClr val="FFFF66"/>
              </a:buClr>
            </a:pPr>
            <a:r>
              <a:rPr kumimoji="1" lang="zh-CN" altLang="en-US" sz="3200" b="1">
                <a:solidFill>
                  <a:schemeClr val="tx1"/>
                </a:solidFill>
                <a:latin typeface="Times New Roman" pitchFamily="18" charset="0"/>
                <a:ea typeface="宋体" charset="-122"/>
              </a:rPr>
              <a:t>	设有两个整数</a:t>
            </a:r>
            <a:r>
              <a:rPr kumimoji="1" lang="en-US" altLang="zh-CN" sz="3200" b="1">
                <a:solidFill>
                  <a:schemeClr val="tx1"/>
                </a:solidFill>
                <a:latin typeface="Times New Roman" pitchFamily="18" charset="0"/>
                <a:ea typeface="宋体" charset="-122"/>
              </a:rPr>
              <a:t>x, y</a:t>
            </a:r>
            <a:r>
              <a:rPr kumimoji="1" lang="zh-CN" altLang="en-US" sz="3200" b="1">
                <a:solidFill>
                  <a:schemeClr val="tx1"/>
                </a:solidFill>
                <a:latin typeface="Times New Roman" pitchFamily="18" charset="0"/>
                <a:ea typeface="宋体" charset="-122"/>
              </a:rPr>
              <a:t>，既能整除</a:t>
            </a:r>
            <a:r>
              <a:rPr kumimoji="1" lang="en-US" altLang="zh-CN" sz="3200" b="1">
                <a:solidFill>
                  <a:schemeClr val="tx1"/>
                </a:solidFill>
                <a:latin typeface="Times New Roman" pitchFamily="18" charset="0"/>
                <a:ea typeface="宋体" charset="-122"/>
              </a:rPr>
              <a:t>x</a:t>
            </a:r>
            <a:r>
              <a:rPr kumimoji="1" lang="zh-CN" altLang="en-US" sz="3200" b="1">
                <a:solidFill>
                  <a:schemeClr val="tx1"/>
                </a:solidFill>
                <a:latin typeface="Times New Roman" pitchFamily="18" charset="0"/>
                <a:ea typeface="宋体" charset="-122"/>
              </a:rPr>
              <a:t>又能整除</a:t>
            </a:r>
            <a:r>
              <a:rPr kumimoji="1" lang="en-US" altLang="zh-CN" sz="3200" b="1">
                <a:solidFill>
                  <a:schemeClr val="tx1"/>
                </a:solidFill>
                <a:latin typeface="Times New Roman" pitchFamily="18" charset="0"/>
                <a:ea typeface="宋体" charset="-122"/>
              </a:rPr>
              <a:t>y</a:t>
            </a:r>
            <a:r>
              <a:rPr kumimoji="1" lang="zh-CN" altLang="en-US" sz="3200" b="1">
                <a:solidFill>
                  <a:schemeClr val="tx1"/>
                </a:solidFill>
                <a:latin typeface="Times New Roman" pitchFamily="18" charset="0"/>
                <a:ea typeface="宋体" charset="-122"/>
              </a:rPr>
              <a:t>的正整数称为</a:t>
            </a:r>
            <a:r>
              <a:rPr kumimoji="1" lang="en-US" altLang="zh-CN" sz="3200" b="1">
                <a:solidFill>
                  <a:schemeClr val="tx1"/>
                </a:solidFill>
                <a:latin typeface="Times New Roman" pitchFamily="18" charset="0"/>
                <a:ea typeface="宋体" charset="-122"/>
              </a:rPr>
              <a:t>x</a:t>
            </a:r>
            <a:r>
              <a:rPr kumimoji="1" lang="zh-CN" altLang="en-US" sz="3200" b="1">
                <a:solidFill>
                  <a:schemeClr val="tx1"/>
                </a:solidFill>
                <a:latin typeface="Times New Roman" pitchFamily="18" charset="0"/>
                <a:ea typeface="宋体" charset="-122"/>
              </a:rPr>
              <a:t>和</a:t>
            </a:r>
            <a:r>
              <a:rPr kumimoji="1" lang="en-US" altLang="zh-CN" sz="3200" b="1">
                <a:solidFill>
                  <a:schemeClr val="tx1"/>
                </a:solidFill>
                <a:latin typeface="Times New Roman" pitchFamily="18" charset="0"/>
                <a:ea typeface="宋体" charset="-122"/>
              </a:rPr>
              <a:t>y</a:t>
            </a:r>
            <a:r>
              <a:rPr kumimoji="1" lang="zh-CN" altLang="en-US" sz="3200" b="1">
                <a:solidFill>
                  <a:schemeClr val="tx1"/>
                </a:solidFill>
                <a:latin typeface="Times New Roman" pitchFamily="18" charset="0"/>
                <a:ea typeface="宋体" charset="-122"/>
              </a:rPr>
              <a:t>的公约数，其中最大者称为</a:t>
            </a:r>
            <a:r>
              <a:rPr kumimoji="1" lang="en-US" altLang="zh-CN" sz="3200" b="1">
                <a:solidFill>
                  <a:schemeClr val="tx1"/>
                </a:solidFill>
                <a:latin typeface="Times New Roman" pitchFamily="18" charset="0"/>
                <a:ea typeface="宋体" charset="-122"/>
              </a:rPr>
              <a:t>x</a:t>
            </a:r>
            <a:r>
              <a:rPr kumimoji="1" lang="zh-CN" altLang="en-US" sz="3200" b="1">
                <a:solidFill>
                  <a:schemeClr val="tx1"/>
                </a:solidFill>
                <a:latin typeface="Times New Roman" pitchFamily="18" charset="0"/>
                <a:ea typeface="宋体" charset="-122"/>
              </a:rPr>
              <a:t>和</a:t>
            </a:r>
            <a:r>
              <a:rPr kumimoji="1" lang="en-US" altLang="zh-CN" sz="3200" b="1">
                <a:solidFill>
                  <a:schemeClr val="tx1"/>
                </a:solidFill>
                <a:latin typeface="Times New Roman" pitchFamily="18" charset="0"/>
                <a:ea typeface="宋体" charset="-122"/>
              </a:rPr>
              <a:t>y</a:t>
            </a:r>
            <a:r>
              <a:rPr kumimoji="1" lang="zh-CN" altLang="en-US" sz="3200" b="1">
                <a:solidFill>
                  <a:schemeClr val="tx1"/>
                </a:solidFill>
                <a:latin typeface="Times New Roman" pitchFamily="18" charset="0"/>
                <a:ea typeface="宋体" charset="-122"/>
              </a:rPr>
              <a:t>的最大公约数。</a:t>
            </a:r>
          </a:p>
        </p:txBody>
      </p:sp>
      <p:sp>
        <p:nvSpPr>
          <p:cNvPr id="9" name="AutoShape 4"/>
          <p:cNvSpPr>
            <a:spLocks noChangeArrowheads="1"/>
          </p:cNvSpPr>
          <p:nvPr/>
        </p:nvSpPr>
        <p:spPr bwMode="auto">
          <a:xfrm>
            <a:off x="6809016" y="4087876"/>
            <a:ext cx="2451359" cy="1469469"/>
          </a:xfrm>
          <a:prstGeom prst="irregularSeal1">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marL="457200" indent="-457200" algn="ctr" eaLnBrk="1" hangingPunct="1">
              <a:spcBef>
                <a:spcPct val="50000"/>
              </a:spcBef>
            </a:pPr>
            <a:r>
              <a:rPr kumimoji="1" lang="zh-CN" altLang="en-US" sz="2800" b="1">
                <a:solidFill>
                  <a:srgbClr val="0000FF"/>
                </a:solidFill>
                <a:latin typeface="Times New Roman" pitchFamily="18" charset="0"/>
                <a:ea typeface="宋体" charset="-122"/>
              </a:rPr>
              <a:t>讨论</a:t>
            </a:r>
          </a:p>
        </p:txBody>
      </p:sp>
      <p:pic>
        <p:nvPicPr>
          <p:cNvPr id="11" name="图片 4" descr="无标题.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04506" y="3646501"/>
            <a:ext cx="3103146" cy="2521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671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ox(in)">
                                      <p:cBhvr>
                                        <p:cTn id="1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问题分析</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2"/>
          <p:cNvSpPr>
            <a:spLocks noChangeArrowheads="1"/>
          </p:cNvSpPr>
          <p:nvPr/>
        </p:nvSpPr>
        <p:spPr bwMode="auto">
          <a:xfrm>
            <a:off x="1269792" y="1912272"/>
            <a:ext cx="9096202"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rgbClr val="0000FF"/>
              </a:buClr>
              <a:buFont typeface="Wingdings" pitchFamily="2" charset="2"/>
              <a:buAutoNum type="arabicPeriod"/>
            </a:pPr>
            <a:r>
              <a:rPr kumimoji="1" lang="zh-CN" altLang="en-US" sz="3200" b="1">
                <a:solidFill>
                  <a:srgbClr val="0000FF"/>
                </a:solidFill>
                <a:latin typeface="Times New Roman" pitchFamily="18" charset="0"/>
                <a:ea typeface="宋体" charset="-122"/>
              </a:rPr>
              <a:t>什么叫整除？</a:t>
            </a:r>
            <a:r>
              <a:rPr kumimoji="1" lang="en-US" altLang="zh-CN" sz="3200" b="1">
                <a:solidFill>
                  <a:srgbClr val="0000FF"/>
                </a:solidFill>
                <a:latin typeface="Times New Roman" pitchFamily="18" charset="0"/>
                <a:ea typeface="宋体" charset="-122"/>
              </a:rPr>
              <a:t>k</a:t>
            </a:r>
            <a:r>
              <a:rPr kumimoji="1" lang="zh-CN" altLang="en-US" sz="3200" b="1">
                <a:solidFill>
                  <a:srgbClr val="0000FF"/>
                </a:solidFill>
                <a:latin typeface="Times New Roman" pitchFamily="18" charset="0"/>
                <a:ea typeface="宋体" charset="-122"/>
              </a:rPr>
              <a:t>能整除</a:t>
            </a:r>
            <a:r>
              <a:rPr kumimoji="1" lang="en-US" altLang="zh-CN" sz="3200" b="1">
                <a:solidFill>
                  <a:srgbClr val="0000FF"/>
                </a:solidFill>
                <a:latin typeface="Times New Roman" pitchFamily="18" charset="0"/>
                <a:ea typeface="宋体" charset="-122"/>
              </a:rPr>
              <a:t>x</a:t>
            </a:r>
            <a:r>
              <a:rPr kumimoji="1" lang="zh-CN" altLang="en-US" sz="3200" b="1">
                <a:solidFill>
                  <a:srgbClr val="0000FF"/>
                </a:solidFill>
                <a:latin typeface="Times New Roman" pitchFamily="18" charset="0"/>
                <a:ea typeface="宋体" charset="-122"/>
              </a:rPr>
              <a:t>，这意味着什么？</a:t>
            </a:r>
          </a:p>
          <a:p>
            <a:pPr marL="936625" lvl="1" indent="-457200" defTabSz="850900" eaLnBrk="1" hangingPunct="1">
              <a:spcBef>
                <a:spcPct val="50000"/>
              </a:spcBef>
              <a:buClr>
                <a:srgbClr val="0000FF"/>
              </a:buClr>
              <a:buFont typeface="Wingdings" pitchFamily="2" charset="2"/>
              <a:buAutoNum type="arabicPeriod"/>
            </a:pPr>
            <a:r>
              <a:rPr kumimoji="1" lang="zh-CN" altLang="en-US" sz="3200" b="1">
                <a:solidFill>
                  <a:srgbClr val="0000FF"/>
                </a:solidFill>
                <a:latin typeface="Times New Roman" pitchFamily="18" charset="0"/>
                <a:ea typeface="宋体" charset="-122"/>
              </a:rPr>
              <a:t>如果</a:t>
            </a:r>
            <a:r>
              <a:rPr kumimoji="1" lang="en-US" altLang="zh-CN" sz="3200" b="1">
                <a:solidFill>
                  <a:srgbClr val="0000FF"/>
                </a:solidFill>
                <a:latin typeface="Times New Roman" pitchFamily="18" charset="0"/>
                <a:ea typeface="宋体" charset="-122"/>
              </a:rPr>
              <a:t>k</a:t>
            </a:r>
            <a:r>
              <a:rPr kumimoji="1" lang="zh-CN" altLang="en-US" sz="3200" b="1">
                <a:solidFill>
                  <a:srgbClr val="0000FF"/>
                </a:solidFill>
                <a:latin typeface="Times New Roman" pitchFamily="18" charset="0"/>
                <a:ea typeface="宋体" charset="-122"/>
              </a:rPr>
              <a:t>是</a:t>
            </a:r>
            <a:r>
              <a:rPr kumimoji="1" lang="en-US" altLang="zh-CN" sz="3200" b="1">
                <a:solidFill>
                  <a:srgbClr val="0000FF"/>
                </a:solidFill>
                <a:latin typeface="Times New Roman" pitchFamily="18" charset="0"/>
                <a:ea typeface="宋体" charset="-122"/>
              </a:rPr>
              <a:t>x</a:t>
            </a:r>
            <a:r>
              <a:rPr kumimoji="1" lang="zh-CN" altLang="en-US" sz="3200" b="1">
                <a:solidFill>
                  <a:srgbClr val="0000FF"/>
                </a:solidFill>
                <a:latin typeface="Times New Roman" pitchFamily="18" charset="0"/>
                <a:ea typeface="宋体" charset="-122"/>
              </a:rPr>
              <a:t>和</a:t>
            </a:r>
            <a:r>
              <a:rPr kumimoji="1" lang="en-US" altLang="zh-CN" sz="3200" b="1">
                <a:solidFill>
                  <a:srgbClr val="0000FF"/>
                </a:solidFill>
                <a:latin typeface="Times New Roman" pitchFamily="18" charset="0"/>
                <a:ea typeface="宋体" charset="-122"/>
              </a:rPr>
              <a:t>y</a:t>
            </a:r>
            <a:r>
              <a:rPr kumimoji="1" lang="zh-CN" altLang="en-US" sz="3200" b="1">
                <a:solidFill>
                  <a:srgbClr val="0000FF"/>
                </a:solidFill>
                <a:latin typeface="Times New Roman" pitchFamily="18" charset="0"/>
                <a:ea typeface="宋体" charset="-122"/>
              </a:rPr>
              <a:t>的公约数，这又意味着什么？</a:t>
            </a:r>
          </a:p>
          <a:p>
            <a:pPr marL="936625" lvl="1" indent="-457200" defTabSz="850900" eaLnBrk="1" hangingPunct="1">
              <a:spcBef>
                <a:spcPct val="50000"/>
              </a:spcBef>
              <a:buClr>
                <a:srgbClr val="0000FF"/>
              </a:buClr>
              <a:buFont typeface="Wingdings" pitchFamily="2" charset="2"/>
              <a:buAutoNum type="arabicPeriod"/>
            </a:pPr>
            <a:r>
              <a:rPr kumimoji="1" lang="zh-CN" altLang="en-US" sz="3200" b="1">
                <a:solidFill>
                  <a:srgbClr val="0000FF"/>
                </a:solidFill>
                <a:latin typeface="Times New Roman" pitchFamily="18" charset="0"/>
                <a:ea typeface="宋体" charset="-122"/>
              </a:rPr>
              <a:t>如何求最大公约数？</a:t>
            </a:r>
          </a:p>
        </p:txBody>
      </p:sp>
    </p:spTree>
    <p:extLst>
      <p:ext uri="{BB962C8B-B14F-4D97-AF65-F5344CB8AC3E}">
        <p14:creationId xmlns:p14="http://schemas.microsoft.com/office/powerpoint/2010/main" val="4293945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checkerboard(across)">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checkerboard(across)">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checkerboard(across)">
                                      <p:cBhvr>
                                        <p:cTn id="17"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算法设计</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2"/>
          <p:cNvSpPr>
            <a:spLocks noChangeArrowheads="1"/>
          </p:cNvSpPr>
          <p:nvPr/>
        </p:nvSpPr>
        <p:spPr bwMode="auto">
          <a:xfrm>
            <a:off x="1236525" y="2602265"/>
            <a:ext cx="9046309"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找到</a:t>
            </a:r>
            <a:r>
              <a:rPr kumimoji="1" lang="en-US" altLang="zh-CN" sz="3200" b="1">
                <a:solidFill>
                  <a:schemeClr val="tx1"/>
                </a:solidFill>
                <a:latin typeface="Times New Roman" pitchFamily="18" charset="0"/>
                <a:ea typeface="宋体" charset="-122"/>
              </a:rPr>
              <a:t>x</a:t>
            </a:r>
            <a:r>
              <a:rPr kumimoji="1" lang="zh-CN" altLang="en-US" sz="3200" b="1">
                <a:solidFill>
                  <a:schemeClr val="tx1"/>
                </a:solidFill>
                <a:latin typeface="Times New Roman" pitchFamily="18" charset="0"/>
                <a:ea typeface="宋体" charset="-122"/>
              </a:rPr>
              <a:t>和</a:t>
            </a:r>
            <a:r>
              <a:rPr kumimoji="1" lang="en-US" altLang="zh-CN" sz="3200" b="1">
                <a:solidFill>
                  <a:schemeClr val="tx1"/>
                </a:solidFill>
                <a:latin typeface="Times New Roman" pitchFamily="18" charset="0"/>
                <a:ea typeface="宋体" charset="-122"/>
              </a:rPr>
              <a:t>y</a:t>
            </a:r>
            <a:r>
              <a:rPr kumimoji="1" lang="zh-CN" altLang="en-US" sz="3200" b="1">
                <a:solidFill>
                  <a:schemeClr val="tx1"/>
                </a:solidFill>
                <a:latin typeface="Times New Roman" pitchFamily="18" charset="0"/>
                <a:ea typeface="宋体" charset="-122"/>
              </a:rPr>
              <a:t>当中的较小者，不妨设为</a:t>
            </a:r>
            <a:r>
              <a:rPr kumimoji="1" lang="en-US" altLang="zh-CN" sz="3200" b="1">
                <a:solidFill>
                  <a:schemeClr val="tx1"/>
                </a:solidFill>
                <a:latin typeface="Times New Roman" pitchFamily="18" charset="0"/>
                <a:ea typeface="宋体" charset="-122"/>
              </a:rPr>
              <a:t>y</a:t>
            </a:r>
            <a:r>
              <a:rPr kumimoji="1" lang="zh-CN" altLang="en-US" sz="3200" b="1">
                <a:solidFill>
                  <a:schemeClr val="tx1"/>
                </a:solidFill>
                <a:latin typeface="Times New Roman" pitchFamily="18" charset="0"/>
                <a:ea typeface="宋体" charset="-122"/>
              </a:rPr>
              <a:t>；</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从</a:t>
            </a:r>
            <a:r>
              <a:rPr kumimoji="1" lang="en-US" altLang="zh-CN" sz="3200" b="1">
                <a:solidFill>
                  <a:schemeClr val="tx1"/>
                </a:solidFill>
                <a:latin typeface="Times New Roman" pitchFamily="18" charset="0"/>
                <a:ea typeface="宋体" charset="-122"/>
              </a:rPr>
              <a:t>y</a:t>
            </a:r>
            <a:r>
              <a:rPr kumimoji="1" lang="zh-CN" altLang="en-US" sz="3200" b="1">
                <a:solidFill>
                  <a:schemeClr val="tx1"/>
                </a:solidFill>
                <a:latin typeface="Times New Roman" pitchFamily="18" charset="0"/>
                <a:ea typeface="宋体" charset="-122"/>
              </a:rPr>
              <a:t>开始，从大到小地对每一个比</a:t>
            </a:r>
            <a:r>
              <a:rPr kumimoji="1" lang="en-US" altLang="zh-CN" sz="3200" b="1">
                <a:solidFill>
                  <a:schemeClr val="tx1"/>
                </a:solidFill>
                <a:latin typeface="Times New Roman" pitchFamily="18" charset="0"/>
                <a:ea typeface="宋体" charset="-122"/>
              </a:rPr>
              <a:t>y</a:t>
            </a:r>
            <a:r>
              <a:rPr kumimoji="1" lang="zh-CN" altLang="en-US" sz="3200" b="1">
                <a:solidFill>
                  <a:schemeClr val="tx1"/>
                </a:solidFill>
                <a:latin typeface="Times New Roman" pitchFamily="18" charset="0"/>
                <a:ea typeface="宋体" charset="-122"/>
              </a:rPr>
              <a:t>小的整数进行测试，如果该数既能整除</a:t>
            </a:r>
            <a:r>
              <a:rPr kumimoji="1" lang="en-US" altLang="zh-CN" sz="3200" b="1">
                <a:solidFill>
                  <a:schemeClr val="tx1"/>
                </a:solidFill>
                <a:latin typeface="Times New Roman" pitchFamily="18" charset="0"/>
                <a:ea typeface="宋体" charset="-122"/>
              </a:rPr>
              <a:t>x</a:t>
            </a:r>
            <a:r>
              <a:rPr kumimoji="1" lang="zh-CN" altLang="en-US" sz="3200" b="1">
                <a:solidFill>
                  <a:schemeClr val="tx1"/>
                </a:solidFill>
                <a:latin typeface="Times New Roman" pitchFamily="18" charset="0"/>
                <a:ea typeface="宋体" charset="-122"/>
              </a:rPr>
              <a:t>又能整除</a:t>
            </a:r>
            <a:r>
              <a:rPr kumimoji="1" lang="en-US" altLang="zh-CN" sz="3200" b="1">
                <a:solidFill>
                  <a:schemeClr val="tx1"/>
                </a:solidFill>
                <a:latin typeface="Times New Roman" pitchFamily="18" charset="0"/>
                <a:ea typeface="宋体" charset="-122"/>
              </a:rPr>
              <a:t>y</a:t>
            </a:r>
            <a:r>
              <a:rPr kumimoji="1" lang="zh-CN" altLang="en-US" sz="3200" b="1">
                <a:solidFill>
                  <a:schemeClr val="tx1"/>
                </a:solidFill>
                <a:latin typeface="Times New Roman" pitchFamily="18" charset="0"/>
                <a:ea typeface="宋体" charset="-122"/>
              </a:rPr>
              <a:t>，则说明它就是最大公约数。</a:t>
            </a:r>
          </a:p>
        </p:txBody>
      </p:sp>
      <p:sp>
        <p:nvSpPr>
          <p:cNvPr id="11" name="Rectangle 3"/>
          <p:cNvSpPr txBox="1">
            <a:spLocks noChangeArrowheads="1"/>
          </p:cNvSpPr>
          <p:nvPr/>
        </p:nvSpPr>
        <p:spPr>
          <a:xfrm>
            <a:off x="1036344" y="1377177"/>
            <a:ext cx="8458200" cy="1143000"/>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ctr"/>
            <a:r>
              <a:rPr lang="zh-CN" altLang="en-US" b="1">
                <a:latin typeface="Courier New" pitchFamily="49" charset="0"/>
                <a:ea typeface="隶书" pitchFamily="49" charset="-122"/>
              </a:rPr>
              <a:t>算法：逐一测试法</a:t>
            </a:r>
            <a:endParaRPr lang="en-US" altLang="zh-CN" b="1">
              <a:latin typeface="Courier New" pitchFamily="49" charset="0"/>
              <a:ea typeface="隶书" pitchFamily="49" charset="-122"/>
            </a:endParaRPr>
          </a:p>
        </p:txBody>
      </p:sp>
    </p:spTree>
    <p:extLst>
      <p:ext uri="{BB962C8B-B14F-4D97-AF65-F5344CB8AC3E}">
        <p14:creationId xmlns:p14="http://schemas.microsoft.com/office/powerpoint/2010/main" val="638078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checkerboard(across)">
                                      <p:cBhvr>
                                        <p:cTn id="1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参考代码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1" name="Rectangle 3"/>
          <p:cNvSpPr>
            <a:spLocks noChangeArrowheads="1"/>
          </p:cNvSpPr>
          <p:nvPr/>
        </p:nvSpPr>
        <p:spPr bwMode="auto">
          <a:xfrm>
            <a:off x="608403" y="1223037"/>
            <a:ext cx="8810625" cy="5262979"/>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kumimoji="1" lang="en-US" altLang="zh-CN" sz="2800" b="1">
                <a:latin typeface="Courier New" pitchFamily="49" charset="0"/>
                <a:ea typeface="宋体" charset="-122"/>
              </a:rPr>
              <a:t>#_*_ coding: gbk _*_</a:t>
            </a:r>
          </a:p>
          <a:p>
            <a:pPr eaLnBrk="1" hangingPunct="1"/>
            <a:r>
              <a:rPr kumimoji="1" lang="zh-CN" altLang="zh-CN" sz="2800" b="1">
                <a:solidFill>
                  <a:schemeClr val="tx1"/>
                </a:solidFill>
                <a:latin typeface="Courier New" pitchFamily="49" charset="0"/>
                <a:ea typeface="宋体" charset="-122"/>
              </a:rPr>
              <a:t>print("请输入两个整数：");</a:t>
            </a:r>
            <a:endParaRPr kumimoji="1" lang="en-US" altLang="zh-CN" sz="2800" b="1">
              <a:solidFill>
                <a:schemeClr val="tx1"/>
              </a:solidFill>
              <a:latin typeface="Courier New" pitchFamily="49" charset="0"/>
              <a:ea typeface="宋体" charset="-122"/>
            </a:endParaRPr>
          </a:p>
          <a:p>
            <a:pPr eaLnBrk="1" hangingPunct="1"/>
            <a:r>
              <a:rPr kumimoji="1" lang="en-US" altLang="zh-CN" sz="2800" b="1">
                <a:solidFill>
                  <a:schemeClr val="tx1"/>
                </a:solidFill>
                <a:latin typeface="Courier New" pitchFamily="49" charset="0"/>
                <a:ea typeface="宋体" charset="-122"/>
              </a:rPr>
              <a:t>x = int(input())</a:t>
            </a:r>
            <a:endParaRPr kumimoji="1" lang="zh-CN" altLang="zh-CN" sz="2800" b="1">
              <a:solidFill>
                <a:schemeClr val="tx1"/>
              </a:solidFill>
              <a:latin typeface="Courier New" pitchFamily="49" charset="0"/>
              <a:ea typeface="宋体" charset="-122"/>
            </a:endParaRPr>
          </a:p>
          <a:p>
            <a:pPr eaLnBrk="1" hangingPunct="1"/>
            <a:r>
              <a:rPr kumimoji="1" lang="en-US" altLang="zh-CN" sz="2800" b="1">
                <a:solidFill>
                  <a:schemeClr val="tx1"/>
                </a:solidFill>
                <a:latin typeface="Courier New" pitchFamily="49" charset="0"/>
                <a:ea typeface="宋体" charset="-122"/>
              </a:rPr>
              <a:t>y = int(input())</a:t>
            </a:r>
          </a:p>
          <a:p>
            <a:pPr eaLnBrk="1" hangingPunct="1"/>
            <a:r>
              <a:rPr kumimoji="1" lang="zh-CN" altLang="zh-CN" sz="2800" b="1">
                <a:solidFill>
                  <a:schemeClr val="tx1"/>
                </a:solidFill>
                <a:latin typeface="Courier New" pitchFamily="49" charset="0"/>
                <a:ea typeface="宋体" charset="-122"/>
              </a:rPr>
              <a:t>if</a:t>
            </a:r>
            <a:r>
              <a:rPr kumimoji="1" lang="en-US" altLang="zh-CN" sz="2800" b="1">
                <a:solidFill>
                  <a:schemeClr val="tx1"/>
                </a:solidFill>
                <a:latin typeface="Courier New" pitchFamily="49" charset="0"/>
                <a:ea typeface="宋体" charset="-122"/>
              </a:rPr>
              <a:t> </a:t>
            </a:r>
            <a:r>
              <a:rPr kumimoji="1" lang="zh-CN" altLang="zh-CN" sz="2800" b="1">
                <a:solidFill>
                  <a:schemeClr val="tx1"/>
                </a:solidFill>
                <a:latin typeface="Courier New" pitchFamily="49" charset="0"/>
                <a:ea typeface="宋体" charset="-122"/>
              </a:rPr>
              <a:t>x &lt; y</a:t>
            </a:r>
            <a:r>
              <a:rPr kumimoji="1" lang="en-US" altLang="zh-CN" sz="2800" b="1">
                <a:solidFill>
                  <a:schemeClr val="tx1"/>
                </a:solidFill>
                <a:latin typeface="Courier New" pitchFamily="49" charset="0"/>
                <a:ea typeface="宋体" charset="-122"/>
              </a:rPr>
              <a:t>:</a:t>
            </a:r>
            <a:r>
              <a:rPr kumimoji="1" lang="zh-CN" altLang="zh-CN" sz="2800" b="1">
                <a:solidFill>
                  <a:schemeClr val="tx1"/>
                </a:solidFill>
                <a:latin typeface="Courier New" pitchFamily="49" charset="0"/>
                <a:ea typeface="宋体" charset="-122"/>
              </a:rPr>
              <a:t>	</a:t>
            </a:r>
          </a:p>
          <a:p>
            <a:pPr eaLnBrk="1" hangingPunct="1"/>
            <a:r>
              <a:rPr kumimoji="1" lang="en-US" altLang="zh-CN" sz="2800" b="1">
                <a:solidFill>
                  <a:srgbClr val="0000FF"/>
                </a:solidFill>
                <a:latin typeface="Courier New" pitchFamily="49" charset="0"/>
                <a:ea typeface="宋体" charset="-122"/>
              </a:rPr>
              <a:t>    </a:t>
            </a:r>
            <a:r>
              <a:rPr kumimoji="1" lang="zh-CN" altLang="zh-CN" sz="2800" b="1">
                <a:solidFill>
                  <a:srgbClr val="0000FF"/>
                </a:solidFill>
                <a:latin typeface="Courier New" pitchFamily="49" charset="0"/>
                <a:ea typeface="宋体" charset="-122"/>
              </a:rPr>
              <a:t>temp = x</a:t>
            </a:r>
            <a:endParaRPr kumimoji="1" lang="en-US" altLang="zh-CN" sz="2800" b="1">
              <a:solidFill>
                <a:srgbClr val="0000FF"/>
              </a:solidFill>
              <a:latin typeface="Courier New" pitchFamily="49" charset="0"/>
              <a:ea typeface="宋体" charset="-122"/>
            </a:endParaRPr>
          </a:p>
          <a:p>
            <a:pPr eaLnBrk="1" hangingPunct="1"/>
            <a:r>
              <a:rPr kumimoji="1" lang="zh-CN" altLang="zh-CN" sz="2800" b="1">
                <a:solidFill>
                  <a:srgbClr val="0000FF"/>
                </a:solidFill>
                <a:latin typeface="Courier New" pitchFamily="49" charset="0"/>
                <a:ea typeface="宋体" charset="-122"/>
              </a:rPr>
              <a:t> </a:t>
            </a:r>
            <a:r>
              <a:rPr kumimoji="1" lang="en-US" altLang="zh-CN" sz="2800" b="1">
                <a:solidFill>
                  <a:srgbClr val="0000FF"/>
                </a:solidFill>
                <a:latin typeface="Courier New" pitchFamily="49" charset="0"/>
                <a:ea typeface="宋体" charset="-122"/>
              </a:rPr>
              <a:t>  </a:t>
            </a:r>
            <a:r>
              <a:rPr kumimoji="1" lang="zh-CN" altLang="zh-CN" sz="2800" b="1">
                <a:solidFill>
                  <a:srgbClr val="0000FF"/>
                </a:solidFill>
                <a:latin typeface="Courier New" pitchFamily="49" charset="0"/>
                <a:ea typeface="宋体" charset="-122"/>
              </a:rPr>
              <a:t> x = y</a:t>
            </a:r>
            <a:endParaRPr kumimoji="1" lang="en-US" altLang="zh-CN" sz="2800" b="1">
              <a:solidFill>
                <a:srgbClr val="0000FF"/>
              </a:solidFill>
              <a:latin typeface="Courier New" pitchFamily="49" charset="0"/>
              <a:ea typeface="宋体" charset="-122"/>
            </a:endParaRPr>
          </a:p>
          <a:p>
            <a:pPr eaLnBrk="1" hangingPunct="1"/>
            <a:r>
              <a:rPr kumimoji="1" lang="en-US" altLang="zh-CN" sz="2800" b="1">
                <a:solidFill>
                  <a:srgbClr val="0000FF"/>
                </a:solidFill>
                <a:latin typeface="Courier New" pitchFamily="49" charset="0"/>
                <a:ea typeface="宋体" charset="-122"/>
              </a:rPr>
              <a:t>  </a:t>
            </a:r>
            <a:r>
              <a:rPr kumimoji="1" lang="zh-CN" altLang="zh-CN" sz="2800" b="1">
                <a:solidFill>
                  <a:srgbClr val="0000FF"/>
                </a:solidFill>
                <a:latin typeface="Courier New" pitchFamily="49" charset="0"/>
                <a:ea typeface="宋体" charset="-122"/>
              </a:rPr>
              <a:t>  y = temp</a:t>
            </a:r>
            <a:r>
              <a:rPr kumimoji="1" lang="zh-CN" altLang="zh-CN" sz="2800" b="1">
                <a:solidFill>
                  <a:schemeClr val="tx1"/>
                </a:solidFill>
                <a:latin typeface="Courier New" pitchFamily="49" charset="0"/>
                <a:ea typeface="宋体" charset="-122"/>
              </a:rPr>
              <a:t> </a:t>
            </a:r>
          </a:p>
          <a:p>
            <a:pPr eaLnBrk="1" hangingPunct="1"/>
            <a:r>
              <a:rPr kumimoji="1" lang="zh-CN" altLang="zh-CN" sz="2800" b="1">
                <a:solidFill>
                  <a:schemeClr val="tx1"/>
                </a:solidFill>
                <a:latin typeface="Courier New" pitchFamily="49" charset="0"/>
                <a:ea typeface="宋体" charset="-122"/>
              </a:rPr>
              <a:t>for</a:t>
            </a:r>
            <a:r>
              <a:rPr kumimoji="1" lang="en-US" altLang="zh-CN" sz="2800" b="1">
                <a:solidFill>
                  <a:schemeClr val="tx1"/>
                </a:solidFill>
                <a:latin typeface="Courier New" pitchFamily="49" charset="0"/>
                <a:ea typeface="宋体" charset="-122"/>
              </a:rPr>
              <a:t> </a:t>
            </a:r>
            <a:r>
              <a:rPr kumimoji="1" lang="zh-CN" altLang="zh-CN" sz="2800" b="1">
                <a:solidFill>
                  <a:schemeClr val="tx1"/>
                </a:solidFill>
                <a:latin typeface="Courier New" pitchFamily="49" charset="0"/>
                <a:ea typeface="宋体" charset="-122"/>
              </a:rPr>
              <a:t>k</a:t>
            </a:r>
            <a:r>
              <a:rPr kumimoji="1" lang="en-US" altLang="zh-CN" sz="2800" b="1">
                <a:solidFill>
                  <a:schemeClr val="tx1"/>
                </a:solidFill>
                <a:latin typeface="Courier New" pitchFamily="49" charset="0"/>
                <a:ea typeface="宋体" charset="-122"/>
              </a:rPr>
              <a:t> in range(y, 0, -1):</a:t>
            </a:r>
            <a:r>
              <a:rPr kumimoji="1" lang="zh-CN" altLang="zh-CN" sz="2800" b="1">
                <a:solidFill>
                  <a:schemeClr val="tx1"/>
                </a:solidFill>
                <a:latin typeface="Courier New" pitchFamily="49" charset="0"/>
                <a:ea typeface="宋体" charset="-122"/>
              </a:rPr>
              <a:t> </a:t>
            </a:r>
            <a:endParaRPr kumimoji="1" lang="en-US" altLang="zh-CN" sz="2800" b="1">
              <a:solidFill>
                <a:schemeClr val="tx1"/>
              </a:solidFill>
              <a:latin typeface="Courier New" pitchFamily="49" charset="0"/>
              <a:ea typeface="宋体" charset="-122"/>
            </a:endParaRPr>
          </a:p>
          <a:p>
            <a:pPr eaLnBrk="1" hangingPunct="1"/>
            <a:r>
              <a:rPr kumimoji="1" lang="en-US" altLang="zh-CN" sz="2800" b="1">
                <a:solidFill>
                  <a:schemeClr val="tx1"/>
                </a:solidFill>
                <a:latin typeface="Courier New" pitchFamily="49" charset="0"/>
                <a:ea typeface="宋体" charset="-122"/>
              </a:rPr>
              <a:t>    </a:t>
            </a:r>
            <a:r>
              <a:rPr kumimoji="1" lang="zh-CN" altLang="zh-CN" sz="2800" b="1">
                <a:solidFill>
                  <a:schemeClr val="tx1"/>
                </a:solidFill>
                <a:latin typeface="Courier New" pitchFamily="49" charset="0"/>
                <a:ea typeface="宋体" charset="-122"/>
              </a:rPr>
              <a:t>if</a:t>
            </a:r>
            <a:r>
              <a:rPr kumimoji="1" lang="en-US" altLang="zh-CN" sz="2800" b="1">
                <a:solidFill>
                  <a:schemeClr val="tx1"/>
                </a:solidFill>
                <a:latin typeface="Courier New" pitchFamily="49" charset="0"/>
                <a:ea typeface="宋体" charset="-122"/>
              </a:rPr>
              <a:t> </a:t>
            </a:r>
            <a:r>
              <a:rPr kumimoji="1" lang="zh-CN" altLang="zh-CN" sz="2800" b="1">
                <a:solidFill>
                  <a:schemeClr val="tx1"/>
                </a:solidFill>
                <a:latin typeface="Courier New" pitchFamily="49" charset="0"/>
                <a:ea typeface="宋体" charset="-122"/>
              </a:rPr>
              <a:t>(x % k == 0) </a:t>
            </a:r>
            <a:r>
              <a:rPr kumimoji="1" lang="en-US" altLang="zh-CN" sz="2800" b="1">
                <a:solidFill>
                  <a:schemeClr val="tx1"/>
                </a:solidFill>
                <a:latin typeface="Courier New" pitchFamily="49" charset="0"/>
                <a:ea typeface="宋体" charset="-122"/>
              </a:rPr>
              <a:t>and</a:t>
            </a:r>
            <a:r>
              <a:rPr kumimoji="1" lang="zh-CN" altLang="zh-CN" sz="2800" b="1">
                <a:solidFill>
                  <a:schemeClr val="tx1"/>
                </a:solidFill>
                <a:latin typeface="Courier New" pitchFamily="49" charset="0"/>
                <a:ea typeface="宋体" charset="-122"/>
              </a:rPr>
              <a:t> (y % k == 0)</a:t>
            </a:r>
            <a:r>
              <a:rPr kumimoji="1" lang="en-US" altLang="zh-CN" sz="2800" b="1">
                <a:solidFill>
                  <a:schemeClr val="tx1"/>
                </a:solidFill>
                <a:latin typeface="Courier New" pitchFamily="49" charset="0"/>
                <a:ea typeface="宋体" charset="-122"/>
              </a:rPr>
              <a:t>:</a:t>
            </a:r>
            <a:r>
              <a:rPr kumimoji="1" lang="zh-CN" altLang="zh-CN" sz="2800" b="1">
                <a:solidFill>
                  <a:schemeClr val="tx1"/>
                </a:solidFill>
                <a:latin typeface="Courier New" pitchFamily="49" charset="0"/>
                <a:ea typeface="宋体" charset="-122"/>
              </a:rPr>
              <a:t> </a:t>
            </a:r>
            <a:endParaRPr kumimoji="1" lang="en-US" altLang="zh-CN" sz="2800" b="1">
              <a:solidFill>
                <a:schemeClr val="tx1"/>
              </a:solidFill>
              <a:latin typeface="Courier New" pitchFamily="49" charset="0"/>
              <a:ea typeface="宋体" charset="-122"/>
            </a:endParaRPr>
          </a:p>
          <a:p>
            <a:pPr eaLnBrk="1" hangingPunct="1"/>
            <a:r>
              <a:rPr kumimoji="1" lang="en-US" altLang="zh-CN" sz="2800" b="1">
                <a:latin typeface="Courier New" pitchFamily="49" charset="0"/>
                <a:ea typeface="宋体" charset="-122"/>
              </a:rPr>
              <a:t>        </a:t>
            </a:r>
            <a:r>
              <a:rPr kumimoji="1" lang="zh-CN" altLang="zh-CN" sz="2800" b="1">
                <a:solidFill>
                  <a:schemeClr val="tx1"/>
                </a:solidFill>
                <a:latin typeface="Courier New" pitchFamily="49" charset="0"/>
                <a:ea typeface="宋体" charset="-122"/>
              </a:rPr>
              <a:t>break</a:t>
            </a:r>
          </a:p>
          <a:p>
            <a:pPr eaLnBrk="1" hangingPunct="1"/>
            <a:r>
              <a:rPr kumimoji="1" lang="zh-CN" altLang="zh-CN" sz="2800" b="1">
                <a:solidFill>
                  <a:schemeClr val="tx1"/>
                </a:solidFill>
                <a:latin typeface="Courier New" pitchFamily="49" charset="0"/>
                <a:ea typeface="宋体" charset="-122"/>
              </a:rPr>
              <a:t>print("最大公约数为：", k)</a:t>
            </a:r>
            <a:endParaRPr kumimoji="1" lang="en-US" altLang="zh-CN" sz="2800" b="1">
              <a:solidFill>
                <a:schemeClr val="tx1"/>
              </a:solidFill>
              <a:latin typeface="Courier New" pitchFamily="49" charset="0"/>
              <a:ea typeface="宋体" charset="-122"/>
            </a:endParaRPr>
          </a:p>
        </p:txBody>
      </p:sp>
      <p:sp>
        <p:nvSpPr>
          <p:cNvPr id="12" name="Text Box 4"/>
          <p:cNvSpPr txBox="1">
            <a:spLocks noChangeArrowheads="1"/>
          </p:cNvSpPr>
          <p:nvPr/>
        </p:nvSpPr>
        <p:spPr bwMode="auto">
          <a:xfrm>
            <a:off x="9012392" y="5471037"/>
            <a:ext cx="232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sz="2400" b="1">
                <a:solidFill>
                  <a:srgbClr val="FF0000"/>
                </a:solidFill>
                <a:latin typeface="Times New Roman" pitchFamily="18" charset="0"/>
                <a:ea typeface="宋体" charset="-122"/>
              </a:rPr>
              <a:t>程序有无问题？</a:t>
            </a:r>
          </a:p>
        </p:txBody>
      </p:sp>
      <p:pic>
        <p:nvPicPr>
          <p:cNvPr id="13" name="图片 12" descr="无标题.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32862" y="1363311"/>
            <a:ext cx="3960949" cy="2967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691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4" end="4"/>
                                            </p:txEl>
                                          </p:spTgt>
                                        </p:tgtEl>
                                        <p:attrNameLst>
                                          <p:attrName>style.visibility</p:attrName>
                                        </p:attrNameLst>
                                      </p:cBhvr>
                                      <p:to>
                                        <p:strVal val="visible"/>
                                      </p:to>
                                    </p:set>
                                    <p:animEffect transition="in" filter="dissolve">
                                      <p:cBhvr>
                                        <p:cTn id="7" dur="500"/>
                                        <p:tgtEl>
                                          <p:spTgt spid="11">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1">
                                            <p:txEl>
                                              <p:pRg st="5" end="5"/>
                                            </p:txEl>
                                          </p:spTgt>
                                        </p:tgtEl>
                                        <p:attrNameLst>
                                          <p:attrName>style.visibility</p:attrName>
                                        </p:attrNameLst>
                                      </p:cBhvr>
                                      <p:to>
                                        <p:strVal val="visible"/>
                                      </p:to>
                                    </p:set>
                                    <p:animEffect transition="in" filter="dissolve">
                                      <p:cBhvr>
                                        <p:cTn id="10" dur="500"/>
                                        <p:tgtEl>
                                          <p:spTgt spid="11">
                                            <p:txEl>
                                              <p:pRg st="5" end="5"/>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1">
                                            <p:txEl>
                                              <p:pRg st="6" end="6"/>
                                            </p:txEl>
                                          </p:spTgt>
                                        </p:tgtEl>
                                        <p:attrNameLst>
                                          <p:attrName>style.visibility</p:attrName>
                                        </p:attrNameLst>
                                      </p:cBhvr>
                                      <p:to>
                                        <p:strVal val="visible"/>
                                      </p:to>
                                    </p:set>
                                    <p:animEffect transition="in" filter="dissolve">
                                      <p:cBhvr>
                                        <p:cTn id="13" dur="500"/>
                                        <p:tgtEl>
                                          <p:spTgt spid="11">
                                            <p:txEl>
                                              <p:pRg st="6" end="6"/>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1">
                                            <p:txEl>
                                              <p:pRg st="7" end="7"/>
                                            </p:txEl>
                                          </p:spTgt>
                                        </p:tgtEl>
                                        <p:attrNameLst>
                                          <p:attrName>style.visibility</p:attrName>
                                        </p:attrNameLst>
                                      </p:cBhvr>
                                      <p:to>
                                        <p:strVal val="visible"/>
                                      </p:to>
                                    </p:set>
                                    <p:animEffect transition="in" filter="dissolve">
                                      <p:cBhvr>
                                        <p:cTn id="16" dur="500"/>
                                        <p:tgtEl>
                                          <p:spTgt spid="11">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16"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amond(in)">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1">
                                            <p:txEl>
                                              <p:pRg st="8" end="8"/>
                                            </p:txEl>
                                          </p:spTgt>
                                        </p:tgtEl>
                                        <p:attrNameLst>
                                          <p:attrName>style.visibility</p:attrName>
                                        </p:attrNameLst>
                                      </p:cBhvr>
                                      <p:to>
                                        <p:strVal val="visible"/>
                                      </p:to>
                                    </p:set>
                                    <p:animEffect transition="in" filter="dissolve">
                                      <p:cBhvr>
                                        <p:cTn id="26" dur="500"/>
                                        <p:tgtEl>
                                          <p:spTgt spid="11">
                                            <p:txEl>
                                              <p:pRg st="8" end="8"/>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11">
                                            <p:txEl>
                                              <p:pRg st="9" end="9"/>
                                            </p:txEl>
                                          </p:spTgt>
                                        </p:tgtEl>
                                        <p:attrNameLst>
                                          <p:attrName>style.visibility</p:attrName>
                                        </p:attrNameLst>
                                      </p:cBhvr>
                                      <p:to>
                                        <p:strVal val="visible"/>
                                      </p:to>
                                    </p:set>
                                    <p:animEffect transition="in" filter="dissolve">
                                      <p:cBhvr>
                                        <p:cTn id="29" dur="500"/>
                                        <p:tgtEl>
                                          <p:spTgt spid="11">
                                            <p:txEl>
                                              <p:pRg st="9" end="9"/>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11">
                                            <p:txEl>
                                              <p:pRg st="10" end="10"/>
                                            </p:txEl>
                                          </p:spTgt>
                                        </p:tgtEl>
                                        <p:attrNameLst>
                                          <p:attrName>style.visibility</p:attrName>
                                        </p:attrNameLst>
                                      </p:cBhvr>
                                      <p:to>
                                        <p:strVal val="visible"/>
                                      </p:to>
                                    </p:set>
                                    <p:animEffect transition="in" filter="dissolve">
                                      <p:cBhvr>
                                        <p:cTn id="32" dur="500"/>
                                        <p:tgtEl>
                                          <p:spTgt spid="11">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1">
                                            <p:txEl>
                                              <p:pRg st="11" end="11"/>
                                            </p:txEl>
                                          </p:spTgt>
                                        </p:tgtEl>
                                        <p:attrNameLst>
                                          <p:attrName>style.visibility</p:attrName>
                                        </p:attrNameLst>
                                      </p:cBhvr>
                                      <p:to>
                                        <p:strVal val="visible"/>
                                      </p:to>
                                    </p:set>
                                    <p:animEffect transition="in" filter="dissolve">
                                      <p:cBhvr>
                                        <p:cTn id="37" dur="500"/>
                                        <p:tgtEl>
                                          <p:spTgt spid="11">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2</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手</a:t>
            </a: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3</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球</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pic>
        <p:nvPicPr>
          <p:cNvPr id="9"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23471" y="1097829"/>
            <a:ext cx="4988762" cy="5126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38648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3.4.2 </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显示二维图形</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5"/>
          <p:cNvSpPr>
            <a:spLocks noChangeArrowheads="1"/>
          </p:cNvSpPr>
          <p:nvPr/>
        </p:nvSpPr>
        <p:spPr bwMode="auto">
          <a:xfrm>
            <a:off x="1469303" y="1503415"/>
            <a:ext cx="843947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50900" eaLnBrk="1" hangingPunct="1">
              <a:spcBef>
                <a:spcPct val="50000"/>
              </a:spcBef>
              <a:buClr>
                <a:srgbClr val="FFFF66"/>
              </a:buClr>
              <a:buFont typeface="Wingdings" pitchFamily="2" charset="2"/>
              <a:buNone/>
            </a:pPr>
            <a:r>
              <a:rPr kumimoji="1" lang="zh-CN" altLang="en-US" sz="3600" b="1">
                <a:solidFill>
                  <a:schemeClr val="tx1"/>
                </a:solidFill>
                <a:latin typeface="Times New Roman" pitchFamily="18" charset="0"/>
                <a:ea typeface="宋体" charset="-122"/>
              </a:rPr>
              <a:t>问题描述：</a:t>
            </a:r>
          </a:p>
          <a:p>
            <a:pPr defTabSz="850900" eaLnBrk="1" hangingPunct="1">
              <a:spcBef>
                <a:spcPct val="50000"/>
              </a:spcBef>
              <a:buClr>
                <a:srgbClr val="FFFF66"/>
              </a:buClr>
            </a:pPr>
            <a:r>
              <a:rPr kumimoji="1" lang="zh-CN" altLang="en-US" sz="3200" b="1">
                <a:solidFill>
                  <a:schemeClr val="tx1"/>
                </a:solidFill>
                <a:latin typeface="Times New Roman" pitchFamily="18" charset="0"/>
                <a:ea typeface="宋体" charset="-122"/>
              </a:rPr>
              <a:t>	在屏幕上显示下列二维图形（</a:t>
            </a:r>
            <a:r>
              <a:rPr kumimoji="1" lang="en-US" altLang="zh-CN" sz="3200" b="1">
                <a:solidFill>
                  <a:schemeClr val="tx1"/>
                </a:solidFill>
                <a:latin typeface="Times New Roman" pitchFamily="18" charset="0"/>
                <a:ea typeface="宋体" charset="-122"/>
              </a:rPr>
              <a:t>m</a:t>
            </a:r>
            <a:r>
              <a:rPr kumimoji="1" lang="zh-CN" altLang="en-US" sz="3200" b="1">
                <a:solidFill>
                  <a:schemeClr val="tx1"/>
                </a:solidFill>
                <a:latin typeface="Times New Roman" pitchFamily="18" charset="0"/>
                <a:ea typeface="宋体" charset="-122"/>
              </a:rPr>
              <a:t>行</a:t>
            </a:r>
            <a:r>
              <a:rPr kumimoji="1" lang="en-US" altLang="zh-CN" sz="3200" b="1">
                <a:solidFill>
                  <a:schemeClr val="tx1"/>
                </a:solidFill>
                <a:latin typeface="Times New Roman" pitchFamily="18" charset="0"/>
                <a:ea typeface="宋体" charset="-122"/>
              </a:rPr>
              <a:t>n</a:t>
            </a:r>
            <a:r>
              <a:rPr kumimoji="1" lang="zh-CN" altLang="en-US" sz="3200" b="1">
                <a:solidFill>
                  <a:schemeClr val="tx1"/>
                </a:solidFill>
                <a:latin typeface="Times New Roman" pitchFamily="18" charset="0"/>
                <a:ea typeface="宋体" charset="-122"/>
              </a:rPr>
              <a:t>列）</a:t>
            </a:r>
          </a:p>
        </p:txBody>
      </p:sp>
      <p:sp>
        <p:nvSpPr>
          <p:cNvPr id="11" name="Text Box 6"/>
          <p:cNvSpPr txBox="1">
            <a:spLocks noChangeArrowheads="1"/>
          </p:cNvSpPr>
          <p:nvPr/>
        </p:nvSpPr>
        <p:spPr bwMode="auto">
          <a:xfrm>
            <a:off x="3561458" y="3092331"/>
            <a:ext cx="3422650"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sz="6000" b="1">
                <a:solidFill>
                  <a:schemeClr val="tx1"/>
                </a:solidFill>
                <a:latin typeface="Times New Roman" pitchFamily="18" charset="0"/>
                <a:ea typeface="宋体" charset="-122"/>
              </a:rPr>
              <a:t>* * * * * *</a:t>
            </a:r>
          </a:p>
          <a:p>
            <a:pPr eaLnBrk="1" hangingPunct="1"/>
            <a:r>
              <a:rPr kumimoji="1" lang="zh-CN" altLang="en-US" sz="6000" b="1">
                <a:solidFill>
                  <a:schemeClr val="tx1"/>
                </a:solidFill>
                <a:latin typeface="Times New Roman" pitchFamily="18" charset="0"/>
                <a:ea typeface="宋体" charset="-122"/>
              </a:rPr>
              <a:t>* * * * * *</a:t>
            </a:r>
          </a:p>
          <a:p>
            <a:pPr eaLnBrk="1" hangingPunct="1"/>
            <a:r>
              <a:rPr kumimoji="1" lang="zh-CN" altLang="en-US" sz="6000" b="1">
                <a:solidFill>
                  <a:schemeClr val="tx1"/>
                </a:solidFill>
                <a:latin typeface="Times New Roman" pitchFamily="18" charset="0"/>
                <a:ea typeface="宋体" charset="-122"/>
              </a:rPr>
              <a:t>* * * * * *</a:t>
            </a:r>
          </a:p>
        </p:txBody>
      </p:sp>
    </p:spTree>
    <p:extLst>
      <p:ext uri="{BB962C8B-B14F-4D97-AF65-F5344CB8AC3E}">
        <p14:creationId xmlns:p14="http://schemas.microsoft.com/office/powerpoint/2010/main" val="25932509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问题分析</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2"/>
          <p:cNvSpPr>
            <a:spLocks noChangeArrowheads="1"/>
          </p:cNvSpPr>
          <p:nvPr/>
        </p:nvSpPr>
        <p:spPr bwMode="auto">
          <a:xfrm>
            <a:off x="1170035" y="1978776"/>
            <a:ext cx="927077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Times New Roman" pitchFamily="18" charset="0"/>
                <a:ea typeface="宋体" charset="-122"/>
              </a:rPr>
              <a:t>如何在同一行打印若干个*字符？</a:t>
            </a:r>
          </a:p>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Times New Roman" pitchFamily="18" charset="0"/>
                <a:ea typeface="宋体" charset="-122"/>
              </a:rPr>
              <a:t>如何打印若干行的字符？</a:t>
            </a:r>
          </a:p>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Times New Roman" pitchFamily="18" charset="0"/>
                <a:ea typeface="宋体" charset="-122"/>
              </a:rPr>
              <a:t>双重循环：循环里面再嵌套一层循环！</a:t>
            </a:r>
          </a:p>
        </p:txBody>
      </p:sp>
    </p:spTree>
    <p:extLst>
      <p:ext uri="{BB962C8B-B14F-4D97-AF65-F5344CB8AC3E}">
        <p14:creationId xmlns:p14="http://schemas.microsoft.com/office/powerpoint/2010/main" val="179932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checkerboard(across)">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checkerboard(across)">
                                      <p:cBhvr>
                                        <p:cTn id="1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嵌套的循环</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3"/>
          <p:cNvSpPr>
            <a:spLocks noChangeArrowheads="1"/>
          </p:cNvSpPr>
          <p:nvPr/>
        </p:nvSpPr>
        <p:spPr bwMode="auto">
          <a:xfrm>
            <a:off x="477838" y="1948629"/>
            <a:ext cx="7843202" cy="344709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spcBef>
                <a:spcPts val="1200"/>
              </a:spcBef>
            </a:pPr>
            <a:r>
              <a:rPr kumimoji="1" lang="en-US" altLang="zh-CN" sz="2800" b="1">
                <a:solidFill>
                  <a:schemeClr val="tx1"/>
                </a:solidFill>
                <a:latin typeface="Times New Roman" pitchFamily="18" charset="0"/>
                <a:ea typeface="宋体" charset="-122"/>
              </a:rPr>
              <a:t>m = 3</a:t>
            </a:r>
          </a:p>
          <a:p>
            <a:pPr eaLnBrk="1" hangingPunct="1">
              <a:spcBef>
                <a:spcPts val="1200"/>
              </a:spcBef>
            </a:pPr>
            <a:r>
              <a:rPr kumimoji="1" lang="en-US" altLang="zh-CN" sz="2800" b="1">
                <a:solidFill>
                  <a:schemeClr val="tx1"/>
                </a:solidFill>
                <a:latin typeface="Times New Roman" pitchFamily="18" charset="0"/>
                <a:ea typeface="宋体" charset="-122"/>
              </a:rPr>
              <a:t>n = 6	</a:t>
            </a:r>
          </a:p>
          <a:p>
            <a:pPr eaLnBrk="1" hangingPunct="1">
              <a:spcBef>
                <a:spcPts val="1200"/>
              </a:spcBef>
            </a:pPr>
            <a:r>
              <a:rPr kumimoji="1" lang="en-US" altLang="zh-CN" sz="2800" b="1">
                <a:solidFill>
                  <a:schemeClr val="tx1"/>
                </a:solidFill>
                <a:latin typeface="Times New Roman" pitchFamily="18" charset="0"/>
                <a:ea typeface="宋体" charset="-122"/>
              </a:rPr>
              <a:t>for i in range(m):                   </a:t>
            </a:r>
            <a:r>
              <a:rPr kumimoji="1" lang="en-US" altLang="zh-CN" sz="2800" b="1">
                <a:solidFill>
                  <a:srgbClr val="00B050"/>
                </a:solidFill>
                <a:latin typeface="Times New Roman" pitchFamily="18" charset="0"/>
                <a:ea typeface="宋体" charset="-122"/>
              </a:rPr>
              <a:t># </a:t>
            </a:r>
            <a:r>
              <a:rPr kumimoji="1" lang="zh-CN" altLang="en-US" sz="2800" b="1">
                <a:solidFill>
                  <a:srgbClr val="00B050"/>
                </a:solidFill>
                <a:latin typeface="Times New Roman" pitchFamily="18" charset="0"/>
                <a:ea typeface="宋体" charset="-122"/>
              </a:rPr>
              <a:t>外循环，打印</a:t>
            </a:r>
            <a:r>
              <a:rPr kumimoji="1" lang="en-US" altLang="zh-CN" sz="2800" b="1">
                <a:solidFill>
                  <a:srgbClr val="00B050"/>
                </a:solidFill>
                <a:latin typeface="Times New Roman" pitchFamily="18" charset="0"/>
                <a:ea typeface="宋体" charset="-122"/>
              </a:rPr>
              <a:t>m</a:t>
            </a:r>
            <a:r>
              <a:rPr kumimoji="1" lang="zh-CN" altLang="en-US" sz="2800" b="1">
                <a:solidFill>
                  <a:srgbClr val="00B050"/>
                </a:solidFill>
                <a:latin typeface="Times New Roman" pitchFamily="18" charset="0"/>
                <a:ea typeface="宋体" charset="-122"/>
              </a:rPr>
              <a:t>行</a:t>
            </a:r>
            <a:endParaRPr kumimoji="1" lang="en-US" altLang="zh-CN" sz="2800" b="1">
              <a:solidFill>
                <a:srgbClr val="00B050"/>
              </a:solidFill>
              <a:latin typeface="Times New Roman" pitchFamily="18" charset="0"/>
              <a:ea typeface="宋体" charset="-122"/>
            </a:endParaRPr>
          </a:p>
          <a:p>
            <a:pPr eaLnBrk="1" hangingPunct="1">
              <a:spcBef>
                <a:spcPts val="1200"/>
              </a:spcBef>
            </a:pPr>
            <a:r>
              <a:rPr kumimoji="1" lang="en-US" altLang="zh-CN" sz="2800" b="1">
                <a:solidFill>
                  <a:schemeClr val="tx1"/>
                </a:solidFill>
                <a:latin typeface="Times New Roman" pitchFamily="18" charset="0"/>
                <a:ea typeface="宋体" charset="-122"/>
              </a:rPr>
              <a:t>        for j in range(n):            </a:t>
            </a:r>
            <a:r>
              <a:rPr kumimoji="1" lang="en-US" altLang="zh-CN" sz="2800" b="1">
                <a:solidFill>
                  <a:srgbClr val="00B050"/>
                </a:solidFill>
                <a:latin typeface="Times New Roman" pitchFamily="18" charset="0"/>
                <a:ea typeface="宋体" charset="-122"/>
              </a:rPr>
              <a:t># </a:t>
            </a:r>
            <a:r>
              <a:rPr kumimoji="1" lang="zh-CN" altLang="en-US" sz="2800" b="1">
                <a:solidFill>
                  <a:srgbClr val="00B050"/>
                </a:solidFill>
                <a:latin typeface="Times New Roman" pitchFamily="18" charset="0"/>
                <a:ea typeface="宋体" charset="-122"/>
              </a:rPr>
              <a:t>内循环，每行</a:t>
            </a:r>
            <a:r>
              <a:rPr kumimoji="1" lang="en-US" altLang="zh-CN" sz="2800" b="1">
                <a:solidFill>
                  <a:srgbClr val="00B050"/>
                </a:solidFill>
                <a:latin typeface="Times New Roman" pitchFamily="18" charset="0"/>
                <a:ea typeface="宋体" charset="-122"/>
              </a:rPr>
              <a:t>n</a:t>
            </a:r>
            <a:r>
              <a:rPr kumimoji="1" lang="zh-CN" altLang="en-US" sz="2800" b="1">
                <a:solidFill>
                  <a:srgbClr val="00B050"/>
                </a:solidFill>
                <a:latin typeface="Times New Roman" pitchFamily="18" charset="0"/>
                <a:ea typeface="宋体" charset="-122"/>
              </a:rPr>
              <a:t>列</a:t>
            </a:r>
            <a:endParaRPr kumimoji="1" lang="en-US" altLang="zh-CN" sz="2800" b="1">
              <a:solidFill>
                <a:srgbClr val="00B050"/>
              </a:solidFill>
              <a:latin typeface="Times New Roman" pitchFamily="18" charset="0"/>
              <a:ea typeface="宋体" charset="-122"/>
            </a:endParaRPr>
          </a:p>
          <a:p>
            <a:pPr>
              <a:spcBef>
                <a:spcPts val="1200"/>
              </a:spcBef>
            </a:pPr>
            <a:r>
              <a:rPr kumimoji="1" lang="en-US" altLang="zh-CN" sz="2800" b="1">
                <a:solidFill>
                  <a:schemeClr val="tx1"/>
                </a:solidFill>
                <a:latin typeface="Times New Roman" pitchFamily="18" charset="0"/>
                <a:ea typeface="宋体" charset="-122"/>
              </a:rPr>
              <a:t>                print(</a:t>
            </a:r>
            <a:r>
              <a:rPr kumimoji="1" lang="en-US" altLang="zh-CN" sz="2800" b="1">
                <a:latin typeface="Times New Roman" pitchFamily="18" charset="0"/>
                <a:ea typeface="宋体" charset="-122"/>
              </a:rPr>
              <a:t>"</a:t>
            </a:r>
            <a:r>
              <a:rPr kumimoji="1" lang="en-US" altLang="zh-CN" sz="2800" b="1">
                <a:solidFill>
                  <a:schemeClr val="tx1"/>
                </a:solidFill>
                <a:latin typeface="Times New Roman" pitchFamily="18" charset="0"/>
                <a:ea typeface="宋体" charset="-122"/>
              </a:rPr>
              <a:t>*</a:t>
            </a:r>
            <a:r>
              <a:rPr kumimoji="1" lang="en-US" altLang="zh-CN" sz="2800" b="1">
                <a:latin typeface="Times New Roman" pitchFamily="18" charset="0"/>
                <a:ea typeface="宋体" charset="-122"/>
              </a:rPr>
              <a:t>", end=''</a:t>
            </a:r>
            <a:r>
              <a:rPr kumimoji="1" lang="en-US" altLang="zh-CN" sz="2800" b="1">
                <a:solidFill>
                  <a:schemeClr val="tx1"/>
                </a:solidFill>
                <a:latin typeface="Times New Roman" pitchFamily="18" charset="0"/>
                <a:ea typeface="宋体" charset="-122"/>
              </a:rPr>
              <a:t>)</a:t>
            </a:r>
          </a:p>
          <a:p>
            <a:pPr>
              <a:spcBef>
                <a:spcPts val="1200"/>
              </a:spcBef>
            </a:pPr>
            <a:r>
              <a:rPr kumimoji="1" lang="en-US" altLang="zh-CN" sz="2800" b="1">
                <a:solidFill>
                  <a:schemeClr val="tx1"/>
                </a:solidFill>
                <a:latin typeface="Times New Roman" pitchFamily="18" charset="0"/>
                <a:ea typeface="宋体" charset="-122"/>
              </a:rPr>
              <a:t>        print("\n</a:t>
            </a:r>
            <a:r>
              <a:rPr kumimoji="1" lang="en-US" altLang="zh-CN" sz="2800" b="1">
                <a:latin typeface="Times New Roman" pitchFamily="18" charset="0"/>
                <a:ea typeface="宋体" charset="-122"/>
              </a:rPr>
              <a:t>"</a:t>
            </a:r>
            <a:r>
              <a:rPr kumimoji="1" lang="en-US" altLang="zh-CN" sz="2800" b="1">
                <a:solidFill>
                  <a:schemeClr val="tx1"/>
                </a:solidFill>
                <a:latin typeface="Times New Roman" pitchFamily="18" charset="0"/>
                <a:ea typeface="宋体" charset="-122"/>
              </a:rPr>
              <a:t>)	                   </a:t>
            </a:r>
            <a:r>
              <a:rPr kumimoji="1" lang="en-US" altLang="zh-CN" sz="2800" b="1">
                <a:solidFill>
                  <a:srgbClr val="00B050"/>
                </a:solidFill>
                <a:latin typeface="Times New Roman" pitchFamily="18" charset="0"/>
                <a:ea typeface="宋体" charset="-122"/>
              </a:rPr>
              <a:t># </a:t>
            </a:r>
            <a:r>
              <a:rPr kumimoji="1" lang="zh-CN" altLang="en-US" sz="2800" b="1">
                <a:solidFill>
                  <a:srgbClr val="00B050"/>
                </a:solidFill>
                <a:latin typeface="Times New Roman" pitchFamily="18" charset="0"/>
                <a:ea typeface="宋体" charset="-122"/>
              </a:rPr>
              <a:t>换行</a:t>
            </a:r>
          </a:p>
        </p:txBody>
      </p:sp>
      <p:sp>
        <p:nvSpPr>
          <p:cNvPr id="11" name="Rectangle 6"/>
          <p:cNvSpPr>
            <a:spLocks noChangeArrowheads="1"/>
          </p:cNvSpPr>
          <p:nvPr/>
        </p:nvSpPr>
        <p:spPr bwMode="auto">
          <a:xfrm>
            <a:off x="8811576" y="2500251"/>
            <a:ext cx="2438400" cy="2246312"/>
          </a:xfrm>
          <a:prstGeom prst="rect">
            <a:avLst/>
          </a:prstGeom>
          <a:solidFill>
            <a:srgbClr val="000000"/>
          </a:solidFill>
          <a:ln w="9525">
            <a:solidFill>
              <a:schemeClr val="tx1"/>
            </a:solidFill>
            <a:miter lim="800000"/>
            <a:headEnd/>
            <a:tailEnd/>
          </a:ln>
        </p:spPr>
        <p:txBody>
          <a:bodyPr>
            <a:spAutoFit/>
          </a:bodyPr>
          <a:lstStyle/>
          <a:p>
            <a:pPr marL="457200" indent="-457200" eaLnBrk="1" hangingPunct="1">
              <a:spcBef>
                <a:spcPct val="70000"/>
              </a:spcBef>
            </a:pPr>
            <a:r>
              <a:rPr kumimoji="1" lang="zh-CN" altLang="en-US" b="1">
                <a:solidFill>
                  <a:srgbClr val="FFFFFF"/>
                </a:solidFill>
                <a:latin typeface="Times New Roman" pitchFamily="18" charset="0"/>
                <a:ea typeface="宋体" charset="-122"/>
              </a:rPr>
              <a:t> </a:t>
            </a:r>
          </a:p>
          <a:p>
            <a:pPr marL="457200" indent="-457200" eaLnBrk="1" hangingPunct="1">
              <a:spcBef>
                <a:spcPct val="70000"/>
              </a:spcBef>
            </a:pPr>
            <a:r>
              <a:rPr kumimoji="1" lang="zh-CN" altLang="en-US" b="1">
                <a:solidFill>
                  <a:srgbClr val="FFFFFF"/>
                </a:solidFill>
                <a:latin typeface="Times New Roman" pitchFamily="18" charset="0"/>
                <a:ea typeface="宋体" charset="-122"/>
              </a:rPr>
              <a:t> </a:t>
            </a:r>
          </a:p>
          <a:p>
            <a:pPr marL="457200" indent="-457200" eaLnBrk="1" hangingPunct="1">
              <a:spcBef>
                <a:spcPct val="70000"/>
              </a:spcBef>
            </a:pPr>
            <a:r>
              <a:rPr kumimoji="1" lang="zh-CN" altLang="en-US" b="1">
                <a:solidFill>
                  <a:srgbClr val="FFFFFF"/>
                </a:solidFill>
                <a:latin typeface="Times New Roman" pitchFamily="18" charset="0"/>
                <a:ea typeface="宋体" charset="-122"/>
              </a:rPr>
              <a:t> </a:t>
            </a:r>
          </a:p>
        </p:txBody>
      </p:sp>
      <p:sp>
        <p:nvSpPr>
          <p:cNvPr id="12" name="Rectangle 5"/>
          <p:cNvSpPr>
            <a:spLocks noChangeArrowheads="1"/>
          </p:cNvSpPr>
          <p:nvPr/>
        </p:nvSpPr>
        <p:spPr bwMode="auto">
          <a:xfrm>
            <a:off x="8811576" y="2500251"/>
            <a:ext cx="2438400" cy="2259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eaLnBrk="1" hangingPunct="1">
              <a:spcBef>
                <a:spcPct val="70000"/>
              </a:spcBef>
            </a:pPr>
            <a:r>
              <a:rPr kumimoji="1" lang="zh-CN" altLang="en-US" sz="3200" b="1">
                <a:solidFill>
                  <a:srgbClr val="FFFFFF"/>
                </a:solidFill>
                <a:latin typeface="Times New Roman" pitchFamily="18" charset="0"/>
                <a:ea typeface="宋体" charset="-122"/>
              </a:rPr>
              <a:t>* * * * * *</a:t>
            </a:r>
          </a:p>
          <a:p>
            <a:pPr marL="457200" indent="-457200" eaLnBrk="1" hangingPunct="1">
              <a:spcBef>
                <a:spcPct val="70000"/>
              </a:spcBef>
            </a:pPr>
            <a:r>
              <a:rPr kumimoji="1" lang="zh-CN" altLang="en-US" sz="3200" b="1">
                <a:solidFill>
                  <a:srgbClr val="FFFFFF"/>
                </a:solidFill>
                <a:latin typeface="Times New Roman" pitchFamily="18" charset="0"/>
                <a:ea typeface="宋体" charset="-122"/>
              </a:rPr>
              <a:t>* * * * * *</a:t>
            </a:r>
          </a:p>
          <a:p>
            <a:pPr marL="457200" indent="-457200" eaLnBrk="1" hangingPunct="1">
              <a:spcBef>
                <a:spcPct val="70000"/>
              </a:spcBef>
            </a:pPr>
            <a:r>
              <a:rPr kumimoji="1" lang="zh-CN" altLang="en-US" sz="3200" b="1">
                <a:solidFill>
                  <a:srgbClr val="FFFFFF"/>
                </a:solidFill>
                <a:latin typeface="Times New Roman" pitchFamily="18" charset="0"/>
                <a:ea typeface="宋体" charset="-122"/>
              </a:rPr>
              <a:t>* * * * * *</a:t>
            </a:r>
          </a:p>
        </p:txBody>
      </p:sp>
    </p:spTree>
    <p:extLst>
      <p:ext uri="{BB962C8B-B14F-4D97-AF65-F5344CB8AC3E}">
        <p14:creationId xmlns:p14="http://schemas.microsoft.com/office/powerpoint/2010/main" val="1477221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iterate type="lt">
                                    <p:tmPct val="100000"/>
                                  </p:iterate>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dissolve">
                                      <p:cBhvr>
                                        <p:cTn id="12" dur="500"/>
                                        <p:tgtEl>
                                          <p:spTgt spid="12">
                                            <p:txEl>
                                              <p:pRg st="0" end="0"/>
                                            </p:txEl>
                                          </p:spTgt>
                                        </p:tgtEl>
                                      </p:cBhvr>
                                    </p:animEffect>
                                  </p:childTnLst>
                                </p:cTn>
                              </p:par>
                            </p:childTnLst>
                          </p:cTn>
                        </p:par>
                        <p:par>
                          <p:cTn id="13" fill="hold">
                            <p:stCondLst>
                              <p:cond delay="3000"/>
                            </p:stCondLst>
                            <p:childTnLst>
                              <p:par>
                                <p:cTn id="14" presetID="9" presetClass="entr" presetSubtype="0" fill="hold" nodeType="afterEffect">
                                  <p:stCondLst>
                                    <p:cond delay="0"/>
                                  </p:stCondLst>
                                  <p:iterate type="lt">
                                    <p:tmPct val="100000"/>
                                  </p:iterate>
                                  <p:childTnLst>
                                    <p:set>
                                      <p:cBhvr>
                                        <p:cTn id="15" dur="1" fill="hold">
                                          <p:stCondLst>
                                            <p:cond delay="0"/>
                                          </p:stCondLst>
                                        </p:cTn>
                                        <p:tgtEl>
                                          <p:spTgt spid="12">
                                            <p:txEl>
                                              <p:pRg st="1" end="1"/>
                                            </p:txEl>
                                          </p:spTgt>
                                        </p:tgtEl>
                                        <p:attrNameLst>
                                          <p:attrName>style.visibility</p:attrName>
                                        </p:attrNameLst>
                                      </p:cBhvr>
                                      <p:to>
                                        <p:strVal val="visible"/>
                                      </p:to>
                                    </p:set>
                                    <p:animEffect transition="in" filter="dissolve">
                                      <p:cBhvr>
                                        <p:cTn id="16" dur="500"/>
                                        <p:tgtEl>
                                          <p:spTgt spid="12">
                                            <p:txEl>
                                              <p:pRg st="1" end="1"/>
                                            </p:txEl>
                                          </p:spTgt>
                                        </p:tgtEl>
                                      </p:cBhvr>
                                    </p:animEffect>
                                  </p:childTnLst>
                                </p:cTn>
                              </p:par>
                            </p:childTnLst>
                          </p:cTn>
                        </p:par>
                        <p:par>
                          <p:cTn id="17" fill="hold">
                            <p:stCondLst>
                              <p:cond delay="6000"/>
                            </p:stCondLst>
                            <p:childTnLst>
                              <p:par>
                                <p:cTn id="18" presetID="9" presetClass="entr" presetSubtype="0" fill="hold" nodeType="afterEffect">
                                  <p:stCondLst>
                                    <p:cond delay="0"/>
                                  </p:stCondLst>
                                  <p:iterate type="lt">
                                    <p:tmPct val="100000"/>
                                  </p:iterate>
                                  <p:childTnLst>
                                    <p:set>
                                      <p:cBhvr>
                                        <p:cTn id="19" dur="1" fill="hold">
                                          <p:stCondLst>
                                            <p:cond delay="0"/>
                                          </p:stCondLst>
                                        </p:cTn>
                                        <p:tgtEl>
                                          <p:spTgt spid="12">
                                            <p:txEl>
                                              <p:pRg st="2" end="2"/>
                                            </p:txEl>
                                          </p:spTgt>
                                        </p:tgtEl>
                                        <p:attrNameLst>
                                          <p:attrName>style.visibility</p:attrName>
                                        </p:attrNameLst>
                                      </p:cBhvr>
                                      <p:to>
                                        <p:strVal val="visible"/>
                                      </p:to>
                                    </p:set>
                                    <p:animEffect transition="in" filter="dissolve">
                                      <p:cBhvr>
                                        <p:cTn id="20"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noProof="0">
                <a:solidFill>
                  <a:schemeClr val="accent2"/>
                </a:solidFill>
                <a:latin typeface="隶书" pitchFamily="49" charset="-122"/>
                <a:ea typeface="隶书" pitchFamily="49" charset="-122"/>
              </a:rPr>
              <a:t>另一个</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二维图形</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5"/>
          <p:cNvSpPr>
            <a:spLocks noChangeArrowheads="1"/>
          </p:cNvSpPr>
          <p:nvPr/>
        </p:nvSpPr>
        <p:spPr bwMode="auto">
          <a:xfrm>
            <a:off x="1469303" y="1503415"/>
            <a:ext cx="843947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850900" eaLnBrk="1" hangingPunct="1">
              <a:spcBef>
                <a:spcPct val="50000"/>
              </a:spcBef>
              <a:buClr>
                <a:srgbClr val="FFFF66"/>
              </a:buClr>
              <a:buFont typeface="Wingdings" pitchFamily="2" charset="2"/>
              <a:buNone/>
            </a:pPr>
            <a:r>
              <a:rPr kumimoji="1" lang="zh-CN" altLang="en-US" sz="3600" b="1">
                <a:solidFill>
                  <a:schemeClr val="tx1"/>
                </a:solidFill>
                <a:latin typeface="Times New Roman" pitchFamily="18" charset="0"/>
                <a:ea typeface="宋体" charset="-122"/>
              </a:rPr>
              <a:t>问题描述：</a:t>
            </a:r>
          </a:p>
          <a:p>
            <a:pPr defTabSz="850900" eaLnBrk="1" hangingPunct="1">
              <a:spcBef>
                <a:spcPct val="50000"/>
              </a:spcBef>
              <a:buClr>
                <a:srgbClr val="FFFF66"/>
              </a:buClr>
            </a:pPr>
            <a:r>
              <a:rPr kumimoji="1" lang="zh-CN" altLang="en-US" sz="3200" b="1">
                <a:solidFill>
                  <a:schemeClr val="tx1"/>
                </a:solidFill>
                <a:latin typeface="Times New Roman" pitchFamily="18" charset="0"/>
                <a:ea typeface="宋体" charset="-122"/>
              </a:rPr>
              <a:t>	在屏幕上显示下列二维图形（</a:t>
            </a:r>
            <a:r>
              <a:rPr kumimoji="1" lang="en-US" altLang="zh-CN" sz="3200" b="1">
                <a:solidFill>
                  <a:schemeClr val="tx1"/>
                </a:solidFill>
                <a:latin typeface="Times New Roman" pitchFamily="18" charset="0"/>
                <a:ea typeface="宋体" charset="-122"/>
              </a:rPr>
              <a:t>N=5</a:t>
            </a:r>
            <a:r>
              <a:rPr kumimoji="1" lang="zh-CN" altLang="en-US" sz="3200" b="1">
                <a:solidFill>
                  <a:schemeClr val="tx1"/>
                </a:solidFill>
                <a:latin typeface="Times New Roman" pitchFamily="18" charset="0"/>
                <a:ea typeface="宋体" charset="-122"/>
              </a:rPr>
              <a:t>）</a:t>
            </a:r>
          </a:p>
        </p:txBody>
      </p:sp>
      <p:sp>
        <p:nvSpPr>
          <p:cNvPr id="9" name="Text Box 4"/>
          <p:cNvSpPr txBox="1">
            <a:spLocks noChangeArrowheads="1"/>
          </p:cNvSpPr>
          <p:nvPr/>
        </p:nvSpPr>
        <p:spPr bwMode="auto">
          <a:xfrm>
            <a:off x="4232305" y="3124371"/>
            <a:ext cx="1708150" cy="31400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sz="4000" b="1">
                <a:solidFill>
                  <a:srgbClr val="FFFFFF"/>
                </a:solidFill>
                <a:latin typeface="Courier New" pitchFamily="49" charset="0"/>
                <a:ea typeface="宋体" charset="-122"/>
              </a:rPr>
              <a:t>    </a:t>
            </a:r>
            <a:r>
              <a:rPr kumimoji="1" lang="en-US" altLang="zh-CN" sz="4000" b="1">
                <a:solidFill>
                  <a:srgbClr val="FFFFFF"/>
                </a:solidFill>
                <a:latin typeface="Courier New" pitchFamily="49" charset="0"/>
                <a:ea typeface="宋体" charset="-122"/>
              </a:rPr>
              <a:t>1</a:t>
            </a:r>
          </a:p>
          <a:p>
            <a:pPr eaLnBrk="1" hangingPunct="1"/>
            <a:r>
              <a:rPr kumimoji="1" lang="en-US" altLang="zh-CN" sz="4000" b="1">
                <a:solidFill>
                  <a:srgbClr val="FFFFFF"/>
                </a:solidFill>
                <a:latin typeface="Courier New" pitchFamily="49" charset="0"/>
                <a:ea typeface="宋体" charset="-122"/>
              </a:rPr>
              <a:t>   22</a:t>
            </a:r>
          </a:p>
          <a:p>
            <a:pPr eaLnBrk="1" hangingPunct="1"/>
            <a:r>
              <a:rPr kumimoji="1" lang="en-US" altLang="zh-CN" sz="4000" b="1">
                <a:solidFill>
                  <a:srgbClr val="FFFFFF"/>
                </a:solidFill>
                <a:latin typeface="Courier New" pitchFamily="49" charset="0"/>
                <a:ea typeface="宋体" charset="-122"/>
              </a:rPr>
              <a:t>  333</a:t>
            </a:r>
          </a:p>
          <a:p>
            <a:pPr eaLnBrk="1" hangingPunct="1"/>
            <a:r>
              <a:rPr kumimoji="1" lang="en-US" altLang="zh-CN" sz="4000" b="1">
                <a:solidFill>
                  <a:srgbClr val="FFFFFF"/>
                </a:solidFill>
                <a:latin typeface="Courier New" pitchFamily="49" charset="0"/>
                <a:ea typeface="宋体" charset="-122"/>
              </a:rPr>
              <a:t> 4444</a:t>
            </a:r>
          </a:p>
          <a:p>
            <a:pPr eaLnBrk="1" hangingPunct="1"/>
            <a:r>
              <a:rPr kumimoji="1" lang="en-US" altLang="zh-CN" sz="4000" b="1">
                <a:solidFill>
                  <a:srgbClr val="FFFFFF"/>
                </a:solidFill>
                <a:latin typeface="Courier New" pitchFamily="49" charset="0"/>
                <a:ea typeface="宋体" charset="-122"/>
              </a:rPr>
              <a:t>55555</a:t>
            </a:r>
          </a:p>
        </p:txBody>
      </p:sp>
      <p:sp>
        <p:nvSpPr>
          <p:cNvPr id="12" name="Text Box 6"/>
          <p:cNvSpPr txBox="1">
            <a:spLocks noChangeArrowheads="1"/>
          </p:cNvSpPr>
          <p:nvPr/>
        </p:nvSpPr>
        <p:spPr bwMode="auto">
          <a:xfrm>
            <a:off x="7656022" y="4114970"/>
            <a:ext cx="22240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b="1">
                <a:solidFill>
                  <a:srgbClr val="0000FF"/>
                </a:solidFill>
                <a:latin typeface="Times New Roman" pitchFamily="18" charset="0"/>
                <a:ea typeface="宋体" charset="-122"/>
              </a:rPr>
              <a:t>有何规律？</a:t>
            </a:r>
          </a:p>
        </p:txBody>
      </p:sp>
    </p:spTree>
    <p:extLst>
      <p:ext uri="{BB962C8B-B14F-4D97-AF65-F5344CB8AC3E}">
        <p14:creationId xmlns:p14="http://schemas.microsoft.com/office/powerpoint/2010/main" val="204021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文本占位符 5"/>
          <p:cNvSpPr txBox="1"/>
          <p:nvPr/>
        </p:nvSpPr>
        <p:spPr>
          <a:xfrm>
            <a:off x="1237563" y="98987"/>
            <a:ext cx="6709403"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参考代码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0" name="Rectangle 2"/>
          <p:cNvSpPr>
            <a:spLocks noChangeArrowheads="1"/>
          </p:cNvSpPr>
          <p:nvPr/>
        </p:nvSpPr>
        <p:spPr bwMode="auto">
          <a:xfrm>
            <a:off x="1192756" y="1293285"/>
            <a:ext cx="6895528" cy="486287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spcBef>
                <a:spcPct val="50000"/>
              </a:spcBef>
            </a:pPr>
            <a:r>
              <a:rPr kumimoji="1" lang="en-US" altLang="zh-CN" sz="2800" b="1">
                <a:solidFill>
                  <a:schemeClr val="tx1"/>
                </a:solidFill>
                <a:latin typeface="Times New Roman" pitchFamily="18" charset="0"/>
                <a:ea typeface="宋体" charset="-122"/>
              </a:rPr>
              <a:t>N = 5	</a:t>
            </a:r>
          </a:p>
          <a:p>
            <a:pPr eaLnBrk="1" hangingPunct="1">
              <a:spcBef>
                <a:spcPts val="1800"/>
              </a:spcBef>
            </a:pPr>
            <a:r>
              <a:rPr kumimoji="1" lang="en-US" altLang="zh-CN" sz="2800" b="1">
                <a:solidFill>
                  <a:schemeClr val="tx1"/>
                </a:solidFill>
                <a:latin typeface="Times New Roman" pitchFamily="18" charset="0"/>
                <a:ea typeface="宋体" charset="-122"/>
              </a:rPr>
              <a:t>for _________________  :  </a:t>
            </a:r>
            <a:r>
              <a:rPr kumimoji="1" lang="en-US" altLang="zh-CN" sz="2800" b="1">
                <a:solidFill>
                  <a:srgbClr val="00B050"/>
                </a:solidFill>
                <a:latin typeface="Times New Roman" pitchFamily="18" charset="0"/>
                <a:ea typeface="宋体" charset="-122"/>
              </a:rPr>
              <a:t># i</a:t>
            </a:r>
          </a:p>
          <a:p>
            <a:pPr eaLnBrk="1" hangingPunct="1">
              <a:spcBef>
                <a:spcPts val="1800"/>
              </a:spcBef>
            </a:pPr>
            <a:r>
              <a:rPr kumimoji="1" lang="en-US" altLang="zh-CN" sz="2800" b="1">
                <a:solidFill>
                  <a:schemeClr val="tx1"/>
                </a:solidFill>
                <a:latin typeface="Times New Roman" pitchFamily="18" charset="0"/>
                <a:ea typeface="宋体" charset="-122"/>
              </a:rPr>
              <a:t>        for ___________________:  </a:t>
            </a:r>
            <a:r>
              <a:rPr kumimoji="1" lang="en-US" altLang="zh-CN" sz="2800" b="1">
                <a:solidFill>
                  <a:srgbClr val="00B050"/>
                </a:solidFill>
                <a:latin typeface="Times New Roman" pitchFamily="18" charset="0"/>
                <a:ea typeface="宋体" charset="-122"/>
              </a:rPr>
              <a:t># j</a:t>
            </a:r>
          </a:p>
          <a:p>
            <a:pPr eaLnBrk="1" hangingPunct="1">
              <a:spcBef>
                <a:spcPct val="50000"/>
              </a:spcBef>
            </a:pPr>
            <a:r>
              <a:rPr kumimoji="1" lang="en-US" altLang="zh-CN" sz="2800" b="1">
                <a:solidFill>
                  <a:schemeClr val="tx1"/>
                </a:solidFill>
                <a:latin typeface="Times New Roman" pitchFamily="18" charset="0"/>
                <a:ea typeface="宋体" charset="-122"/>
              </a:rPr>
              <a:t>              _________________</a:t>
            </a:r>
          </a:p>
          <a:p>
            <a:pPr eaLnBrk="1" hangingPunct="1">
              <a:spcBef>
                <a:spcPct val="50000"/>
              </a:spcBef>
            </a:pPr>
            <a:r>
              <a:rPr kumimoji="1" lang="en-US" altLang="zh-CN" sz="2800" b="1">
                <a:solidFill>
                  <a:schemeClr val="tx1"/>
                </a:solidFill>
                <a:latin typeface="Times New Roman" pitchFamily="18" charset="0"/>
                <a:ea typeface="宋体" charset="-122"/>
              </a:rPr>
              <a:t>        for _________________ :</a:t>
            </a:r>
          </a:p>
          <a:p>
            <a:pPr eaLnBrk="1" hangingPunct="1">
              <a:spcBef>
                <a:spcPct val="50000"/>
              </a:spcBef>
            </a:pPr>
            <a:r>
              <a:rPr kumimoji="1" lang="en-US" altLang="zh-CN" sz="2800" b="1">
                <a:solidFill>
                  <a:schemeClr val="tx1"/>
                </a:solidFill>
                <a:latin typeface="Times New Roman" pitchFamily="18" charset="0"/>
                <a:ea typeface="宋体" charset="-122"/>
              </a:rPr>
              <a:t>              _________________</a:t>
            </a:r>
          </a:p>
          <a:p>
            <a:pPr eaLnBrk="1" hangingPunct="1">
              <a:spcBef>
                <a:spcPct val="50000"/>
              </a:spcBef>
            </a:pPr>
            <a:r>
              <a:rPr kumimoji="1" lang="en-US" altLang="zh-CN" sz="2800" b="1">
                <a:solidFill>
                  <a:schemeClr val="tx1"/>
                </a:solidFill>
                <a:latin typeface="Times New Roman" pitchFamily="18" charset="0"/>
                <a:ea typeface="宋体" charset="-122"/>
              </a:rPr>
              <a:t>       _____________________    </a:t>
            </a:r>
          </a:p>
          <a:p>
            <a:pPr eaLnBrk="1" hangingPunct="1"/>
            <a:endParaRPr kumimoji="1" lang="en-US" altLang="zh-CN" sz="2800" b="1">
              <a:solidFill>
                <a:schemeClr val="tx1"/>
              </a:solidFill>
              <a:latin typeface="Times New Roman" pitchFamily="18" charset="0"/>
              <a:ea typeface="宋体" charset="-122"/>
            </a:endParaRPr>
          </a:p>
        </p:txBody>
      </p:sp>
      <p:sp>
        <p:nvSpPr>
          <p:cNvPr id="14" name="Rectangle 3"/>
          <p:cNvSpPr>
            <a:spLocks noChangeArrowheads="1"/>
          </p:cNvSpPr>
          <p:nvPr/>
        </p:nvSpPr>
        <p:spPr bwMode="auto">
          <a:xfrm>
            <a:off x="1184818" y="1931460"/>
            <a:ext cx="6903466" cy="420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p>
            <a:pPr eaLnBrk="1" hangingPunct="1">
              <a:spcBef>
                <a:spcPct val="50000"/>
              </a:spcBef>
            </a:pPr>
            <a:r>
              <a:rPr kumimoji="1" lang="zh-CN" altLang="en-US" sz="2800" b="1">
                <a:solidFill>
                  <a:schemeClr val="tx2"/>
                </a:solidFill>
                <a:latin typeface="Times New Roman" pitchFamily="18" charset="0"/>
                <a:ea typeface="宋体" charset="-122"/>
              </a:rPr>
              <a:t>        </a:t>
            </a:r>
            <a:r>
              <a:rPr kumimoji="1" lang="en-US" altLang="zh-CN" sz="2800" b="1">
                <a:solidFill>
                  <a:schemeClr val="tx2"/>
                </a:solidFill>
                <a:latin typeface="Times New Roman" pitchFamily="18" charset="0"/>
                <a:ea typeface="宋体" charset="-122"/>
              </a:rPr>
              <a:t>i in range(N)</a:t>
            </a:r>
          </a:p>
          <a:p>
            <a:pPr eaLnBrk="1" hangingPunct="1">
              <a:spcBef>
                <a:spcPts val="1800"/>
              </a:spcBef>
            </a:pPr>
            <a:r>
              <a:rPr kumimoji="1" lang="en-US" altLang="zh-CN" sz="2800" b="1">
                <a:solidFill>
                  <a:schemeClr val="tx2"/>
                </a:solidFill>
                <a:latin typeface="Times New Roman" pitchFamily="18" charset="0"/>
                <a:ea typeface="宋体" charset="-122"/>
              </a:rPr>
              <a:t>                j in range(N - i - 1)</a:t>
            </a:r>
          </a:p>
          <a:p>
            <a:pPr>
              <a:spcBef>
                <a:spcPct val="50000"/>
              </a:spcBef>
            </a:pPr>
            <a:r>
              <a:rPr kumimoji="1" lang="en-US" altLang="zh-CN" sz="2800" b="1">
                <a:solidFill>
                  <a:schemeClr val="tx2"/>
                </a:solidFill>
                <a:latin typeface="Times New Roman" pitchFamily="18" charset="0"/>
                <a:ea typeface="宋体" charset="-122"/>
              </a:rPr>
              <a:t>                print(" ", end='')</a:t>
            </a:r>
          </a:p>
          <a:p>
            <a:pPr eaLnBrk="1" hangingPunct="1">
              <a:spcBef>
                <a:spcPct val="50000"/>
              </a:spcBef>
            </a:pPr>
            <a:r>
              <a:rPr kumimoji="1" lang="en-US" altLang="zh-CN" sz="2800" b="1">
                <a:solidFill>
                  <a:schemeClr val="tx2"/>
                </a:solidFill>
                <a:latin typeface="Times New Roman" pitchFamily="18" charset="0"/>
                <a:ea typeface="宋体" charset="-122"/>
              </a:rPr>
              <a:t>                j in range(i+1)</a:t>
            </a:r>
          </a:p>
          <a:p>
            <a:pPr>
              <a:spcBef>
                <a:spcPct val="50000"/>
              </a:spcBef>
            </a:pPr>
            <a:r>
              <a:rPr kumimoji="1" lang="en-US" altLang="zh-CN" sz="2800" b="1">
                <a:solidFill>
                  <a:schemeClr val="tx2"/>
                </a:solidFill>
                <a:latin typeface="Times New Roman" pitchFamily="18" charset="0"/>
                <a:ea typeface="宋体" charset="-122"/>
              </a:rPr>
              <a:t>                print(i+1, end='')        </a:t>
            </a:r>
          </a:p>
          <a:p>
            <a:pPr>
              <a:spcBef>
                <a:spcPct val="50000"/>
              </a:spcBef>
            </a:pPr>
            <a:r>
              <a:rPr kumimoji="1" lang="en-US" altLang="zh-CN" sz="2800" b="1">
                <a:solidFill>
                  <a:schemeClr val="tx2"/>
                </a:solidFill>
                <a:latin typeface="Times New Roman" pitchFamily="18" charset="0"/>
                <a:ea typeface="宋体" charset="-122"/>
              </a:rPr>
              <a:t>        print("")</a:t>
            </a:r>
          </a:p>
          <a:p>
            <a:pPr eaLnBrk="1" hangingPunct="1"/>
            <a:endParaRPr kumimoji="1" lang="zh-CN" altLang="en-US" sz="2800" b="1">
              <a:solidFill>
                <a:schemeClr val="tx2"/>
              </a:solidFill>
              <a:latin typeface="Times New Roman" pitchFamily="18" charset="0"/>
              <a:ea typeface="宋体" charset="-122"/>
            </a:endParaRPr>
          </a:p>
        </p:txBody>
      </p:sp>
      <p:sp>
        <p:nvSpPr>
          <p:cNvPr id="16" name="Text Box 4"/>
          <p:cNvSpPr txBox="1">
            <a:spLocks noChangeArrowheads="1"/>
          </p:cNvSpPr>
          <p:nvPr/>
        </p:nvSpPr>
        <p:spPr bwMode="auto">
          <a:xfrm>
            <a:off x="9136814" y="1877464"/>
            <a:ext cx="1708150" cy="31400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sz="4000" b="1">
                <a:solidFill>
                  <a:srgbClr val="FFFFFF"/>
                </a:solidFill>
                <a:latin typeface="Courier New" pitchFamily="49" charset="0"/>
                <a:ea typeface="宋体" charset="-122"/>
              </a:rPr>
              <a:t>    </a:t>
            </a:r>
            <a:r>
              <a:rPr kumimoji="1" lang="en-US" altLang="zh-CN" sz="4000" b="1">
                <a:solidFill>
                  <a:srgbClr val="FFFFFF"/>
                </a:solidFill>
                <a:latin typeface="Courier New" pitchFamily="49" charset="0"/>
                <a:ea typeface="宋体" charset="-122"/>
              </a:rPr>
              <a:t>1</a:t>
            </a:r>
          </a:p>
          <a:p>
            <a:pPr eaLnBrk="1" hangingPunct="1"/>
            <a:r>
              <a:rPr kumimoji="1" lang="en-US" altLang="zh-CN" sz="4000" b="1">
                <a:solidFill>
                  <a:srgbClr val="FFFFFF"/>
                </a:solidFill>
                <a:latin typeface="Courier New" pitchFamily="49" charset="0"/>
                <a:ea typeface="宋体" charset="-122"/>
              </a:rPr>
              <a:t>   22</a:t>
            </a:r>
          </a:p>
          <a:p>
            <a:pPr eaLnBrk="1" hangingPunct="1"/>
            <a:r>
              <a:rPr kumimoji="1" lang="en-US" altLang="zh-CN" sz="4000" b="1">
                <a:solidFill>
                  <a:srgbClr val="FFFFFF"/>
                </a:solidFill>
                <a:latin typeface="Courier New" pitchFamily="49" charset="0"/>
                <a:ea typeface="宋体" charset="-122"/>
              </a:rPr>
              <a:t>  333</a:t>
            </a:r>
          </a:p>
          <a:p>
            <a:pPr eaLnBrk="1" hangingPunct="1"/>
            <a:r>
              <a:rPr kumimoji="1" lang="en-US" altLang="zh-CN" sz="4000" b="1">
                <a:solidFill>
                  <a:srgbClr val="FFFFFF"/>
                </a:solidFill>
                <a:latin typeface="Courier New" pitchFamily="49" charset="0"/>
                <a:ea typeface="宋体" charset="-122"/>
              </a:rPr>
              <a:t> 4444</a:t>
            </a:r>
          </a:p>
          <a:p>
            <a:pPr eaLnBrk="1" hangingPunct="1"/>
            <a:r>
              <a:rPr kumimoji="1" lang="en-US" altLang="zh-CN" sz="4000" b="1">
                <a:solidFill>
                  <a:srgbClr val="FFFFFF"/>
                </a:solidFill>
                <a:latin typeface="Courier New" pitchFamily="49" charset="0"/>
                <a:ea typeface="宋体" charset="-122"/>
              </a:rPr>
              <a:t>55555</a:t>
            </a:r>
          </a:p>
        </p:txBody>
      </p:sp>
    </p:spTree>
    <p:extLst>
      <p:ext uri="{BB962C8B-B14F-4D97-AF65-F5344CB8AC3E}">
        <p14:creationId xmlns:p14="http://schemas.microsoft.com/office/powerpoint/2010/main" val="4156493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checkerboard(across)">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checkerboard(across)">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checkerboard(across)">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checkerboard(across)">
                                      <p:cBhvr>
                                        <p:cTn id="22" dur="5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checkerboard(across)">
                                      <p:cBhvr>
                                        <p:cTn id="27" dur="500"/>
                                        <p:tgtEl>
                                          <p:spTgt spid="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4">
                                            <p:txEl>
                                              <p:pRg st="5" end="5"/>
                                            </p:txEl>
                                          </p:spTgt>
                                        </p:tgtEl>
                                        <p:attrNameLst>
                                          <p:attrName>style.visibility</p:attrName>
                                        </p:attrNameLst>
                                      </p:cBhvr>
                                      <p:to>
                                        <p:strVal val="visible"/>
                                      </p:to>
                                    </p:set>
                                    <p:animEffect transition="in" filter="checkerboard(across)">
                                      <p:cBhvr>
                                        <p:cTn id="32" dur="500"/>
                                        <p:tgtEl>
                                          <p:spTgt spid="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3.4</a:t>
            </a:r>
            <a:r>
              <a:rPr lang="en-US" altLang="zh-CN" sz="4800">
                <a:solidFill>
                  <a:schemeClr val="accent2"/>
                </a:solidFill>
                <a:latin typeface="隶书" pitchFamily="49" charset="-122"/>
                <a:ea typeface="隶书" pitchFamily="49" charset="-122"/>
              </a:rPr>
              <a:t>.3</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 实数解码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5"/>
          <p:cNvSpPr>
            <a:spLocks noChangeArrowheads="1"/>
          </p:cNvSpPr>
          <p:nvPr/>
        </p:nvSpPr>
        <p:spPr bwMode="auto">
          <a:xfrm>
            <a:off x="1018063" y="2309779"/>
            <a:ext cx="9555725" cy="36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buClr>
                <a:schemeClr val="tx1"/>
              </a:buClr>
              <a:buSzPct val="75000"/>
              <a:buFont typeface="Wingdings" pitchFamily="2" charset="2"/>
              <a:buNone/>
            </a:pPr>
            <a:r>
              <a:rPr kumimoji="1" lang="zh-CN" altLang="en-US" sz="2800" b="1">
                <a:solidFill>
                  <a:schemeClr val="tx1"/>
                </a:solidFill>
                <a:latin typeface="宋体" charset="-122"/>
                <a:ea typeface="宋体" charset="-122"/>
              </a:rPr>
              <a:t>编码规则</a:t>
            </a:r>
          </a:p>
          <a:p>
            <a:pPr marL="901700" lvl="1" indent="-444500" eaLnBrk="1" hangingPunct="1">
              <a:spcBef>
                <a:spcPct val="25000"/>
              </a:spcBef>
              <a:buClr>
                <a:schemeClr val="tx1"/>
              </a:buClr>
              <a:buFont typeface="Wingdings" pitchFamily="2" charset="2"/>
              <a:buChar char="Ø"/>
            </a:pPr>
            <a:r>
              <a:rPr kumimoji="1" lang="en-US" altLang="en-US" sz="2800" b="1">
                <a:solidFill>
                  <a:schemeClr val="tx1"/>
                </a:solidFill>
                <a:latin typeface="宋体" charset="-122"/>
                <a:ea typeface="宋体" charset="-122"/>
              </a:rPr>
              <a:t>用4</a:t>
            </a:r>
            <a:r>
              <a:rPr kumimoji="1" lang="en-US" altLang="zh-CN" sz="2800" b="1">
                <a:solidFill>
                  <a:schemeClr val="tx1"/>
                </a:solidFill>
                <a:latin typeface="宋体" charset="-122"/>
                <a:ea typeface="宋体" charset="-122"/>
              </a:rPr>
              <a:t>个字节</a:t>
            </a:r>
            <a:r>
              <a:rPr kumimoji="1" lang="zh-CN" altLang="en-US" sz="2800" b="1">
                <a:solidFill>
                  <a:schemeClr val="tx1"/>
                </a:solidFill>
                <a:latin typeface="宋体" charset="-122"/>
                <a:ea typeface="宋体" charset="-122"/>
              </a:rPr>
              <a:t>（整数）来描述一个实数，低</a:t>
            </a:r>
            <a:r>
              <a:rPr kumimoji="1" lang="en-US" altLang="zh-CN" sz="2800" b="1">
                <a:solidFill>
                  <a:schemeClr val="tx1"/>
                </a:solidFill>
                <a:latin typeface="宋体" charset="-122"/>
                <a:ea typeface="宋体" charset="-122"/>
              </a:rPr>
              <a:t>28位为有效数字，高4位为指数</a:t>
            </a:r>
            <a:r>
              <a:rPr kumimoji="1" lang="zh-CN" altLang="en-US" sz="2800" b="1">
                <a:solidFill>
                  <a:schemeClr val="tx1"/>
                </a:solidFill>
                <a:latin typeface="宋体" charset="-122"/>
                <a:ea typeface="宋体" charset="-122"/>
              </a:rPr>
              <a:t>部分；</a:t>
            </a:r>
          </a:p>
          <a:p>
            <a:pPr marL="901700" lvl="1" indent="-444500" eaLnBrk="1" hangingPunct="1">
              <a:spcBef>
                <a:spcPct val="25000"/>
              </a:spcBef>
              <a:buClr>
                <a:schemeClr val="tx1"/>
              </a:buClr>
              <a:buFont typeface="Wingdings" pitchFamily="2" charset="2"/>
              <a:buChar char="Ø"/>
            </a:pPr>
            <a:r>
              <a:rPr kumimoji="1" lang="zh-CN" altLang="en-US" sz="2800" b="1">
                <a:solidFill>
                  <a:schemeClr val="tx1"/>
                </a:solidFill>
                <a:latin typeface="宋体" charset="-122"/>
                <a:ea typeface="宋体" charset="-122"/>
              </a:rPr>
              <a:t>如果指数部分大于</a:t>
            </a:r>
            <a:r>
              <a:rPr kumimoji="1" lang="en-US" altLang="zh-CN" sz="2800" b="1">
                <a:solidFill>
                  <a:schemeClr val="tx1"/>
                </a:solidFill>
                <a:latin typeface="宋体" charset="-122"/>
                <a:ea typeface="宋体" charset="-122"/>
              </a:rPr>
              <a:t>8</a:t>
            </a:r>
            <a:r>
              <a:rPr kumimoji="1" lang="zh-CN" altLang="en-US" sz="2800" b="1">
                <a:solidFill>
                  <a:schemeClr val="tx1"/>
                </a:solidFill>
                <a:latin typeface="宋体" charset="-122"/>
                <a:ea typeface="宋体" charset="-122"/>
              </a:rPr>
              <a:t>，则进行</a:t>
            </a:r>
            <a:r>
              <a:rPr kumimoji="1" lang="zh-CN" altLang="en-US" sz="2800" b="1">
                <a:solidFill>
                  <a:srgbClr val="0000FF"/>
                </a:solidFill>
                <a:latin typeface="宋体" charset="-122"/>
                <a:ea typeface="宋体" charset="-122"/>
              </a:rPr>
              <a:t>除法</a:t>
            </a:r>
            <a:r>
              <a:rPr kumimoji="1" lang="zh-CN" altLang="en-US" sz="2800" b="1">
                <a:solidFill>
                  <a:schemeClr val="tx1"/>
                </a:solidFill>
                <a:latin typeface="宋体" charset="-122"/>
                <a:ea typeface="宋体" charset="-122"/>
              </a:rPr>
              <a:t>；</a:t>
            </a:r>
          </a:p>
          <a:p>
            <a:pPr marL="901700" lvl="1" indent="-444500" eaLnBrk="1" hangingPunct="1">
              <a:spcBef>
                <a:spcPct val="25000"/>
              </a:spcBef>
              <a:buClr>
                <a:schemeClr val="tx1"/>
              </a:buClr>
              <a:buFont typeface="Wingdings" pitchFamily="2" charset="2"/>
              <a:buChar char="Ø"/>
            </a:pPr>
            <a:r>
              <a:rPr kumimoji="1" lang="zh-CN" altLang="en-US" sz="2800" b="1">
                <a:solidFill>
                  <a:schemeClr val="tx1"/>
                </a:solidFill>
                <a:latin typeface="宋体" charset="-122"/>
                <a:ea typeface="宋体" charset="-122"/>
              </a:rPr>
              <a:t>如果指数部分小于</a:t>
            </a:r>
            <a:r>
              <a:rPr kumimoji="1" lang="en-US" altLang="zh-CN" sz="2800" b="1">
                <a:solidFill>
                  <a:schemeClr val="tx1"/>
                </a:solidFill>
                <a:latin typeface="宋体" charset="-122"/>
                <a:ea typeface="宋体" charset="-122"/>
              </a:rPr>
              <a:t>8</a:t>
            </a:r>
            <a:r>
              <a:rPr kumimoji="1" lang="zh-CN" altLang="en-US" sz="2800" b="1">
                <a:solidFill>
                  <a:schemeClr val="tx1"/>
                </a:solidFill>
                <a:latin typeface="宋体" charset="-122"/>
                <a:ea typeface="宋体" charset="-122"/>
              </a:rPr>
              <a:t>，则进行</a:t>
            </a:r>
            <a:r>
              <a:rPr kumimoji="1" lang="zh-CN" altLang="en-US" sz="2800" b="1">
                <a:solidFill>
                  <a:srgbClr val="0000FF"/>
                </a:solidFill>
                <a:latin typeface="宋体" charset="-122"/>
                <a:ea typeface="宋体" charset="-122"/>
              </a:rPr>
              <a:t>乘法</a:t>
            </a:r>
            <a:r>
              <a:rPr kumimoji="1" lang="zh-CN" altLang="en-US" sz="2800" b="1">
                <a:solidFill>
                  <a:schemeClr val="tx1"/>
                </a:solidFill>
                <a:latin typeface="宋体" charset="-122"/>
                <a:ea typeface="宋体" charset="-122"/>
              </a:rPr>
              <a:t>；</a:t>
            </a:r>
          </a:p>
          <a:p>
            <a:pPr eaLnBrk="1" hangingPunct="1">
              <a:spcBef>
                <a:spcPct val="50000"/>
              </a:spcBef>
              <a:buClr>
                <a:schemeClr val="tx1"/>
              </a:buClr>
              <a:buSzPct val="75000"/>
              <a:buFont typeface="Wingdings" pitchFamily="2" charset="2"/>
              <a:buNone/>
            </a:pPr>
            <a:r>
              <a:rPr kumimoji="1" lang="zh-CN" altLang="en-US" sz="2800" b="1">
                <a:solidFill>
                  <a:schemeClr val="tx1"/>
                </a:solidFill>
                <a:latin typeface="宋体" charset="-122"/>
                <a:ea typeface="宋体" charset="-122"/>
              </a:rPr>
              <a:t>输入一个编码后的数据（十六进制整数），输出经过解码以后的实数。</a:t>
            </a:r>
          </a:p>
        </p:txBody>
      </p:sp>
      <p:sp>
        <p:nvSpPr>
          <p:cNvPr id="9" name="Rectangle 6"/>
          <p:cNvSpPr>
            <a:spLocks noChangeArrowheads="1"/>
          </p:cNvSpPr>
          <p:nvPr/>
        </p:nvSpPr>
        <p:spPr bwMode="auto">
          <a:xfrm>
            <a:off x="987901" y="1427129"/>
            <a:ext cx="25010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buClr>
                <a:srgbClr val="FFFF66"/>
              </a:buClr>
              <a:buFont typeface="Wingdings" pitchFamily="2" charset="2"/>
              <a:buNone/>
            </a:pPr>
            <a:r>
              <a:rPr kumimoji="1" lang="zh-CN" altLang="en-US" sz="3600" b="1">
                <a:solidFill>
                  <a:schemeClr val="tx1"/>
                </a:solidFill>
                <a:latin typeface="Times New Roman" pitchFamily="18" charset="0"/>
                <a:ea typeface="宋体" charset="-122"/>
              </a:rPr>
              <a:t>问题描述：</a:t>
            </a:r>
          </a:p>
        </p:txBody>
      </p:sp>
      <p:pic>
        <p:nvPicPr>
          <p:cNvPr id="11"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18277" y="850181"/>
            <a:ext cx="18002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0362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dissolve">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dissolv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dissolve">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dissolve">
                                      <p:cBhvr>
                                        <p:cTn id="2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样例</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graphicFrame>
        <p:nvGraphicFramePr>
          <p:cNvPr id="8" name="Group 3"/>
          <p:cNvGraphicFramePr>
            <a:graphicFrameLocks/>
          </p:cNvGraphicFramePr>
          <p:nvPr>
            <p:extLst>
              <p:ext uri="{D42A27DB-BD31-4B8C-83A1-F6EECF244321}">
                <p14:modId xmlns:p14="http://schemas.microsoft.com/office/powerpoint/2010/main" val="2898095848"/>
              </p:ext>
            </p:extLst>
          </p:nvPr>
        </p:nvGraphicFramePr>
        <p:xfrm>
          <a:off x="1547559" y="1769227"/>
          <a:ext cx="8001000" cy="3838578"/>
        </p:xfrm>
        <a:graphic>
          <a:graphicData uri="http://schemas.openxmlformats.org/drawingml/2006/table">
            <a:tbl>
              <a:tblPr/>
              <a:tblGrid>
                <a:gridCol w="2720975">
                  <a:extLst>
                    <a:ext uri="{9D8B030D-6E8A-4147-A177-3AD203B41FA5}">
                      <a16:colId xmlns:a16="http://schemas.microsoft.com/office/drawing/2014/main" val="20000"/>
                    </a:ext>
                  </a:extLst>
                </a:gridCol>
                <a:gridCol w="2232025">
                  <a:extLst>
                    <a:ext uri="{9D8B030D-6E8A-4147-A177-3AD203B41FA5}">
                      <a16:colId xmlns:a16="http://schemas.microsoft.com/office/drawing/2014/main" val="20001"/>
                    </a:ext>
                  </a:extLst>
                </a:gridCol>
                <a:gridCol w="10477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tblGrid>
              <a:tr h="6397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宋体" pitchFamily="2" charset="-122"/>
                          <a:ea typeface="宋体" pitchFamily="2" charset="-122"/>
                        </a:rPr>
                        <a:t>16</a:t>
                      </a:r>
                      <a:r>
                        <a:rPr kumimoji="0" lang="zh-CN" altLang="en-US" sz="2800" b="1" i="0" u="none" strike="noStrike" cap="none" normalizeH="0" baseline="0">
                          <a:ln>
                            <a:noFill/>
                          </a:ln>
                          <a:solidFill>
                            <a:schemeClr val="tx1"/>
                          </a:solidFill>
                          <a:effectLst/>
                          <a:latin typeface="宋体" pitchFamily="2" charset="-122"/>
                          <a:ea typeface="宋体" pitchFamily="2" charset="-122"/>
                        </a:rPr>
                        <a:t>进制编码数据</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A2C1F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zh-CN" altLang="en-US" sz="2800" b="1" i="0" u="none" strike="noStrike" cap="none" normalizeH="0" baseline="0">
                          <a:ln>
                            <a:noFill/>
                          </a:ln>
                          <a:solidFill>
                            <a:schemeClr val="tx1"/>
                          </a:solidFill>
                          <a:effectLst/>
                          <a:latin typeface="宋体" pitchFamily="2" charset="-122"/>
                          <a:ea typeface="宋体" pitchFamily="2" charset="-122"/>
                        </a:rPr>
                        <a:t>有效数字</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A2C1F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zh-CN" altLang="en-US" sz="2800" b="1" i="0" u="none" strike="noStrike" cap="none" normalizeH="0" baseline="0">
                          <a:ln>
                            <a:noFill/>
                          </a:ln>
                          <a:solidFill>
                            <a:schemeClr val="tx1"/>
                          </a:solidFill>
                          <a:effectLst/>
                          <a:latin typeface="宋体" pitchFamily="2" charset="-122"/>
                          <a:ea typeface="宋体" pitchFamily="2" charset="-122"/>
                        </a:rPr>
                        <a:t>指数</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A2C1FE"/>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zh-CN" altLang="en-US" sz="2800" b="1" i="0" u="none" strike="noStrike" cap="none" normalizeH="0" baseline="0">
                          <a:ln>
                            <a:noFill/>
                          </a:ln>
                          <a:solidFill>
                            <a:schemeClr val="tx1"/>
                          </a:solidFill>
                          <a:effectLst/>
                          <a:latin typeface="宋体" pitchFamily="2" charset="-122"/>
                          <a:ea typeface="宋体" pitchFamily="2" charset="-122"/>
                        </a:rPr>
                        <a:t>解码数据</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A2C1FE"/>
                    </a:solidFill>
                  </a:tcPr>
                </a:tc>
                <a:extLst>
                  <a:ext uri="{0D108BD9-81ED-4DB2-BD59-A6C34878D82A}">
                    <a16:rowId xmlns:a16="http://schemas.microsoft.com/office/drawing/2014/main" val="10000"/>
                  </a:ext>
                </a:extLst>
              </a:tr>
              <a:tr h="6397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9D 90 76 04</a:t>
                      </a:r>
                      <a:endParaRPr kumimoji="0" lang="zh-CN" altLang="en-US" sz="2800" b="1" i="0" u="none" strike="noStrike" cap="none" normalizeH="0" baseline="0">
                        <a:ln>
                          <a:noFill/>
                        </a:ln>
                        <a:solidFill>
                          <a:schemeClr val="tx1"/>
                        </a:solidFill>
                        <a:effectLst/>
                        <a:latin typeface="Courier New" pitchFamily="49" charset="0"/>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0x476909D</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0x00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74879133</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397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C7 DE 9F 11</a:t>
                      </a:r>
                      <a:endParaRPr kumimoji="0" lang="zh-CN" altLang="en-US" sz="2800" b="1" i="0" u="none" strike="noStrike" cap="none" normalizeH="0" baseline="0">
                        <a:ln>
                          <a:noFill/>
                        </a:ln>
                        <a:solidFill>
                          <a:schemeClr val="tx1"/>
                        </a:solidFill>
                        <a:effectLst/>
                        <a:latin typeface="Courier New" pitchFamily="49" charset="0"/>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0x19FDEC7</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0x01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272544710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397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6A 78 02 95</a:t>
                      </a:r>
                      <a:endParaRPr kumimoji="0" lang="zh-CN" altLang="en-US" sz="2800" b="1" i="0" u="none" strike="noStrike" cap="none" normalizeH="0" baseline="0">
                        <a:ln>
                          <a:noFill/>
                        </a:ln>
                        <a:solidFill>
                          <a:schemeClr val="tx1"/>
                        </a:solidFill>
                        <a:effectLst/>
                        <a:latin typeface="Courier New" pitchFamily="49" charset="0"/>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0x502786A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0x09</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8404797.8</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397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4F 42 68 A6</a:t>
                      </a:r>
                      <a:endParaRPr kumimoji="0" lang="zh-CN" altLang="en-US" sz="2800" b="1" i="0" u="none" strike="noStrike" cap="none" normalizeH="0" baseline="0">
                        <a:ln>
                          <a:noFill/>
                        </a:ln>
                        <a:solidFill>
                          <a:schemeClr val="tx1"/>
                        </a:solidFill>
                        <a:effectLst/>
                        <a:latin typeface="Courier New" pitchFamily="49" charset="0"/>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0x668424F</a:t>
                      </a:r>
                      <a:endParaRPr kumimoji="0" lang="zh-CN" altLang="en-US" sz="2800" b="1" i="0" u="none" strike="noStrike" cap="none" normalizeH="0" baseline="0">
                        <a:ln>
                          <a:noFill/>
                        </a:ln>
                        <a:solidFill>
                          <a:schemeClr val="tx1"/>
                        </a:solidFill>
                        <a:effectLst/>
                        <a:latin typeface="Courier New" pitchFamily="49" charset="0"/>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0x0A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1074960.15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6397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32 0F 00 B0</a:t>
                      </a:r>
                      <a:endParaRPr kumimoji="0" lang="zh-CN" altLang="en-US" sz="2800" b="1" i="0" u="none" strike="noStrike" cap="none" normalizeH="0" baseline="0">
                        <a:ln>
                          <a:noFill/>
                        </a:ln>
                        <a:solidFill>
                          <a:schemeClr val="tx1"/>
                        </a:solidFill>
                        <a:effectLst/>
                        <a:latin typeface="Courier New" pitchFamily="49" charset="0"/>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0x0000F32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Courier New" pitchFamily="49" charset="0"/>
                          <a:ea typeface="宋体" pitchFamily="2" charset="-122"/>
                        </a:rPr>
                        <a:t>0x0B</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rPr>
                        <a:t>3.89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384231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问题分析</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2"/>
          <p:cNvSpPr>
            <a:spLocks noChangeArrowheads="1"/>
          </p:cNvSpPr>
          <p:nvPr/>
        </p:nvSpPr>
        <p:spPr bwMode="auto">
          <a:xfrm>
            <a:off x="1095202" y="1945871"/>
            <a:ext cx="9678092"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宋体" pitchFamily="2" charset="-122"/>
                <a:ea typeface="宋体" pitchFamily="2" charset="-122"/>
              </a:rPr>
              <a:t>如何把</a:t>
            </a:r>
            <a:r>
              <a:rPr kumimoji="1" lang="en-US" altLang="zh-CN" sz="3600" b="1">
                <a:solidFill>
                  <a:schemeClr val="tx1"/>
                </a:solidFill>
                <a:latin typeface="宋体" pitchFamily="2" charset="-122"/>
                <a:ea typeface="宋体" pitchFamily="2" charset="-122"/>
              </a:rPr>
              <a:t>28</a:t>
            </a:r>
            <a:r>
              <a:rPr kumimoji="1" lang="zh-CN" altLang="en-US" sz="3600" b="1">
                <a:solidFill>
                  <a:schemeClr val="tx1"/>
                </a:solidFill>
                <a:latin typeface="宋体" pitchFamily="2" charset="-122"/>
                <a:ea typeface="宋体" pitchFamily="2" charset="-122"/>
              </a:rPr>
              <a:t>位的“有效数字”和</a:t>
            </a:r>
            <a:r>
              <a:rPr kumimoji="1" lang="en-US" altLang="zh-CN" sz="3600" b="1">
                <a:solidFill>
                  <a:schemeClr val="tx1"/>
                </a:solidFill>
                <a:latin typeface="宋体" pitchFamily="2" charset="-122"/>
                <a:ea typeface="宋体" pitchFamily="2" charset="-122"/>
              </a:rPr>
              <a:t>4</a:t>
            </a:r>
            <a:r>
              <a:rPr kumimoji="1" lang="zh-CN" altLang="en-US" sz="3600" b="1">
                <a:solidFill>
                  <a:schemeClr val="tx1"/>
                </a:solidFill>
                <a:latin typeface="宋体" pitchFamily="2" charset="-122"/>
                <a:ea typeface="宋体" pitchFamily="2" charset="-122"/>
              </a:rPr>
              <a:t>位的“指数部分”剥离出来；</a:t>
            </a:r>
          </a:p>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宋体" pitchFamily="2" charset="-122"/>
                <a:ea typeface="宋体" pitchFamily="2" charset="-122"/>
              </a:rPr>
              <a:t>如何将一个数乘以</a:t>
            </a:r>
            <a:r>
              <a:rPr kumimoji="1" lang="en-US" altLang="zh-CN" sz="3600" b="1">
                <a:solidFill>
                  <a:schemeClr val="tx1"/>
                </a:solidFill>
                <a:latin typeface="宋体" pitchFamily="2" charset="-122"/>
                <a:ea typeface="宋体" pitchFamily="2" charset="-122"/>
              </a:rPr>
              <a:t>10</a:t>
            </a:r>
            <a:r>
              <a:rPr kumimoji="1" lang="en-US" altLang="zh-CN" sz="3600" b="1" baseline="30000">
                <a:solidFill>
                  <a:schemeClr val="tx1"/>
                </a:solidFill>
                <a:latin typeface="宋体" pitchFamily="2" charset="-122"/>
                <a:ea typeface="宋体" pitchFamily="2" charset="-122"/>
              </a:rPr>
              <a:t>N</a:t>
            </a:r>
            <a:r>
              <a:rPr kumimoji="1" lang="zh-CN" altLang="en-US" sz="3600" b="1">
                <a:solidFill>
                  <a:schemeClr val="tx1"/>
                </a:solidFill>
                <a:latin typeface="宋体" pitchFamily="2" charset="-122"/>
                <a:ea typeface="宋体" pitchFamily="2" charset="-122"/>
              </a:rPr>
              <a:t>或除以</a:t>
            </a:r>
            <a:r>
              <a:rPr kumimoji="1" lang="en-US" altLang="zh-CN" sz="3600" b="1">
                <a:solidFill>
                  <a:schemeClr val="tx1"/>
                </a:solidFill>
                <a:latin typeface="宋体" pitchFamily="2" charset="-122"/>
                <a:ea typeface="宋体" pitchFamily="2" charset="-122"/>
              </a:rPr>
              <a:t>10</a:t>
            </a:r>
            <a:r>
              <a:rPr kumimoji="1" lang="en-US" altLang="zh-CN" sz="3600" b="1" baseline="30000">
                <a:solidFill>
                  <a:schemeClr val="tx1"/>
                </a:solidFill>
                <a:latin typeface="宋体" pitchFamily="2" charset="-122"/>
                <a:ea typeface="宋体" pitchFamily="2" charset="-122"/>
              </a:rPr>
              <a:t>N</a:t>
            </a:r>
            <a:r>
              <a:rPr kumimoji="1" lang="zh-CN" altLang="en-US" sz="3600" b="1">
                <a:solidFill>
                  <a:schemeClr val="tx1"/>
                </a:solidFill>
                <a:latin typeface="宋体" pitchFamily="2" charset="-122"/>
                <a:ea typeface="宋体" pitchFamily="2" charset="-122"/>
              </a:rPr>
              <a:t>？</a:t>
            </a:r>
          </a:p>
        </p:txBody>
      </p:sp>
    </p:spTree>
    <p:extLst>
      <p:ext uri="{BB962C8B-B14F-4D97-AF65-F5344CB8AC3E}">
        <p14:creationId xmlns:p14="http://schemas.microsoft.com/office/powerpoint/2010/main" val="3517103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checkerboard(across)">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checkerboard(across)">
                                      <p:cBhvr>
                                        <p:cTn id="12"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位运算</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2"/>
          <p:cNvSpPr>
            <a:spLocks noChangeArrowheads="1"/>
          </p:cNvSpPr>
          <p:nvPr/>
        </p:nvSpPr>
        <p:spPr bwMode="auto">
          <a:xfrm>
            <a:off x="965676" y="1702722"/>
            <a:ext cx="9766054"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按位与（</a:t>
            </a:r>
            <a:r>
              <a:rPr kumimoji="1" lang="en-US" altLang="zh-CN" sz="3200" b="1">
                <a:solidFill>
                  <a:schemeClr val="tx1"/>
                </a:solidFill>
                <a:latin typeface="Times New Roman" pitchFamily="18" charset="0"/>
                <a:ea typeface="宋体" charset="-122"/>
              </a:rPr>
              <a:t>&amp;</a:t>
            </a:r>
            <a:r>
              <a:rPr kumimoji="1" lang="zh-CN" altLang="en-US" sz="3200" b="1">
                <a:solidFill>
                  <a:schemeClr val="tx1"/>
                </a:solidFill>
                <a:latin typeface="Times New Roman" pitchFamily="18" charset="0"/>
                <a:ea typeface="宋体" charset="-122"/>
              </a:rPr>
              <a:t>）：将两个运算量的每一个位进行逻辑与操作；</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按位或（</a:t>
            </a:r>
            <a:r>
              <a:rPr kumimoji="1" lang="en-US" altLang="zh-CN" sz="3200" b="1">
                <a:solidFill>
                  <a:schemeClr val="tx1"/>
                </a:solidFill>
                <a:latin typeface="Times New Roman" pitchFamily="18" charset="0"/>
                <a:ea typeface="宋体" charset="-122"/>
              </a:rPr>
              <a:t>|</a:t>
            </a:r>
            <a:r>
              <a:rPr kumimoji="1" lang="zh-CN" altLang="en-US" sz="3200" b="1">
                <a:solidFill>
                  <a:schemeClr val="tx1"/>
                </a:solidFill>
                <a:latin typeface="Times New Roman" pitchFamily="18" charset="0"/>
                <a:ea typeface="宋体" charset="-122"/>
              </a:rPr>
              <a:t>）：将两个运算量的每一个位进行逻辑或操作；</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按位异或（</a:t>
            </a:r>
            <a:r>
              <a:rPr kumimoji="1" lang="en-US" altLang="zh-CN" sz="3200" b="1">
                <a:solidFill>
                  <a:schemeClr val="tx1"/>
                </a:solidFill>
                <a:latin typeface="Times New Roman" pitchFamily="18" charset="0"/>
                <a:ea typeface="宋体" charset="-122"/>
              </a:rPr>
              <a:t>^</a:t>
            </a:r>
            <a:r>
              <a:rPr kumimoji="1" lang="zh-CN" altLang="en-US" sz="3200" b="1">
                <a:solidFill>
                  <a:schemeClr val="tx1"/>
                </a:solidFill>
                <a:latin typeface="Times New Roman" pitchFamily="18" charset="0"/>
                <a:ea typeface="宋体" charset="-122"/>
              </a:rPr>
              <a:t>）：相同为</a:t>
            </a:r>
            <a:r>
              <a:rPr kumimoji="1" lang="en-US" altLang="zh-CN" sz="3200" b="1">
                <a:solidFill>
                  <a:schemeClr val="tx1"/>
                </a:solidFill>
                <a:latin typeface="Times New Roman" pitchFamily="18" charset="0"/>
                <a:ea typeface="宋体" charset="-122"/>
              </a:rPr>
              <a:t>0</a:t>
            </a:r>
            <a:r>
              <a:rPr kumimoji="1" lang="zh-CN" altLang="en-US" sz="3200" b="1">
                <a:solidFill>
                  <a:schemeClr val="tx1"/>
                </a:solidFill>
                <a:latin typeface="Times New Roman" pitchFamily="18" charset="0"/>
                <a:ea typeface="宋体" charset="-122"/>
              </a:rPr>
              <a:t>，不同为</a:t>
            </a:r>
            <a:r>
              <a:rPr kumimoji="1" lang="en-US" altLang="zh-CN" sz="3200" b="1">
                <a:solidFill>
                  <a:schemeClr val="tx1"/>
                </a:solidFill>
                <a:latin typeface="Times New Roman" pitchFamily="18" charset="0"/>
                <a:ea typeface="宋体" charset="-122"/>
              </a:rPr>
              <a:t>1</a:t>
            </a:r>
            <a:r>
              <a:rPr kumimoji="1" lang="zh-CN" altLang="en-US" sz="3200" b="1">
                <a:solidFill>
                  <a:schemeClr val="tx1"/>
                </a:solidFill>
                <a:latin typeface="Times New Roman" pitchFamily="18" charset="0"/>
                <a:ea typeface="宋体" charset="-122"/>
              </a:rPr>
              <a:t>；</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取反</a:t>
            </a:r>
            <a:r>
              <a:rPr kumimoji="1" lang="en-US" altLang="zh-CN" sz="3200" b="1">
                <a:solidFill>
                  <a:schemeClr val="tx1"/>
                </a:solidFill>
                <a:latin typeface="Times New Roman" pitchFamily="18" charset="0"/>
                <a:ea typeface="宋体" charset="-122"/>
              </a:rPr>
              <a:t>(~)</a:t>
            </a:r>
            <a:r>
              <a:rPr kumimoji="1" lang="zh-CN" altLang="en-US" sz="3200" b="1">
                <a:solidFill>
                  <a:schemeClr val="tx1"/>
                </a:solidFill>
                <a:latin typeface="Times New Roman" pitchFamily="18" charset="0"/>
                <a:ea typeface="宋体" charset="-122"/>
              </a:rPr>
              <a:t>：对一个二进制数按位取反。</a:t>
            </a:r>
          </a:p>
        </p:txBody>
      </p:sp>
    </p:spTree>
    <p:extLst>
      <p:ext uri="{BB962C8B-B14F-4D97-AF65-F5344CB8AC3E}">
        <p14:creationId xmlns:p14="http://schemas.microsoft.com/office/powerpoint/2010/main" val="12368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checkerboard(across)">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checkerboard(across)">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checkerboard(across)">
                                      <p:cBhvr>
                                        <p:cTn id="2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位运算举例</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5"/>
          <p:cNvSpPr>
            <a:spLocks noChangeArrowheads="1"/>
          </p:cNvSpPr>
          <p:nvPr/>
        </p:nvSpPr>
        <p:spPr bwMode="auto">
          <a:xfrm>
            <a:off x="1116760" y="1289778"/>
            <a:ext cx="4054315" cy="2357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none" anchor="ctr">
            <a:spAutoFit/>
          </a:bodyPr>
          <a:lstStyle/>
          <a:p>
            <a:pPr>
              <a:buNone/>
            </a:pPr>
            <a:r>
              <a:rPr lang="zh-CN" altLang="en-US" sz="3200" b="1">
                <a:solidFill>
                  <a:schemeClr val="tx1"/>
                </a:solidFill>
                <a:latin typeface="Courier New" pitchFamily="49" charset="0"/>
                <a:ea typeface="宋体" charset="-122"/>
              </a:rPr>
              <a:t>	</a:t>
            </a:r>
            <a:r>
              <a:rPr lang="en-US" altLang="zh-CN" sz="3200" b="1">
                <a:solidFill>
                  <a:schemeClr val="tx1"/>
                </a:solidFill>
                <a:latin typeface="Courier New" pitchFamily="49" charset="0"/>
                <a:ea typeface="宋体" charset="-122"/>
              </a:rPr>
              <a:t>0011</a:t>
            </a:r>
            <a:r>
              <a:rPr lang="zh-CN" altLang="en-US" sz="3200" b="1">
                <a:solidFill>
                  <a:schemeClr val="tx1"/>
                </a:solidFill>
                <a:latin typeface="Courier New" pitchFamily="49" charset="0"/>
                <a:ea typeface="宋体" charset="-122"/>
              </a:rPr>
              <a:t>（整数</a:t>
            </a:r>
            <a:r>
              <a:rPr lang="en-US" altLang="zh-CN" sz="3200" b="1">
                <a:solidFill>
                  <a:schemeClr val="tx1"/>
                </a:solidFill>
                <a:latin typeface="Courier New" pitchFamily="49" charset="0"/>
                <a:ea typeface="宋体" charset="-122"/>
              </a:rPr>
              <a:t>3</a:t>
            </a:r>
            <a:r>
              <a:rPr lang="zh-CN" altLang="en-US" sz="3200" b="1">
                <a:solidFill>
                  <a:schemeClr val="tx1"/>
                </a:solidFill>
                <a:latin typeface="Courier New" pitchFamily="49" charset="0"/>
                <a:ea typeface="宋体" charset="-122"/>
              </a:rPr>
              <a:t>）</a:t>
            </a:r>
          </a:p>
          <a:p>
            <a:pPr>
              <a:buNone/>
            </a:pPr>
            <a:r>
              <a:rPr lang="en-US" altLang="zh-CN" sz="3200" b="1">
                <a:solidFill>
                  <a:srgbClr val="FF0000"/>
                </a:solidFill>
                <a:latin typeface="Courier New" pitchFamily="49" charset="0"/>
                <a:ea typeface="宋体" charset="-122"/>
              </a:rPr>
              <a:t>&amp;</a:t>
            </a:r>
            <a:r>
              <a:rPr lang="en-US" altLang="zh-CN" sz="3200" b="1">
                <a:solidFill>
                  <a:schemeClr val="tx1"/>
                </a:solidFill>
                <a:latin typeface="Courier New" pitchFamily="49" charset="0"/>
                <a:ea typeface="宋体" charset="-122"/>
              </a:rPr>
              <a:t>	0101</a:t>
            </a:r>
            <a:r>
              <a:rPr lang="zh-CN" altLang="en-US" sz="3200" b="1">
                <a:solidFill>
                  <a:schemeClr val="tx1"/>
                </a:solidFill>
                <a:latin typeface="Courier New" pitchFamily="49" charset="0"/>
                <a:ea typeface="宋体" charset="-122"/>
              </a:rPr>
              <a:t>（整数</a:t>
            </a:r>
            <a:r>
              <a:rPr lang="en-US" altLang="zh-CN" sz="3200" b="1">
                <a:solidFill>
                  <a:schemeClr val="tx1"/>
                </a:solidFill>
                <a:latin typeface="Courier New" pitchFamily="49" charset="0"/>
                <a:ea typeface="宋体" charset="-122"/>
              </a:rPr>
              <a:t>5</a:t>
            </a:r>
            <a:r>
              <a:rPr lang="zh-CN" altLang="en-US" sz="3200" b="1">
                <a:solidFill>
                  <a:schemeClr val="tx1"/>
                </a:solidFill>
                <a:latin typeface="Courier New" pitchFamily="49" charset="0"/>
                <a:ea typeface="宋体" charset="-122"/>
              </a:rPr>
              <a:t>）</a:t>
            </a:r>
          </a:p>
          <a:p>
            <a:pPr>
              <a:buNone/>
            </a:pPr>
            <a:r>
              <a:rPr lang="en-US" altLang="zh-CN" sz="3200" b="1">
                <a:solidFill>
                  <a:schemeClr val="tx1"/>
                </a:solidFill>
                <a:latin typeface="Courier New" pitchFamily="49" charset="0"/>
                <a:ea typeface="宋体" charset="-122"/>
              </a:rPr>
              <a:t>—————————————</a:t>
            </a:r>
            <a:r>
              <a:rPr lang="en-US" altLang="en-US" sz="3200" b="1">
                <a:solidFill>
                  <a:schemeClr val="tx1"/>
                </a:solidFill>
                <a:latin typeface="Courier New" pitchFamily="49" charset="0"/>
                <a:ea typeface="宋体" charset="-122"/>
              </a:rPr>
              <a:t>——</a:t>
            </a:r>
            <a:endParaRPr lang="en-US" altLang="zh-CN" sz="3200" b="1">
              <a:solidFill>
                <a:schemeClr val="tx1"/>
              </a:solidFill>
              <a:latin typeface="Courier New" pitchFamily="49" charset="0"/>
              <a:ea typeface="宋体" charset="-122"/>
            </a:endParaRPr>
          </a:p>
          <a:p>
            <a:pPr>
              <a:buNone/>
            </a:pPr>
            <a:r>
              <a:rPr lang="en-US" altLang="zh-CN" sz="3200" b="1">
                <a:solidFill>
                  <a:schemeClr val="tx1"/>
                </a:solidFill>
                <a:latin typeface="Courier New" pitchFamily="49" charset="0"/>
                <a:ea typeface="宋体" charset="-122"/>
              </a:rPr>
              <a:t>    0001</a:t>
            </a:r>
            <a:r>
              <a:rPr lang="zh-CN" altLang="en-US" sz="3200" b="1">
                <a:solidFill>
                  <a:schemeClr val="tx1"/>
                </a:solidFill>
                <a:latin typeface="Courier New" pitchFamily="49" charset="0"/>
                <a:ea typeface="宋体" charset="-122"/>
              </a:rPr>
              <a:t>（整数</a:t>
            </a:r>
            <a:r>
              <a:rPr lang="en-US" altLang="zh-CN" sz="3200" b="1">
                <a:solidFill>
                  <a:schemeClr val="tx1"/>
                </a:solidFill>
                <a:latin typeface="Courier New" pitchFamily="49" charset="0"/>
                <a:ea typeface="宋体" charset="-122"/>
              </a:rPr>
              <a:t>1</a:t>
            </a:r>
            <a:r>
              <a:rPr lang="zh-CN" altLang="en-US" sz="3200" b="1">
                <a:solidFill>
                  <a:schemeClr val="tx1"/>
                </a:solidFill>
                <a:latin typeface="Courier New" pitchFamily="49" charset="0"/>
                <a:ea typeface="宋体" charset="-122"/>
              </a:rPr>
              <a:t>）</a:t>
            </a:r>
          </a:p>
        </p:txBody>
      </p:sp>
      <p:sp>
        <p:nvSpPr>
          <p:cNvPr id="11" name="Rectangle 6"/>
          <p:cNvSpPr>
            <a:spLocks noChangeArrowheads="1"/>
          </p:cNvSpPr>
          <p:nvPr/>
        </p:nvSpPr>
        <p:spPr bwMode="auto">
          <a:xfrm>
            <a:off x="6216643" y="1289778"/>
            <a:ext cx="4054315" cy="2357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none" anchor="ctr">
            <a:spAutoFit/>
          </a:bodyPr>
          <a:lstStyle/>
          <a:p>
            <a:pPr>
              <a:buNone/>
            </a:pPr>
            <a:r>
              <a:rPr lang="zh-CN" altLang="en-US" sz="3200" b="1">
                <a:solidFill>
                  <a:schemeClr val="tx1"/>
                </a:solidFill>
                <a:latin typeface="Courier New" pitchFamily="49" charset="0"/>
                <a:ea typeface="宋体" charset="-122"/>
              </a:rPr>
              <a:t>	</a:t>
            </a:r>
            <a:r>
              <a:rPr lang="en-US" altLang="zh-CN" sz="3200" b="1">
                <a:solidFill>
                  <a:schemeClr val="tx1"/>
                </a:solidFill>
                <a:latin typeface="Courier New" pitchFamily="49" charset="0"/>
                <a:ea typeface="宋体" charset="-122"/>
              </a:rPr>
              <a:t>0011</a:t>
            </a:r>
            <a:r>
              <a:rPr lang="zh-CN" altLang="en-US" sz="3200" b="1">
                <a:solidFill>
                  <a:schemeClr val="tx1"/>
                </a:solidFill>
                <a:latin typeface="Courier New" pitchFamily="49" charset="0"/>
                <a:ea typeface="宋体" charset="-122"/>
              </a:rPr>
              <a:t>（整数</a:t>
            </a:r>
            <a:r>
              <a:rPr lang="en-US" altLang="zh-CN" sz="3200" b="1">
                <a:solidFill>
                  <a:schemeClr val="tx1"/>
                </a:solidFill>
                <a:latin typeface="Courier New" pitchFamily="49" charset="0"/>
                <a:ea typeface="宋体" charset="-122"/>
              </a:rPr>
              <a:t>3</a:t>
            </a:r>
            <a:r>
              <a:rPr lang="zh-CN" altLang="en-US" sz="3200" b="1">
                <a:solidFill>
                  <a:schemeClr val="tx1"/>
                </a:solidFill>
                <a:latin typeface="Courier New" pitchFamily="49" charset="0"/>
                <a:ea typeface="宋体" charset="-122"/>
              </a:rPr>
              <a:t>）</a:t>
            </a:r>
          </a:p>
          <a:p>
            <a:pPr>
              <a:buNone/>
            </a:pPr>
            <a:r>
              <a:rPr lang="en-US" altLang="zh-CN" sz="3200" b="1">
                <a:solidFill>
                  <a:srgbClr val="FF0000"/>
                </a:solidFill>
                <a:latin typeface="Courier New" pitchFamily="49" charset="0"/>
                <a:ea typeface="宋体" charset="-122"/>
              </a:rPr>
              <a:t>|</a:t>
            </a:r>
            <a:r>
              <a:rPr lang="en-US" altLang="zh-CN" sz="3200" b="1">
                <a:solidFill>
                  <a:schemeClr val="tx1"/>
                </a:solidFill>
                <a:latin typeface="Courier New" pitchFamily="49" charset="0"/>
                <a:ea typeface="宋体" charset="-122"/>
              </a:rPr>
              <a:t>	0101</a:t>
            </a:r>
            <a:r>
              <a:rPr lang="zh-CN" altLang="en-US" sz="3200" b="1">
                <a:solidFill>
                  <a:schemeClr val="tx1"/>
                </a:solidFill>
                <a:latin typeface="Courier New" pitchFamily="49" charset="0"/>
                <a:ea typeface="宋体" charset="-122"/>
              </a:rPr>
              <a:t>（整数</a:t>
            </a:r>
            <a:r>
              <a:rPr lang="en-US" altLang="zh-CN" sz="3200" b="1">
                <a:solidFill>
                  <a:schemeClr val="tx1"/>
                </a:solidFill>
                <a:latin typeface="Courier New" pitchFamily="49" charset="0"/>
                <a:ea typeface="宋体" charset="-122"/>
              </a:rPr>
              <a:t>5</a:t>
            </a:r>
            <a:r>
              <a:rPr lang="zh-CN" altLang="en-US" sz="3200" b="1">
                <a:solidFill>
                  <a:schemeClr val="tx1"/>
                </a:solidFill>
                <a:latin typeface="Courier New" pitchFamily="49" charset="0"/>
                <a:ea typeface="宋体" charset="-122"/>
              </a:rPr>
              <a:t>）</a:t>
            </a:r>
          </a:p>
          <a:p>
            <a:pPr>
              <a:buNone/>
            </a:pPr>
            <a:r>
              <a:rPr lang="en-US" altLang="zh-CN" sz="3200" b="1">
                <a:solidFill>
                  <a:schemeClr val="tx1"/>
                </a:solidFill>
                <a:latin typeface="Courier New" pitchFamily="49" charset="0"/>
                <a:ea typeface="宋体" charset="-122"/>
              </a:rPr>
              <a:t>—————————————</a:t>
            </a:r>
            <a:r>
              <a:rPr lang="en-US" altLang="en-US" sz="3200" b="1">
                <a:solidFill>
                  <a:schemeClr val="tx1"/>
                </a:solidFill>
                <a:latin typeface="Courier New" pitchFamily="49" charset="0"/>
                <a:ea typeface="宋体" charset="-122"/>
              </a:rPr>
              <a:t>——</a:t>
            </a:r>
            <a:endParaRPr lang="en-US" altLang="zh-CN" sz="3200" b="1">
              <a:solidFill>
                <a:schemeClr val="tx1"/>
              </a:solidFill>
              <a:latin typeface="Courier New" pitchFamily="49" charset="0"/>
              <a:ea typeface="宋体" charset="-122"/>
            </a:endParaRPr>
          </a:p>
          <a:p>
            <a:pPr>
              <a:buNone/>
            </a:pPr>
            <a:r>
              <a:rPr lang="en-US" altLang="zh-CN" sz="3200" b="1">
                <a:solidFill>
                  <a:schemeClr val="tx1"/>
                </a:solidFill>
                <a:latin typeface="Courier New" pitchFamily="49" charset="0"/>
                <a:ea typeface="宋体" charset="-122"/>
              </a:rPr>
              <a:t>    0111</a:t>
            </a:r>
            <a:r>
              <a:rPr lang="zh-CN" altLang="en-US" sz="3200" b="1">
                <a:solidFill>
                  <a:schemeClr val="tx1"/>
                </a:solidFill>
                <a:latin typeface="Courier New" pitchFamily="49" charset="0"/>
                <a:ea typeface="宋体" charset="-122"/>
              </a:rPr>
              <a:t>（整数</a:t>
            </a:r>
            <a:r>
              <a:rPr lang="en-US" altLang="zh-CN" sz="3200" b="1">
                <a:solidFill>
                  <a:schemeClr val="tx1"/>
                </a:solidFill>
                <a:latin typeface="Courier New" pitchFamily="49" charset="0"/>
                <a:ea typeface="宋体" charset="-122"/>
              </a:rPr>
              <a:t>7</a:t>
            </a:r>
            <a:r>
              <a:rPr lang="zh-CN" altLang="en-US" sz="3200" b="1">
                <a:solidFill>
                  <a:schemeClr val="tx1"/>
                </a:solidFill>
                <a:latin typeface="Courier New" pitchFamily="49" charset="0"/>
                <a:ea typeface="宋体" charset="-122"/>
              </a:rPr>
              <a:t>）</a:t>
            </a:r>
          </a:p>
        </p:txBody>
      </p:sp>
      <p:sp>
        <p:nvSpPr>
          <p:cNvPr id="12" name="Rectangle 7"/>
          <p:cNvSpPr>
            <a:spLocks noChangeArrowheads="1"/>
          </p:cNvSpPr>
          <p:nvPr/>
        </p:nvSpPr>
        <p:spPr bwMode="auto">
          <a:xfrm>
            <a:off x="1018335" y="3925467"/>
            <a:ext cx="5288627" cy="2357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none" anchor="ctr">
            <a:spAutoFit/>
          </a:bodyPr>
          <a:lstStyle/>
          <a:p>
            <a:pPr>
              <a:buNone/>
            </a:pPr>
            <a:r>
              <a:rPr lang="zh-CN" altLang="en-US" sz="3200" b="1">
                <a:solidFill>
                  <a:schemeClr val="tx1"/>
                </a:solidFill>
                <a:latin typeface="Courier New" pitchFamily="49" charset="0"/>
                <a:ea typeface="宋体" charset="-122"/>
              </a:rPr>
              <a:t>	</a:t>
            </a:r>
            <a:r>
              <a:rPr lang="en-US" altLang="zh-CN" sz="3200" b="1">
                <a:solidFill>
                  <a:schemeClr val="tx1"/>
                </a:solidFill>
                <a:latin typeface="Courier New" pitchFamily="49" charset="0"/>
                <a:ea typeface="宋体" charset="-122"/>
              </a:rPr>
              <a:t>00111001</a:t>
            </a:r>
            <a:r>
              <a:rPr lang="zh-CN" altLang="en-US" sz="3200" b="1">
                <a:solidFill>
                  <a:schemeClr val="tx1"/>
                </a:solidFill>
                <a:latin typeface="Courier New" pitchFamily="49" charset="0"/>
                <a:ea typeface="宋体" charset="-122"/>
              </a:rPr>
              <a:t>（整数</a:t>
            </a:r>
            <a:r>
              <a:rPr lang="en-US" altLang="zh-CN" sz="3200" b="1">
                <a:solidFill>
                  <a:schemeClr val="tx1"/>
                </a:solidFill>
                <a:latin typeface="Courier New" pitchFamily="49" charset="0"/>
                <a:ea typeface="宋体" charset="-122"/>
              </a:rPr>
              <a:t>57</a:t>
            </a:r>
            <a:r>
              <a:rPr lang="zh-CN" altLang="en-US" sz="3200" b="1">
                <a:solidFill>
                  <a:schemeClr val="tx1"/>
                </a:solidFill>
                <a:latin typeface="Courier New" pitchFamily="49" charset="0"/>
                <a:ea typeface="宋体" charset="-122"/>
              </a:rPr>
              <a:t>）</a:t>
            </a:r>
          </a:p>
          <a:p>
            <a:pPr>
              <a:buNone/>
            </a:pPr>
            <a:r>
              <a:rPr lang="en-US" altLang="zh-CN" sz="3200" b="1">
                <a:solidFill>
                  <a:srgbClr val="FF0000"/>
                </a:solidFill>
                <a:latin typeface="Courier New" pitchFamily="49" charset="0"/>
                <a:ea typeface="宋体" charset="-122"/>
              </a:rPr>
              <a:t>^</a:t>
            </a:r>
            <a:r>
              <a:rPr lang="en-US" altLang="zh-CN" sz="3200" b="1">
                <a:solidFill>
                  <a:schemeClr val="tx1"/>
                </a:solidFill>
                <a:latin typeface="Courier New" pitchFamily="49" charset="0"/>
                <a:ea typeface="宋体" charset="-122"/>
              </a:rPr>
              <a:t>	00101010</a:t>
            </a:r>
            <a:r>
              <a:rPr lang="zh-CN" altLang="en-US" sz="3200" b="1">
                <a:solidFill>
                  <a:schemeClr val="tx1"/>
                </a:solidFill>
                <a:latin typeface="Courier New" pitchFamily="49" charset="0"/>
                <a:ea typeface="宋体" charset="-122"/>
              </a:rPr>
              <a:t>（整数</a:t>
            </a:r>
            <a:r>
              <a:rPr lang="en-US" altLang="zh-CN" sz="3200" b="1">
                <a:solidFill>
                  <a:schemeClr val="tx1"/>
                </a:solidFill>
                <a:latin typeface="Courier New" pitchFamily="49" charset="0"/>
                <a:ea typeface="宋体" charset="-122"/>
              </a:rPr>
              <a:t>42</a:t>
            </a:r>
            <a:r>
              <a:rPr lang="zh-CN" altLang="en-US" sz="3200" b="1">
                <a:solidFill>
                  <a:schemeClr val="tx1"/>
                </a:solidFill>
                <a:latin typeface="Courier New" pitchFamily="49" charset="0"/>
                <a:ea typeface="宋体" charset="-122"/>
              </a:rPr>
              <a:t>）</a:t>
            </a:r>
          </a:p>
          <a:p>
            <a:pPr>
              <a:buNone/>
            </a:pPr>
            <a:r>
              <a:rPr lang="en-US" altLang="zh-CN" sz="3200" b="1">
                <a:solidFill>
                  <a:schemeClr val="tx1"/>
                </a:solidFill>
                <a:latin typeface="Courier New" pitchFamily="49" charset="0"/>
                <a:ea typeface="宋体" charset="-122"/>
              </a:rPr>
              <a:t>—————————————</a:t>
            </a:r>
            <a:r>
              <a:rPr lang="en-US" altLang="en-US" sz="3200" b="1">
                <a:solidFill>
                  <a:schemeClr val="tx1"/>
                </a:solidFill>
                <a:latin typeface="Courier New" pitchFamily="49" charset="0"/>
                <a:ea typeface="宋体" charset="-122"/>
              </a:rPr>
              <a:t>——</a:t>
            </a:r>
            <a:r>
              <a:rPr lang="en-US" altLang="zh-CN" sz="3200" b="1">
                <a:solidFill>
                  <a:schemeClr val="tx1"/>
                </a:solidFill>
                <a:latin typeface="Courier New" pitchFamily="49" charset="0"/>
                <a:ea typeface="宋体" charset="-122"/>
              </a:rPr>
              <a:t>—————</a:t>
            </a:r>
          </a:p>
          <a:p>
            <a:pPr>
              <a:buNone/>
            </a:pPr>
            <a:r>
              <a:rPr lang="en-US" altLang="zh-CN" sz="3200" b="1">
                <a:solidFill>
                  <a:schemeClr val="tx1"/>
                </a:solidFill>
                <a:latin typeface="Courier New" pitchFamily="49" charset="0"/>
                <a:ea typeface="宋体" charset="-122"/>
              </a:rPr>
              <a:t>    00010011</a:t>
            </a:r>
            <a:r>
              <a:rPr lang="zh-CN" altLang="en-US" sz="3200" b="1">
                <a:solidFill>
                  <a:schemeClr val="tx1"/>
                </a:solidFill>
                <a:latin typeface="Courier New" pitchFamily="49" charset="0"/>
                <a:ea typeface="宋体" charset="-122"/>
              </a:rPr>
              <a:t>（整数</a:t>
            </a:r>
            <a:r>
              <a:rPr lang="en-US" altLang="zh-CN" sz="3200" b="1">
                <a:solidFill>
                  <a:schemeClr val="tx1"/>
                </a:solidFill>
                <a:latin typeface="Courier New" pitchFamily="49" charset="0"/>
                <a:ea typeface="宋体" charset="-122"/>
              </a:rPr>
              <a:t>19</a:t>
            </a:r>
            <a:r>
              <a:rPr lang="zh-CN" altLang="en-US" sz="3200" b="1">
                <a:solidFill>
                  <a:schemeClr val="tx1"/>
                </a:solidFill>
                <a:latin typeface="Courier New" pitchFamily="49" charset="0"/>
                <a:ea typeface="宋体" charset="-122"/>
              </a:rPr>
              <a:t>）</a:t>
            </a:r>
          </a:p>
        </p:txBody>
      </p:sp>
    </p:spTree>
    <p:extLst>
      <p:ext uri="{BB962C8B-B14F-4D97-AF65-F5344CB8AC3E}">
        <p14:creationId xmlns:p14="http://schemas.microsoft.com/office/powerpoint/2010/main" val="198155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代码分析</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2"/>
          <p:cNvSpPr>
            <a:spLocks noChangeArrowheads="1"/>
          </p:cNvSpPr>
          <p:nvPr/>
        </p:nvSpPr>
        <p:spPr bwMode="auto">
          <a:xfrm>
            <a:off x="1263561" y="1483156"/>
            <a:ext cx="8240713" cy="362560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1" hangingPunct="1">
              <a:buNone/>
            </a:pPr>
            <a:r>
              <a:rPr kumimoji="1" lang="en-US" altLang="zh-CN" sz="3200" b="1">
                <a:solidFill>
                  <a:schemeClr val="tx1"/>
                </a:solidFill>
                <a:latin typeface="Courier New" pitchFamily="49" charset="0"/>
                <a:ea typeface="宋体" charset="-122"/>
              </a:rPr>
              <a:t>count = 0</a:t>
            </a:r>
          </a:p>
          <a:p>
            <a:pPr eaLnBrk="1" hangingPunct="1">
              <a:buNone/>
            </a:pPr>
            <a:r>
              <a:rPr kumimoji="1" lang="en-US" altLang="zh-CN" sz="3200" b="1">
                <a:solidFill>
                  <a:schemeClr val="tx1"/>
                </a:solidFill>
                <a:latin typeface="Courier New" pitchFamily="49" charset="0"/>
                <a:ea typeface="宋体" charset="-122"/>
              </a:rPr>
              <a:t>num = 9999	</a:t>
            </a:r>
            <a:r>
              <a:rPr kumimoji="1" lang="en-US" altLang="zh-CN" sz="3200" b="1">
                <a:solidFill>
                  <a:srgbClr val="00B050"/>
                </a:solidFill>
                <a:latin typeface="Courier New" pitchFamily="49" charset="0"/>
                <a:ea typeface="宋体" charset="-122"/>
              </a:rPr>
              <a:t>#0x270F</a:t>
            </a:r>
          </a:p>
          <a:p>
            <a:pPr eaLnBrk="1" hangingPunct="1">
              <a:buNone/>
            </a:pPr>
            <a:r>
              <a:rPr kumimoji="1" lang="en-US" altLang="zh-CN" sz="3200" b="1">
                <a:solidFill>
                  <a:schemeClr val="tx1"/>
                </a:solidFill>
                <a:latin typeface="Courier New" pitchFamily="49" charset="0"/>
                <a:ea typeface="宋体" charset="-122"/>
              </a:rPr>
              <a:t>x = num</a:t>
            </a:r>
          </a:p>
          <a:p>
            <a:pPr eaLnBrk="1" hangingPunct="1">
              <a:buNone/>
            </a:pPr>
            <a:r>
              <a:rPr kumimoji="1" lang="en-US" altLang="zh-CN" sz="3200" b="1">
                <a:solidFill>
                  <a:schemeClr val="tx1"/>
                </a:solidFill>
                <a:latin typeface="Courier New" pitchFamily="49" charset="0"/>
                <a:ea typeface="宋体" charset="-122"/>
              </a:rPr>
              <a:t>while x </a:t>
            </a:r>
            <a:r>
              <a:rPr kumimoji="1" lang="en-US" altLang="zh-CN" sz="3200" b="1">
                <a:latin typeface="Courier New" pitchFamily="49" charset="0"/>
                <a:ea typeface="宋体" charset="-122"/>
              </a:rPr>
              <a:t>!= 0 :</a:t>
            </a:r>
            <a:endParaRPr kumimoji="1" lang="en-US" altLang="zh-CN" sz="3200" b="1">
              <a:solidFill>
                <a:schemeClr val="tx1"/>
              </a:solidFill>
              <a:latin typeface="Courier New" pitchFamily="49" charset="0"/>
              <a:ea typeface="宋体" charset="-122"/>
            </a:endParaRPr>
          </a:p>
          <a:p>
            <a:pPr eaLnBrk="1" hangingPunct="1">
              <a:buNone/>
            </a:pPr>
            <a:r>
              <a:rPr kumimoji="1" lang="en-US" altLang="zh-CN" sz="3200" b="1">
                <a:solidFill>
                  <a:schemeClr val="tx1"/>
                </a:solidFill>
                <a:latin typeface="Courier New" pitchFamily="49" charset="0"/>
                <a:ea typeface="宋体" charset="-122"/>
              </a:rPr>
              <a:t>    count = count + 1</a:t>
            </a:r>
          </a:p>
          <a:p>
            <a:pPr eaLnBrk="1" hangingPunct="1">
              <a:buNone/>
            </a:pPr>
            <a:r>
              <a:rPr kumimoji="1" lang="en-US" altLang="zh-CN" sz="3200" b="1">
                <a:solidFill>
                  <a:schemeClr val="tx1"/>
                </a:solidFill>
                <a:latin typeface="Courier New" pitchFamily="49" charset="0"/>
                <a:ea typeface="宋体" charset="-122"/>
              </a:rPr>
              <a:t>    x = x &amp; (x - 1)</a:t>
            </a:r>
          </a:p>
          <a:p>
            <a:pPr eaLnBrk="1" hangingPunct="1">
              <a:buNone/>
            </a:pPr>
            <a:r>
              <a:rPr kumimoji="1" lang="en-US" altLang="zh-CN" sz="3200" b="1">
                <a:solidFill>
                  <a:schemeClr val="tx1"/>
                </a:solidFill>
                <a:latin typeface="Courier New" pitchFamily="49" charset="0"/>
                <a:ea typeface="宋体" charset="-122"/>
              </a:rPr>
              <a:t>print(count)</a:t>
            </a:r>
          </a:p>
        </p:txBody>
      </p:sp>
      <p:sp>
        <p:nvSpPr>
          <p:cNvPr id="11" name="Rectangle 3"/>
          <p:cNvSpPr>
            <a:spLocks noChangeArrowheads="1"/>
          </p:cNvSpPr>
          <p:nvPr/>
        </p:nvSpPr>
        <p:spPr bwMode="auto">
          <a:xfrm>
            <a:off x="1263561" y="5425329"/>
            <a:ext cx="534473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none" anchor="ctr">
            <a:spAutoFit/>
          </a:bodyPr>
          <a:lstStyle/>
          <a:p>
            <a:pPr>
              <a:buNone/>
            </a:pPr>
            <a:r>
              <a:rPr lang="zh-CN" altLang="en-US" sz="3200" b="1">
                <a:solidFill>
                  <a:schemeClr val="tx1"/>
                </a:solidFill>
                <a:latin typeface="宋体" charset="-122"/>
                <a:ea typeface="宋体" charset="-122"/>
              </a:rPr>
              <a:t>输出结果是：</a:t>
            </a:r>
            <a:r>
              <a:rPr lang="en-US" altLang="zh-CN" sz="3200" b="1">
                <a:solidFill>
                  <a:schemeClr val="tx1"/>
                </a:solidFill>
                <a:latin typeface="宋体" charset="-122"/>
                <a:ea typeface="宋体" charset="-122"/>
              </a:rPr>
              <a:t>____________ </a:t>
            </a:r>
          </a:p>
        </p:txBody>
      </p:sp>
      <p:sp>
        <p:nvSpPr>
          <p:cNvPr id="12" name="Text Box 4"/>
          <p:cNvSpPr txBox="1">
            <a:spLocks noChangeArrowheads="1"/>
          </p:cNvSpPr>
          <p:nvPr/>
        </p:nvSpPr>
        <p:spPr bwMode="auto">
          <a:xfrm>
            <a:off x="4433918" y="5378119"/>
            <a:ext cx="4429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buNone/>
            </a:pPr>
            <a:r>
              <a:rPr lang="en-US" altLang="zh-CN" b="1">
                <a:ea typeface="宋体" charset="-122"/>
              </a:rPr>
              <a:t>8</a:t>
            </a:r>
          </a:p>
        </p:txBody>
      </p:sp>
    </p:spTree>
    <p:extLst>
      <p:ext uri="{BB962C8B-B14F-4D97-AF65-F5344CB8AC3E}">
        <p14:creationId xmlns:p14="http://schemas.microsoft.com/office/powerpoint/2010/main" val="378401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移位运算</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2"/>
          <p:cNvSpPr>
            <a:spLocks noChangeArrowheads="1"/>
          </p:cNvSpPr>
          <p:nvPr/>
        </p:nvSpPr>
        <p:spPr bwMode="auto">
          <a:xfrm>
            <a:off x="696194" y="1450566"/>
            <a:ext cx="1013529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左移运算（</a:t>
            </a:r>
            <a:r>
              <a:rPr kumimoji="1" lang="en-US" altLang="zh-CN" sz="3200" b="1">
                <a:solidFill>
                  <a:srgbClr val="FF0000"/>
                </a:solidFill>
                <a:latin typeface="Times New Roman" pitchFamily="18" charset="0"/>
                <a:ea typeface="宋体" charset="-122"/>
              </a:rPr>
              <a:t>&lt;&lt;</a:t>
            </a:r>
            <a:r>
              <a:rPr kumimoji="1" lang="zh-CN" altLang="en-US" sz="3200" b="1">
                <a:solidFill>
                  <a:schemeClr val="tx1"/>
                </a:solidFill>
                <a:latin typeface="Times New Roman" pitchFamily="18" charset="0"/>
                <a:ea typeface="宋体" charset="-122"/>
              </a:rPr>
              <a:t>）：左移后，低位补</a:t>
            </a:r>
            <a:r>
              <a:rPr kumimoji="1" lang="en-US" altLang="zh-CN" sz="3200" b="1">
                <a:solidFill>
                  <a:schemeClr val="tx1"/>
                </a:solidFill>
                <a:latin typeface="Times New Roman" pitchFamily="18" charset="0"/>
                <a:ea typeface="宋体" charset="-122"/>
              </a:rPr>
              <a:t>0</a:t>
            </a:r>
            <a:r>
              <a:rPr kumimoji="1" lang="zh-CN" altLang="en-US" sz="3200" b="1">
                <a:solidFill>
                  <a:schemeClr val="tx1"/>
                </a:solidFill>
                <a:latin typeface="Times New Roman" pitchFamily="18" charset="0"/>
                <a:ea typeface="宋体" charset="-122"/>
              </a:rPr>
              <a:t>，高位舍弃，如</a:t>
            </a:r>
            <a:r>
              <a:rPr kumimoji="1" lang="en-US" altLang="zh-CN" sz="3200" b="1">
                <a:solidFill>
                  <a:schemeClr val="tx1"/>
                </a:solidFill>
                <a:latin typeface="Times New Roman" pitchFamily="18" charset="0"/>
                <a:ea typeface="宋体" charset="-122"/>
              </a:rPr>
              <a:t>a&lt;&lt;2</a:t>
            </a:r>
            <a:r>
              <a:rPr kumimoji="1" lang="zh-CN" altLang="en-US" sz="3200" b="1">
                <a:solidFill>
                  <a:schemeClr val="tx1"/>
                </a:solidFill>
                <a:latin typeface="Times New Roman" pitchFamily="18" charset="0"/>
                <a:ea typeface="宋体" charset="-122"/>
              </a:rPr>
              <a:t>；</a:t>
            </a:r>
            <a:br>
              <a:rPr kumimoji="1" lang="zh-CN" altLang="en-US" sz="3200" b="1">
                <a:solidFill>
                  <a:schemeClr val="tx1"/>
                </a:solidFill>
                <a:latin typeface="Times New Roman" pitchFamily="18" charset="0"/>
                <a:ea typeface="宋体" charset="-122"/>
              </a:rPr>
            </a:br>
            <a:br>
              <a:rPr kumimoji="1" lang="zh-CN" altLang="en-US" sz="3200" b="1">
                <a:solidFill>
                  <a:schemeClr val="tx1"/>
                </a:solidFill>
                <a:latin typeface="Times New Roman" pitchFamily="18" charset="0"/>
                <a:ea typeface="宋体" charset="-122"/>
              </a:rPr>
            </a:br>
            <a:endParaRPr kumimoji="1" lang="zh-CN" altLang="en-US" sz="3200" b="1">
              <a:solidFill>
                <a:schemeClr val="tx1"/>
              </a:solidFill>
              <a:latin typeface="Times New Roman" pitchFamily="18" charset="0"/>
              <a:ea typeface="宋体" charset="-122"/>
            </a:endParaRP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右移运算（</a:t>
            </a:r>
            <a:r>
              <a:rPr kumimoji="1" lang="en-US" altLang="zh-CN" sz="3200" b="1">
                <a:solidFill>
                  <a:srgbClr val="FF0000"/>
                </a:solidFill>
                <a:latin typeface="Times New Roman" pitchFamily="18" charset="0"/>
                <a:ea typeface="宋体" charset="-122"/>
              </a:rPr>
              <a:t>&gt;&gt;</a:t>
            </a:r>
            <a:r>
              <a:rPr kumimoji="1" lang="zh-CN" altLang="en-US" sz="3200" b="1">
                <a:solidFill>
                  <a:schemeClr val="tx1"/>
                </a:solidFill>
                <a:latin typeface="Times New Roman" pitchFamily="18" charset="0"/>
                <a:ea typeface="宋体" charset="-122"/>
              </a:rPr>
              <a:t>）：右移后，低位舍弃，高位补“符号位”。</a:t>
            </a:r>
          </a:p>
        </p:txBody>
      </p:sp>
      <p:grpSp>
        <p:nvGrpSpPr>
          <p:cNvPr id="11" name="Group 4"/>
          <p:cNvGrpSpPr>
            <a:grpSpLocks/>
          </p:cNvGrpSpPr>
          <p:nvPr/>
        </p:nvGrpSpPr>
        <p:grpSpPr bwMode="auto">
          <a:xfrm>
            <a:off x="3285813" y="2460216"/>
            <a:ext cx="2714625" cy="838200"/>
            <a:chOff x="3570" y="816"/>
            <a:chExt cx="1710" cy="528"/>
          </a:xfrm>
        </p:grpSpPr>
        <p:sp>
          <p:nvSpPr>
            <p:cNvPr id="12" name="Rectangle 5"/>
            <p:cNvSpPr>
              <a:spLocks noChangeArrowheads="1"/>
            </p:cNvSpPr>
            <p:nvPr/>
          </p:nvSpPr>
          <p:spPr bwMode="auto">
            <a:xfrm>
              <a:off x="3648" y="1056"/>
              <a:ext cx="1104" cy="288"/>
            </a:xfrm>
            <a:prstGeom prst="rect">
              <a:avLst/>
            </a:prstGeom>
            <a:noFill/>
            <a:ln w="381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a:ea typeface="宋体" charset="-122"/>
              </a:endParaRPr>
            </a:p>
          </p:txBody>
        </p:sp>
        <p:sp>
          <p:nvSpPr>
            <p:cNvPr id="13" name="Line 6"/>
            <p:cNvSpPr>
              <a:spLocks noChangeShapeType="1"/>
            </p:cNvSpPr>
            <p:nvPr/>
          </p:nvSpPr>
          <p:spPr bwMode="auto">
            <a:xfrm flipH="1">
              <a:off x="4752" y="1200"/>
              <a:ext cx="288"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7"/>
            <p:cNvSpPr>
              <a:spLocks noChangeShapeType="1"/>
            </p:cNvSpPr>
            <p:nvPr/>
          </p:nvSpPr>
          <p:spPr bwMode="auto">
            <a:xfrm flipH="1">
              <a:off x="3696" y="1200"/>
              <a:ext cx="1008"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Text Box 8"/>
            <p:cNvSpPr txBox="1">
              <a:spLocks noChangeArrowheads="1"/>
            </p:cNvSpPr>
            <p:nvPr/>
          </p:nvSpPr>
          <p:spPr bwMode="auto">
            <a:xfrm>
              <a:off x="3570" y="816"/>
              <a:ext cx="12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buClr>
                  <a:schemeClr val="tx1"/>
                </a:buClr>
                <a:buSzPct val="100000"/>
                <a:buFont typeface="Tahoma" pitchFamily="34" charset="0"/>
                <a:buNone/>
              </a:pPr>
              <a:r>
                <a:rPr lang="en-US" altLang="zh-CN" sz="2000" b="1">
                  <a:solidFill>
                    <a:schemeClr val="tx1"/>
                  </a:solidFill>
                  <a:ea typeface="宋体" charset="-122"/>
                </a:rPr>
                <a:t>31                 0</a:t>
              </a:r>
            </a:p>
          </p:txBody>
        </p:sp>
        <p:sp>
          <p:nvSpPr>
            <p:cNvPr id="16" name="Rectangle 9"/>
            <p:cNvSpPr>
              <a:spLocks noChangeArrowheads="1"/>
            </p:cNvSpPr>
            <p:nvPr/>
          </p:nvSpPr>
          <p:spPr bwMode="auto">
            <a:xfrm>
              <a:off x="5042" y="1056"/>
              <a:ext cx="2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ctr" eaLnBrk="1" hangingPunct="1">
                <a:spcBef>
                  <a:spcPct val="50000"/>
                </a:spcBef>
                <a:buClr>
                  <a:schemeClr val="tx1"/>
                </a:buClr>
                <a:buSzPct val="100000"/>
                <a:buFont typeface="Tahoma" pitchFamily="34" charset="0"/>
                <a:buNone/>
              </a:pPr>
              <a:r>
                <a:rPr lang="en-US" altLang="zh-CN" sz="2400" b="1">
                  <a:solidFill>
                    <a:schemeClr val="tx1"/>
                  </a:solidFill>
                  <a:ea typeface="宋体" charset="-122"/>
                </a:rPr>
                <a:t>0</a:t>
              </a:r>
              <a:endParaRPr lang="zh-CN" altLang="en-US" sz="2400" b="1">
                <a:solidFill>
                  <a:schemeClr val="tx1"/>
                </a:solidFill>
                <a:ea typeface="宋体" charset="-122"/>
              </a:endParaRPr>
            </a:p>
          </p:txBody>
        </p:sp>
      </p:grpSp>
      <p:grpSp>
        <p:nvGrpSpPr>
          <p:cNvPr id="17" name="Group 10"/>
          <p:cNvGrpSpPr>
            <a:grpSpLocks/>
          </p:cNvGrpSpPr>
          <p:nvPr/>
        </p:nvGrpSpPr>
        <p:grpSpPr bwMode="auto">
          <a:xfrm>
            <a:off x="3373620" y="4746216"/>
            <a:ext cx="2192338" cy="1066800"/>
            <a:chOff x="3792" y="816"/>
            <a:chExt cx="1381" cy="672"/>
          </a:xfrm>
        </p:grpSpPr>
        <p:sp>
          <p:nvSpPr>
            <p:cNvPr id="18" name="Rectangle 11"/>
            <p:cNvSpPr>
              <a:spLocks noChangeArrowheads="1"/>
            </p:cNvSpPr>
            <p:nvPr/>
          </p:nvSpPr>
          <p:spPr bwMode="auto">
            <a:xfrm>
              <a:off x="4030" y="1056"/>
              <a:ext cx="1104" cy="288"/>
            </a:xfrm>
            <a:prstGeom prst="rect">
              <a:avLst/>
            </a:prstGeom>
            <a:noFill/>
            <a:ln w="381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a:ea typeface="宋体" charset="-122"/>
              </a:endParaRPr>
            </a:p>
          </p:txBody>
        </p:sp>
        <p:sp>
          <p:nvSpPr>
            <p:cNvPr id="19" name="Line 12"/>
            <p:cNvSpPr>
              <a:spLocks noChangeShapeType="1"/>
            </p:cNvSpPr>
            <p:nvPr/>
          </p:nvSpPr>
          <p:spPr bwMode="auto">
            <a:xfrm flipH="1">
              <a:off x="3792" y="1200"/>
              <a:ext cx="238" cy="0"/>
            </a:xfrm>
            <a:prstGeom prst="line">
              <a:avLst/>
            </a:prstGeom>
            <a:noFill/>
            <a:ln w="28575">
              <a:solidFill>
                <a:schemeClr val="tx1"/>
              </a:solidFill>
              <a:round/>
              <a:headEnd type="triangle" w="lg"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3"/>
            <p:cNvSpPr>
              <a:spLocks noChangeShapeType="1"/>
            </p:cNvSpPr>
            <p:nvPr/>
          </p:nvSpPr>
          <p:spPr bwMode="auto">
            <a:xfrm flipH="1">
              <a:off x="4078" y="1200"/>
              <a:ext cx="1008" cy="0"/>
            </a:xfrm>
            <a:prstGeom prst="line">
              <a:avLst/>
            </a:prstGeom>
            <a:noFill/>
            <a:ln w="28575">
              <a:solidFill>
                <a:schemeClr val="tx1"/>
              </a:solidFill>
              <a:round/>
              <a:headEnd type="triangle" w="lg"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Text Box 14"/>
            <p:cNvSpPr txBox="1">
              <a:spLocks noChangeArrowheads="1"/>
            </p:cNvSpPr>
            <p:nvPr/>
          </p:nvSpPr>
          <p:spPr bwMode="auto">
            <a:xfrm>
              <a:off x="3952" y="816"/>
              <a:ext cx="12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buClr>
                  <a:schemeClr val="tx1"/>
                </a:buClr>
                <a:buSzPct val="100000"/>
                <a:buFont typeface="Tahoma" pitchFamily="34" charset="0"/>
                <a:buNone/>
              </a:pPr>
              <a:r>
                <a:rPr lang="en-US" altLang="zh-CN" sz="2000" b="1">
                  <a:solidFill>
                    <a:schemeClr val="tx1"/>
                  </a:solidFill>
                  <a:ea typeface="宋体" charset="-122"/>
                </a:rPr>
                <a:t>31                 0</a:t>
              </a:r>
            </a:p>
          </p:txBody>
        </p:sp>
        <p:sp>
          <p:nvSpPr>
            <p:cNvPr id="22" name="Line 15"/>
            <p:cNvSpPr>
              <a:spLocks noChangeShapeType="1"/>
            </p:cNvSpPr>
            <p:nvPr/>
          </p:nvSpPr>
          <p:spPr bwMode="auto">
            <a:xfrm>
              <a:off x="4128" y="1344"/>
              <a:ext cx="0" cy="1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6"/>
            <p:cNvSpPr>
              <a:spLocks noChangeShapeType="1"/>
            </p:cNvSpPr>
            <p:nvPr/>
          </p:nvSpPr>
          <p:spPr bwMode="auto">
            <a:xfrm flipH="1">
              <a:off x="3792" y="1488"/>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17"/>
            <p:cNvSpPr>
              <a:spLocks noChangeShapeType="1"/>
            </p:cNvSpPr>
            <p:nvPr/>
          </p:nvSpPr>
          <p:spPr bwMode="auto">
            <a:xfrm flipV="1">
              <a:off x="3792" y="1200"/>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406038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500"/>
                                        <p:tgtEl>
                                          <p:spTgt spid="8">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8">
                                            <p:txEl>
                                              <p:pRg st="1" end="1"/>
                                            </p:txEl>
                                          </p:spTgt>
                                        </p:tgtEl>
                                        <p:attrNameLst>
                                          <p:attrName>style.visibility</p:attrName>
                                        </p:attrNameLst>
                                      </p:cBhvr>
                                      <p:to>
                                        <p:strVal val="visible"/>
                                      </p:to>
                                    </p:set>
                                    <p:animEffect transition="in" filter="checkerboard(across)">
                                      <p:cBhvr>
                                        <p:cTn id="16" dur="500"/>
                                        <p:tgtEl>
                                          <p:spTgt spid="8">
                                            <p:txEl>
                                              <p:pRg st="1" end="1"/>
                                            </p:txEl>
                                          </p:spTgt>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dissolve">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问题分析</a:t>
            </a:r>
            <a:r>
              <a:rPr lang="en-US" altLang="zh-CN" sz="4800" noProof="0">
                <a:solidFill>
                  <a:schemeClr val="accent2"/>
                </a:solidFill>
                <a:latin typeface="隶书" pitchFamily="49" charset="-122"/>
                <a:ea typeface="隶书" pitchFamily="49" charset="-122"/>
              </a:rPr>
              <a:t>(2)</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2"/>
          <p:cNvSpPr>
            <a:spLocks noChangeArrowheads="1"/>
          </p:cNvSpPr>
          <p:nvPr/>
        </p:nvSpPr>
        <p:spPr bwMode="auto">
          <a:xfrm>
            <a:off x="381000" y="1676400"/>
            <a:ext cx="10458796"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对一个整数，如</a:t>
            </a:r>
            <a:r>
              <a:rPr kumimoji="1" lang="en-US" altLang="zh-CN" sz="3200" b="1">
                <a:solidFill>
                  <a:schemeClr val="tx1"/>
                </a:solidFill>
                <a:latin typeface="Times New Roman" pitchFamily="18" charset="0"/>
                <a:ea typeface="宋体" charset="-122"/>
              </a:rPr>
              <a:t>0x119FDEC7</a:t>
            </a:r>
            <a:r>
              <a:rPr kumimoji="1" lang="zh-CN" altLang="en-US" sz="3200" b="1">
                <a:solidFill>
                  <a:schemeClr val="tx1"/>
                </a:solidFill>
                <a:latin typeface="Times New Roman" pitchFamily="18" charset="0"/>
                <a:ea typeface="宋体" charset="-122"/>
              </a:rPr>
              <a:t>，如何把</a:t>
            </a:r>
            <a:r>
              <a:rPr kumimoji="1" lang="zh-CN" altLang="en-US" sz="3200" b="1">
                <a:latin typeface="Times New Roman" pitchFamily="18" charset="0"/>
                <a:ea typeface="宋体" charset="-122"/>
              </a:rPr>
              <a:t>低</a:t>
            </a:r>
            <a:r>
              <a:rPr kumimoji="1" lang="en-US" altLang="zh-CN" sz="3200" b="1">
                <a:solidFill>
                  <a:schemeClr val="tx1"/>
                </a:solidFill>
                <a:latin typeface="Times New Roman" pitchFamily="18" charset="0"/>
                <a:ea typeface="宋体" charset="-122"/>
              </a:rPr>
              <a:t>28</a:t>
            </a:r>
            <a:r>
              <a:rPr kumimoji="1" lang="zh-CN" altLang="en-US" sz="3200" b="1">
                <a:solidFill>
                  <a:schemeClr val="tx1"/>
                </a:solidFill>
                <a:latin typeface="Times New Roman" pitchFamily="18" charset="0"/>
                <a:ea typeface="宋体" charset="-122"/>
              </a:rPr>
              <a:t>位“有效数字”（</a:t>
            </a:r>
            <a:r>
              <a:rPr kumimoji="1" lang="en-US" altLang="zh-CN" sz="3200" b="1">
                <a:solidFill>
                  <a:schemeClr val="tx1"/>
                </a:solidFill>
                <a:latin typeface="Times New Roman" pitchFamily="18" charset="0"/>
                <a:ea typeface="宋体" charset="-122"/>
              </a:rPr>
              <a:t>0x19FDEC7</a:t>
            </a:r>
            <a:r>
              <a:rPr kumimoji="1" lang="zh-CN" altLang="en-US" sz="3200" b="1">
                <a:solidFill>
                  <a:schemeClr val="tx1"/>
                </a:solidFill>
                <a:latin typeface="Times New Roman" pitchFamily="18" charset="0"/>
                <a:ea typeface="宋体" charset="-122"/>
              </a:rPr>
              <a:t>）剥离出来？</a:t>
            </a:r>
            <a:br>
              <a:rPr kumimoji="1" lang="zh-CN" altLang="en-US" sz="3200" b="1">
                <a:solidFill>
                  <a:schemeClr val="tx1"/>
                </a:solidFill>
                <a:latin typeface="Times New Roman" pitchFamily="18" charset="0"/>
                <a:ea typeface="宋体" charset="-122"/>
              </a:rPr>
            </a:br>
            <a:endParaRPr kumimoji="1" lang="zh-CN" altLang="en-US" sz="3200" b="1">
              <a:solidFill>
                <a:schemeClr val="tx1"/>
              </a:solidFill>
              <a:latin typeface="Times New Roman" pitchFamily="18" charset="0"/>
              <a:ea typeface="宋体" charset="-122"/>
            </a:endParaRP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如何把高</a:t>
            </a:r>
            <a:r>
              <a:rPr kumimoji="1" lang="en-US" altLang="zh-CN" sz="3200" b="1">
                <a:solidFill>
                  <a:schemeClr val="tx1"/>
                </a:solidFill>
                <a:latin typeface="Times New Roman" pitchFamily="18" charset="0"/>
                <a:ea typeface="宋体" charset="-122"/>
              </a:rPr>
              <a:t>4</a:t>
            </a:r>
            <a:r>
              <a:rPr kumimoji="1" lang="zh-CN" altLang="en-US" sz="3200" b="1">
                <a:solidFill>
                  <a:schemeClr val="tx1"/>
                </a:solidFill>
                <a:latin typeface="Times New Roman" pitchFamily="18" charset="0"/>
                <a:ea typeface="宋体" charset="-122"/>
              </a:rPr>
              <a:t>位“指数部分”</a:t>
            </a:r>
            <a:r>
              <a:rPr kumimoji="1" lang="en-US" altLang="zh-CN" sz="3200" b="1">
                <a:solidFill>
                  <a:schemeClr val="tx1"/>
                </a:solidFill>
                <a:latin typeface="Times New Roman" pitchFamily="18" charset="0"/>
                <a:ea typeface="宋体" charset="-122"/>
              </a:rPr>
              <a:t>(0x1)</a:t>
            </a:r>
            <a:r>
              <a:rPr kumimoji="1" lang="zh-CN" altLang="en-US" sz="3200" b="1">
                <a:solidFill>
                  <a:schemeClr val="tx1"/>
                </a:solidFill>
                <a:latin typeface="Times New Roman" pitchFamily="18" charset="0"/>
                <a:ea typeface="宋体" charset="-122"/>
              </a:rPr>
              <a:t>剥出来？</a:t>
            </a:r>
            <a:br>
              <a:rPr kumimoji="1" lang="zh-CN" altLang="en-US" sz="3200" b="1">
                <a:solidFill>
                  <a:schemeClr val="tx1"/>
                </a:solidFill>
                <a:latin typeface="Times New Roman" pitchFamily="18" charset="0"/>
                <a:ea typeface="宋体" charset="-122"/>
              </a:rPr>
            </a:br>
            <a:endParaRPr kumimoji="1" lang="zh-CN" altLang="en-US" sz="3200" b="1">
              <a:solidFill>
                <a:schemeClr val="tx1"/>
              </a:solidFill>
              <a:latin typeface="Times New Roman" pitchFamily="18" charset="0"/>
              <a:ea typeface="宋体" charset="-122"/>
            </a:endParaRP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如何将一个数乘以</a:t>
            </a:r>
            <a:r>
              <a:rPr kumimoji="1" lang="en-US" altLang="zh-CN" sz="3200" b="1">
                <a:solidFill>
                  <a:schemeClr val="tx1"/>
                </a:solidFill>
                <a:latin typeface="Times New Roman" pitchFamily="18" charset="0"/>
                <a:ea typeface="宋体" charset="-122"/>
              </a:rPr>
              <a:t>10</a:t>
            </a:r>
            <a:r>
              <a:rPr kumimoji="1" lang="en-US" altLang="zh-CN" sz="3200" b="1" baseline="30000">
                <a:solidFill>
                  <a:schemeClr val="tx1"/>
                </a:solidFill>
                <a:latin typeface="Times New Roman" pitchFamily="18" charset="0"/>
                <a:ea typeface="宋体" charset="-122"/>
              </a:rPr>
              <a:t>N</a:t>
            </a:r>
            <a:r>
              <a:rPr kumimoji="1" lang="zh-CN" altLang="en-US" sz="3200" b="1">
                <a:solidFill>
                  <a:schemeClr val="tx1"/>
                </a:solidFill>
                <a:latin typeface="Times New Roman" pitchFamily="18" charset="0"/>
                <a:ea typeface="宋体" charset="-122"/>
              </a:rPr>
              <a:t>或除以</a:t>
            </a:r>
            <a:r>
              <a:rPr kumimoji="1" lang="en-US" altLang="zh-CN" sz="3200" b="1">
                <a:solidFill>
                  <a:schemeClr val="tx1"/>
                </a:solidFill>
                <a:latin typeface="Times New Roman" pitchFamily="18" charset="0"/>
                <a:ea typeface="宋体" charset="-122"/>
              </a:rPr>
              <a:t>10</a:t>
            </a:r>
            <a:r>
              <a:rPr kumimoji="1" lang="en-US" altLang="zh-CN" sz="3200" b="1" baseline="30000">
                <a:solidFill>
                  <a:schemeClr val="tx1"/>
                </a:solidFill>
                <a:latin typeface="Times New Roman" pitchFamily="18" charset="0"/>
                <a:ea typeface="宋体" charset="-122"/>
              </a:rPr>
              <a:t>N</a:t>
            </a:r>
            <a:r>
              <a:rPr kumimoji="1" lang="zh-CN" altLang="en-US" sz="3200" b="1">
                <a:solidFill>
                  <a:schemeClr val="tx1"/>
                </a:solidFill>
                <a:latin typeface="Times New Roman" pitchFamily="18" charset="0"/>
                <a:ea typeface="宋体" charset="-122"/>
              </a:rPr>
              <a:t>？</a:t>
            </a:r>
          </a:p>
        </p:txBody>
      </p:sp>
      <p:sp>
        <p:nvSpPr>
          <p:cNvPr id="11" name="Rectangle 4"/>
          <p:cNvSpPr>
            <a:spLocks noChangeArrowheads="1"/>
          </p:cNvSpPr>
          <p:nvPr/>
        </p:nvSpPr>
        <p:spPr bwMode="auto">
          <a:xfrm>
            <a:off x="1409700" y="2789974"/>
            <a:ext cx="462819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none">
            <a:spAutoFit/>
          </a:bodyPr>
          <a:lstStyle/>
          <a:p>
            <a:pPr eaLnBrk="1" hangingPunct="1">
              <a:buNone/>
            </a:pPr>
            <a:r>
              <a:rPr lang="en-US" altLang="zh-CN" sz="3200" b="1">
                <a:solidFill>
                  <a:srgbClr val="990000"/>
                </a:solidFill>
                <a:latin typeface="Courier New" pitchFamily="49" charset="0"/>
                <a:ea typeface="宋体" charset="-122"/>
              </a:rPr>
              <a:t>value &amp; 0x0FFFFFFF</a:t>
            </a:r>
            <a:endParaRPr lang="zh-CN" altLang="en-US" sz="3200" b="1">
              <a:solidFill>
                <a:srgbClr val="990000"/>
              </a:solidFill>
              <a:latin typeface="Courier New" pitchFamily="49" charset="0"/>
              <a:ea typeface="宋体" charset="-122"/>
            </a:endParaRPr>
          </a:p>
        </p:txBody>
      </p:sp>
      <p:sp>
        <p:nvSpPr>
          <p:cNvPr id="12" name="Rectangle 5"/>
          <p:cNvSpPr>
            <a:spLocks noChangeArrowheads="1"/>
          </p:cNvSpPr>
          <p:nvPr/>
        </p:nvSpPr>
        <p:spPr bwMode="auto">
          <a:xfrm>
            <a:off x="1409700" y="4042426"/>
            <a:ext cx="290015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none">
            <a:spAutoFit/>
          </a:bodyPr>
          <a:lstStyle/>
          <a:p>
            <a:pPr eaLnBrk="1" hangingPunct="1">
              <a:buNone/>
            </a:pPr>
            <a:r>
              <a:rPr lang="en-US" altLang="zh-CN" sz="3200" b="1">
                <a:solidFill>
                  <a:srgbClr val="990000"/>
                </a:solidFill>
                <a:latin typeface="Courier New" pitchFamily="49" charset="0"/>
                <a:ea typeface="宋体" charset="-122"/>
              </a:rPr>
              <a:t>value &gt;&gt; 28</a:t>
            </a:r>
            <a:endParaRPr lang="zh-CN" altLang="en-US" sz="3200" b="1">
              <a:solidFill>
                <a:srgbClr val="990000"/>
              </a:solidFill>
              <a:latin typeface="Courier New" pitchFamily="49" charset="0"/>
              <a:ea typeface="宋体" charset="-122"/>
            </a:endParaRPr>
          </a:p>
        </p:txBody>
      </p:sp>
    </p:spTree>
    <p:extLst>
      <p:ext uri="{BB962C8B-B14F-4D97-AF65-F5344CB8AC3E}">
        <p14:creationId xmlns:p14="http://schemas.microsoft.com/office/powerpoint/2010/main" val="223830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Effect transition="in" filter="checkerboard(across)">
                                      <p:cBhvr>
                                        <p:cTn id="18" dur="500"/>
                                        <p:tgtEl>
                                          <p:spTgt spid="8">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animEffect transition="in" filter="checkerboard(across)">
                                      <p:cBhvr>
                                        <p:cTn id="29"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1" grpId="0"/>
      <p:bldP spid="1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参考</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3" name="Rectangle 2"/>
          <p:cNvSpPr>
            <a:spLocks noChangeArrowheads="1"/>
          </p:cNvSpPr>
          <p:nvPr/>
        </p:nvSpPr>
        <p:spPr bwMode="auto">
          <a:xfrm>
            <a:off x="1306509" y="1227820"/>
            <a:ext cx="8229600" cy="520142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spcBef>
                <a:spcPts val="200"/>
              </a:spcBef>
              <a:buNone/>
            </a:pPr>
            <a:r>
              <a:rPr kumimoji="1" lang="en-US" altLang="zh-CN" sz="2400" b="1">
                <a:latin typeface="Courier New" pitchFamily="49" charset="0"/>
                <a:ea typeface="宋体" charset="-122"/>
              </a:rPr>
              <a:t>value = input()</a:t>
            </a:r>
            <a:endParaRPr kumimoji="1" lang="en-US" altLang="zh-CN" sz="2400" b="1">
              <a:solidFill>
                <a:schemeClr val="tx1"/>
              </a:solidFill>
              <a:latin typeface="Courier New" pitchFamily="49" charset="0"/>
              <a:ea typeface="宋体" charset="-122"/>
            </a:endParaRPr>
          </a:p>
          <a:p>
            <a:pPr eaLnBrk="1" hangingPunct="1">
              <a:spcBef>
                <a:spcPts val="200"/>
              </a:spcBef>
              <a:buNone/>
            </a:pPr>
            <a:r>
              <a:rPr kumimoji="1" lang="en-US" altLang="zh-CN" sz="2400" b="1">
                <a:solidFill>
                  <a:schemeClr val="tx1"/>
                </a:solidFill>
                <a:latin typeface="Courier New" pitchFamily="49" charset="0"/>
                <a:ea typeface="宋体" charset="-122"/>
              </a:rPr>
              <a:t>value = int(value, 16)  </a:t>
            </a:r>
            <a:r>
              <a:rPr kumimoji="1" lang="en-US" altLang="zh-CN" sz="2400" b="1">
                <a:solidFill>
                  <a:srgbClr val="00B050"/>
                </a:solidFill>
                <a:latin typeface="Courier New" pitchFamily="49" charset="0"/>
                <a:ea typeface="宋体" charset="-122"/>
              </a:rPr>
              <a:t>#</a:t>
            </a:r>
            <a:r>
              <a:rPr kumimoji="1" lang="zh-CN" altLang="en-US" sz="2400" b="1">
                <a:solidFill>
                  <a:srgbClr val="00B050"/>
                </a:solidFill>
                <a:latin typeface="Courier New" pitchFamily="49" charset="0"/>
                <a:ea typeface="宋体" charset="-122"/>
              </a:rPr>
              <a:t>十六进制</a:t>
            </a:r>
            <a:endParaRPr kumimoji="1" lang="en-US" altLang="zh-CN" sz="2400" b="1">
              <a:solidFill>
                <a:srgbClr val="00B050"/>
              </a:solidFill>
              <a:latin typeface="Courier New" pitchFamily="49" charset="0"/>
              <a:ea typeface="宋体" charset="-122"/>
            </a:endParaRPr>
          </a:p>
          <a:p>
            <a:pPr eaLnBrk="1" hangingPunct="1">
              <a:spcBef>
                <a:spcPts val="200"/>
              </a:spcBef>
              <a:buNone/>
            </a:pPr>
            <a:r>
              <a:rPr kumimoji="1" lang="en-US" altLang="zh-CN" sz="2400" b="1">
                <a:solidFill>
                  <a:schemeClr val="tx1"/>
                </a:solidFill>
                <a:latin typeface="Courier New" pitchFamily="49" charset="0"/>
                <a:ea typeface="宋体" charset="-122"/>
              </a:rPr>
              <a:t>N = value &gt;&gt; 28</a:t>
            </a:r>
          </a:p>
          <a:p>
            <a:pPr eaLnBrk="1" hangingPunct="1">
              <a:spcBef>
                <a:spcPts val="200"/>
              </a:spcBef>
              <a:buNone/>
            </a:pPr>
            <a:r>
              <a:rPr kumimoji="1" lang="en-US" altLang="zh-CN" sz="2400" b="1">
                <a:solidFill>
                  <a:schemeClr val="tx1"/>
                </a:solidFill>
                <a:latin typeface="Courier New" pitchFamily="49" charset="0"/>
                <a:ea typeface="宋体" charset="-122"/>
              </a:rPr>
              <a:t>result = value &amp; 0x0FFFFFFF</a:t>
            </a:r>
          </a:p>
          <a:p>
            <a:pPr eaLnBrk="1" hangingPunct="1">
              <a:spcBef>
                <a:spcPts val="200"/>
              </a:spcBef>
              <a:buNone/>
            </a:pPr>
            <a:r>
              <a:rPr kumimoji="1" lang="en-US" altLang="zh-CN" sz="2400" b="1">
                <a:solidFill>
                  <a:schemeClr val="tx1"/>
                </a:solidFill>
                <a:latin typeface="Courier New" pitchFamily="49" charset="0"/>
                <a:ea typeface="宋体" charset="-122"/>
              </a:rPr>
              <a:t>if N &gt; 8 </a:t>
            </a:r>
            <a:r>
              <a:rPr kumimoji="1" lang="en-US" altLang="zh-CN" sz="2400" b="1">
                <a:latin typeface="Courier New" pitchFamily="49" charset="0"/>
                <a:ea typeface="宋体" charset="-122"/>
              </a:rPr>
              <a:t>:</a:t>
            </a:r>
            <a:endParaRPr kumimoji="1" lang="en-US" altLang="zh-CN" sz="2400" b="1">
              <a:solidFill>
                <a:schemeClr val="tx1"/>
              </a:solidFill>
              <a:latin typeface="Courier New" pitchFamily="49" charset="0"/>
              <a:ea typeface="宋体" charset="-122"/>
            </a:endParaRPr>
          </a:p>
          <a:p>
            <a:pPr eaLnBrk="1" hangingPunct="1">
              <a:spcBef>
                <a:spcPts val="200"/>
              </a:spcBef>
              <a:buNone/>
            </a:pPr>
            <a:r>
              <a:rPr kumimoji="1" lang="en-US" altLang="zh-CN" sz="2400" b="1">
                <a:solidFill>
                  <a:schemeClr val="tx1"/>
                </a:solidFill>
                <a:latin typeface="Courier New" pitchFamily="49" charset="0"/>
                <a:ea typeface="宋体" charset="-122"/>
              </a:rPr>
              <a:t>    N = N - 8</a:t>
            </a:r>
          </a:p>
          <a:p>
            <a:pPr eaLnBrk="1" hangingPunct="1">
              <a:spcBef>
                <a:spcPts val="200"/>
              </a:spcBef>
              <a:buNone/>
            </a:pPr>
            <a:r>
              <a:rPr kumimoji="1" lang="en-US" altLang="zh-CN" sz="2400" b="1">
                <a:solidFill>
                  <a:schemeClr val="tx1"/>
                </a:solidFill>
                <a:latin typeface="Courier New" pitchFamily="49" charset="0"/>
                <a:ea typeface="宋体" charset="-122"/>
              </a:rPr>
              <a:t>    for i in range (1, N+1) :</a:t>
            </a:r>
          </a:p>
          <a:p>
            <a:pPr eaLnBrk="1" hangingPunct="1">
              <a:spcBef>
                <a:spcPts val="200"/>
              </a:spcBef>
              <a:buNone/>
            </a:pPr>
            <a:r>
              <a:rPr kumimoji="1" lang="en-US" altLang="zh-CN" sz="2400" b="1">
                <a:latin typeface="Courier New" pitchFamily="49" charset="0"/>
                <a:ea typeface="宋体" charset="-122"/>
              </a:rPr>
              <a:t>        </a:t>
            </a:r>
            <a:r>
              <a:rPr kumimoji="1" lang="en-US" altLang="zh-CN" sz="2400" b="1">
                <a:solidFill>
                  <a:schemeClr val="tx1"/>
                </a:solidFill>
                <a:latin typeface="Courier New" pitchFamily="49" charset="0"/>
                <a:ea typeface="宋体" charset="-122"/>
              </a:rPr>
              <a:t>result = result / 10</a:t>
            </a:r>
          </a:p>
          <a:p>
            <a:pPr eaLnBrk="1" hangingPunct="1">
              <a:spcBef>
                <a:spcPts val="200"/>
              </a:spcBef>
              <a:buNone/>
            </a:pPr>
            <a:r>
              <a:rPr kumimoji="1" lang="en-US" altLang="zh-CN" sz="2400" b="1">
                <a:solidFill>
                  <a:schemeClr val="tx1"/>
                </a:solidFill>
                <a:latin typeface="Courier New" pitchFamily="49" charset="0"/>
                <a:ea typeface="宋体" charset="-122"/>
              </a:rPr>
              <a:t>else :</a:t>
            </a:r>
          </a:p>
          <a:p>
            <a:pPr eaLnBrk="1" hangingPunct="1">
              <a:spcBef>
                <a:spcPts val="200"/>
              </a:spcBef>
              <a:buNone/>
            </a:pPr>
            <a:r>
              <a:rPr kumimoji="1" lang="en-US" altLang="zh-CN" sz="2400" b="1">
                <a:solidFill>
                  <a:schemeClr val="tx1"/>
                </a:solidFill>
                <a:latin typeface="Courier New" pitchFamily="49" charset="0"/>
                <a:ea typeface="宋体" charset="-122"/>
              </a:rPr>
              <a:t>    for i in range(1, N+1) :</a:t>
            </a:r>
          </a:p>
          <a:p>
            <a:pPr eaLnBrk="1" hangingPunct="1">
              <a:spcBef>
                <a:spcPts val="200"/>
              </a:spcBef>
              <a:buNone/>
            </a:pPr>
            <a:r>
              <a:rPr kumimoji="1" lang="en-US" altLang="zh-CN" sz="2400" b="1">
                <a:latin typeface="Courier New" pitchFamily="49" charset="0"/>
                <a:ea typeface="宋体" charset="-122"/>
              </a:rPr>
              <a:t>     </a:t>
            </a:r>
            <a:r>
              <a:rPr kumimoji="1" lang="en-US" altLang="zh-CN" sz="2400" b="1">
                <a:solidFill>
                  <a:schemeClr val="tx1"/>
                </a:solidFill>
                <a:latin typeface="Courier New" pitchFamily="49" charset="0"/>
                <a:ea typeface="宋体" charset="-122"/>
              </a:rPr>
              <a:t>   result = result * 10</a:t>
            </a:r>
          </a:p>
          <a:p>
            <a:pPr eaLnBrk="1" hangingPunct="1">
              <a:spcBef>
                <a:spcPts val="200"/>
              </a:spcBef>
              <a:buNone/>
            </a:pPr>
            <a:endParaRPr kumimoji="1" lang="en-US" altLang="zh-CN" sz="2400" b="1">
              <a:solidFill>
                <a:schemeClr val="tx1"/>
              </a:solidFill>
              <a:latin typeface="Courier New" pitchFamily="49" charset="0"/>
              <a:ea typeface="宋体" charset="-122"/>
            </a:endParaRPr>
          </a:p>
          <a:p>
            <a:pPr eaLnBrk="1" hangingPunct="1">
              <a:spcBef>
                <a:spcPts val="200"/>
              </a:spcBef>
              <a:buNone/>
            </a:pPr>
            <a:r>
              <a:rPr kumimoji="1" lang="en-US" altLang="zh-CN" sz="2400" b="1">
                <a:solidFill>
                  <a:schemeClr val="tx1"/>
                </a:solidFill>
                <a:latin typeface="Courier New" pitchFamily="49" charset="0"/>
                <a:ea typeface="宋体" charset="-122"/>
              </a:rPr>
              <a:t>print(result)</a:t>
            </a:r>
          </a:p>
        </p:txBody>
      </p:sp>
      <p:sp>
        <p:nvSpPr>
          <p:cNvPr id="14" name="Text Box 3"/>
          <p:cNvSpPr txBox="1">
            <a:spLocks noChangeArrowheads="1"/>
          </p:cNvSpPr>
          <p:nvPr/>
        </p:nvSpPr>
        <p:spPr bwMode="auto">
          <a:xfrm>
            <a:off x="9768578" y="2370194"/>
            <a:ext cx="14065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type="none" w="sm" len="sm"/>
                <a:tailEnd type="none" w="sm" len="sm"/>
              </a14:hiddenLine>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buNone/>
            </a:pPr>
            <a:r>
              <a:rPr lang="zh-CN" altLang="en-US" b="1">
                <a:solidFill>
                  <a:srgbClr val="FF0000"/>
                </a:solidFill>
                <a:ea typeface="宋体" charset="-122"/>
              </a:rPr>
              <a:t>测试</a:t>
            </a:r>
            <a:r>
              <a:rPr lang="en-US" altLang="zh-CN" b="1">
                <a:solidFill>
                  <a:srgbClr val="FF0000"/>
                </a:solidFill>
                <a:ea typeface="宋体" charset="-122"/>
              </a:rPr>
              <a:t>…</a:t>
            </a:r>
          </a:p>
        </p:txBody>
      </p:sp>
    </p:spTree>
    <p:extLst>
      <p:ext uri="{BB962C8B-B14F-4D97-AF65-F5344CB8AC3E}">
        <p14:creationId xmlns:p14="http://schemas.microsoft.com/office/powerpoint/2010/main" val="261156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dissolv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dissolv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dissolve">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dissolve">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dissolve">
                                      <p:cBhvr>
                                        <p:cTn id="27" dur="500"/>
                                        <p:tgtEl>
                                          <p:spTgt spid="13">
                                            <p:txEl>
                                              <p:pRg st="4" end="4"/>
                                            </p:txEl>
                                          </p:spTgt>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13">
                                            <p:txEl>
                                              <p:pRg st="5" end="5"/>
                                            </p:txEl>
                                          </p:spTgt>
                                        </p:tgtEl>
                                        <p:attrNameLst>
                                          <p:attrName>style.visibility</p:attrName>
                                        </p:attrNameLst>
                                      </p:cBhvr>
                                      <p:to>
                                        <p:strVal val="visible"/>
                                      </p:to>
                                    </p:set>
                                    <p:animEffect transition="in" filter="dissolve">
                                      <p:cBhvr>
                                        <p:cTn id="31" dur="500"/>
                                        <p:tgtEl>
                                          <p:spTgt spid="1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3">
                                            <p:txEl>
                                              <p:pRg st="6" end="6"/>
                                            </p:txEl>
                                          </p:spTgt>
                                        </p:tgtEl>
                                        <p:attrNameLst>
                                          <p:attrName>style.visibility</p:attrName>
                                        </p:attrNameLst>
                                      </p:cBhvr>
                                      <p:to>
                                        <p:strVal val="visible"/>
                                      </p:to>
                                    </p:set>
                                    <p:animEffect transition="in" filter="dissolve">
                                      <p:cBhvr>
                                        <p:cTn id="36" dur="500"/>
                                        <p:tgtEl>
                                          <p:spTgt spid="13">
                                            <p:txEl>
                                              <p:pRg st="6" end="6"/>
                                            </p:txEl>
                                          </p:spTgt>
                                        </p:tgtEl>
                                      </p:cBhvr>
                                    </p:animEffect>
                                  </p:childTnLst>
                                </p:cTn>
                              </p:par>
                            </p:childTnLst>
                          </p:cTn>
                        </p:par>
                        <p:par>
                          <p:cTn id="37" fill="hold">
                            <p:stCondLst>
                              <p:cond delay="500"/>
                            </p:stCondLst>
                            <p:childTnLst>
                              <p:par>
                                <p:cTn id="38" presetID="9" presetClass="entr" presetSubtype="0" fill="hold" nodeType="afterEffect">
                                  <p:stCondLst>
                                    <p:cond delay="0"/>
                                  </p:stCondLst>
                                  <p:childTnLst>
                                    <p:set>
                                      <p:cBhvr>
                                        <p:cTn id="39" dur="1" fill="hold">
                                          <p:stCondLst>
                                            <p:cond delay="0"/>
                                          </p:stCondLst>
                                        </p:cTn>
                                        <p:tgtEl>
                                          <p:spTgt spid="13">
                                            <p:txEl>
                                              <p:pRg st="7" end="7"/>
                                            </p:txEl>
                                          </p:spTgt>
                                        </p:tgtEl>
                                        <p:attrNameLst>
                                          <p:attrName>style.visibility</p:attrName>
                                        </p:attrNameLst>
                                      </p:cBhvr>
                                      <p:to>
                                        <p:strVal val="visible"/>
                                      </p:to>
                                    </p:set>
                                    <p:animEffect transition="in" filter="dissolve">
                                      <p:cBhvr>
                                        <p:cTn id="40" dur="500"/>
                                        <p:tgtEl>
                                          <p:spTgt spid="1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13">
                                            <p:txEl>
                                              <p:pRg st="8" end="8"/>
                                            </p:txEl>
                                          </p:spTgt>
                                        </p:tgtEl>
                                        <p:attrNameLst>
                                          <p:attrName>style.visibility</p:attrName>
                                        </p:attrNameLst>
                                      </p:cBhvr>
                                      <p:to>
                                        <p:strVal val="visible"/>
                                      </p:to>
                                    </p:set>
                                    <p:animEffect transition="in" filter="dissolve">
                                      <p:cBhvr>
                                        <p:cTn id="45" dur="500"/>
                                        <p:tgtEl>
                                          <p:spTgt spid="13">
                                            <p:txEl>
                                              <p:pRg st="8" end="8"/>
                                            </p:txEl>
                                          </p:spTgt>
                                        </p:tgtEl>
                                      </p:cBhvr>
                                    </p:animEffect>
                                  </p:childTnLst>
                                </p:cTn>
                              </p:par>
                            </p:childTnLst>
                          </p:cTn>
                        </p:par>
                        <p:par>
                          <p:cTn id="46" fill="hold">
                            <p:stCondLst>
                              <p:cond delay="500"/>
                            </p:stCondLst>
                            <p:childTnLst>
                              <p:par>
                                <p:cTn id="47" presetID="9" presetClass="entr" presetSubtype="0" fill="hold" nodeType="afterEffect">
                                  <p:stCondLst>
                                    <p:cond delay="0"/>
                                  </p:stCondLst>
                                  <p:childTnLst>
                                    <p:set>
                                      <p:cBhvr>
                                        <p:cTn id="48" dur="1" fill="hold">
                                          <p:stCondLst>
                                            <p:cond delay="0"/>
                                          </p:stCondLst>
                                        </p:cTn>
                                        <p:tgtEl>
                                          <p:spTgt spid="13">
                                            <p:txEl>
                                              <p:pRg st="9" end="9"/>
                                            </p:txEl>
                                          </p:spTgt>
                                        </p:tgtEl>
                                        <p:attrNameLst>
                                          <p:attrName>style.visibility</p:attrName>
                                        </p:attrNameLst>
                                      </p:cBhvr>
                                      <p:to>
                                        <p:strVal val="visible"/>
                                      </p:to>
                                    </p:set>
                                    <p:animEffect transition="in" filter="dissolve">
                                      <p:cBhvr>
                                        <p:cTn id="49" dur="500"/>
                                        <p:tgtEl>
                                          <p:spTgt spid="13">
                                            <p:txEl>
                                              <p:pRg st="9" end="9"/>
                                            </p:txEl>
                                          </p:spTgt>
                                        </p:tgtEl>
                                      </p:cBhvr>
                                    </p:animEffect>
                                  </p:childTnLst>
                                </p:cTn>
                              </p:par>
                            </p:childTnLst>
                          </p:cTn>
                        </p:par>
                        <p:par>
                          <p:cTn id="50" fill="hold">
                            <p:stCondLst>
                              <p:cond delay="1000"/>
                            </p:stCondLst>
                            <p:childTnLst>
                              <p:par>
                                <p:cTn id="51" presetID="9" presetClass="entr" presetSubtype="0" fill="hold" nodeType="afterEffect">
                                  <p:stCondLst>
                                    <p:cond delay="0"/>
                                  </p:stCondLst>
                                  <p:childTnLst>
                                    <p:set>
                                      <p:cBhvr>
                                        <p:cTn id="52" dur="1" fill="hold">
                                          <p:stCondLst>
                                            <p:cond delay="0"/>
                                          </p:stCondLst>
                                        </p:cTn>
                                        <p:tgtEl>
                                          <p:spTgt spid="13">
                                            <p:txEl>
                                              <p:pRg st="10" end="10"/>
                                            </p:txEl>
                                          </p:spTgt>
                                        </p:tgtEl>
                                        <p:attrNameLst>
                                          <p:attrName>style.visibility</p:attrName>
                                        </p:attrNameLst>
                                      </p:cBhvr>
                                      <p:to>
                                        <p:strVal val="visible"/>
                                      </p:to>
                                    </p:set>
                                    <p:animEffect transition="in" filter="dissolve">
                                      <p:cBhvr>
                                        <p:cTn id="53" dur="500"/>
                                        <p:tgtEl>
                                          <p:spTgt spid="13">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nodeType="clickEffect">
                                  <p:stCondLst>
                                    <p:cond delay="0"/>
                                  </p:stCondLst>
                                  <p:childTnLst>
                                    <p:set>
                                      <p:cBhvr>
                                        <p:cTn id="57" dur="1" fill="hold">
                                          <p:stCondLst>
                                            <p:cond delay="0"/>
                                          </p:stCondLst>
                                        </p:cTn>
                                        <p:tgtEl>
                                          <p:spTgt spid="13">
                                            <p:txEl>
                                              <p:pRg st="12" end="12"/>
                                            </p:txEl>
                                          </p:spTgt>
                                        </p:tgtEl>
                                        <p:attrNameLst>
                                          <p:attrName>style.visibility</p:attrName>
                                        </p:attrNameLst>
                                      </p:cBhvr>
                                      <p:to>
                                        <p:strVal val="visible"/>
                                      </p:to>
                                    </p:set>
                                    <p:animEffect transition="in" filter="dissolve">
                                      <p:cBhvr>
                                        <p:cTn id="58" dur="500"/>
                                        <p:tgtEl>
                                          <p:spTgt spid="13">
                                            <p:txEl>
                                              <p:pRg st="12" end="1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fill="hold"/>
                                        <p:tgtEl>
                                          <p:spTgt spid="14"/>
                                        </p:tgtEl>
                                        <p:attrNameLst>
                                          <p:attrName>ppt_x</p:attrName>
                                        </p:attrNameLst>
                                      </p:cBhvr>
                                      <p:tavLst>
                                        <p:tav tm="0">
                                          <p:val>
                                            <p:strVal val="#ppt_x"/>
                                          </p:val>
                                        </p:tav>
                                        <p:tav tm="100000">
                                          <p:val>
                                            <p:strVal val="#ppt_x"/>
                                          </p:val>
                                        </p:tav>
                                      </p:tavLst>
                                    </p:anim>
                                    <p:anim calcmode="lin" valueType="num">
                                      <p:cBhvr additive="base">
                                        <p:cTn id="6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3.4</a:t>
            </a:r>
            <a:r>
              <a:rPr lang="en-US" altLang="zh-CN" sz="4800">
                <a:solidFill>
                  <a:schemeClr val="accent2"/>
                </a:solidFill>
                <a:latin typeface="隶书" pitchFamily="49" charset="-122"/>
                <a:ea typeface="隶书" pitchFamily="49" charset="-122"/>
              </a:rPr>
              <a:t>.4</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 </a:t>
            </a:r>
            <a:r>
              <a:rPr lang="zh-CN" altLang="en-US" sz="4800">
                <a:solidFill>
                  <a:schemeClr val="accent2"/>
                </a:solidFill>
                <a:latin typeface="隶书" pitchFamily="49" charset="-122"/>
                <a:ea typeface="隶书" pitchFamily="49" charset="-122"/>
              </a:rPr>
              <a:t>谁做的好事</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2" name="Rectangle 3"/>
          <p:cNvSpPr>
            <a:spLocks noChangeArrowheads="1"/>
          </p:cNvSpPr>
          <p:nvPr/>
        </p:nvSpPr>
        <p:spPr bwMode="auto">
          <a:xfrm>
            <a:off x="835178" y="1843943"/>
            <a:ext cx="9738611" cy="414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buClr>
                <a:schemeClr val="tx1"/>
              </a:buClr>
              <a:buSzPct val="75000"/>
              <a:buFont typeface="Wingdings" pitchFamily="2" charset="2"/>
              <a:buNone/>
            </a:pPr>
            <a:r>
              <a:rPr kumimoji="1" lang="zh-CN" altLang="en-US" sz="2800" b="1">
                <a:solidFill>
                  <a:schemeClr val="tx1"/>
                </a:solidFill>
                <a:latin typeface="宋体" charset="-122"/>
                <a:ea typeface="宋体" charset="-122"/>
              </a:rPr>
              <a:t>清华附中有四位同学中的一位做了好事，不留名，表扬信来了之后，校长问这四位是谁做的好事。</a:t>
            </a:r>
          </a:p>
          <a:p>
            <a:pPr lvl="2" eaLnBrk="1" hangingPunct="1">
              <a:spcBef>
                <a:spcPct val="25000"/>
              </a:spcBef>
              <a:buClr>
                <a:schemeClr val="tx1"/>
              </a:buClr>
              <a:buFont typeface="Wingdings" pitchFamily="2" charset="2"/>
              <a:buChar char="Ø"/>
            </a:pPr>
            <a:r>
              <a:rPr kumimoji="1" lang="zh-CN" altLang="en-US" sz="2800" b="1">
                <a:solidFill>
                  <a:schemeClr val="tx1"/>
                </a:solidFill>
                <a:latin typeface="宋体" charset="-122"/>
                <a:ea typeface="宋体" charset="-122"/>
              </a:rPr>
              <a:t> </a:t>
            </a:r>
            <a:r>
              <a:rPr kumimoji="1" lang="en-US" altLang="zh-CN" sz="2800" b="1">
                <a:solidFill>
                  <a:schemeClr val="tx1"/>
                </a:solidFill>
                <a:latin typeface="宋体" charset="-122"/>
                <a:ea typeface="宋体" charset="-122"/>
              </a:rPr>
              <a:t>A</a:t>
            </a:r>
            <a:r>
              <a:rPr kumimoji="1" lang="zh-CN" altLang="en-US" sz="2800" b="1">
                <a:solidFill>
                  <a:schemeClr val="tx1"/>
                </a:solidFill>
                <a:latin typeface="宋体" charset="-122"/>
                <a:ea typeface="宋体" charset="-122"/>
              </a:rPr>
              <a:t>说：不是我。</a:t>
            </a:r>
          </a:p>
          <a:p>
            <a:pPr lvl="2" eaLnBrk="1" hangingPunct="1">
              <a:spcBef>
                <a:spcPct val="25000"/>
              </a:spcBef>
              <a:buClr>
                <a:schemeClr val="tx1"/>
              </a:buClr>
              <a:buFont typeface="Wingdings" pitchFamily="2" charset="2"/>
              <a:buChar char="Ø"/>
            </a:pPr>
            <a:r>
              <a:rPr kumimoji="1" lang="zh-CN" altLang="en-US" sz="2800" b="1">
                <a:solidFill>
                  <a:schemeClr val="tx1"/>
                </a:solidFill>
                <a:latin typeface="宋体" charset="-122"/>
                <a:ea typeface="宋体" charset="-122"/>
              </a:rPr>
              <a:t> </a:t>
            </a:r>
            <a:r>
              <a:rPr kumimoji="1" lang="en-US" altLang="zh-CN" sz="2800" b="1">
                <a:solidFill>
                  <a:schemeClr val="tx1"/>
                </a:solidFill>
                <a:latin typeface="宋体" charset="-122"/>
                <a:ea typeface="宋体" charset="-122"/>
              </a:rPr>
              <a:t>B</a:t>
            </a:r>
            <a:r>
              <a:rPr kumimoji="1" lang="zh-CN" altLang="en-US" sz="2800" b="1">
                <a:solidFill>
                  <a:schemeClr val="tx1"/>
                </a:solidFill>
                <a:latin typeface="宋体" charset="-122"/>
                <a:ea typeface="宋体" charset="-122"/>
              </a:rPr>
              <a:t>说：是</a:t>
            </a:r>
            <a:r>
              <a:rPr kumimoji="1" lang="en-US" altLang="zh-CN" sz="2800" b="1">
                <a:solidFill>
                  <a:schemeClr val="tx1"/>
                </a:solidFill>
                <a:latin typeface="宋体" charset="-122"/>
                <a:ea typeface="宋体" charset="-122"/>
              </a:rPr>
              <a:t>C</a:t>
            </a:r>
            <a:r>
              <a:rPr kumimoji="1" lang="zh-CN" altLang="en-US" sz="2800" b="1">
                <a:solidFill>
                  <a:schemeClr val="tx1"/>
                </a:solidFill>
                <a:latin typeface="宋体" charset="-122"/>
                <a:ea typeface="宋体" charset="-122"/>
              </a:rPr>
              <a:t>。</a:t>
            </a:r>
          </a:p>
          <a:p>
            <a:pPr lvl="2" eaLnBrk="1" hangingPunct="1">
              <a:spcBef>
                <a:spcPct val="25000"/>
              </a:spcBef>
              <a:buClr>
                <a:schemeClr val="tx1"/>
              </a:buClr>
              <a:buFont typeface="Wingdings" pitchFamily="2" charset="2"/>
              <a:buChar char="Ø"/>
            </a:pPr>
            <a:r>
              <a:rPr kumimoji="1" lang="zh-CN" altLang="en-US" sz="2800" b="1">
                <a:solidFill>
                  <a:schemeClr val="tx1"/>
                </a:solidFill>
                <a:latin typeface="宋体" charset="-122"/>
                <a:ea typeface="宋体" charset="-122"/>
              </a:rPr>
              <a:t> </a:t>
            </a:r>
            <a:r>
              <a:rPr kumimoji="1" lang="en-US" altLang="zh-CN" sz="2800" b="1">
                <a:solidFill>
                  <a:schemeClr val="tx1"/>
                </a:solidFill>
                <a:latin typeface="宋体" charset="-122"/>
                <a:ea typeface="宋体" charset="-122"/>
              </a:rPr>
              <a:t>C</a:t>
            </a:r>
            <a:r>
              <a:rPr kumimoji="1" lang="zh-CN" altLang="en-US" sz="2800" b="1">
                <a:solidFill>
                  <a:schemeClr val="tx1"/>
                </a:solidFill>
                <a:latin typeface="宋体" charset="-122"/>
                <a:ea typeface="宋体" charset="-122"/>
              </a:rPr>
              <a:t>说：是</a:t>
            </a:r>
            <a:r>
              <a:rPr kumimoji="1" lang="en-US" altLang="zh-CN" sz="2800" b="1">
                <a:solidFill>
                  <a:schemeClr val="tx1"/>
                </a:solidFill>
                <a:latin typeface="宋体" charset="-122"/>
                <a:ea typeface="宋体" charset="-122"/>
              </a:rPr>
              <a:t>D</a:t>
            </a:r>
            <a:r>
              <a:rPr kumimoji="1" lang="zh-CN" altLang="en-US" sz="2800" b="1">
                <a:solidFill>
                  <a:schemeClr val="tx1"/>
                </a:solidFill>
                <a:latin typeface="宋体" charset="-122"/>
                <a:ea typeface="宋体" charset="-122"/>
              </a:rPr>
              <a:t>。</a:t>
            </a:r>
          </a:p>
          <a:p>
            <a:pPr lvl="2" eaLnBrk="1" hangingPunct="1">
              <a:spcBef>
                <a:spcPct val="25000"/>
              </a:spcBef>
              <a:buClr>
                <a:schemeClr val="tx1"/>
              </a:buClr>
              <a:buFont typeface="Wingdings" pitchFamily="2" charset="2"/>
              <a:buChar char="Ø"/>
            </a:pPr>
            <a:r>
              <a:rPr kumimoji="1" lang="zh-CN" altLang="en-US" sz="2800" b="1">
                <a:solidFill>
                  <a:schemeClr val="tx1"/>
                </a:solidFill>
                <a:latin typeface="宋体" charset="-122"/>
                <a:ea typeface="宋体" charset="-122"/>
              </a:rPr>
              <a:t> </a:t>
            </a:r>
            <a:r>
              <a:rPr kumimoji="1" lang="en-US" altLang="zh-CN" sz="2800" b="1">
                <a:solidFill>
                  <a:schemeClr val="tx1"/>
                </a:solidFill>
                <a:latin typeface="宋体" charset="-122"/>
                <a:ea typeface="宋体" charset="-122"/>
              </a:rPr>
              <a:t>D</a:t>
            </a:r>
            <a:r>
              <a:rPr kumimoji="1" lang="zh-CN" altLang="en-US" sz="2800" b="1">
                <a:solidFill>
                  <a:schemeClr val="tx1"/>
                </a:solidFill>
                <a:latin typeface="宋体" charset="-122"/>
                <a:ea typeface="宋体" charset="-122"/>
              </a:rPr>
              <a:t>说：他胡说。</a:t>
            </a:r>
          </a:p>
          <a:p>
            <a:pPr eaLnBrk="1" hangingPunct="1">
              <a:spcBef>
                <a:spcPct val="50000"/>
              </a:spcBef>
              <a:buClr>
                <a:schemeClr val="tx1"/>
              </a:buClr>
              <a:buSzPct val="75000"/>
              <a:buFont typeface="Wingdings" pitchFamily="2" charset="2"/>
              <a:buNone/>
            </a:pPr>
            <a:r>
              <a:rPr kumimoji="1" lang="zh-CN" altLang="en-US" sz="2800" b="1">
                <a:solidFill>
                  <a:schemeClr val="tx1"/>
                </a:solidFill>
                <a:latin typeface="宋体" charset="-122"/>
                <a:ea typeface="宋体" charset="-122"/>
              </a:rPr>
              <a:t>已知三个人说的是真话，一个人说的是假话。现在要根据这些信息，找出做了好事的人。</a:t>
            </a:r>
          </a:p>
        </p:txBody>
      </p:sp>
      <p:sp>
        <p:nvSpPr>
          <p:cNvPr id="13" name="Rectangle 4"/>
          <p:cNvSpPr>
            <a:spLocks noChangeArrowheads="1"/>
          </p:cNvSpPr>
          <p:nvPr/>
        </p:nvSpPr>
        <p:spPr bwMode="auto">
          <a:xfrm>
            <a:off x="805015" y="1210991"/>
            <a:ext cx="24780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buClr>
                <a:srgbClr val="FFFF66"/>
              </a:buClr>
              <a:buFont typeface="Wingdings" pitchFamily="2" charset="2"/>
              <a:buNone/>
            </a:pPr>
            <a:r>
              <a:rPr kumimoji="1" lang="zh-CN" altLang="en-US" sz="3600" b="1">
                <a:solidFill>
                  <a:srgbClr val="0000FF"/>
                </a:solidFill>
                <a:latin typeface="Times New Roman" pitchFamily="18" charset="0"/>
                <a:ea typeface="宋体" charset="-122"/>
              </a:rPr>
              <a:t>问题描述：</a:t>
            </a:r>
          </a:p>
        </p:txBody>
      </p:sp>
      <p:pic>
        <p:nvPicPr>
          <p:cNvPr id="15"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08874" y="2920527"/>
            <a:ext cx="1828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8093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dissolve">
                                      <p:cBhvr>
                                        <p:cTn id="7" dur="50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dissolve">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Effect transition="in" filter="dissolve">
                                      <p:cBhvr>
                                        <p:cTn id="17" dur="500"/>
                                        <p:tgtEl>
                                          <p:spTgt spid="1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
                                            <p:txEl>
                                              <p:pRg st="4" end="4"/>
                                            </p:txEl>
                                          </p:spTgt>
                                        </p:tgtEl>
                                        <p:attrNameLst>
                                          <p:attrName>style.visibility</p:attrName>
                                        </p:attrNameLst>
                                      </p:cBhvr>
                                      <p:to>
                                        <p:strVal val="visible"/>
                                      </p:to>
                                    </p:set>
                                    <p:animEffect transition="in" filter="dissolve">
                                      <p:cBhvr>
                                        <p:cTn id="22" dur="500"/>
                                        <p:tgtEl>
                                          <p:spTgt spid="1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animEffect transition="in" filter="dissolve">
                                      <p:cBhvr>
                                        <p:cTn id="27"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问题分析</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2"/>
          <p:cNvSpPr>
            <a:spLocks noChangeArrowheads="1"/>
          </p:cNvSpPr>
          <p:nvPr/>
        </p:nvSpPr>
        <p:spPr bwMode="auto">
          <a:xfrm>
            <a:off x="895706" y="1945524"/>
            <a:ext cx="9836027" cy="326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rgbClr val="0000FF"/>
                </a:solidFill>
                <a:latin typeface="Times New Roman" pitchFamily="18" charset="0"/>
                <a:ea typeface="宋体" charset="-122"/>
              </a:rPr>
              <a:t>一个人</a:t>
            </a:r>
            <a:r>
              <a:rPr kumimoji="1" lang="zh-CN" altLang="en-US" sz="3200" b="1">
                <a:solidFill>
                  <a:schemeClr val="tx1"/>
                </a:solidFill>
                <a:latin typeface="Times New Roman" pitchFamily="18" charset="0"/>
                <a:ea typeface="宋体" charset="-122"/>
              </a:rPr>
              <a:t>：某个人做了好事，不知是谁；</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rgbClr val="0000FF"/>
                </a:solidFill>
                <a:latin typeface="Times New Roman" pitchFamily="18" charset="0"/>
                <a:ea typeface="宋体" charset="-122"/>
              </a:rPr>
              <a:t>四句话</a:t>
            </a:r>
            <a:r>
              <a:rPr kumimoji="1" lang="zh-CN" altLang="en-US" sz="3200" b="1">
                <a:solidFill>
                  <a:schemeClr val="tx1"/>
                </a:solidFill>
                <a:latin typeface="Times New Roman" pitchFamily="18" charset="0"/>
                <a:ea typeface="宋体" charset="-122"/>
              </a:rPr>
              <a:t>：“该人是</a:t>
            </a:r>
            <a:r>
              <a:rPr kumimoji="1" lang="en-US" altLang="zh-CN" sz="3200" b="1">
                <a:solidFill>
                  <a:schemeClr val="tx1"/>
                </a:solidFill>
                <a:latin typeface="Times New Roman" pitchFamily="18" charset="0"/>
                <a:ea typeface="宋体" charset="-122"/>
              </a:rPr>
              <a:t>/</a:t>
            </a:r>
            <a:r>
              <a:rPr kumimoji="1" lang="zh-CN" altLang="en-US" sz="3200" b="1">
                <a:solidFill>
                  <a:schemeClr val="tx1"/>
                </a:solidFill>
                <a:latin typeface="Times New Roman" pitchFamily="18" charset="0"/>
                <a:ea typeface="宋体" charset="-122"/>
              </a:rPr>
              <a:t>不是某某”，如何用程序语言描述每个人说的话？</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rgbClr val="0000FF"/>
                </a:solidFill>
                <a:latin typeface="Times New Roman" pitchFamily="18" charset="0"/>
                <a:ea typeface="宋体" charset="-122"/>
              </a:rPr>
              <a:t>三真一假</a:t>
            </a:r>
            <a:r>
              <a:rPr kumimoji="1" lang="zh-CN" altLang="en-US" sz="3200" b="1">
                <a:solidFill>
                  <a:schemeClr val="tx1"/>
                </a:solidFill>
                <a:latin typeface="Times New Roman" pitchFamily="18" charset="0"/>
                <a:ea typeface="宋体" charset="-122"/>
              </a:rPr>
              <a:t>：如何描述一句话是真是假？</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如何找到该人？</a:t>
            </a:r>
          </a:p>
        </p:txBody>
      </p:sp>
    </p:spTree>
    <p:extLst>
      <p:ext uri="{BB962C8B-B14F-4D97-AF65-F5344CB8AC3E}">
        <p14:creationId xmlns:p14="http://schemas.microsoft.com/office/powerpoint/2010/main" val="1515372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checkerboard(across)">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checkerboard(across)">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checkerboard(across)">
                                      <p:cBhvr>
                                        <p:cTn id="2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具体实现</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3"/>
          <p:cNvSpPr>
            <a:spLocks noChangeArrowheads="1"/>
          </p:cNvSpPr>
          <p:nvPr/>
        </p:nvSpPr>
        <p:spPr bwMode="auto">
          <a:xfrm>
            <a:off x="1094843" y="1219200"/>
            <a:ext cx="9495581"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kumimoji="1" lang="zh-CN" altLang="en-US" sz="3200" b="1">
                <a:solidFill>
                  <a:schemeClr val="tx1"/>
                </a:solidFill>
                <a:latin typeface="Times New Roman" pitchFamily="18" charset="0"/>
                <a:ea typeface="宋体" charset="-122"/>
              </a:rPr>
              <a:t>在声明变量时，让 </a:t>
            </a:r>
            <a:r>
              <a:rPr kumimoji="1" lang="en-US" altLang="zh-CN" sz="3200" b="1">
                <a:solidFill>
                  <a:schemeClr val="tx1"/>
                </a:solidFill>
                <a:latin typeface="Times New Roman" pitchFamily="18" charset="0"/>
                <a:ea typeface="宋体" charset="-122"/>
              </a:rPr>
              <a:t>thisman </a:t>
            </a:r>
            <a:r>
              <a:rPr kumimoji="1" lang="zh-CN" altLang="en-US" sz="3200" b="1">
                <a:solidFill>
                  <a:schemeClr val="tx1"/>
                </a:solidFill>
                <a:latin typeface="Times New Roman" pitchFamily="18" charset="0"/>
                <a:ea typeface="宋体" charset="-122"/>
              </a:rPr>
              <a:t>表示要找的人，定义他为</a:t>
            </a:r>
            <a:r>
              <a:rPr kumimoji="1" lang="zh-CN" altLang="en-US" sz="3200" b="1">
                <a:latin typeface="Times New Roman" pitchFamily="18" charset="0"/>
                <a:ea typeface="宋体" charset="-122"/>
              </a:rPr>
              <a:t>字符</a:t>
            </a:r>
            <a:r>
              <a:rPr kumimoji="1" lang="zh-CN" altLang="en-US" sz="3200" b="1">
                <a:solidFill>
                  <a:schemeClr val="tx1"/>
                </a:solidFill>
                <a:latin typeface="Times New Roman" pitchFamily="18" charset="0"/>
                <a:ea typeface="宋体" charset="-122"/>
              </a:rPr>
              <a:t>型变量。</a:t>
            </a:r>
          </a:p>
        </p:txBody>
      </p:sp>
      <p:grpSp>
        <p:nvGrpSpPr>
          <p:cNvPr id="12" name="Group 9"/>
          <p:cNvGrpSpPr>
            <a:grpSpLocks/>
          </p:cNvGrpSpPr>
          <p:nvPr/>
        </p:nvGrpSpPr>
        <p:grpSpPr bwMode="auto">
          <a:xfrm>
            <a:off x="1102149" y="3535363"/>
            <a:ext cx="8343900" cy="2255837"/>
            <a:chOff x="312" y="2227"/>
            <a:chExt cx="5256" cy="1421"/>
          </a:xfrm>
        </p:grpSpPr>
        <p:sp>
          <p:nvSpPr>
            <p:cNvPr id="13" name="Rectangle 5"/>
            <p:cNvSpPr>
              <a:spLocks noChangeArrowheads="1"/>
            </p:cNvSpPr>
            <p:nvPr/>
          </p:nvSpPr>
          <p:spPr bwMode="auto">
            <a:xfrm>
              <a:off x="839" y="2725"/>
              <a:ext cx="4297"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Clr>
                  <a:srgbClr val="FFFFFF"/>
                </a:buClr>
                <a:buSzPct val="75000"/>
                <a:buFont typeface="Wingdings" pitchFamily="2" charset="2"/>
                <a:buChar char="Ø"/>
              </a:pPr>
              <a:r>
                <a:rPr kumimoji="1" lang="zh-CN" altLang="en-US" sz="3600" b="1">
                  <a:solidFill>
                    <a:schemeClr val="tx1"/>
                  </a:solidFill>
                  <a:latin typeface="宋体" charset="-122"/>
                  <a:ea typeface="宋体" charset="-122"/>
                </a:rPr>
                <a:t> 让 </a:t>
              </a:r>
              <a:r>
                <a:rPr kumimoji="1" lang="zh-CN" altLang="en-US" sz="3600" b="1">
                  <a:solidFill>
                    <a:schemeClr val="tx1"/>
                  </a:solidFill>
                  <a:latin typeface="Times New Roman" pitchFamily="18" charset="0"/>
                  <a:ea typeface="宋体" charset="-122"/>
                </a:rPr>
                <a:t>“</a:t>
              </a:r>
              <a:r>
                <a:rPr kumimoji="1" lang="en-US" altLang="zh-CN" sz="3600" b="1">
                  <a:solidFill>
                    <a:schemeClr val="tx1"/>
                  </a:solidFill>
                  <a:latin typeface="宋体" charset="-122"/>
                  <a:ea typeface="宋体" charset="-122"/>
                </a:rPr>
                <a:t>==</a:t>
              </a:r>
              <a:r>
                <a:rPr kumimoji="1" lang="en-US" altLang="zh-CN" sz="3600" b="1">
                  <a:solidFill>
                    <a:schemeClr val="tx1"/>
                  </a:solidFill>
                  <a:latin typeface="Times New Roman" pitchFamily="18" charset="0"/>
                  <a:ea typeface="宋体" charset="-122"/>
                </a:rPr>
                <a:t>”</a:t>
              </a:r>
              <a:r>
                <a:rPr kumimoji="1" lang="en-US" altLang="zh-CN" sz="3600" b="1">
                  <a:solidFill>
                    <a:schemeClr val="tx1"/>
                  </a:solidFill>
                  <a:latin typeface="宋体" charset="-122"/>
                  <a:ea typeface="宋体" charset="-122"/>
                </a:rPr>
                <a:t> </a:t>
              </a:r>
              <a:r>
                <a:rPr kumimoji="1" lang="zh-CN" altLang="en-US" sz="3600" b="1">
                  <a:solidFill>
                    <a:schemeClr val="tx1"/>
                  </a:solidFill>
                  <a:latin typeface="宋体" charset="-122"/>
                  <a:ea typeface="宋体" charset="-122"/>
                </a:rPr>
                <a:t>的含义为 </a:t>
              </a:r>
              <a:r>
                <a:rPr kumimoji="1" lang="zh-CN" altLang="en-US" sz="3600" b="1">
                  <a:solidFill>
                    <a:schemeClr val="tx1"/>
                  </a:solidFill>
                  <a:latin typeface="Times New Roman" pitchFamily="18" charset="0"/>
                  <a:ea typeface="宋体" charset="-122"/>
                </a:rPr>
                <a:t>“</a:t>
              </a:r>
              <a:r>
                <a:rPr kumimoji="1" lang="zh-CN" altLang="en-US" sz="3600" b="1">
                  <a:solidFill>
                    <a:schemeClr val="tx1"/>
                  </a:solidFill>
                  <a:latin typeface="宋体" charset="-122"/>
                  <a:ea typeface="宋体" charset="-122"/>
                </a:rPr>
                <a:t>是</a:t>
              </a:r>
              <a:r>
                <a:rPr kumimoji="1" lang="zh-CN" altLang="en-US" sz="3600" b="1">
                  <a:solidFill>
                    <a:schemeClr val="tx1"/>
                  </a:solidFill>
                  <a:latin typeface="Times New Roman" pitchFamily="18" charset="0"/>
                  <a:ea typeface="宋体" charset="-122"/>
                </a:rPr>
                <a:t>”</a:t>
              </a:r>
              <a:endParaRPr kumimoji="1" lang="zh-CN" altLang="en-US" sz="3600" b="1">
                <a:solidFill>
                  <a:schemeClr val="tx1"/>
                </a:solidFill>
                <a:latin typeface="宋体" charset="-122"/>
                <a:ea typeface="宋体" charset="-122"/>
              </a:endParaRPr>
            </a:p>
            <a:p>
              <a:pPr eaLnBrk="1" hangingPunct="1">
                <a:spcBef>
                  <a:spcPct val="50000"/>
                </a:spcBef>
                <a:buClr>
                  <a:srgbClr val="FFFFFF"/>
                </a:buClr>
                <a:buSzPct val="75000"/>
                <a:buFont typeface="Wingdings" pitchFamily="2" charset="2"/>
                <a:buChar char="Ø"/>
              </a:pPr>
              <a:r>
                <a:rPr kumimoji="1" lang="zh-CN" altLang="en-US" sz="3600" b="1">
                  <a:solidFill>
                    <a:schemeClr val="tx1"/>
                  </a:solidFill>
                  <a:latin typeface="宋体" charset="-122"/>
                  <a:ea typeface="宋体" charset="-122"/>
                </a:rPr>
                <a:t> 让 </a:t>
              </a:r>
              <a:r>
                <a:rPr kumimoji="1" lang="zh-CN" altLang="en-US" sz="3600" b="1">
                  <a:solidFill>
                    <a:schemeClr val="tx1"/>
                  </a:solidFill>
                  <a:latin typeface="Times New Roman" pitchFamily="18" charset="0"/>
                  <a:ea typeface="宋体" charset="-122"/>
                </a:rPr>
                <a:t>“</a:t>
              </a:r>
              <a:r>
                <a:rPr kumimoji="1" lang="en-US" altLang="zh-CN" sz="3600" b="1">
                  <a:solidFill>
                    <a:schemeClr val="tx1"/>
                  </a:solidFill>
                  <a:latin typeface="宋体" charset="-122"/>
                  <a:ea typeface="宋体" charset="-122"/>
                </a:rPr>
                <a:t>!=</a:t>
              </a:r>
              <a:r>
                <a:rPr kumimoji="1" lang="en-US" altLang="zh-CN" sz="3600" b="1">
                  <a:solidFill>
                    <a:schemeClr val="tx1"/>
                  </a:solidFill>
                  <a:latin typeface="Times New Roman" pitchFamily="18" charset="0"/>
                  <a:ea typeface="宋体" charset="-122"/>
                </a:rPr>
                <a:t>”</a:t>
              </a:r>
              <a:r>
                <a:rPr kumimoji="1" lang="en-US" altLang="zh-CN" sz="3600" b="1">
                  <a:solidFill>
                    <a:schemeClr val="tx1"/>
                  </a:solidFill>
                  <a:latin typeface="宋体" charset="-122"/>
                  <a:ea typeface="宋体" charset="-122"/>
                </a:rPr>
                <a:t> </a:t>
              </a:r>
              <a:r>
                <a:rPr kumimoji="1" lang="zh-CN" altLang="en-US" sz="3600" b="1">
                  <a:solidFill>
                    <a:schemeClr val="tx1"/>
                  </a:solidFill>
                  <a:latin typeface="宋体" charset="-122"/>
                  <a:ea typeface="宋体" charset="-122"/>
                </a:rPr>
                <a:t>的含义为 </a:t>
              </a:r>
              <a:r>
                <a:rPr kumimoji="1" lang="zh-CN" altLang="en-US" sz="3600" b="1">
                  <a:solidFill>
                    <a:schemeClr val="tx1"/>
                  </a:solidFill>
                  <a:latin typeface="Times New Roman" pitchFamily="18" charset="0"/>
                  <a:ea typeface="宋体" charset="-122"/>
                </a:rPr>
                <a:t>“</a:t>
              </a:r>
              <a:r>
                <a:rPr kumimoji="1" lang="zh-CN" altLang="en-US" sz="3600" b="1">
                  <a:solidFill>
                    <a:schemeClr val="tx1"/>
                  </a:solidFill>
                  <a:latin typeface="宋体" charset="-122"/>
                  <a:ea typeface="宋体" charset="-122"/>
                </a:rPr>
                <a:t>不是</a:t>
              </a:r>
              <a:r>
                <a:rPr kumimoji="1" lang="zh-CN" altLang="en-US" sz="3600" b="1">
                  <a:solidFill>
                    <a:schemeClr val="tx1"/>
                  </a:solidFill>
                  <a:latin typeface="Times New Roman" pitchFamily="18" charset="0"/>
                  <a:ea typeface="宋体" charset="-122"/>
                </a:rPr>
                <a:t>”</a:t>
              </a:r>
              <a:endParaRPr kumimoji="1" lang="zh-CN" altLang="en-US" sz="3600" b="1">
                <a:solidFill>
                  <a:schemeClr val="tx1"/>
                </a:solidFill>
                <a:latin typeface="宋体" charset="-122"/>
                <a:ea typeface="宋体" charset="-122"/>
              </a:endParaRPr>
            </a:p>
          </p:txBody>
        </p:sp>
        <p:sp>
          <p:nvSpPr>
            <p:cNvPr id="14" name="Rectangle 6"/>
            <p:cNvSpPr>
              <a:spLocks noChangeArrowheads="1"/>
            </p:cNvSpPr>
            <p:nvPr/>
          </p:nvSpPr>
          <p:spPr bwMode="auto">
            <a:xfrm>
              <a:off x="312" y="2227"/>
              <a:ext cx="525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kumimoji="1" lang="zh-CN" altLang="en-US" sz="3200" b="1">
                  <a:solidFill>
                    <a:schemeClr val="tx1"/>
                  </a:solidFill>
                  <a:latin typeface="Times New Roman" pitchFamily="18" charset="0"/>
                  <a:ea typeface="宋体" charset="-122"/>
                </a:rPr>
                <a:t>下面，把四个人说的四句话写成关系表达式。</a:t>
              </a:r>
            </a:p>
          </p:txBody>
        </p:sp>
      </p:grpSp>
      <p:sp>
        <p:nvSpPr>
          <p:cNvPr id="15" name="Text Box 4" descr="再生纸"/>
          <p:cNvSpPr txBox="1">
            <a:spLocks noChangeArrowheads="1"/>
          </p:cNvSpPr>
          <p:nvPr/>
        </p:nvSpPr>
        <p:spPr bwMode="auto">
          <a:xfrm>
            <a:off x="2898482" y="2286000"/>
            <a:ext cx="442332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en-US" altLang="zh-CN" sz="5400" b="1">
                <a:solidFill>
                  <a:srgbClr val="0000FF"/>
                </a:solidFill>
                <a:latin typeface="Times New Roman" pitchFamily="18" charset="0"/>
                <a:ea typeface="宋体" charset="-122"/>
              </a:rPr>
              <a:t>char   thisman</a:t>
            </a:r>
          </a:p>
        </p:txBody>
      </p:sp>
    </p:spTree>
    <p:extLst>
      <p:ext uri="{BB962C8B-B14F-4D97-AF65-F5344CB8AC3E}">
        <p14:creationId xmlns:p14="http://schemas.microsoft.com/office/powerpoint/2010/main" val="1494819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具体实现</a:t>
            </a: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(2)</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6" name="Rectangle 3"/>
          <p:cNvSpPr>
            <a:spLocks noChangeArrowheads="1"/>
          </p:cNvSpPr>
          <p:nvPr/>
        </p:nvSpPr>
        <p:spPr bwMode="auto">
          <a:xfrm>
            <a:off x="1635309" y="1467398"/>
            <a:ext cx="8921845" cy="461645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342900" indent="-342900">
              <a:spcBef>
                <a:spcPct val="20000"/>
              </a:spcBef>
            </a:pPr>
            <a:r>
              <a:rPr kumimoji="1" lang="en-US" altLang="zh-CN" sz="2800" b="1">
                <a:solidFill>
                  <a:schemeClr val="tx1"/>
                </a:solidFill>
                <a:latin typeface="宋体" charset="-122"/>
                <a:ea typeface="宋体" charset="-122"/>
              </a:rPr>
              <a:t>A</a:t>
            </a:r>
            <a:r>
              <a:rPr kumimoji="1" lang="zh-CN" altLang="en-US" sz="2800" b="1">
                <a:solidFill>
                  <a:schemeClr val="tx1"/>
                </a:solidFill>
                <a:latin typeface="宋体" charset="-122"/>
                <a:ea typeface="宋体" charset="-122"/>
              </a:rPr>
              <a:t>说：不是我。写成关系表达式为（</a:t>
            </a:r>
            <a:r>
              <a:rPr kumimoji="1" lang="en-US" altLang="zh-CN" sz="2800" b="1">
                <a:solidFill>
                  <a:schemeClr val="tx1"/>
                </a:solidFill>
                <a:latin typeface="宋体" charset="-122"/>
                <a:ea typeface="宋体" charset="-122"/>
              </a:rPr>
              <a:t>thisman != </a:t>
            </a:r>
            <a:r>
              <a:rPr kumimoji="1" lang="en-US" altLang="zh-CN" sz="2800" b="1">
                <a:solidFill>
                  <a:schemeClr val="tx1"/>
                </a:solidFill>
                <a:latin typeface="Times New Roman" pitchFamily="18" charset="0"/>
                <a:ea typeface="宋体" charset="-122"/>
              </a:rPr>
              <a:t>'</a:t>
            </a:r>
            <a:r>
              <a:rPr kumimoji="1" lang="en-US" altLang="zh-CN" sz="2800" b="1">
                <a:solidFill>
                  <a:schemeClr val="tx1"/>
                </a:solidFill>
                <a:latin typeface="宋体" charset="-122"/>
                <a:ea typeface="宋体" charset="-122"/>
              </a:rPr>
              <a:t>A</a:t>
            </a:r>
            <a:r>
              <a:rPr kumimoji="1" lang="en-US" altLang="zh-CN" sz="2800" b="1">
                <a:latin typeface="Times New Roman" pitchFamily="18" charset="0"/>
                <a:ea typeface="宋体" charset="-122"/>
              </a:rPr>
              <a:t>'</a:t>
            </a:r>
            <a:r>
              <a:rPr kumimoji="1" lang="zh-CN" altLang="en-US" sz="2800" b="1">
                <a:solidFill>
                  <a:schemeClr val="tx1"/>
                </a:solidFill>
                <a:latin typeface="宋体" charset="-122"/>
                <a:ea typeface="宋体" charset="-122"/>
              </a:rPr>
              <a:t>）</a:t>
            </a:r>
          </a:p>
          <a:p>
            <a:pPr marL="342900" indent="-342900">
              <a:spcBef>
                <a:spcPct val="20000"/>
              </a:spcBef>
            </a:pPr>
            <a:r>
              <a:rPr kumimoji="1" lang="en-US" altLang="zh-CN" sz="2800" b="1">
                <a:solidFill>
                  <a:schemeClr val="tx1"/>
                </a:solidFill>
                <a:latin typeface="宋体" charset="-122"/>
                <a:ea typeface="宋体" charset="-122"/>
              </a:rPr>
              <a:t>B</a:t>
            </a:r>
            <a:r>
              <a:rPr kumimoji="1" lang="zh-CN" altLang="en-US" sz="2800" b="1">
                <a:solidFill>
                  <a:schemeClr val="tx1"/>
                </a:solidFill>
                <a:latin typeface="宋体" charset="-122"/>
                <a:ea typeface="宋体" charset="-122"/>
              </a:rPr>
              <a:t>说：是</a:t>
            </a:r>
            <a:r>
              <a:rPr kumimoji="1" lang="en-US" altLang="zh-CN" sz="2800" b="1">
                <a:solidFill>
                  <a:schemeClr val="tx1"/>
                </a:solidFill>
                <a:latin typeface="宋体" charset="-122"/>
                <a:ea typeface="宋体" charset="-122"/>
              </a:rPr>
              <a:t>C</a:t>
            </a:r>
            <a:r>
              <a:rPr kumimoji="1" lang="zh-CN" altLang="en-US" sz="2800" b="1">
                <a:solidFill>
                  <a:schemeClr val="tx1"/>
                </a:solidFill>
                <a:latin typeface="宋体" charset="-122"/>
                <a:ea typeface="宋体" charset="-122"/>
              </a:rPr>
              <a:t>。   写成关系表达式为（</a:t>
            </a:r>
            <a:r>
              <a:rPr kumimoji="1" lang="en-US" altLang="zh-CN" sz="2800" b="1">
                <a:solidFill>
                  <a:schemeClr val="tx1"/>
                </a:solidFill>
                <a:latin typeface="宋体" charset="-122"/>
                <a:ea typeface="宋体" charset="-122"/>
              </a:rPr>
              <a:t>thisman </a:t>
            </a:r>
            <a:r>
              <a:rPr kumimoji="1" lang="en-US" altLang="zh-CN" sz="2800" b="1">
                <a:solidFill>
                  <a:schemeClr val="tx1"/>
                </a:solidFill>
                <a:latin typeface="Times New Roman" pitchFamily="18" charset="0"/>
                <a:ea typeface="宋体" charset="-122"/>
              </a:rPr>
              <a:t>=</a:t>
            </a:r>
            <a:r>
              <a:rPr kumimoji="1" lang="en-US" altLang="zh-CN" sz="800" b="1">
                <a:solidFill>
                  <a:schemeClr val="tx1"/>
                </a:solidFill>
                <a:latin typeface="Times New Roman" pitchFamily="18" charset="0"/>
                <a:ea typeface="宋体" charset="-122"/>
              </a:rPr>
              <a:t> </a:t>
            </a:r>
            <a:r>
              <a:rPr kumimoji="1" lang="en-US" altLang="zh-CN" sz="2800" b="1">
                <a:solidFill>
                  <a:schemeClr val="tx1"/>
                </a:solidFill>
                <a:latin typeface="Times New Roman" pitchFamily="18" charset="0"/>
                <a:ea typeface="宋体" charset="-122"/>
              </a:rPr>
              <a:t>=</a:t>
            </a:r>
            <a:r>
              <a:rPr kumimoji="1" lang="en-US" altLang="zh-CN" sz="2800" b="1">
                <a:solidFill>
                  <a:schemeClr val="tx1"/>
                </a:solidFill>
                <a:latin typeface="宋体" charset="-122"/>
                <a:ea typeface="宋体" charset="-122"/>
              </a:rPr>
              <a:t> </a:t>
            </a:r>
            <a:r>
              <a:rPr kumimoji="1" lang="en-US" altLang="zh-CN" sz="2800" b="1">
                <a:latin typeface="Times New Roman" pitchFamily="18" charset="0"/>
                <a:ea typeface="宋体" charset="-122"/>
              </a:rPr>
              <a:t>'</a:t>
            </a:r>
            <a:r>
              <a:rPr kumimoji="1" lang="en-US" altLang="zh-CN" sz="2800" b="1">
                <a:solidFill>
                  <a:schemeClr val="tx1"/>
                </a:solidFill>
                <a:latin typeface="宋体" charset="-122"/>
                <a:ea typeface="宋体" charset="-122"/>
              </a:rPr>
              <a:t>C</a:t>
            </a:r>
            <a:r>
              <a:rPr kumimoji="1" lang="en-US" altLang="zh-CN" sz="2800" b="1">
                <a:latin typeface="Times New Roman" pitchFamily="18" charset="0"/>
                <a:ea typeface="宋体" charset="-122"/>
              </a:rPr>
              <a:t>'</a:t>
            </a:r>
            <a:r>
              <a:rPr kumimoji="1" lang="zh-CN" altLang="en-US" sz="2800" b="1">
                <a:solidFill>
                  <a:schemeClr val="tx1"/>
                </a:solidFill>
                <a:latin typeface="宋体" charset="-122"/>
                <a:ea typeface="宋体" charset="-122"/>
              </a:rPr>
              <a:t>）</a:t>
            </a:r>
          </a:p>
          <a:p>
            <a:pPr marL="342900" indent="-342900">
              <a:spcBef>
                <a:spcPct val="20000"/>
              </a:spcBef>
            </a:pPr>
            <a:r>
              <a:rPr kumimoji="1" lang="en-US" altLang="zh-CN" sz="2800" b="1">
                <a:solidFill>
                  <a:schemeClr val="tx1"/>
                </a:solidFill>
                <a:latin typeface="宋体" charset="-122"/>
                <a:ea typeface="宋体" charset="-122"/>
              </a:rPr>
              <a:t>C</a:t>
            </a:r>
            <a:r>
              <a:rPr kumimoji="1" lang="zh-CN" altLang="en-US" sz="2800" b="1">
                <a:solidFill>
                  <a:schemeClr val="tx1"/>
                </a:solidFill>
                <a:latin typeface="宋体" charset="-122"/>
                <a:ea typeface="宋体" charset="-122"/>
              </a:rPr>
              <a:t>说：是</a:t>
            </a:r>
            <a:r>
              <a:rPr kumimoji="1" lang="en-US" altLang="zh-CN" sz="2800" b="1">
                <a:solidFill>
                  <a:schemeClr val="tx1"/>
                </a:solidFill>
                <a:latin typeface="宋体" charset="-122"/>
                <a:ea typeface="宋体" charset="-122"/>
              </a:rPr>
              <a:t>D</a:t>
            </a:r>
            <a:r>
              <a:rPr kumimoji="1" lang="zh-CN" altLang="en-US" sz="2800" b="1">
                <a:solidFill>
                  <a:schemeClr val="tx1"/>
                </a:solidFill>
                <a:latin typeface="宋体" charset="-122"/>
                <a:ea typeface="宋体" charset="-122"/>
              </a:rPr>
              <a:t>。   写成关系表达式为（</a:t>
            </a:r>
            <a:r>
              <a:rPr kumimoji="1" lang="en-US" altLang="zh-CN" sz="2800" b="1">
                <a:solidFill>
                  <a:schemeClr val="tx1"/>
                </a:solidFill>
                <a:latin typeface="宋体" charset="-122"/>
                <a:ea typeface="宋体" charset="-122"/>
              </a:rPr>
              <a:t>thisman </a:t>
            </a:r>
            <a:r>
              <a:rPr kumimoji="1" lang="en-US" altLang="zh-CN" sz="2800" b="1">
                <a:solidFill>
                  <a:schemeClr val="tx1"/>
                </a:solidFill>
                <a:latin typeface="Times New Roman" pitchFamily="18" charset="0"/>
                <a:ea typeface="宋体" charset="-122"/>
              </a:rPr>
              <a:t>=</a:t>
            </a:r>
            <a:r>
              <a:rPr kumimoji="1" lang="en-US" altLang="zh-CN" sz="800" b="1">
                <a:solidFill>
                  <a:schemeClr val="tx1"/>
                </a:solidFill>
                <a:latin typeface="Times New Roman" pitchFamily="18" charset="0"/>
                <a:ea typeface="宋体" charset="-122"/>
              </a:rPr>
              <a:t> </a:t>
            </a:r>
            <a:r>
              <a:rPr kumimoji="1" lang="en-US" altLang="zh-CN" sz="2800" b="1">
                <a:solidFill>
                  <a:schemeClr val="tx1"/>
                </a:solidFill>
                <a:latin typeface="Times New Roman" pitchFamily="18" charset="0"/>
                <a:ea typeface="宋体" charset="-122"/>
              </a:rPr>
              <a:t>=</a:t>
            </a:r>
            <a:r>
              <a:rPr kumimoji="1" lang="en-US" altLang="zh-CN" sz="2800" b="1">
                <a:solidFill>
                  <a:schemeClr val="tx1"/>
                </a:solidFill>
                <a:latin typeface="宋体" charset="-122"/>
                <a:ea typeface="宋体" charset="-122"/>
              </a:rPr>
              <a:t> </a:t>
            </a:r>
            <a:r>
              <a:rPr kumimoji="1" lang="en-US" altLang="zh-CN" sz="2800" b="1">
                <a:latin typeface="Times New Roman" pitchFamily="18" charset="0"/>
                <a:ea typeface="宋体" charset="-122"/>
              </a:rPr>
              <a:t>'</a:t>
            </a:r>
            <a:r>
              <a:rPr kumimoji="1" lang="en-US" altLang="zh-CN" sz="2800" b="1">
                <a:solidFill>
                  <a:schemeClr val="tx1"/>
                </a:solidFill>
                <a:latin typeface="宋体" charset="-122"/>
                <a:ea typeface="宋体" charset="-122"/>
              </a:rPr>
              <a:t>D</a:t>
            </a:r>
            <a:r>
              <a:rPr kumimoji="1" lang="en-US" altLang="zh-CN" sz="2800" b="1">
                <a:latin typeface="Times New Roman" pitchFamily="18" charset="0"/>
                <a:ea typeface="宋体" charset="-122"/>
              </a:rPr>
              <a:t>'</a:t>
            </a:r>
            <a:r>
              <a:rPr kumimoji="1" lang="zh-CN" altLang="en-US" sz="2800" b="1">
                <a:solidFill>
                  <a:schemeClr val="tx1"/>
                </a:solidFill>
                <a:latin typeface="宋体" charset="-122"/>
                <a:ea typeface="宋体" charset="-122"/>
              </a:rPr>
              <a:t>）</a:t>
            </a:r>
          </a:p>
          <a:p>
            <a:pPr marL="342900" indent="-342900">
              <a:spcBef>
                <a:spcPct val="20000"/>
              </a:spcBef>
            </a:pPr>
            <a:r>
              <a:rPr kumimoji="1" lang="en-US" altLang="zh-CN" sz="2800" b="1">
                <a:solidFill>
                  <a:schemeClr val="tx1"/>
                </a:solidFill>
                <a:latin typeface="宋体" charset="-122"/>
                <a:ea typeface="宋体" charset="-122"/>
              </a:rPr>
              <a:t>D</a:t>
            </a:r>
            <a:r>
              <a:rPr kumimoji="1" lang="zh-CN" altLang="en-US" sz="2800" b="1">
                <a:solidFill>
                  <a:schemeClr val="tx1"/>
                </a:solidFill>
                <a:latin typeface="宋体" charset="-122"/>
                <a:ea typeface="宋体" charset="-122"/>
              </a:rPr>
              <a:t>说：他胡说。写成关系表达式为（</a:t>
            </a:r>
            <a:r>
              <a:rPr kumimoji="1" lang="en-US" altLang="zh-CN" sz="2800" b="1">
                <a:solidFill>
                  <a:schemeClr val="tx1"/>
                </a:solidFill>
                <a:latin typeface="宋体" charset="-122"/>
                <a:ea typeface="宋体" charset="-122"/>
              </a:rPr>
              <a:t>thisman != </a:t>
            </a:r>
            <a:r>
              <a:rPr kumimoji="1" lang="en-US" altLang="zh-CN" sz="2800" b="1">
                <a:latin typeface="Times New Roman" pitchFamily="18" charset="0"/>
                <a:ea typeface="宋体" charset="-122"/>
              </a:rPr>
              <a:t>'</a:t>
            </a:r>
            <a:r>
              <a:rPr kumimoji="1" lang="en-US" altLang="zh-CN" sz="2800" b="1">
                <a:solidFill>
                  <a:schemeClr val="tx1"/>
                </a:solidFill>
                <a:latin typeface="宋体" charset="-122"/>
                <a:ea typeface="宋体" charset="-122"/>
              </a:rPr>
              <a:t>D</a:t>
            </a:r>
            <a:r>
              <a:rPr kumimoji="1" lang="en-US" altLang="zh-CN" sz="2800" b="1">
                <a:latin typeface="Times New Roman" pitchFamily="18" charset="0"/>
                <a:ea typeface="宋体" charset="-122"/>
              </a:rPr>
              <a:t>'</a:t>
            </a:r>
            <a:r>
              <a:rPr kumimoji="1" lang="zh-CN" altLang="en-US" sz="2800" b="1">
                <a:solidFill>
                  <a:schemeClr val="tx1"/>
                </a:solidFill>
                <a:latin typeface="宋体" charset="-122"/>
                <a:ea typeface="宋体" charset="-122"/>
              </a:rPr>
              <a:t>）</a:t>
            </a:r>
          </a:p>
          <a:p>
            <a:pPr marL="342900" indent="-342900" eaLnBrk="1" hangingPunct="1">
              <a:spcBef>
                <a:spcPct val="20000"/>
              </a:spcBef>
            </a:pPr>
            <a:endParaRPr kumimoji="1" lang="zh-CN" altLang="en-US" sz="2800" b="1">
              <a:solidFill>
                <a:schemeClr val="tx1"/>
              </a:solidFill>
              <a:latin typeface="宋体" charset="-122"/>
              <a:ea typeface="宋体" charset="-122"/>
            </a:endParaRPr>
          </a:p>
          <a:p>
            <a:pPr marL="342900" indent="-342900" eaLnBrk="1" hangingPunct="1">
              <a:spcBef>
                <a:spcPct val="20000"/>
              </a:spcBef>
            </a:pPr>
            <a:r>
              <a:rPr kumimoji="1" lang="zh-CN" altLang="en-US" sz="2800" b="1">
                <a:solidFill>
                  <a:schemeClr val="tx1"/>
                </a:solidFill>
                <a:latin typeface="宋体" charset="-122"/>
                <a:ea typeface="宋体" charset="-122"/>
              </a:rPr>
              <a:t>相应字符的</a:t>
            </a:r>
            <a:r>
              <a:rPr kumimoji="1" lang="en-US" altLang="zh-CN" sz="2800" b="1">
                <a:solidFill>
                  <a:schemeClr val="tx1"/>
                </a:solidFill>
                <a:latin typeface="宋体" charset="-122"/>
                <a:ea typeface="宋体" charset="-122"/>
              </a:rPr>
              <a:t>ASCII</a:t>
            </a:r>
            <a:r>
              <a:rPr kumimoji="1" lang="zh-CN" altLang="en-US" sz="2800" b="1">
                <a:solidFill>
                  <a:schemeClr val="tx1"/>
                </a:solidFill>
                <a:latin typeface="宋体" charset="-122"/>
                <a:ea typeface="宋体" charset="-122"/>
              </a:rPr>
              <a:t>码值为：</a:t>
            </a:r>
          </a:p>
        </p:txBody>
      </p:sp>
      <p:sp>
        <p:nvSpPr>
          <p:cNvPr id="17" name="Rectangle 4"/>
          <p:cNvSpPr>
            <a:spLocks noChangeArrowheads="1"/>
          </p:cNvSpPr>
          <p:nvPr/>
        </p:nvSpPr>
        <p:spPr bwMode="auto">
          <a:xfrm>
            <a:off x="2807605" y="4710922"/>
            <a:ext cx="636111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CN" altLang="en-US" sz="3200" b="1">
                <a:solidFill>
                  <a:schemeClr val="tx1"/>
                </a:solidFill>
                <a:latin typeface="宋体" charset="-122"/>
                <a:ea typeface="宋体" charset="-122"/>
              </a:rPr>
              <a:t>字符		    </a:t>
            </a:r>
            <a:r>
              <a:rPr kumimoji="1" lang="en-US" altLang="zh-CN" sz="3200" b="1">
                <a:solidFill>
                  <a:schemeClr val="tx1"/>
                </a:solidFill>
                <a:latin typeface="Times New Roman" pitchFamily="18" charset="0"/>
                <a:ea typeface="宋体" charset="-122"/>
              </a:rPr>
              <a:t>'</a:t>
            </a:r>
            <a:r>
              <a:rPr kumimoji="1" lang="en-US" altLang="zh-CN" sz="3200" b="1">
                <a:solidFill>
                  <a:schemeClr val="tx1"/>
                </a:solidFill>
                <a:latin typeface="宋体" charset="-122"/>
                <a:ea typeface="宋体" charset="-122"/>
              </a:rPr>
              <a:t>A</a:t>
            </a:r>
            <a:r>
              <a:rPr kumimoji="1" lang="en-US" altLang="zh-CN" sz="3200" b="1">
                <a:latin typeface="Times New Roman" pitchFamily="18" charset="0"/>
                <a:ea typeface="宋体" charset="-122"/>
              </a:rPr>
              <a:t>'</a:t>
            </a:r>
            <a:r>
              <a:rPr kumimoji="1" lang="en-US" altLang="zh-CN" sz="3200" b="1">
                <a:solidFill>
                  <a:schemeClr val="tx1"/>
                </a:solidFill>
                <a:latin typeface="宋体" charset="-122"/>
                <a:ea typeface="宋体" charset="-122"/>
              </a:rPr>
              <a:t>	</a:t>
            </a:r>
            <a:r>
              <a:rPr kumimoji="1" lang="en-US" altLang="zh-CN" sz="3200" b="1">
                <a:latin typeface="Times New Roman" pitchFamily="18" charset="0"/>
                <a:ea typeface="宋体" charset="-122"/>
              </a:rPr>
              <a:t>'</a:t>
            </a:r>
            <a:r>
              <a:rPr kumimoji="1" lang="en-US" altLang="zh-CN" sz="3200" b="1">
                <a:solidFill>
                  <a:schemeClr val="tx1"/>
                </a:solidFill>
                <a:latin typeface="宋体" charset="-122"/>
                <a:ea typeface="宋体" charset="-122"/>
              </a:rPr>
              <a:t>B</a:t>
            </a:r>
            <a:r>
              <a:rPr kumimoji="1" lang="en-US" altLang="zh-CN" sz="3200" b="1">
                <a:latin typeface="Times New Roman" pitchFamily="18" charset="0"/>
                <a:ea typeface="宋体" charset="-122"/>
              </a:rPr>
              <a:t>'</a:t>
            </a:r>
            <a:r>
              <a:rPr kumimoji="1" lang="en-US" altLang="zh-CN" sz="3200" b="1">
                <a:solidFill>
                  <a:schemeClr val="tx1"/>
                </a:solidFill>
                <a:latin typeface="宋体" charset="-122"/>
                <a:ea typeface="宋体" charset="-122"/>
              </a:rPr>
              <a:t>  </a:t>
            </a:r>
            <a:r>
              <a:rPr kumimoji="1" lang="en-US" altLang="zh-CN" sz="3200" b="1">
                <a:latin typeface="Times New Roman" pitchFamily="18" charset="0"/>
                <a:ea typeface="宋体" charset="-122"/>
              </a:rPr>
              <a:t>'</a:t>
            </a:r>
            <a:r>
              <a:rPr kumimoji="1" lang="en-US" altLang="zh-CN" sz="3200" b="1">
                <a:solidFill>
                  <a:schemeClr val="tx1"/>
                </a:solidFill>
                <a:latin typeface="宋体" charset="-122"/>
                <a:ea typeface="宋体" charset="-122"/>
              </a:rPr>
              <a:t>C</a:t>
            </a:r>
            <a:r>
              <a:rPr kumimoji="1" lang="en-US" altLang="zh-CN" sz="3200" b="1">
                <a:latin typeface="Times New Roman" pitchFamily="18" charset="0"/>
                <a:ea typeface="宋体" charset="-122"/>
              </a:rPr>
              <a:t>'</a:t>
            </a:r>
            <a:r>
              <a:rPr kumimoji="1" lang="en-US" altLang="zh-CN" sz="3200" b="1">
                <a:solidFill>
                  <a:schemeClr val="tx1"/>
                </a:solidFill>
                <a:latin typeface="宋体" charset="-122"/>
                <a:ea typeface="宋体" charset="-122"/>
              </a:rPr>
              <a:t>  </a:t>
            </a:r>
            <a:r>
              <a:rPr kumimoji="1" lang="en-US" altLang="zh-CN" sz="3200" b="1">
                <a:latin typeface="Times New Roman" pitchFamily="18" charset="0"/>
                <a:ea typeface="宋体" charset="-122"/>
              </a:rPr>
              <a:t>'</a:t>
            </a:r>
            <a:r>
              <a:rPr kumimoji="1" lang="en-US" altLang="zh-CN" sz="3200" b="1">
                <a:solidFill>
                  <a:schemeClr val="tx1"/>
                </a:solidFill>
                <a:latin typeface="宋体" charset="-122"/>
                <a:ea typeface="宋体" charset="-122"/>
              </a:rPr>
              <a:t>D</a:t>
            </a:r>
            <a:r>
              <a:rPr kumimoji="1" lang="en-US" altLang="zh-CN" sz="3200" b="1">
                <a:latin typeface="Times New Roman" pitchFamily="18" charset="0"/>
                <a:ea typeface="宋体" charset="-122"/>
              </a:rPr>
              <a:t>'</a:t>
            </a:r>
            <a:endParaRPr kumimoji="1" lang="en-US" altLang="zh-CN" sz="3200" b="1">
              <a:solidFill>
                <a:schemeClr val="tx1"/>
              </a:solidFill>
              <a:latin typeface="宋体" charset="-122"/>
              <a:ea typeface="宋体" charset="-122"/>
            </a:endParaRPr>
          </a:p>
          <a:p>
            <a:pPr eaLnBrk="1" hangingPunct="1"/>
            <a:r>
              <a:rPr kumimoji="1" lang="en-US" altLang="zh-CN" sz="3200" b="1">
                <a:solidFill>
                  <a:schemeClr val="tx1"/>
                </a:solidFill>
                <a:latin typeface="宋体" charset="-122"/>
                <a:ea typeface="宋体" charset="-122"/>
              </a:rPr>
              <a:t>ASCII</a:t>
            </a:r>
            <a:r>
              <a:rPr kumimoji="1" lang="zh-CN" altLang="en-US" sz="3200" b="1">
                <a:solidFill>
                  <a:schemeClr val="tx1"/>
                </a:solidFill>
                <a:latin typeface="宋体" charset="-122"/>
                <a:ea typeface="宋体" charset="-122"/>
              </a:rPr>
              <a:t>码值    </a:t>
            </a:r>
            <a:r>
              <a:rPr kumimoji="1" lang="en-US" altLang="zh-CN" sz="3200" b="1">
                <a:solidFill>
                  <a:schemeClr val="tx1"/>
                </a:solidFill>
                <a:latin typeface="宋体" charset="-122"/>
                <a:ea typeface="宋体" charset="-122"/>
              </a:rPr>
              <a:t>65   66	67  68</a:t>
            </a:r>
          </a:p>
        </p:txBody>
      </p:sp>
    </p:spTree>
    <p:extLst>
      <p:ext uri="{BB962C8B-B14F-4D97-AF65-F5344CB8AC3E}">
        <p14:creationId xmlns:p14="http://schemas.microsoft.com/office/powerpoint/2010/main" val="10922873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如何找到该人？</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Text Box 3"/>
          <p:cNvSpPr txBox="1">
            <a:spLocks noChangeArrowheads="1"/>
          </p:cNvSpPr>
          <p:nvPr/>
        </p:nvSpPr>
        <p:spPr bwMode="auto">
          <a:xfrm>
            <a:off x="929915" y="5498862"/>
            <a:ext cx="82819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marL="342900" indent="-3429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sz="2800" b="1">
                <a:solidFill>
                  <a:schemeClr val="tx1"/>
                </a:solidFill>
                <a:latin typeface="宋体" charset="-122"/>
                <a:ea typeface="宋体" charset="-122"/>
              </a:rPr>
              <a:t>显然，不是</a:t>
            </a:r>
            <a:r>
              <a:rPr kumimoji="1" lang="en-US" altLang="zh-CN" sz="2800" b="1">
                <a:solidFill>
                  <a:schemeClr val="tx1"/>
                </a:solidFill>
                <a:latin typeface="Times New Roman" pitchFamily="18" charset="0"/>
                <a:ea typeface="宋体" charset="-122"/>
              </a:rPr>
              <a:t>'</a:t>
            </a:r>
            <a:r>
              <a:rPr kumimoji="1" lang="en-US" altLang="zh-CN" sz="2800" b="1">
                <a:solidFill>
                  <a:schemeClr val="tx1"/>
                </a:solidFill>
                <a:latin typeface="宋体" charset="-122"/>
                <a:ea typeface="宋体" charset="-122"/>
              </a:rPr>
              <a:t>A</a:t>
            </a:r>
            <a:r>
              <a:rPr kumimoji="1" lang="en-US" altLang="zh-CN" sz="2800" b="1">
                <a:solidFill>
                  <a:schemeClr val="tx1"/>
                </a:solidFill>
                <a:latin typeface="Times New Roman" pitchFamily="18" charset="0"/>
                <a:ea typeface="宋体" charset="-122"/>
              </a:rPr>
              <a:t>'</a:t>
            </a:r>
            <a:r>
              <a:rPr kumimoji="1" lang="zh-CN" altLang="en-US" sz="2800" b="1">
                <a:solidFill>
                  <a:schemeClr val="tx1"/>
                </a:solidFill>
                <a:latin typeface="宋体" charset="-122"/>
                <a:ea typeface="宋体" charset="-122"/>
              </a:rPr>
              <a:t>做的好事（</a:t>
            </a:r>
            <a:r>
              <a:rPr kumimoji="1" lang="en-US" altLang="zh-CN" sz="2800" b="1">
                <a:solidFill>
                  <a:schemeClr val="tx1"/>
                </a:solidFill>
                <a:latin typeface="宋体" charset="-122"/>
                <a:ea typeface="宋体" charset="-122"/>
              </a:rPr>
              <a:t>3</a:t>
            </a:r>
            <a:r>
              <a:rPr kumimoji="1" lang="zh-CN" altLang="en-US" sz="2800" b="1">
                <a:solidFill>
                  <a:schemeClr val="tx1"/>
                </a:solidFill>
                <a:latin typeface="宋体" charset="-122"/>
                <a:ea typeface="宋体" charset="-122"/>
              </a:rPr>
              <a:t>假</a:t>
            </a:r>
            <a:r>
              <a:rPr kumimoji="1" lang="en-US" altLang="zh-CN" sz="2800" b="1">
                <a:solidFill>
                  <a:schemeClr val="tx1"/>
                </a:solidFill>
                <a:latin typeface="宋体" charset="-122"/>
                <a:ea typeface="宋体" charset="-122"/>
              </a:rPr>
              <a:t>1</a:t>
            </a:r>
            <a:r>
              <a:rPr kumimoji="1" lang="zh-CN" altLang="en-US" sz="2800" b="1">
                <a:solidFill>
                  <a:schemeClr val="tx1"/>
                </a:solidFill>
                <a:latin typeface="宋体" charset="-122"/>
                <a:ea typeface="宋体" charset="-122"/>
              </a:rPr>
              <a:t>真）。</a:t>
            </a:r>
          </a:p>
        </p:txBody>
      </p:sp>
      <p:sp>
        <p:nvSpPr>
          <p:cNvPr id="11" name="Rectangle 5"/>
          <p:cNvSpPr>
            <a:spLocks noChangeArrowheads="1"/>
          </p:cNvSpPr>
          <p:nvPr/>
        </p:nvSpPr>
        <p:spPr bwMode="auto">
          <a:xfrm>
            <a:off x="966426" y="1304892"/>
            <a:ext cx="982349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kumimoji="1" lang="zh-CN" altLang="en-US" sz="2800" b="1">
                <a:solidFill>
                  <a:schemeClr val="tx1"/>
                </a:solidFill>
                <a:latin typeface="Times New Roman" pitchFamily="18" charset="0"/>
                <a:ea typeface="宋体" charset="-122"/>
              </a:rPr>
              <a:t>如何找到该人，一定是“先假设某人是做好事者，然后到每句话中去测试看有几句是真话”。“有三句是真话就确定是该人，否则换下一人再试”。比如，先假定是</a:t>
            </a:r>
            <a:r>
              <a:rPr kumimoji="1" lang="en-US" altLang="zh-CN" sz="2800" b="1">
                <a:solidFill>
                  <a:schemeClr val="tx1"/>
                </a:solidFill>
                <a:latin typeface="Times New Roman" pitchFamily="18" charset="0"/>
                <a:ea typeface="宋体" charset="-122"/>
              </a:rPr>
              <a:t>A</a:t>
            </a:r>
            <a:r>
              <a:rPr kumimoji="1" lang="zh-CN" altLang="en-US" sz="2800" b="1">
                <a:solidFill>
                  <a:schemeClr val="tx1"/>
                </a:solidFill>
                <a:latin typeface="Times New Roman" pitchFamily="18" charset="0"/>
                <a:ea typeface="宋体" charset="-122"/>
              </a:rPr>
              <a:t>同学，让</a:t>
            </a:r>
            <a:r>
              <a:rPr kumimoji="1" lang="en-US" altLang="zh-CN" sz="2800" b="1">
                <a:solidFill>
                  <a:schemeClr val="tx1"/>
                </a:solidFill>
                <a:latin typeface="Times New Roman" pitchFamily="18" charset="0"/>
                <a:ea typeface="宋体" charset="-122"/>
              </a:rPr>
              <a:t>thisman=‘A’</a:t>
            </a:r>
            <a:r>
              <a:rPr kumimoji="1" lang="zh-CN" altLang="en-US" sz="2800" b="1">
                <a:solidFill>
                  <a:schemeClr val="tx1"/>
                </a:solidFill>
                <a:latin typeface="Times New Roman" pitchFamily="18" charset="0"/>
                <a:ea typeface="宋体" charset="-122"/>
              </a:rPr>
              <a:t>，代入到四句话中：</a:t>
            </a:r>
          </a:p>
        </p:txBody>
      </p:sp>
      <p:sp>
        <p:nvSpPr>
          <p:cNvPr id="12" name="Text Box 6" descr="再生纸"/>
          <p:cNvSpPr txBox="1">
            <a:spLocks noChangeArrowheads="1"/>
          </p:cNvSpPr>
          <p:nvPr/>
        </p:nvSpPr>
        <p:spPr bwMode="auto">
          <a:xfrm>
            <a:off x="1123590" y="3421951"/>
            <a:ext cx="7964040" cy="1815882"/>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en-US" altLang="zh-CN" sz="2800" b="1">
                <a:solidFill>
                  <a:schemeClr val="tx1"/>
                </a:solidFill>
                <a:latin typeface="Times New Roman" pitchFamily="18" charset="0"/>
                <a:ea typeface="宋体" charset="-122"/>
              </a:rPr>
              <a:t>A</a:t>
            </a:r>
            <a:r>
              <a:rPr kumimoji="1" lang="zh-CN" altLang="en-US" sz="2800" b="1">
                <a:solidFill>
                  <a:schemeClr val="tx1"/>
                </a:solidFill>
                <a:latin typeface="Times New Roman" pitchFamily="18" charset="0"/>
                <a:ea typeface="宋体" charset="-122"/>
              </a:rPr>
              <a:t>说：</a:t>
            </a:r>
            <a:r>
              <a:rPr kumimoji="1" lang="en-US" altLang="zh-CN" sz="2800" b="1">
                <a:solidFill>
                  <a:schemeClr val="tx1"/>
                </a:solidFill>
                <a:latin typeface="Times New Roman" pitchFamily="18" charset="0"/>
                <a:ea typeface="宋体" charset="-122"/>
              </a:rPr>
              <a:t>thisman  != 'A';	'A'  !=  'A' 	</a:t>
            </a:r>
            <a:r>
              <a:rPr kumimoji="1" lang="zh-CN" altLang="en-US" sz="2800" b="1">
                <a:solidFill>
                  <a:schemeClr val="tx1"/>
                </a:solidFill>
                <a:latin typeface="Times New Roman" pitchFamily="18" charset="0"/>
                <a:ea typeface="宋体" charset="-122"/>
              </a:rPr>
              <a:t>假，值为</a:t>
            </a:r>
            <a:r>
              <a:rPr kumimoji="1" lang="en-US" altLang="zh-CN" sz="2800" b="1">
                <a:solidFill>
                  <a:schemeClr val="tx1"/>
                </a:solidFill>
                <a:latin typeface="Times New Roman" pitchFamily="18" charset="0"/>
                <a:ea typeface="宋体" charset="-122"/>
              </a:rPr>
              <a:t>False</a:t>
            </a:r>
            <a:br>
              <a:rPr kumimoji="1" lang="zh-CN" altLang="en-US" sz="2800" b="1">
                <a:solidFill>
                  <a:schemeClr val="tx1"/>
                </a:solidFill>
                <a:latin typeface="Times New Roman" pitchFamily="18" charset="0"/>
                <a:ea typeface="宋体" charset="-122"/>
              </a:rPr>
            </a:br>
            <a:r>
              <a:rPr kumimoji="1" lang="en-US" altLang="zh-CN" sz="2800" b="1">
                <a:solidFill>
                  <a:schemeClr val="tx1"/>
                </a:solidFill>
                <a:latin typeface="Times New Roman" pitchFamily="18" charset="0"/>
                <a:ea typeface="宋体" charset="-122"/>
              </a:rPr>
              <a:t>B</a:t>
            </a:r>
            <a:r>
              <a:rPr kumimoji="1" lang="zh-CN" altLang="en-US" sz="2800" b="1">
                <a:solidFill>
                  <a:schemeClr val="tx1"/>
                </a:solidFill>
                <a:latin typeface="Times New Roman" pitchFamily="18" charset="0"/>
                <a:ea typeface="宋体" charset="-122"/>
              </a:rPr>
              <a:t>说：</a:t>
            </a:r>
            <a:r>
              <a:rPr kumimoji="1" lang="en-US" altLang="zh-CN" sz="2800" b="1">
                <a:solidFill>
                  <a:schemeClr val="tx1"/>
                </a:solidFill>
                <a:latin typeface="Times New Roman" pitchFamily="18" charset="0"/>
                <a:ea typeface="宋体" charset="-122"/>
              </a:rPr>
              <a:t>thisman  == 'C';	'A'  == 'C' 	</a:t>
            </a:r>
            <a:r>
              <a:rPr kumimoji="1" lang="zh-CN" altLang="en-US" sz="2800" b="1">
                <a:solidFill>
                  <a:schemeClr val="tx1"/>
                </a:solidFill>
                <a:latin typeface="Times New Roman" pitchFamily="18" charset="0"/>
                <a:ea typeface="宋体" charset="-122"/>
              </a:rPr>
              <a:t>假，值为</a:t>
            </a:r>
            <a:r>
              <a:rPr kumimoji="1" lang="en-US" altLang="zh-CN" sz="2800" b="1">
                <a:solidFill>
                  <a:schemeClr val="tx1"/>
                </a:solidFill>
                <a:latin typeface="Times New Roman" pitchFamily="18" charset="0"/>
                <a:ea typeface="宋体" charset="-122"/>
              </a:rPr>
              <a:t>False</a:t>
            </a:r>
            <a:br>
              <a:rPr kumimoji="1" lang="zh-CN" altLang="en-US" sz="2800" b="1">
                <a:solidFill>
                  <a:schemeClr val="tx1"/>
                </a:solidFill>
                <a:latin typeface="Times New Roman" pitchFamily="18" charset="0"/>
                <a:ea typeface="宋体" charset="-122"/>
              </a:rPr>
            </a:br>
            <a:r>
              <a:rPr kumimoji="1" lang="en-US" altLang="zh-CN" sz="2800" b="1">
                <a:solidFill>
                  <a:schemeClr val="tx1"/>
                </a:solidFill>
                <a:latin typeface="Times New Roman" pitchFamily="18" charset="0"/>
                <a:ea typeface="宋体" charset="-122"/>
              </a:rPr>
              <a:t>C</a:t>
            </a:r>
            <a:r>
              <a:rPr kumimoji="1" lang="zh-CN" altLang="en-US" sz="2800" b="1">
                <a:solidFill>
                  <a:schemeClr val="tx1"/>
                </a:solidFill>
                <a:latin typeface="Times New Roman" pitchFamily="18" charset="0"/>
                <a:ea typeface="宋体" charset="-122"/>
              </a:rPr>
              <a:t>说：</a:t>
            </a:r>
            <a:r>
              <a:rPr kumimoji="1" lang="en-US" altLang="zh-CN" sz="2800" b="1">
                <a:solidFill>
                  <a:schemeClr val="tx1"/>
                </a:solidFill>
                <a:latin typeface="Times New Roman" pitchFamily="18" charset="0"/>
                <a:ea typeface="宋体" charset="-122"/>
              </a:rPr>
              <a:t>thisman  == 'D';	'A'  == 'D' 	</a:t>
            </a:r>
            <a:r>
              <a:rPr kumimoji="1" lang="zh-CN" altLang="en-US" sz="2800" b="1">
                <a:solidFill>
                  <a:schemeClr val="tx1"/>
                </a:solidFill>
                <a:latin typeface="Times New Roman" pitchFamily="18" charset="0"/>
                <a:ea typeface="宋体" charset="-122"/>
              </a:rPr>
              <a:t>假，值为</a:t>
            </a:r>
            <a:r>
              <a:rPr kumimoji="1" lang="en-US" altLang="zh-CN" sz="2800" b="1">
                <a:solidFill>
                  <a:schemeClr val="tx1"/>
                </a:solidFill>
                <a:latin typeface="Times New Roman" pitchFamily="18" charset="0"/>
                <a:ea typeface="宋体" charset="-122"/>
              </a:rPr>
              <a:t>False</a:t>
            </a:r>
            <a:br>
              <a:rPr kumimoji="1" lang="zh-CN" altLang="en-US" sz="2800" b="1">
                <a:solidFill>
                  <a:schemeClr val="tx1"/>
                </a:solidFill>
                <a:latin typeface="Times New Roman" pitchFamily="18" charset="0"/>
                <a:ea typeface="宋体" charset="-122"/>
              </a:rPr>
            </a:br>
            <a:r>
              <a:rPr kumimoji="1" lang="en-US" altLang="zh-CN" sz="2800" b="1">
                <a:solidFill>
                  <a:schemeClr val="tx1"/>
                </a:solidFill>
                <a:latin typeface="Times New Roman" pitchFamily="18" charset="0"/>
                <a:ea typeface="宋体" charset="-122"/>
              </a:rPr>
              <a:t>D</a:t>
            </a:r>
            <a:r>
              <a:rPr kumimoji="1" lang="zh-CN" altLang="en-US" sz="2800" b="1">
                <a:solidFill>
                  <a:schemeClr val="tx1"/>
                </a:solidFill>
                <a:latin typeface="Times New Roman" pitchFamily="18" charset="0"/>
                <a:ea typeface="宋体" charset="-122"/>
              </a:rPr>
              <a:t>说：</a:t>
            </a:r>
            <a:r>
              <a:rPr kumimoji="1" lang="en-US" altLang="zh-CN" sz="2800" b="1">
                <a:solidFill>
                  <a:schemeClr val="tx1"/>
                </a:solidFill>
                <a:latin typeface="Times New Roman" pitchFamily="18" charset="0"/>
                <a:ea typeface="宋体" charset="-122"/>
              </a:rPr>
              <a:t>thisman  !=  'D';	'A'  !=  'D'	</a:t>
            </a:r>
            <a:r>
              <a:rPr kumimoji="1" lang="zh-CN" altLang="en-US" sz="2800" b="1">
                <a:solidFill>
                  <a:schemeClr val="tx1"/>
                </a:solidFill>
                <a:latin typeface="Times New Roman" pitchFamily="18" charset="0"/>
                <a:ea typeface="宋体" charset="-122"/>
              </a:rPr>
              <a:t>真，值为</a:t>
            </a:r>
            <a:r>
              <a:rPr kumimoji="1" lang="en-US" altLang="zh-CN" sz="2800" b="1">
                <a:solidFill>
                  <a:schemeClr val="tx1"/>
                </a:solidFill>
                <a:latin typeface="Times New Roman" pitchFamily="18" charset="0"/>
                <a:ea typeface="宋体" charset="-122"/>
              </a:rPr>
              <a:t>True</a:t>
            </a:r>
            <a:endParaRPr kumimoji="1" lang="zh-CN" altLang="en-US" sz="2800" b="1">
              <a:solidFill>
                <a:schemeClr val="tx1"/>
              </a:solidFill>
              <a:latin typeface="Times New Roman" pitchFamily="18" charset="0"/>
              <a:ea typeface="宋体" charset="-122"/>
            </a:endParaRPr>
          </a:p>
        </p:txBody>
      </p:sp>
    </p:spTree>
    <p:extLst>
      <p:ext uri="{BB962C8B-B14F-4D97-AF65-F5344CB8AC3E}">
        <p14:creationId xmlns:p14="http://schemas.microsoft.com/office/powerpoint/2010/main" val="3136662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继续尝试</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3" name="Text Box 4"/>
          <p:cNvSpPr txBox="1">
            <a:spLocks noChangeArrowheads="1"/>
          </p:cNvSpPr>
          <p:nvPr/>
        </p:nvSpPr>
        <p:spPr bwMode="auto">
          <a:xfrm>
            <a:off x="1527495" y="4881990"/>
            <a:ext cx="79914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marL="342900" indent="-3429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b="1">
                <a:solidFill>
                  <a:schemeClr val="tx1"/>
                </a:solidFill>
                <a:latin typeface="宋体" charset="-122"/>
                <a:ea typeface="宋体" charset="-122"/>
              </a:rPr>
              <a:t>显然，也不是</a:t>
            </a:r>
            <a:r>
              <a:rPr kumimoji="1" lang="en-US" altLang="zh-CN" b="1">
                <a:solidFill>
                  <a:schemeClr val="tx1"/>
                </a:solidFill>
                <a:latin typeface="Times New Roman" pitchFamily="18" charset="0"/>
                <a:ea typeface="宋体" charset="-122"/>
              </a:rPr>
              <a:t>'</a:t>
            </a:r>
            <a:r>
              <a:rPr kumimoji="1" lang="en-US" altLang="zh-CN" b="1">
                <a:solidFill>
                  <a:schemeClr val="tx1"/>
                </a:solidFill>
                <a:latin typeface="宋体" charset="-122"/>
                <a:ea typeface="宋体" charset="-122"/>
              </a:rPr>
              <a:t>B</a:t>
            </a:r>
            <a:r>
              <a:rPr kumimoji="1" lang="en-US" altLang="en-US" b="1">
                <a:solidFill>
                  <a:schemeClr val="tx1"/>
                </a:solidFill>
                <a:latin typeface="Times New Roman" pitchFamily="18" charset="0"/>
              </a:rPr>
              <a:t>'</a:t>
            </a:r>
            <a:r>
              <a:rPr kumimoji="1" lang="zh-CN" altLang="en-US" b="1">
                <a:solidFill>
                  <a:schemeClr val="tx1"/>
                </a:solidFill>
                <a:latin typeface="宋体" charset="-122"/>
                <a:ea typeface="宋体" charset="-122"/>
              </a:rPr>
              <a:t>所为（</a:t>
            </a:r>
            <a:r>
              <a:rPr kumimoji="1" lang="en-US" altLang="zh-CN" b="1">
                <a:solidFill>
                  <a:schemeClr val="tx1"/>
                </a:solidFill>
                <a:latin typeface="宋体" charset="-122"/>
                <a:ea typeface="宋体" charset="-122"/>
              </a:rPr>
              <a:t>2</a:t>
            </a:r>
            <a:r>
              <a:rPr kumimoji="1" lang="zh-CN" altLang="en-US" b="1">
                <a:solidFill>
                  <a:schemeClr val="tx1"/>
                </a:solidFill>
                <a:latin typeface="宋体" charset="-122"/>
                <a:ea typeface="宋体" charset="-122"/>
              </a:rPr>
              <a:t>假</a:t>
            </a:r>
            <a:r>
              <a:rPr kumimoji="1" lang="en-US" altLang="zh-CN" b="1">
                <a:solidFill>
                  <a:schemeClr val="tx1"/>
                </a:solidFill>
                <a:latin typeface="宋体" charset="-122"/>
                <a:ea typeface="宋体" charset="-122"/>
              </a:rPr>
              <a:t>2</a:t>
            </a:r>
            <a:r>
              <a:rPr kumimoji="1" lang="zh-CN" altLang="en-US" b="1">
                <a:solidFill>
                  <a:schemeClr val="tx1"/>
                </a:solidFill>
                <a:latin typeface="宋体" charset="-122"/>
                <a:ea typeface="宋体" charset="-122"/>
              </a:rPr>
              <a:t>真）</a:t>
            </a:r>
          </a:p>
        </p:txBody>
      </p:sp>
      <p:sp>
        <p:nvSpPr>
          <p:cNvPr id="14" name="Rectangle 5"/>
          <p:cNvSpPr>
            <a:spLocks noChangeArrowheads="1"/>
          </p:cNvSpPr>
          <p:nvPr/>
        </p:nvSpPr>
        <p:spPr bwMode="auto">
          <a:xfrm>
            <a:off x="1490983" y="1556178"/>
            <a:ext cx="866134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kumimoji="1" lang="zh-CN" altLang="en-US" sz="3200" b="1">
                <a:solidFill>
                  <a:schemeClr val="tx1"/>
                </a:solidFill>
                <a:latin typeface="宋体" charset="-122"/>
                <a:ea typeface="宋体" charset="-122"/>
              </a:rPr>
              <a:t>再试</a:t>
            </a:r>
            <a:r>
              <a:rPr kumimoji="1" lang="en-US" altLang="zh-CN" sz="3200" b="1">
                <a:solidFill>
                  <a:schemeClr val="tx1"/>
                </a:solidFill>
                <a:latin typeface="宋体" charset="-122"/>
                <a:ea typeface="宋体" charset="-122"/>
              </a:rPr>
              <a:t>B</a:t>
            </a:r>
            <a:r>
              <a:rPr kumimoji="1" lang="zh-CN" altLang="en-US" sz="3200" b="1">
                <a:solidFill>
                  <a:schemeClr val="tx1"/>
                </a:solidFill>
                <a:latin typeface="宋体" charset="-122"/>
                <a:ea typeface="宋体" charset="-122"/>
              </a:rPr>
              <a:t>同学，让</a:t>
            </a:r>
            <a:r>
              <a:rPr kumimoji="1" lang="en-US" altLang="zh-CN" sz="3200" b="1">
                <a:solidFill>
                  <a:schemeClr val="tx1"/>
                </a:solidFill>
                <a:latin typeface="宋体" charset="-122"/>
                <a:ea typeface="宋体" charset="-122"/>
              </a:rPr>
              <a:t>thisman = </a:t>
            </a:r>
            <a:r>
              <a:rPr kumimoji="1" lang="en-US" altLang="en-US" sz="3200" b="1">
                <a:solidFill>
                  <a:schemeClr val="tx1"/>
                </a:solidFill>
                <a:latin typeface="Times New Roman" pitchFamily="18" charset="0"/>
              </a:rPr>
              <a:t>'</a:t>
            </a:r>
            <a:r>
              <a:rPr kumimoji="1" lang="en-US" altLang="zh-CN" sz="3200" b="1">
                <a:solidFill>
                  <a:schemeClr val="tx1"/>
                </a:solidFill>
                <a:latin typeface="宋体" charset="-122"/>
                <a:ea typeface="宋体" charset="-122"/>
              </a:rPr>
              <a:t>B</a:t>
            </a:r>
            <a:r>
              <a:rPr kumimoji="1" lang="en-US" altLang="en-US" sz="3200" b="1">
                <a:solidFill>
                  <a:schemeClr val="tx1"/>
                </a:solidFill>
                <a:latin typeface="Times New Roman" pitchFamily="18" charset="0"/>
              </a:rPr>
              <a:t>'</a:t>
            </a:r>
            <a:r>
              <a:rPr kumimoji="1" lang="zh-CN" altLang="en-US" sz="3200" b="1">
                <a:solidFill>
                  <a:schemeClr val="tx1"/>
                </a:solidFill>
                <a:latin typeface="宋体" charset="-122"/>
                <a:ea typeface="宋体" charset="-122"/>
              </a:rPr>
              <a:t>；代入到四句话中</a:t>
            </a:r>
          </a:p>
        </p:txBody>
      </p:sp>
      <p:sp>
        <p:nvSpPr>
          <p:cNvPr id="15" name="Text Box 6" descr="再生纸"/>
          <p:cNvSpPr txBox="1">
            <a:spLocks noChangeArrowheads="1"/>
          </p:cNvSpPr>
          <p:nvPr/>
        </p:nvSpPr>
        <p:spPr bwMode="auto">
          <a:xfrm>
            <a:off x="1544958" y="2480103"/>
            <a:ext cx="7897290" cy="1815882"/>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en-US" altLang="zh-CN" sz="2800" b="1">
                <a:solidFill>
                  <a:schemeClr val="tx1"/>
                </a:solidFill>
                <a:latin typeface="Times New Roman" pitchFamily="18" charset="0"/>
                <a:ea typeface="宋体" charset="-122"/>
              </a:rPr>
              <a:t>A</a:t>
            </a:r>
            <a:r>
              <a:rPr kumimoji="1" lang="zh-CN" altLang="en-US" sz="2800" b="1">
                <a:solidFill>
                  <a:schemeClr val="tx1"/>
                </a:solidFill>
                <a:latin typeface="Times New Roman" pitchFamily="18" charset="0"/>
                <a:ea typeface="宋体" charset="-122"/>
              </a:rPr>
              <a:t>说：</a:t>
            </a:r>
            <a:r>
              <a:rPr kumimoji="1" lang="en-US" altLang="zh-CN" sz="2800" b="1">
                <a:solidFill>
                  <a:schemeClr val="tx1"/>
                </a:solidFill>
                <a:latin typeface="Times New Roman" pitchFamily="18" charset="0"/>
                <a:ea typeface="宋体" charset="-122"/>
              </a:rPr>
              <a:t>thisman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A</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B</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A</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zh-CN" altLang="en-US" sz="2800" b="1">
                <a:solidFill>
                  <a:schemeClr val="tx1"/>
                </a:solidFill>
                <a:latin typeface="Times New Roman" pitchFamily="18" charset="0"/>
                <a:ea typeface="宋体" charset="-122"/>
              </a:rPr>
              <a:t>真，值为</a:t>
            </a:r>
            <a:r>
              <a:rPr kumimoji="1" lang="en-US" altLang="zh-CN" sz="2800" b="1">
                <a:solidFill>
                  <a:schemeClr val="tx1"/>
                </a:solidFill>
                <a:latin typeface="Times New Roman" pitchFamily="18" charset="0"/>
                <a:ea typeface="宋体" charset="-122"/>
              </a:rPr>
              <a:t>True</a:t>
            </a:r>
            <a:br>
              <a:rPr kumimoji="1" lang="zh-CN" altLang="en-US" sz="2800" b="1">
                <a:solidFill>
                  <a:schemeClr val="tx1"/>
                </a:solidFill>
                <a:latin typeface="Times New Roman" pitchFamily="18" charset="0"/>
                <a:ea typeface="宋体" charset="-122"/>
              </a:rPr>
            </a:br>
            <a:r>
              <a:rPr kumimoji="1" lang="en-US" altLang="zh-CN" sz="2800" b="1">
                <a:solidFill>
                  <a:schemeClr val="tx1"/>
                </a:solidFill>
                <a:latin typeface="Times New Roman" pitchFamily="18" charset="0"/>
                <a:ea typeface="宋体" charset="-122"/>
              </a:rPr>
              <a:t>B</a:t>
            </a:r>
            <a:r>
              <a:rPr kumimoji="1" lang="zh-CN" altLang="en-US" sz="2800" b="1">
                <a:solidFill>
                  <a:schemeClr val="tx1"/>
                </a:solidFill>
                <a:latin typeface="Times New Roman" pitchFamily="18" charset="0"/>
                <a:ea typeface="宋体" charset="-122"/>
              </a:rPr>
              <a:t>说：</a:t>
            </a:r>
            <a:r>
              <a:rPr kumimoji="1" lang="en-US" altLang="zh-CN" sz="2800" b="1">
                <a:solidFill>
                  <a:schemeClr val="tx1"/>
                </a:solidFill>
                <a:latin typeface="Times New Roman" pitchFamily="18" charset="0"/>
                <a:ea typeface="宋体" charset="-122"/>
              </a:rPr>
              <a:t>thisman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C</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B</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C</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zh-CN" altLang="en-US" sz="2800" b="1">
                <a:solidFill>
                  <a:schemeClr val="tx1"/>
                </a:solidFill>
                <a:latin typeface="Times New Roman" pitchFamily="18" charset="0"/>
                <a:ea typeface="宋体" charset="-122"/>
              </a:rPr>
              <a:t>假，值为</a:t>
            </a:r>
            <a:r>
              <a:rPr kumimoji="1" lang="en-US" altLang="zh-CN" sz="2800" b="1">
                <a:solidFill>
                  <a:schemeClr val="tx1"/>
                </a:solidFill>
                <a:latin typeface="Times New Roman" pitchFamily="18" charset="0"/>
                <a:ea typeface="宋体" charset="-122"/>
              </a:rPr>
              <a:t>False</a:t>
            </a:r>
            <a:br>
              <a:rPr kumimoji="1" lang="zh-CN" altLang="en-US" sz="2800" b="1">
                <a:solidFill>
                  <a:schemeClr val="tx1"/>
                </a:solidFill>
                <a:latin typeface="Times New Roman" pitchFamily="18" charset="0"/>
                <a:ea typeface="宋体" charset="-122"/>
              </a:rPr>
            </a:br>
            <a:r>
              <a:rPr kumimoji="1" lang="en-US" altLang="zh-CN" sz="2800" b="1">
                <a:solidFill>
                  <a:schemeClr val="tx1"/>
                </a:solidFill>
                <a:latin typeface="Times New Roman" pitchFamily="18" charset="0"/>
                <a:ea typeface="宋体" charset="-122"/>
              </a:rPr>
              <a:t>C</a:t>
            </a:r>
            <a:r>
              <a:rPr kumimoji="1" lang="zh-CN" altLang="en-US" sz="2800" b="1">
                <a:solidFill>
                  <a:schemeClr val="tx1"/>
                </a:solidFill>
                <a:latin typeface="Times New Roman" pitchFamily="18" charset="0"/>
                <a:ea typeface="宋体" charset="-122"/>
              </a:rPr>
              <a:t>说：</a:t>
            </a:r>
            <a:r>
              <a:rPr kumimoji="1" lang="en-US" altLang="zh-CN" sz="2800" b="1">
                <a:solidFill>
                  <a:schemeClr val="tx1"/>
                </a:solidFill>
                <a:latin typeface="Times New Roman" pitchFamily="18" charset="0"/>
                <a:ea typeface="宋体" charset="-122"/>
              </a:rPr>
              <a:t>thisman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D</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B</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D</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zh-CN" altLang="en-US" sz="2800" b="1">
                <a:solidFill>
                  <a:schemeClr val="tx1"/>
                </a:solidFill>
                <a:latin typeface="Times New Roman" pitchFamily="18" charset="0"/>
                <a:ea typeface="宋体" charset="-122"/>
              </a:rPr>
              <a:t>假，值为</a:t>
            </a:r>
            <a:r>
              <a:rPr kumimoji="1" lang="en-US" altLang="zh-CN" sz="2800" b="1">
                <a:solidFill>
                  <a:schemeClr val="tx1"/>
                </a:solidFill>
                <a:latin typeface="Times New Roman" pitchFamily="18" charset="0"/>
                <a:ea typeface="宋体" charset="-122"/>
              </a:rPr>
              <a:t>False</a:t>
            </a:r>
            <a:br>
              <a:rPr kumimoji="1" lang="zh-CN" altLang="en-US" sz="2800" b="1">
                <a:solidFill>
                  <a:schemeClr val="tx1"/>
                </a:solidFill>
                <a:latin typeface="Times New Roman" pitchFamily="18" charset="0"/>
                <a:ea typeface="宋体" charset="-122"/>
              </a:rPr>
            </a:br>
            <a:r>
              <a:rPr kumimoji="1" lang="en-US" altLang="zh-CN" sz="2800" b="1">
                <a:solidFill>
                  <a:schemeClr val="tx1"/>
                </a:solidFill>
                <a:latin typeface="Times New Roman" pitchFamily="18" charset="0"/>
                <a:ea typeface="宋体" charset="-122"/>
              </a:rPr>
              <a:t>D</a:t>
            </a:r>
            <a:r>
              <a:rPr kumimoji="1" lang="zh-CN" altLang="en-US" sz="2800" b="1">
                <a:solidFill>
                  <a:schemeClr val="tx1"/>
                </a:solidFill>
                <a:latin typeface="Times New Roman" pitchFamily="18" charset="0"/>
                <a:ea typeface="宋体" charset="-122"/>
              </a:rPr>
              <a:t>说：</a:t>
            </a:r>
            <a:r>
              <a:rPr kumimoji="1" lang="en-US" altLang="zh-CN" sz="2800" b="1">
                <a:solidFill>
                  <a:schemeClr val="tx1"/>
                </a:solidFill>
                <a:latin typeface="Times New Roman" pitchFamily="18" charset="0"/>
                <a:ea typeface="宋体" charset="-122"/>
              </a:rPr>
              <a:t>thisman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D</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B</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D</a:t>
            </a:r>
            <a:r>
              <a:rPr kumimoji="1" lang="en-US" altLang="en-US" sz="2800" b="1">
                <a:solidFill>
                  <a:schemeClr val="tx1"/>
                </a:solidFill>
                <a:latin typeface="Times New Roman" pitchFamily="18" charset="0"/>
              </a:rPr>
              <a:t>'</a:t>
            </a:r>
            <a:r>
              <a:rPr kumimoji="1" lang="zh-CN" altLang="en-US" sz="2800" b="1">
                <a:solidFill>
                  <a:schemeClr val="tx1"/>
                </a:solidFill>
                <a:latin typeface="Times New Roman" pitchFamily="18" charset="0"/>
                <a:ea typeface="宋体" charset="-122"/>
              </a:rPr>
              <a:t>真，值为</a:t>
            </a:r>
            <a:r>
              <a:rPr kumimoji="1" lang="en-US" altLang="zh-CN" sz="2800" b="1">
                <a:solidFill>
                  <a:schemeClr val="tx1"/>
                </a:solidFill>
                <a:latin typeface="Times New Roman" pitchFamily="18" charset="0"/>
                <a:ea typeface="宋体" charset="-122"/>
              </a:rPr>
              <a:t>True</a:t>
            </a:r>
            <a:endParaRPr kumimoji="1" lang="zh-CN" altLang="en-US" sz="2800" b="1">
              <a:solidFill>
                <a:schemeClr val="tx1"/>
              </a:solidFill>
              <a:latin typeface="Times New Roman" pitchFamily="18" charset="0"/>
              <a:ea typeface="宋体" charset="-122"/>
            </a:endParaRPr>
          </a:p>
        </p:txBody>
      </p:sp>
    </p:spTree>
    <p:extLst>
      <p:ext uri="{BB962C8B-B14F-4D97-AF65-F5344CB8AC3E}">
        <p14:creationId xmlns:p14="http://schemas.microsoft.com/office/powerpoint/2010/main" val="2563238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再继续尝试</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1" name="Rectangle 3"/>
          <p:cNvSpPr>
            <a:spLocks noChangeArrowheads="1"/>
          </p:cNvSpPr>
          <p:nvPr/>
        </p:nvSpPr>
        <p:spPr bwMode="auto">
          <a:xfrm>
            <a:off x="859195" y="1424211"/>
            <a:ext cx="866134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kumimoji="1" lang="zh-CN" altLang="en-US" sz="3200" b="1">
                <a:solidFill>
                  <a:schemeClr val="tx1"/>
                </a:solidFill>
                <a:latin typeface="宋体" charset="-122"/>
                <a:ea typeface="宋体" charset="-122"/>
              </a:rPr>
              <a:t>再试</a:t>
            </a:r>
            <a:r>
              <a:rPr kumimoji="1" lang="en-US" altLang="zh-CN" sz="3200" b="1">
                <a:solidFill>
                  <a:schemeClr val="tx1"/>
                </a:solidFill>
                <a:latin typeface="宋体" charset="-122"/>
                <a:ea typeface="宋体" charset="-122"/>
              </a:rPr>
              <a:t>C</a:t>
            </a:r>
            <a:r>
              <a:rPr kumimoji="1" lang="zh-CN" altLang="en-US" sz="3200" b="1">
                <a:solidFill>
                  <a:schemeClr val="tx1"/>
                </a:solidFill>
                <a:latin typeface="宋体" charset="-122"/>
                <a:ea typeface="宋体" charset="-122"/>
              </a:rPr>
              <a:t>同学，让</a:t>
            </a:r>
            <a:r>
              <a:rPr kumimoji="1" lang="en-US" altLang="zh-CN" sz="3200" b="1">
                <a:solidFill>
                  <a:schemeClr val="tx1"/>
                </a:solidFill>
                <a:latin typeface="宋体" charset="-122"/>
                <a:ea typeface="宋体" charset="-122"/>
              </a:rPr>
              <a:t>thisman = </a:t>
            </a:r>
            <a:r>
              <a:rPr kumimoji="1" lang="en-US" altLang="en-US" sz="3200" b="1">
                <a:solidFill>
                  <a:schemeClr val="tx1"/>
                </a:solidFill>
                <a:latin typeface="Times New Roman" pitchFamily="18" charset="0"/>
              </a:rPr>
              <a:t>'</a:t>
            </a:r>
            <a:r>
              <a:rPr kumimoji="1" lang="en-US" altLang="zh-CN" sz="3200" b="1">
                <a:solidFill>
                  <a:schemeClr val="tx1"/>
                </a:solidFill>
                <a:latin typeface="宋体" charset="-122"/>
                <a:ea typeface="宋体" charset="-122"/>
              </a:rPr>
              <a:t>C</a:t>
            </a:r>
            <a:r>
              <a:rPr kumimoji="1" lang="en-US" altLang="en-US" sz="3200" b="1">
                <a:solidFill>
                  <a:schemeClr val="tx1"/>
                </a:solidFill>
                <a:latin typeface="Times New Roman" pitchFamily="18" charset="0"/>
              </a:rPr>
              <a:t>'</a:t>
            </a:r>
            <a:r>
              <a:rPr kumimoji="1" lang="zh-CN" altLang="en-US" sz="3200" b="1">
                <a:solidFill>
                  <a:schemeClr val="tx1"/>
                </a:solidFill>
                <a:latin typeface="宋体" charset="-122"/>
                <a:ea typeface="宋体" charset="-122"/>
              </a:rPr>
              <a:t>；代入到四句话中</a:t>
            </a:r>
          </a:p>
        </p:txBody>
      </p:sp>
      <p:sp>
        <p:nvSpPr>
          <p:cNvPr id="12" name="Text Box 4" descr="再生纸"/>
          <p:cNvSpPr txBox="1">
            <a:spLocks noChangeArrowheads="1"/>
          </p:cNvSpPr>
          <p:nvPr/>
        </p:nvSpPr>
        <p:spPr bwMode="auto">
          <a:xfrm>
            <a:off x="998895" y="2348136"/>
            <a:ext cx="7897290" cy="1815882"/>
          </a:xfrm>
          <a:prstGeom prst="rect">
            <a:avLst/>
          </a:prstGeom>
          <a:noFill/>
          <a:ln w="1905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a:spcBef>
                <a:spcPct val="50000"/>
              </a:spcBef>
            </a:pPr>
            <a:r>
              <a:rPr kumimoji="1" lang="en-US" altLang="zh-CN" sz="2800" b="1">
                <a:solidFill>
                  <a:schemeClr val="tx1"/>
                </a:solidFill>
                <a:latin typeface="Times New Roman" pitchFamily="18" charset="0"/>
                <a:ea typeface="宋体" charset="-122"/>
              </a:rPr>
              <a:t>A</a:t>
            </a:r>
            <a:r>
              <a:rPr kumimoji="1" lang="zh-CN" altLang="en-US" sz="2800" b="1">
                <a:solidFill>
                  <a:schemeClr val="tx1"/>
                </a:solidFill>
                <a:latin typeface="Times New Roman" pitchFamily="18" charset="0"/>
                <a:ea typeface="宋体" charset="-122"/>
              </a:rPr>
              <a:t>说：</a:t>
            </a:r>
            <a:r>
              <a:rPr kumimoji="1" lang="en-US" altLang="zh-CN" sz="2800" b="1">
                <a:solidFill>
                  <a:schemeClr val="tx1"/>
                </a:solidFill>
                <a:latin typeface="Times New Roman" pitchFamily="18" charset="0"/>
                <a:ea typeface="宋体" charset="-122"/>
              </a:rPr>
              <a:t>thisman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A</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C</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A</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zh-CN" altLang="en-US" sz="2800" b="1">
                <a:solidFill>
                  <a:schemeClr val="tx1"/>
                </a:solidFill>
                <a:latin typeface="Times New Roman" pitchFamily="18" charset="0"/>
                <a:ea typeface="宋体" charset="-122"/>
              </a:rPr>
              <a:t>真，值为</a:t>
            </a:r>
            <a:r>
              <a:rPr kumimoji="1" lang="en-US" altLang="zh-CN" sz="2800" b="1">
                <a:solidFill>
                  <a:schemeClr val="tx1"/>
                </a:solidFill>
                <a:latin typeface="Times New Roman" pitchFamily="18" charset="0"/>
                <a:ea typeface="宋体" charset="-122"/>
              </a:rPr>
              <a:t>True</a:t>
            </a:r>
            <a:br>
              <a:rPr kumimoji="1" lang="zh-CN" altLang="en-US" sz="2800" b="1">
                <a:solidFill>
                  <a:schemeClr val="tx1"/>
                </a:solidFill>
                <a:latin typeface="Times New Roman" pitchFamily="18" charset="0"/>
                <a:ea typeface="宋体" charset="-122"/>
              </a:rPr>
            </a:br>
            <a:r>
              <a:rPr kumimoji="1" lang="en-US" altLang="zh-CN" sz="2800" b="1">
                <a:solidFill>
                  <a:schemeClr val="tx1"/>
                </a:solidFill>
                <a:latin typeface="Times New Roman" pitchFamily="18" charset="0"/>
                <a:ea typeface="宋体" charset="-122"/>
              </a:rPr>
              <a:t>B</a:t>
            </a:r>
            <a:r>
              <a:rPr kumimoji="1" lang="zh-CN" altLang="en-US" sz="2800" b="1">
                <a:solidFill>
                  <a:schemeClr val="tx1"/>
                </a:solidFill>
                <a:latin typeface="Times New Roman" pitchFamily="18" charset="0"/>
                <a:ea typeface="宋体" charset="-122"/>
              </a:rPr>
              <a:t>说：</a:t>
            </a:r>
            <a:r>
              <a:rPr kumimoji="1" lang="en-US" altLang="zh-CN" sz="2800" b="1">
                <a:solidFill>
                  <a:schemeClr val="tx1"/>
                </a:solidFill>
                <a:latin typeface="Times New Roman" pitchFamily="18" charset="0"/>
                <a:ea typeface="宋体" charset="-122"/>
              </a:rPr>
              <a:t>thisman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C</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C</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C</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zh-CN" altLang="en-US" sz="2800" b="1">
                <a:solidFill>
                  <a:schemeClr val="tx1"/>
                </a:solidFill>
                <a:latin typeface="Times New Roman" pitchFamily="18" charset="0"/>
                <a:ea typeface="宋体" charset="-122"/>
              </a:rPr>
              <a:t>真，值为</a:t>
            </a:r>
            <a:r>
              <a:rPr kumimoji="1" lang="en-US" altLang="zh-CN" sz="2800" b="1">
                <a:solidFill>
                  <a:schemeClr val="tx1"/>
                </a:solidFill>
                <a:latin typeface="Times New Roman" pitchFamily="18" charset="0"/>
                <a:ea typeface="宋体" charset="-122"/>
              </a:rPr>
              <a:t>True</a:t>
            </a:r>
            <a:br>
              <a:rPr kumimoji="1" lang="zh-CN" altLang="en-US" sz="2800" b="1">
                <a:solidFill>
                  <a:schemeClr val="tx1"/>
                </a:solidFill>
                <a:latin typeface="Times New Roman" pitchFamily="18" charset="0"/>
                <a:ea typeface="宋体" charset="-122"/>
              </a:rPr>
            </a:br>
            <a:r>
              <a:rPr kumimoji="1" lang="en-US" altLang="zh-CN" sz="2800" b="1">
                <a:solidFill>
                  <a:schemeClr val="tx1"/>
                </a:solidFill>
                <a:latin typeface="Times New Roman" pitchFamily="18" charset="0"/>
                <a:ea typeface="宋体" charset="-122"/>
              </a:rPr>
              <a:t>C</a:t>
            </a:r>
            <a:r>
              <a:rPr kumimoji="1" lang="zh-CN" altLang="en-US" sz="2800" b="1">
                <a:solidFill>
                  <a:schemeClr val="tx1"/>
                </a:solidFill>
                <a:latin typeface="Times New Roman" pitchFamily="18" charset="0"/>
                <a:ea typeface="宋体" charset="-122"/>
              </a:rPr>
              <a:t>说：</a:t>
            </a:r>
            <a:r>
              <a:rPr kumimoji="1" lang="en-US" altLang="zh-CN" sz="2800" b="1">
                <a:solidFill>
                  <a:schemeClr val="tx1"/>
                </a:solidFill>
                <a:latin typeface="Times New Roman" pitchFamily="18" charset="0"/>
                <a:ea typeface="宋体" charset="-122"/>
              </a:rPr>
              <a:t>thisman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D</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C</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D</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zh-CN" altLang="en-US" sz="2800" b="1">
                <a:solidFill>
                  <a:schemeClr val="tx1"/>
                </a:solidFill>
                <a:latin typeface="Times New Roman" pitchFamily="18" charset="0"/>
                <a:ea typeface="宋体" charset="-122"/>
              </a:rPr>
              <a:t>假，值为</a:t>
            </a:r>
            <a:r>
              <a:rPr kumimoji="1" lang="en-US" altLang="zh-CN" sz="2800" b="1">
                <a:solidFill>
                  <a:schemeClr val="tx1"/>
                </a:solidFill>
                <a:latin typeface="Times New Roman" pitchFamily="18" charset="0"/>
                <a:ea typeface="宋体" charset="-122"/>
              </a:rPr>
              <a:t>False</a:t>
            </a:r>
            <a:br>
              <a:rPr kumimoji="1" lang="zh-CN" altLang="en-US" sz="2800" b="1">
                <a:solidFill>
                  <a:schemeClr val="tx1"/>
                </a:solidFill>
                <a:latin typeface="Times New Roman" pitchFamily="18" charset="0"/>
                <a:ea typeface="宋体" charset="-122"/>
              </a:rPr>
            </a:br>
            <a:r>
              <a:rPr kumimoji="1" lang="en-US" altLang="zh-CN" sz="2800" b="1">
                <a:solidFill>
                  <a:schemeClr val="tx1"/>
                </a:solidFill>
                <a:latin typeface="Times New Roman" pitchFamily="18" charset="0"/>
                <a:ea typeface="宋体" charset="-122"/>
              </a:rPr>
              <a:t>D</a:t>
            </a:r>
            <a:r>
              <a:rPr kumimoji="1" lang="zh-CN" altLang="en-US" sz="2800" b="1">
                <a:solidFill>
                  <a:schemeClr val="tx1"/>
                </a:solidFill>
                <a:latin typeface="Times New Roman" pitchFamily="18" charset="0"/>
                <a:ea typeface="宋体" charset="-122"/>
              </a:rPr>
              <a:t>说：</a:t>
            </a:r>
            <a:r>
              <a:rPr kumimoji="1" lang="en-US" altLang="zh-CN" sz="2800" b="1">
                <a:solidFill>
                  <a:schemeClr val="tx1"/>
                </a:solidFill>
                <a:latin typeface="Times New Roman" pitchFamily="18" charset="0"/>
                <a:ea typeface="宋体" charset="-122"/>
              </a:rPr>
              <a:t>thisman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D</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C</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  !=   </a:t>
            </a:r>
            <a:r>
              <a:rPr kumimoji="1" lang="en-US" altLang="en-US" sz="2800" b="1">
                <a:solidFill>
                  <a:schemeClr val="tx1"/>
                </a:solidFill>
                <a:latin typeface="Times New Roman" pitchFamily="18" charset="0"/>
              </a:rPr>
              <a:t>'</a:t>
            </a:r>
            <a:r>
              <a:rPr kumimoji="1" lang="en-US" altLang="zh-CN" sz="2800" b="1">
                <a:solidFill>
                  <a:schemeClr val="tx1"/>
                </a:solidFill>
                <a:latin typeface="Times New Roman" pitchFamily="18" charset="0"/>
                <a:ea typeface="宋体" charset="-122"/>
              </a:rPr>
              <a:t>D</a:t>
            </a:r>
            <a:r>
              <a:rPr kumimoji="1" lang="en-US" altLang="en-US" sz="2800" b="1">
                <a:solidFill>
                  <a:schemeClr val="tx1"/>
                </a:solidFill>
                <a:latin typeface="Times New Roman" pitchFamily="18" charset="0"/>
              </a:rPr>
              <a:t>'</a:t>
            </a:r>
            <a:r>
              <a:rPr kumimoji="1" lang="zh-CN" altLang="en-US" sz="2800" b="1">
                <a:solidFill>
                  <a:schemeClr val="tx1"/>
                </a:solidFill>
                <a:latin typeface="Times New Roman" pitchFamily="18" charset="0"/>
                <a:ea typeface="宋体" charset="-122"/>
              </a:rPr>
              <a:t>真，值为</a:t>
            </a:r>
            <a:r>
              <a:rPr kumimoji="1" lang="en-US" altLang="zh-CN" sz="2800" b="1">
                <a:solidFill>
                  <a:schemeClr val="tx1"/>
                </a:solidFill>
                <a:latin typeface="Times New Roman" pitchFamily="18" charset="0"/>
                <a:ea typeface="宋体" charset="-122"/>
              </a:rPr>
              <a:t>True</a:t>
            </a:r>
            <a:endParaRPr kumimoji="1" lang="zh-CN" altLang="en-US" sz="2800" b="1">
              <a:solidFill>
                <a:schemeClr val="tx1"/>
              </a:solidFill>
              <a:latin typeface="Times New Roman" pitchFamily="18" charset="0"/>
              <a:ea typeface="宋体" charset="-122"/>
            </a:endParaRPr>
          </a:p>
        </p:txBody>
      </p:sp>
      <p:sp>
        <p:nvSpPr>
          <p:cNvPr id="16" name="Text Box 5"/>
          <p:cNvSpPr txBox="1">
            <a:spLocks noChangeArrowheads="1"/>
          </p:cNvSpPr>
          <p:nvPr/>
        </p:nvSpPr>
        <p:spPr bwMode="auto">
          <a:xfrm>
            <a:off x="892532" y="4527773"/>
            <a:ext cx="9914013"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sz="2800" b="1">
                <a:solidFill>
                  <a:schemeClr val="tx1"/>
                </a:solidFill>
                <a:latin typeface="Times New Roman" pitchFamily="18" charset="0"/>
                <a:ea typeface="宋体" charset="-122"/>
              </a:rPr>
              <a:t>显然，就是</a:t>
            </a:r>
            <a:r>
              <a:rPr kumimoji="1" lang="en-US" altLang="zh-CN" sz="2800" b="1">
                <a:solidFill>
                  <a:schemeClr val="tx1"/>
                </a:solidFill>
                <a:latin typeface="Times New Roman" pitchFamily="18" charset="0"/>
                <a:ea typeface="宋体" charset="-122"/>
              </a:rPr>
              <a:t>'C</a:t>
            </a:r>
            <a:r>
              <a:rPr kumimoji="1" lang="en-US" altLang="en-US" sz="2800" b="1">
                <a:solidFill>
                  <a:schemeClr val="tx1"/>
                </a:solidFill>
                <a:latin typeface="Times New Roman" pitchFamily="18" charset="0"/>
              </a:rPr>
              <a:t>'</a:t>
            </a:r>
            <a:r>
              <a:rPr kumimoji="1" lang="zh-CN" altLang="en-US" sz="2800" b="1">
                <a:solidFill>
                  <a:schemeClr val="tx1"/>
                </a:solidFill>
                <a:latin typeface="Times New Roman" pitchFamily="18" charset="0"/>
                <a:ea typeface="宋体" charset="-122"/>
              </a:rPr>
              <a:t>做了好事（</a:t>
            </a:r>
            <a:r>
              <a:rPr kumimoji="1" lang="en-US" altLang="zh-CN" sz="2800" b="1">
                <a:solidFill>
                  <a:schemeClr val="tx1"/>
                </a:solidFill>
                <a:latin typeface="Times New Roman" pitchFamily="18" charset="0"/>
                <a:ea typeface="宋体" charset="-122"/>
              </a:rPr>
              <a:t>3</a:t>
            </a:r>
            <a:r>
              <a:rPr kumimoji="1" lang="zh-CN" altLang="en-US" sz="2800" b="1">
                <a:solidFill>
                  <a:schemeClr val="tx1"/>
                </a:solidFill>
                <a:latin typeface="Times New Roman" pitchFamily="18" charset="0"/>
                <a:ea typeface="宋体" charset="-122"/>
              </a:rPr>
              <a:t>真</a:t>
            </a:r>
            <a:r>
              <a:rPr kumimoji="1" lang="en-US" altLang="zh-CN" sz="2800" b="1">
                <a:solidFill>
                  <a:schemeClr val="tx1"/>
                </a:solidFill>
                <a:latin typeface="Times New Roman" pitchFamily="18" charset="0"/>
                <a:ea typeface="宋体" charset="-122"/>
              </a:rPr>
              <a:t>1</a:t>
            </a:r>
            <a:r>
              <a:rPr kumimoji="1" lang="zh-CN" altLang="en-US" sz="2800" b="1">
                <a:solidFill>
                  <a:schemeClr val="tx1"/>
                </a:solidFill>
                <a:latin typeface="Times New Roman" pitchFamily="18" charset="0"/>
                <a:ea typeface="宋体" charset="-122"/>
              </a:rPr>
              <a:t>假），这时，可以理出头绪，要用所谓的枚举法，一个人一个人地去试，四句话中有三句为真，该人即为所求。</a:t>
            </a:r>
          </a:p>
        </p:txBody>
      </p:sp>
    </p:spTree>
    <p:extLst>
      <p:ext uri="{BB962C8B-B14F-4D97-AF65-F5344CB8AC3E}">
        <p14:creationId xmlns:p14="http://schemas.microsoft.com/office/powerpoint/2010/main" val="2719025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参考</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1" name="Text Box 3"/>
          <p:cNvSpPr txBox="1">
            <a:spLocks noChangeArrowheads="1"/>
          </p:cNvSpPr>
          <p:nvPr/>
        </p:nvSpPr>
        <p:spPr bwMode="auto">
          <a:xfrm>
            <a:off x="1588110" y="931863"/>
            <a:ext cx="9559257" cy="560153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ts val="600"/>
              </a:spcBef>
            </a:pPr>
            <a:r>
              <a:rPr kumimoji="1" lang="en-US" altLang="zh-CN" sz="2800" b="1">
                <a:solidFill>
                  <a:srgbClr val="00B050"/>
                </a:solidFill>
                <a:latin typeface="Times New Roman" pitchFamily="18" charset="0"/>
                <a:ea typeface="宋体" charset="-122"/>
              </a:rPr>
              <a:t>#  thisman </a:t>
            </a:r>
            <a:r>
              <a:rPr kumimoji="1" lang="zh-CN" altLang="en-US" sz="2800" b="1">
                <a:solidFill>
                  <a:srgbClr val="00B050"/>
                </a:solidFill>
                <a:latin typeface="Times New Roman" pitchFamily="18" charset="0"/>
                <a:ea typeface="宋体" charset="-122"/>
              </a:rPr>
              <a:t>分别赋值为</a:t>
            </a:r>
            <a:r>
              <a:rPr kumimoji="1" lang="en-US" altLang="zh-CN" sz="2800" b="1">
                <a:solidFill>
                  <a:srgbClr val="00B050"/>
                </a:solidFill>
                <a:latin typeface="Times New Roman" pitchFamily="18" charset="0"/>
                <a:ea typeface="宋体" charset="-122"/>
              </a:rPr>
              <a:t>'A',  'B',  'C',  'D' </a:t>
            </a:r>
          </a:p>
          <a:p>
            <a:pPr eaLnBrk="1" hangingPunct="1">
              <a:spcBef>
                <a:spcPts val="600"/>
              </a:spcBef>
            </a:pPr>
            <a:r>
              <a:rPr kumimoji="1" lang="en-US" altLang="zh-CN" sz="2800" b="1">
                <a:solidFill>
                  <a:schemeClr val="tx1"/>
                </a:solidFill>
                <a:latin typeface="Times New Roman" pitchFamily="18" charset="0"/>
                <a:ea typeface="宋体" charset="-122"/>
              </a:rPr>
              <a:t>thisman  =  'A'</a:t>
            </a:r>
          </a:p>
          <a:p>
            <a:pPr eaLnBrk="1" hangingPunct="1">
              <a:spcBef>
                <a:spcPts val="600"/>
              </a:spcBef>
            </a:pPr>
            <a:r>
              <a:rPr kumimoji="1" lang="en-US" altLang="zh-CN" sz="2800" b="1">
                <a:solidFill>
                  <a:schemeClr val="tx1"/>
                </a:solidFill>
                <a:latin typeface="Times New Roman" pitchFamily="18" charset="0"/>
                <a:ea typeface="宋体" charset="-122"/>
              </a:rPr>
              <a:t>while  thisman  &lt;=  'D'  :</a:t>
            </a:r>
          </a:p>
          <a:p>
            <a:pPr eaLnBrk="1" hangingPunct="1">
              <a:spcBef>
                <a:spcPts val="600"/>
              </a:spcBef>
            </a:pPr>
            <a:r>
              <a:rPr kumimoji="1" lang="en-US" altLang="zh-CN" sz="2800" b="1">
                <a:solidFill>
                  <a:schemeClr val="tx1"/>
                </a:solidFill>
                <a:latin typeface="Times New Roman" pitchFamily="18" charset="0"/>
                <a:ea typeface="宋体" charset="-122"/>
              </a:rPr>
              <a:t>            sum   =   (thisman  !=   'A')		</a:t>
            </a:r>
            <a:r>
              <a:rPr kumimoji="1" lang="en-US" altLang="zh-CN" sz="2800" b="1">
                <a:solidFill>
                  <a:srgbClr val="00B050"/>
                </a:solidFill>
                <a:latin typeface="Times New Roman" pitchFamily="18" charset="0"/>
                <a:ea typeface="宋体" charset="-122"/>
              </a:rPr>
              <a:t># A</a:t>
            </a:r>
            <a:r>
              <a:rPr kumimoji="1" lang="zh-CN" altLang="en-US" sz="2800" b="1">
                <a:solidFill>
                  <a:srgbClr val="00B050"/>
                </a:solidFill>
                <a:latin typeface="Times New Roman" pitchFamily="18" charset="0"/>
                <a:ea typeface="宋体" charset="-122"/>
              </a:rPr>
              <a:t>的话是否为真</a:t>
            </a:r>
          </a:p>
          <a:p>
            <a:pPr eaLnBrk="1" hangingPunct="1">
              <a:spcBef>
                <a:spcPts val="600"/>
              </a:spcBef>
            </a:pPr>
            <a:r>
              <a:rPr kumimoji="1" lang="zh-CN" altLang="en-US" sz="2800" b="1">
                <a:solidFill>
                  <a:schemeClr val="tx1"/>
                </a:solidFill>
                <a:latin typeface="Times New Roman" pitchFamily="18" charset="0"/>
                <a:ea typeface="宋体" charset="-122"/>
              </a:rPr>
              <a:t>            </a:t>
            </a:r>
            <a:r>
              <a:rPr kumimoji="1" lang="en-US" altLang="zh-CN" sz="2800" b="1">
                <a:solidFill>
                  <a:schemeClr val="tx1"/>
                </a:solidFill>
                <a:latin typeface="Times New Roman" pitchFamily="18" charset="0"/>
                <a:ea typeface="宋体" charset="-122"/>
              </a:rPr>
              <a:t>sum</a:t>
            </a:r>
            <a:r>
              <a:rPr kumimoji="1" lang="zh-CN" altLang="en-US" sz="2800" b="1">
                <a:solidFill>
                  <a:schemeClr val="tx1"/>
                </a:solidFill>
                <a:latin typeface="Times New Roman" pitchFamily="18" charset="0"/>
                <a:ea typeface="宋体" charset="-122"/>
              </a:rPr>
              <a:t>  </a:t>
            </a:r>
            <a:r>
              <a:rPr kumimoji="1" lang="en-US" altLang="zh-CN" sz="2800" b="1">
                <a:solidFill>
                  <a:schemeClr val="tx1"/>
                </a:solidFill>
                <a:latin typeface="Times New Roman" pitchFamily="18" charset="0"/>
                <a:ea typeface="宋体" charset="-122"/>
              </a:rPr>
              <a:t>+=  (thisman  ==  'C')		</a:t>
            </a:r>
            <a:r>
              <a:rPr kumimoji="1" lang="en-US" altLang="zh-CN" sz="2800" b="1">
                <a:solidFill>
                  <a:srgbClr val="00B050"/>
                </a:solidFill>
                <a:latin typeface="Times New Roman" pitchFamily="18" charset="0"/>
                <a:ea typeface="宋体" charset="-122"/>
              </a:rPr>
              <a:t># B</a:t>
            </a:r>
            <a:r>
              <a:rPr kumimoji="1" lang="zh-CN" altLang="en-US" sz="2800" b="1">
                <a:solidFill>
                  <a:srgbClr val="00B050"/>
                </a:solidFill>
                <a:latin typeface="Times New Roman" pitchFamily="18" charset="0"/>
                <a:ea typeface="宋体" charset="-122"/>
              </a:rPr>
              <a:t>的话是否为真</a:t>
            </a:r>
          </a:p>
          <a:p>
            <a:pPr eaLnBrk="1" hangingPunct="1">
              <a:spcBef>
                <a:spcPts val="600"/>
              </a:spcBef>
            </a:pPr>
            <a:r>
              <a:rPr kumimoji="1" lang="zh-CN" altLang="en-US" sz="2800" b="1">
                <a:solidFill>
                  <a:schemeClr val="tx1"/>
                </a:solidFill>
                <a:latin typeface="Times New Roman" pitchFamily="18" charset="0"/>
                <a:ea typeface="宋体" charset="-122"/>
              </a:rPr>
              <a:t>            </a:t>
            </a:r>
            <a:r>
              <a:rPr kumimoji="1" lang="en-US" altLang="zh-CN" sz="2800" b="1">
                <a:solidFill>
                  <a:schemeClr val="tx1"/>
                </a:solidFill>
                <a:latin typeface="Times New Roman" pitchFamily="18" charset="0"/>
                <a:ea typeface="宋体" charset="-122"/>
              </a:rPr>
              <a:t>sum</a:t>
            </a:r>
            <a:r>
              <a:rPr kumimoji="1" lang="zh-CN" altLang="en-US" sz="2800" b="1">
                <a:solidFill>
                  <a:schemeClr val="tx1"/>
                </a:solidFill>
                <a:latin typeface="Times New Roman" pitchFamily="18" charset="0"/>
                <a:ea typeface="宋体" charset="-122"/>
              </a:rPr>
              <a:t>  </a:t>
            </a:r>
            <a:r>
              <a:rPr kumimoji="1" lang="en-US" altLang="zh-CN" sz="2800" b="1">
                <a:solidFill>
                  <a:schemeClr val="tx1"/>
                </a:solidFill>
                <a:latin typeface="Times New Roman" pitchFamily="18" charset="0"/>
                <a:ea typeface="宋体" charset="-122"/>
              </a:rPr>
              <a:t>+=  (thisman  ==  'D')		</a:t>
            </a:r>
            <a:r>
              <a:rPr kumimoji="1" lang="en-US" altLang="zh-CN" sz="2800" b="1">
                <a:solidFill>
                  <a:srgbClr val="00B050"/>
                </a:solidFill>
                <a:latin typeface="Times New Roman" pitchFamily="18" charset="0"/>
                <a:ea typeface="宋体" charset="-122"/>
              </a:rPr>
              <a:t># C</a:t>
            </a:r>
            <a:r>
              <a:rPr kumimoji="1" lang="zh-CN" altLang="en-US" sz="2800" b="1">
                <a:solidFill>
                  <a:srgbClr val="00B050"/>
                </a:solidFill>
                <a:latin typeface="Times New Roman" pitchFamily="18" charset="0"/>
                <a:ea typeface="宋体" charset="-122"/>
              </a:rPr>
              <a:t>的话是否为真</a:t>
            </a:r>
          </a:p>
          <a:p>
            <a:pPr eaLnBrk="1" hangingPunct="1">
              <a:spcBef>
                <a:spcPts val="600"/>
              </a:spcBef>
            </a:pPr>
            <a:r>
              <a:rPr kumimoji="1" lang="zh-CN" altLang="en-US" sz="2800" b="1">
                <a:solidFill>
                  <a:schemeClr val="tx1"/>
                </a:solidFill>
                <a:latin typeface="Times New Roman" pitchFamily="18" charset="0"/>
                <a:ea typeface="宋体" charset="-122"/>
              </a:rPr>
              <a:t>            </a:t>
            </a:r>
            <a:r>
              <a:rPr kumimoji="1" lang="en-US" altLang="zh-CN" sz="2800" b="1">
                <a:solidFill>
                  <a:schemeClr val="tx1"/>
                </a:solidFill>
                <a:latin typeface="Times New Roman" pitchFamily="18" charset="0"/>
                <a:ea typeface="宋体" charset="-122"/>
              </a:rPr>
              <a:t>sum</a:t>
            </a:r>
            <a:r>
              <a:rPr kumimoji="1" lang="zh-CN" altLang="en-US" sz="2800" b="1">
                <a:solidFill>
                  <a:schemeClr val="tx1"/>
                </a:solidFill>
                <a:latin typeface="Times New Roman" pitchFamily="18" charset="0"/>
                <a:ea typeface="宋体" charset="-122"/>
              </a:rPr>
              <a:t>  </a:t>
            </a:r>
            <a:r>
              <a:rPr kumimoji="1" lang="en-US" altLang="zh-CN" sz="2800" b="1">
                <a:solidFill>
                  <a:schemeClr val="tx1"/>
                </a:solidFill>
                <a:latin typeface="Times New Roman" pitchFamily="18" charset="0"/>
                <a:ea typeface="宋体" charset="-122"/>
              </a:rPr>
              <a:t>+=  (thisman  !=   'D')		</a:t>
            </a:r>
            <a:r>
              <a:rPr kumimoji="1" lang="en-US" altLang="zh-CN" sz="2800" b="1">
                <a:solidFill>
                  <a:srgbClr val="00B050"/>
                </a:solidFill>
                <a:latin typeface="Times New Roman" pitchFamily="18" charset="0"/>
                <a:ea typeface="宋体" charset="-122"/>
              </a:rPr>
              <a:t># D</a:t>
            </a:r>
            <a:r>
              <a:rPr kumimoji="1" lang="zh-CN" altLang="en-US" sz="2800" b="1">
                <a:solidFill>
                  <a:srgbClr val="00B050"/>
                </a:solidFill>
                <a:latin typeface="Times New Roman" pitchFamily="18" charset="0"/>
                <a:ea typeface="宋体" charset="-122"/>
              </a:rPr>
              <a:t>的话是否为真</a:t>
            </a:r>
          </a:p>
          <a:p>
            <a:pPr>
              <a:spcBef>
                <a:spcPts val="600"/>
              </a:spcBef>
            </a:pPr>
            <a:r>
              <a:rPr kumimoji="1" lang="zh-CN" altLang="en-US" sz="2800" b="1">
                <a:solidFill>
                  <a:schemeClr val="tx1"/>
                </a:solidFill>
                <a:latin typeface="Times New Roman" pitchFamily="18" charset="0"/>
                <a:ea typeface="宋体" charset="-122"/>
              </a:rPr>
              <a:t>            </a:t>
            </a:r>
            <a:r>
              <a:rPr kumimoji="1" lang="en-US" altLang="zh-CN" sz="2800" b="1">
                <a:solidFill>
                  <a:schemeClr val="tx1"/>
                </a:solidFill>
                <a:latin typeface="Times New Roman" pitchFamily="18" charset="0"/>
                <a:ea typeface="宋体" charset="-122"/>
              </a:rPr>
              <a:t>if sum  ==  3 :</a:t>
            </a:r>
          </a:p>
          <a:p>
            <a:pPr>
              <a:spcBef>
                <a:spcPts val="600"/>
              </a:spcBef>
            </a:pPr>
            <a:r>
              <a:rPr kumimoji="1" lang="en-US" altLang="zh-CN" sz="2800" b="1">
                <a:solidFill>
                  <a:schemeClr val="tx1"/>
                </a:solidFill>
                <a:latin typeface="Times New Roman" pitchFamily="18" charset="0"/>
                <a:ea typeface="宋体" charset="-122"/>
              </a:rPr>
              <a:t>                        print("This man is ",  thisman)</a:t>
            </a:r>
          </a:p>
          <a:p>
            <a:pPr>
              <a:spcBef>
                <a:spcPts val="600"/>
              </a:spcBef>
            </a:pPr>
            <a:r>
              <a:rPr kumimoji="1" lang="en-US" altLang="zh-CN" sz="2800" b="1">
                <a:solidFill>
                  <a:schemeClr val="tx1"/>
                </a:solidFill>
                <a:latin typeface="Times New Roman" pitchFamily="18" charset="0"/>
                <a:ea typeface="宋体" charset="-122"/>
              </a:rPr>
              <a:t>                        break</a:t>
            </a:r>
          </a:p>
          <a:p>
            <a:pPr>
              <a:spcBef>
                <a:spcPts val="600"/>
              </a:spcBef>
            </a:pPr>
            <a:r>
              <a:rPr kumimoji="1" lang="en-US" altLang="zh-CN" sz="2800" b="1">
                <a:solidFill>
                  <a:schemeClr val="tx1"/>
                </a:solidFill>
                <a:latin typeface="Times New Roman" pitchFamily="18" charset="0"/>
                <a:ea typeface="宋体" charset="-122"/>
              </a:rPr>
              <a:t>            thisman = chr(ord(thisman)+1)</a:t>
            </a:r>
          </a:p>
        </p:txBody>
      </p:sp>
    </p:spTree>
    <p:extLst>
      <p:ext uri="{BB962C8B-B14F-4D97-AF65-F5344CB8AC3E}">
        <p14:creationId xmlns:p14="http://schemas.microsoft.com/office/powerpoint/2010/main" val="11733959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3.4</a:t>
            </a:r>
            <a:r>
              <a:rPr lang="en-US" altLang="zh-CN" sz="4800">
                <a:solidFill>
                  <a:schemeClr val="accent2"/>
                </a:solidFill>
                <a:latin typeface="隶书" pitchFamily="49" charset="-122"/>
                <a:ea typeface="隶书" pitchFamily="49" charset="-122"/>
              </a:rPr>
              <a:t>.5</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 </a:t>
            </a:r>
            <a:r>
              <a:rPr lang="zh-CN" altLang="en-US" sz="4800" noProof="0">
                <a:solidFill>
                  <a:schemeClr val="accent2"/>
                </a:solidFill>
                <a:latin typeface="隶书" pitchFamily="49" charset="-122"/>
                <a:ea typeface="隶书" pitchFamily="49" charset="-122"/>
              </a:rPr>
              <a:t>跳水运动员问题</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1" name="Text Box 3"/>
          <p:cNvSpPr txBox="1">
            <a:spLocks noChangeArrowheads="1"/>
          </p:cNvSpPr>
          <p:nvPr/>
        </p:nvSpPr>
        <p:spPr bwMode="auto">
          <a:xfrm>
            <a:off x="775295" y="1415232"/>
            <a:ext cx="10014626" cy="45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spcAft>
                <a:spcPct val="20000"/>
              </a:spcAft>
            </a:pPr>
            <a:r>
              <a:rPr kumimoji="1" lang="zh-CN" altLang="en-US" sz="2800" b="1">
                <a:solidFill>
                  <a:schemeClr val="tx1"/>
                </a:solidFill>
                <a:latin typeface="Times New Roman" pitchFamily="18" charset="0"/>
                <a:ea typeface="黑体" pitchFamily="49" charset="-122"/>
              </a:rPr>
              <a:t>        五位跳水高手将参加十米高台跳水决赛，有好事者让五个人据实力预测比赛结果。</a:t>
            </a:r>
          </a:p>
          <a:p>
            <a:pPr eaLnBrk="1" hangingPunct="1">
              <a:spcBef>
                <a:spcPct val="50000"/>
              </a:spcBef>
            </a:pPr>
            <a:r>
              <a:rPr kumimoji="1" lang="en-US" altLang="zh-CN" sz="2800" b="1">
                <a:solidFill>
                  <a:schemeClr val="tx1"/>
                </a:solidFill>
                <a:latin typeface="Times New Roman" pitchFamily="18" charset="0"/>
                <a:ea typeface="黑体" pitchFamily="49" charset="-122"/>
              </a:rPr>
              <a:t>A</a:t>
            </a:r>
            <a:r>
              <a:rPr kumimoji="1" lang="zh-CN" altLang="en-US" sz="2800" b="1">
                <a:solidFill>
                  <a:schemeClr val="tx1"/>
                </a:solidFill>
                <a:latin typeface="Times New Roman" pitchFamily="18" charset="0"/>
                <a:ea typeface="黑体" pitchFamily="49" charset="-122"/>
              </a:rPr>
              <a:t>选手说：</a:t>
            </a:r>
            <a:r>
              <a:rPr kumimoji="1" lang="en-US" altLang="zh-CN" sz="2800" b="1">
                <a:solidFill>
                  <a:schemeClr val="tx1"/>
                </a:solidFill>
                <a:latin typeface="Times New Roman" pitchFamily="18" charset="0"/>
                <a:ea typeface="黑体" pitchFamily="49" charset="-122"/>
              </a:rPr>
              <a:t>B</a:t>
            </a:r>
            <a:r>
              <a:rPr kumimoji="1" lang="zh-CN" altLang="en-US" sz="2800" b="1">
                <a:solidFill>
                  <a:schemeClr val="tx1"/>
                </a:solidFill>
                <a:latin typeface="Times New Roman" pitchFamily="18" charset="0"/>
                <a:ea typeface="黑体" pitchFamily="49" charset="-122"/>
              </a:rPr>
              <a:t>第二，我第三；</a:t>
            </a:r>
            <a:br>
              <a:rPr kumimoji="1" lang="zh-CN" altLang="en-US" sz="2800" b="1">
                <a:solidFill>
                  <a:schemeClr val="tx1"/>
                </a:solidFill>
                <a:latin typeface="Times New Roman" pitchFamily="18" charset="0"/>
                <a:ea typeface="黑体" pitchFamily="49" charset="-122"/>
              </a:rPr>
            </a:br>
            <a:r>
              <a:rPr kumimoji="1" lang="en-US" altLang="zh-CN" sz="2800" b="1">
                <a:solidFill>
                  <a:schemeClr val="tx1"/>
                </a:solidFill>
                <a:latin typeface="Times New Roman" pitchFamily="18" charset="0"/>
                <a:ea typeface="黑体" pitchFamily="49" charset="-122"/>
              </a:rPr>
              <a:t>B</a:t>
            </a:r>
            <a:r>
              <a:rPr kumimoji="1" lang="zh-CN" altLang="en-US" sz="2800" b="1">
                <a:solidFill>
                  <a:schemeClr val="tx1"/>
                </a:solidFill>
                <a:latin typeface="Times New Roman" pitchFamily="18" charset="0"/>
                <a:ea typeface="黑体" pitchFamily="49" charset="-122"/>
              </a:rPr>
              <a:t>选手说：我第二，</a:t>
            </a:r>
            <a:r>
              <a:rPr kumimoji="1" lang="en-US" altLang="zh-CN" sz="2800" b="1">
                <a:solidFill>
                  <a:schemeClr val="tx1"/>
                </a:solidFill>
                <a:latin typeface="Times New Roman" pitchFamily="18" charset="0"/>
                <a:ea typeface="黑体" pitchFamily="49" charset="-122"/>
              </a:rPr>
              <a:t>E</a:t>
            </a:r>
            <a:r>
              <a:rPr kumimoji="1" lang="zh-CN" altLang="en-US" sz="2800" b="1">
                <a:solidFill>
                  <a:schemeClr val="tx1"/>
                </a:solidFill>
                <a:latin typeface="Times New Roman" pitchFamily="18" charset="0"/>
                <a:ea typeface="黑体" pitchFamily="49" charset="-122"/>
              </a:rPr>
              <a:t>第四；</a:t>
            </a:r>
            <a:br>
              <a:rPr kumimoji="1" lang="zh-CN" altLang="en-US" sz="2800" b="1">
                <a:solidFill>
                  <a:schemeClr val="tx1"/>
                </a:solidFill>
                <a:latin typeface="Times New Roman" pitchFamily="18" charset="0"/>
                <a:ea typeface="黑体" pitchFamily="49" charset="-122"/>
              </a:rPr>
            </a:br>
            <a:r>
              <a:rPr kumimoji="1" lang="en-US" altLang="zh-CN" sz="2800" b="1">
                <a:solidFill>
                  <a:schemeClr val="tx1"/>
                </a:solidFill>
                <a:latin typeface="Times New Roman" pitchFamily="18" charset="0"/>
                <a:ea typeface="黑体" pitchFamily="49" charset="-122"/>
              </a:rPr>
              <a:t>C</a:t>
            </a:r>
            <a:r>
              <a:rPr kumimoji="1" lang="zh-CN" altLang="en-US" sz="2800" b="1">
                <a:solidFill>
                  <a:schemeClr val="tx1"/>
                </a:solidFill>
                <a:latin typeface="Times New Roman" pitchFamily="18" charset="0"/>
                <a:ea typeface="黑体" pitchFamily="49" charset="-122"/>
              </a:rPr>
              <a:t>选手说：我第一，</a:t>
            </a:r>
            <a:r>
              <a:rPr kumimoji="1" lang="en-US" altLang="zh-CN" sz="2800" b="1">
                <a:solidFill>
                  <a:schemeClr val="tx1"/>
                </a:solidFill>
                <a:latin typeface="Times New Roman" pitchFamily="18" charset="0"/>
                <a:ea typeface="黑体" pitchFamily="49" charset="-122"/>
              </a:rPr>
              <a:t>D</a:t>
            </a:r>
            <a:r>
              <a:rPr kumimoji="1" lang="zh-CN" altLang="en-US" sz="2800" b="1">
                <a:solidFill>
                  <a:schemeClr val="tx1"/>
                </a:solidFill>
                <a:latin typeface="Times New Roman" pitchFamily="18" charset="0"/>
                <a:ea typeface="黑体" pitchFamily="49" charset="-122"/>
              </a:rPr>
              <a:t>第二；</a:t>
            </a:r>
            <a:br>
              <a:rPr kumimoji="1" lang="zh-CN" altLang="en-US" sz="2800" b="1">
                <a:solidFill>
                  <a:schemeClr val="tx1"/>
                </a:solidFill>
                <a:latin typeface="Times New Roman" pitchFamily="18" charset="0"/>
                <a:ea typeface="黑体" pitchFamily="49" charset="-122"/>
              </a:rPr>
            </a:br>
            <a:r>
              <a:rPr kumimoji="1" lang="en-US" altLang="zh-CN" sz="2800" b="1">
                <a:solidFill>
                  <a:schemeClr val="tx1"/>
                </a:solidFill>
                <a:latin typeface="Times New Roman" pitchFamily="18" charset="0"/>
                <a:ea typeface="黑体" pitchFamily="49" charset="-122"/>
              </a:rPr>
              <a:t>D</a:t>
            </a:r>
            <a:r>
              <a:rPr kumimoji="1" lang="zh-CN" altLang="en-US" sz="2800" b="1">
                <a:solidFill>
                  <a:schemeClr val="tx1"/>
                </a:solidFill>
                <a:latin typeface="Times New Roman" pitchFamily="18" charset="0"/>
                <a:ea typeface="黑体" pitchFamily="49" charset="-122"/>
              </a:rPr>
              <a:t>选手说：</a:t>
            </a:r>
            <a:r>
              <a:rPr kumimoji="1" lang="en-US" altLang="zh-CN" sz="2800" b="1">
                <a:solidFill>
                  <a:schemeClr val="tx1"/>
                </a:solidFill>
                <a:latin typeface="Times New Roman" pitchFamily="18" charset="0"/>
                <a:ea typeface="黑体" pitchFamily="49" charset="-122"/>
              </a:rPr>
              <a:t>C</a:t>
            </a:r>
            <a:r>
              <a:rPr kumimoji="1" lang="zh-CN" altLang="en-US" sz="2800" b="1">
                <a:solidFill>
                  <a:schemeClr val="tx1"/>
                </a:solidFill>
                <a:latin typeface="Times New Roman" pitchFamily="18" charset="0"/>
                <a:ea typeface="黑体" pitchFamily="49" charset="-122"/>
              </a:rPr>
              <a:t>最后，我第三；</a:t>
            </a:r>
            <a:br>
              <a:rPr kumimoji="1" lang="zh-CN" altLang="en-US" sz="2800" b="1">
                <a:solidFill>
                  <a:schemeClr val="tx1"/>
                </a:solidFill>
                <a:latin typeface="Times New Roman" pitchFamily="18" charset="0"/>
                <a:ea typeface="黑体" pitchFamily="49" charset="-122"/>
              </a:rPr>
            </a:br>
            <a:r>
              <a:rPr kumimoji="1" lang="en-US" altLang="zh-CN" sz="2800" b="1">
                <a:solidFill>
                  <a:schemeClr val="tx1"/>
                </a:solidFill>
                <a:latin typeface="Times New Roman" pitchFamily="18" charset="0"/>
                <a:ea typeface="黑体" pitchFamily="49" charset="-122"/>
              </a:rPr>
              <a:t>E</a:t>
            </a:r>
            <a:r>
              <a:rPr kumimoji="1" lang="zh-CN" altLang="en-US" sz="2800" b="1">
                <a:solidFill>
                  <a:schemeClr val="tx1"/>
                </a:solidFill>
                <a:latin typeface="Times New Roman" pitchFamily="18" charset="0"/>
                <a:ea typeface="黑体" pitchFamily="49" charset="-122"/>
              </a:rPr>
              <a:t>选手说：我第四，</a:t>
            </a:r>
            <a:r>
              <a:rPr kumimoji="1" lang="en-US" altLang="zh-CN" sz="2800" b="1">
                <a:solidFill>
                  <a:schemeClr val="tx1"/>
                </a:solidFill>
                <a:latin typeface="Times New Roman" pitchFamily="18" charset="0"/>
                <a:ea typeface="黑体" pitchFamily="49" charset="-122"/>
              </a:rPr>
              <a:t>A</a:t>
            </a:r>
            <a:r>
              <a:rPr kumimoji="1" lang="zh-CN" altLang="en-US" sz="2800" b="1">
                <a:solidFill>
                  <a:schemeClr val="tx1"/>
                </a:solidFill>
                <a:latin typeface="Times New Roman" pitchFamily="18" charset="0"/>
                <a:ea typeface="黑体" pitchFamily="49" charset="-122"/>
              </a:rPr>
              <a:t>第一；</a:t>
            </a:r>
          </a:p>
          <a:p>
            <a:pPr eaLnBrk="1" hangingPunct="1">
              <a:spcBef>
                <a:spcPct val="70000"/>
              </a:spcBef>
            </a:pPr>
            <a:r>
              <a:rPr kumimoji="1" lang="zh-CN" altLang="en-US" sz="2800" b="1">
                <a:solidFill>
                  <a:schemeClr val="tx1"/>
                </a:solidFill>
                <a:latin typeface="Times New Roman" pitchFamily="18" charset="0"/>
                <a:ea typeface="黑体" pitchFamily="49" charset="-122"/>
              </a:rPr>
              <a:t>        决赛成绩公布之后，每位选手的预测都只说对了一半，即一对一错，请</a:t>
            </a:r>
            <a:r>
              <a:rPr kumimoji="1" lang="zh-CN" altLang="en-US" sz="2800" b="1">
                <a:solidFill>
                  <a:srgbClr val="0000FF"/>
                </a:solidFill>
                <a:latin typeface="Times New Roman" pitchFamily="18" charset="0"/>
                <a:ea typeface="黑体" pitchFamily="49" charset="-122"/>
              </a:rPr>
              <a:t>编程</a:t>
            </a:r>
            <a:r>
              <a:rPr kumimoji="1" lang="zh-CN" altLang="en-US" sz="2800" b="1">
                <a:solidFill>
                  <a:schemeClr val="tx1"/>
                </a:solidFill>
                <a:latin typeface="Times New Roman" pitchFamily="18" charset="0"/>
                <a:ea typeface="黑体" pitchFamily="49" charset="-122"/>
              </a:rPr>
              <a:t>解出比赛的实际名次。</a:t>
            </a:r>
          </a:p>
        </p:txBody>
      </p:sp>
      <p:pic>
        <p:nvPicPr>
          <p:cNvPr id="14" name="图片 13" descr="无标题.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97791" y="2234724"/>
            <a:ext cx="429895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93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dissolv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dissolve">
                                      <p:cBhvr>
                                        <p:cTn id="17"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问题分析</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1" name="Rectangle 2"/>
          <p:cNvSpPr>
            <a:spLocks noChangeArrowheads="1"/>
          </p:cNvSpPr>
          <p:nvPr/>
        </p:nvSpPr>
        <p:spPr bwMode="auto">
          <a:xfrm>
            <a:off x="754385" y="1962150"/>
            <a:ext cx="10343106" cy="326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rgbClr val="0000FF"/>
                </a:solidFill>
                <a:latin typeface="Times New Roman" pitchFamily="18" charset="0"/>
                <a:ea typeface="宋体" charset="-122"/>
              </a:rPr>
              <a:t>五个人</a:t>
            </a:r>
            <a:r>
              <a:rPr kumimoji="1" lang="zh-CN" altLang="en-US" sz="3200" b="1">
                <a:solidFill>
                  <a:schemeClr val="tx1"/>
                </a:solidFill>
                <a:latin typeface="Times New Roman" pitchFamily="18" charset="0"/>
                <a:ea typeface="宋体" charset="-122"/>
              </a:rPr>
              <a:t>：排名第一至第五；</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rgbClr val="0000FF"/>
                </a:solidFill>
                <a:latin typeface="Times New Roman" pitchFamily="18" charset="0"/>
                <a:ea typeface="宋体" charset="-122"/>
              </a:rPr>
              <a:t>十句话</a:t>
            </a:r>
            <a:r>
              <a:rPr kumimoji="1" lang="zh-CN" altLang="en-US" sz="3200" b="1">
                <a:solidFill>
                  <a:schemeClr val="tx1"/>
                </a:solidFill>
                <a:latin typeface="Times New Roman" pitchFamily="18" charset="0"/>
                <a:ea typeface="宋体" charset="-122"/>
              </a:rPr>
              <a:t>：每个人说了两句话，“某人排名第几”，如何用程序语言描述？</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rgbClr val="0000FF"/>
                </a:solidFill>
                <a:latin typeface="Times New Roman" pitchFamily="18" charset="0"/>
                <a:ea typeface="宋体" charset="-122"/>
              </a:rPr>
              <a:t>一真一假</a:t>
            </a:r>
            <a:r>
              <a:rPr kumimoji="1" lang="zh-CN" altLang="en-US" sz="3200" b="1">
                <a:solidFill>
                  <a:schemeClr val="tx1"/>
                </a:solidFill>
                <a:latin typeface="Times New Roman" pitchFamily="18" charset="0"/>
                <a:ea typeface="宋体" charset="-122"/>
              </a:rPr>
              <a:t>：如何描述一句话是真是假？</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如何确定排名顺序？</a:t>
            </a:r>
          </a:p>
        </p:txBody>
      </p:sp>
    </p:spTree>
    <p:extLst>
      <p:ext uri="{BB962C8B-B14F-4D97-AF65-F5344CB8AC3E}">
        <p14:creationId xmlns:p14="http://schemas.microsoft.com/office/powerpoint/2010/main" val="294928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checkerboard(across)">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checkerboard(across)">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checkerboard(across)">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checkerboard(across)">
                                      <p:cBhvr>
                                        <p:cTn id="22"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具体实现</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Text Box 4"/>
          <p:cNvSpPr txBox="1">
            <a:spLocks noChangeArrowheads="1"/>
          </p:cNvSpPr>
          <p:nvPr/>
        </p:nvSpPr>
        <p:spPr bwMode="auto">
          <a:xfrm>
            <a:off x="1295755" y="1875899"/>
            <a:ext cx="9414856"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marL="342900" indent="-3429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en-US" altLang="zh-CN" sz="3600" b="1">
                <a:solidFill>
                  <a:schemeClr val="tx1"/>
                </a:solidFill>
                <a:latin typeface="Times New Roman" pitchFamily="18" charset="0"/>
                <a:ea typeface="黑体" pitchFamily="49" charset="-122"/>
              </a:rPr>
              <a:t>1</a:t>
            </a:r>
            <a:r>
              <a:rPr kumimoji="1" lang="zh-CN" altLang="en-US" sz="3600" b="1">
                <a:solidFill>
                  <a:schemeClr val="tx1"/>
                </a:solidFill>
                <a:latin typeface="Times New Roman" pitchFamily="18" charset="0"/>
                <a:ea typeface="黑体" pitchFamily="49" charset="-122"/>
              </a:rPr>
              <a:t>、变量的定义：</a:t>
            </a:r>
          </a:p>
          <a:p>
            <a:pPr eaLnBrk="1" hangingPunct="1">
              <a:spcBef>
                <a:spcPct val="50000"/>
              </a:spcBef>
              <a:buClr>
                <a:schemeClr val="tx1"/>
              </a:buClr>
              <a:buFont typeface="Wingdings" pitchFamily="2" charset="2"/>
              <a:buChar char="Ø"/>
            </a:pPr>
            <a:r>
              <a:rPr kumimoji="1" lang="zh-CN" altLang="en-US" b="1">
                <a:solidFill>
                  <a:schemeClr val="tx1"/>
                </a:solidFill>
                <a:latin typeface="Times New Roman" pitchFamily="18" charset="0"/>
                <a:ea typeface="黑体" pitchFamily="49" charset="-122"/>
              </a:rPr>
              <a:t>让整型变量</a:t>
            </a:r>
            <a:r>
              <a:rPr kumimoji="1" lang="en-US" altLang="zh-CN" b="1">
                <a:solidFill>
                  <a:schemeClr val="tx1"/>
                </a:solidFill>
                <a:latin typeface="Times New Roman" pitchFamily="18" charset="0"/>
                <a:ea typeface="黑体" pitchFamily="49" charset="-122"/>
              </a:rPr>
              <a:t>A</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B</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C</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D</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E</a:t>
            </a:r>
            <a:r>
              <a:rPr kumimoji="1" lang="zh-CN" altLang="en-US" b="1">
                <a:solidFill>
                  <a:schemeClr val="tx1"/>
                </a:solidFill>
                <a:latin typeface="Times New Roman" pitchFamily="18" charset="0"/>
                <a:ea typeface="黑体" pitchFamily="49" charset="-122"/>
              </a:rPr>
              <a:t>分别表示每一位选手所得的名次。</a:t>
            </a:r>
          </a:p>
          <a:p>
            <a:pPr eaLnBrk="1" hangingPunct="1">
              <a:spcBef>
                <a:spcPct val="50000"/>
              </a:spcBef>
              <a:buClr>
                <a:schemeClr val="tx1"/>
              </a:buClr>
              <a:buFont typeface="Wingdings" pitchFamily="2" charset="2"/>
              <a:buChar char="Ø"/>
            </a:pPr>
            <a:r>
              <a:rPr kumimoji="1" lang="zh-CN" altLang="en-US" b="1">
                <a:solidFill>
                  <a:schemeClr val="tx1"/>
                </a:solidFill>
                <a:latin typeface="Times New Roman" pitchFamily="18" charset="0"/>
                <a:ea typeface="黑体" pitchFamily="49" charset="-122"/>
              </a:rPr>
              <a:t>让数字</a:t>
            </a:r>
            <a:r>
              <a:rPr kumimoji="1" lang="en-US" altLang="zh-CN" b="1">
                <a:solidFill>
                  <a:schemeClr val="tx1"/>
                </a:solidFill>
                <a:latin typeface="Times New Roman" pitchFamily="18" charset="0"/>
                <a:ea typeface="黑体" pitchFamily="49" charset="-122"/>
              </a:rPr>
              <a:t>1</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2</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3</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4</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5</a:t>
            </a:r>
            <a:r>
              <a:rPr kumimoji="1" lang="zh-CN" altLang="en-US" b="1">
                <a:solidFill>
                  <a:schemeClr val="tx1"/>
                </a:solidFill>
                <a:latin typeface="Times New Roman" pitchFamily="18" charset="0"/>
                <a:ea typeface="黑体" pitchFamily="49" charset="-122"/>
              </a:rPr>
              <a:t>分别表示名次第一、第二，</a:t>
            </a:r>
            <a:r>
              <a:rPr kumimoji="1" lang="en-US" altLang="zh-CN" b="1">
                <a:solidFill>
                  <a:schemeClr val="tx1"/>
                </a:solidFill>
                <a:latin typeface="Times New Roman" pitchFamily="18" charset="0"/>
                <a:ea typeface="黑体" pitchFamily="49" charset="-122"/>
              </a:rPr>
              <a:t>…</a:t>
            </a:r>
            <a:r>
              <a:rPr kumimoji="1" lang="zh-CN" altLang="en-US" b="1">
                <a:solidFill>
                  <a:schemeClr val="tx1"/>
                </a:solidFill>
                <a:latin typeface="Times New Roman" pitchFamily="18" charset="0"/>
                <a:ea typeface="黑体" pitchFamily="49" charset="-122"/>
              </a:rPr>
              <a:t>，第五（</a:t>
            </a:r>
            <a:r>
              <a:rPr kumimoji="1" lang="en-US" altLang="zh-CN" b="1">
                <a:solidFill>
                  <a:schemeClr val="tx1"/>
                </a:solidFill>
                <a:latin typeface="Times New Roman" pitchFamily="18" charset="0"/>
                <a:ea typeface="黑体" pitchFamily="49" charset="-122"/>
              </a:rPr>
              <a:t>1~5</a:t>
            </a:r>
            <a:r>
              <a:rPr kumimoji="1" lang="zh-CN" altLang="en-US" b="1">
                <a:solidFill>
                  <a:schemeClr val="tx1"/>
                </a:solidFill>
                <a:latin typeface="Times New Roman" pitchFamily="18" charset="0"/>
                <a:ea typeface="黑体" pitchFamily="49" charset="-122"/>
              </a:rPr>
              <a:t>）。 </a:t>
            </a:r>
          </a:p>
        </p:txBody>
      </p:sp>
    </p:spTree>
    <p:extLst>
      <p:ext uri="{BB962C8B-B14F-4D97-AF65-F5344CB8AC3E}">
        <p14:creationId xmlns:p14="http://schemas.microsoft.com/office/powerpoint/2010/main" val="4224555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ox(i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ox(in)">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ox(in)">
                                      <p:cBhvr>
                                        <p:cTn id="1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具体实现</a:t>
            </a:r>
            <a:r>
              <a:rPr lang="en-US" altLang="zh-CN" sz="4800">
                <a:solidFill>
                  <a:schemeClr val="accent2"/>
                </a:solidFill>
                <a:latin typeface="隶书" pitchFamily="49" charset="-122"/>
                <a:ea typeface="隶书" pitchFamily="49" charset="-122"/>
              </a:rPr>
              <a:t>(2)</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Text Box 3"/>
          <p:cNvSpPr txBox="1">
            <a:spLocks noChangeArrowheads="1"/>
          </p:cNvSpPr>
          <p:nvPr/>
        </p:nvSpPr>
        <p:spPr bwMode="auto">
          <a:xfrm>
            <a:off x="800100" y="1468575"/>
            <a:ext cx="7658100"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marL="342900" indent="-342900">
              <a:defRPr sz="3200">
                <a:solidFill>
                  <a:srgbClr val="CC0066"/>
                </a:solidFill>
                <a:latin typeface="Tahoma" pitchFamily="34" charset="0"/>
              </a:defRPr>
            </a:lvl1pPr>
            <a:lvl2pPr>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en-US" altLang="zh-CN" sz="3600" b="1">
                <a:solidFill>
                  <a:schemeClr val="tx1"/>
                </a:solidFill>
                <a:latin typeface="Times New Roman" pitchFamily="18" charset="0"/>
                <a:ea typeface="黑体" pitchFamily="49" charset="-122"/>
              </a:rPr>
              <a:t>2</a:t>
            </a:r>
            <a:r>
              <a:rPr kumimoji="1" lang="zh-CN" altLang="en-US" sz="3600" b="1">
                <a:solidFill>
                  <a:schemeClr val="tx1"/>
                </a:solidFill>
                <a:latin typeface="Times New Roman" pitchFamily="18" charset="0"/>
                <a:ea typeface="黑体" pitchFamily="49" charset="-122"/>
              </a:rPr>
              <a:t>、将五个人的预测写成关系表达式：</a:t>
            </a:r>
          </a:p>
          <a:p>
            <a:pPr eaLnBrk="1" hangingPunct="1">
              <a:spcBef>
                <a:spcPct val="50000"/>
              </a:spcBef>
              <a:buClr>
                <a:schemeClr val="tx1"/>
              </a:buClr>
              <a:buFont typeface="Wingdings" pitchFamily="2" charset="2"/>
              <a:buChar char="Ø"/>
            </a:pPr>
            <a:r>
              <a:rPr kumimoji="1" lang="zh-CN" altLang="en-US" b="1">
                <a:solidFill>
                  <a:schemeClr val="tx1"/>
                </a:solidFill>
                <a:latin typeface="Times New Roman" pitchFamily="18" charset="0"/>
                <a:ea typeface="黑体" pitchFamily="49" charset="-122"/>
              </a:rPr>
              <a:t>让关系运算符 “</a:t>
            </a:r>
            <a:r>
              <a:rPr kumimoji="1" lang="en-US" altLang="zh-CN" b="1">
                <a:solidFill>
                  <a:schemeClr val="tx1"/>
                </a:solidFill>
                <a:latin typeface="Times New Roman" pitchFamily="18" charset="0"/>
                <a:ea typeface="黑体" pitchFamily="49" charset="-122"/>
              </a:rPr>
              <a:t>==” </a:t>
            </a:r>
            <a:r>
              <a:rPr kumimoji="1" lang="zh-CN" altLang="en-US" b="1">
                <a:solidFill>
                  <a:schemeClr val="tx1"/>
                </a:solidFill>
                <a:latin typeface="Times New Roman" pitchFamily="18" charset="0"/>
                <a:ea typeface="黑体" pitchFamily="49" charset="-122"/>
              </a:rPr>
              <a:t>的含义是 “是”。</a:t>
            </a:r>
          </a:p>
          <a:p>
            <a:pPr lvl="1" eaLnBrk="1" hangingPunct="1">
              <a:spcBef>
                <a:spcPct val="100000"/>
              </a:spcBef>
            </a:pPr>
            <a:r>
              <a:rPr kumimoji="1" lang="en-US" altLang="zh-CN" b="1">
                <a:solidFill>
                  <a:schemeClr val="tx1"/>
                </a:solidFill>
                <a:latin typeface="Times New Roman" pitchFamily="18" charset="0"/>
                <a:ea typeface="黑体" pitchFamily="49" charset="-122"/>
              </a:rPr>
              <a:t>  A</a:t>
            </a:r>
            <a:r>
              <a:rPr kumimoji="1" lang="zh-CN" altLang="en-US" b="1">
                <a:solidFill>
                  <a:schemeClr val="tx1"/>
                </a:solidFill>
                <a:latin typeface="Times New Roman" pitchFamily="18" charset="0"/>
                <a:ea typeface="黑体" pitchFamily="49" charset="-122"/>
              </a:rPr>
              <a:t>选手说：</a:t>
            </a:r>
            <a:r>
              <a:rPr kumimoji="1" lang="en-US" altLang="zh-CN" b="1">
                <a:solidFill>
                  <a:schemeClr val="tx1"/>
                </a:solidFill>
                <a:latin typeface="Times New Roman" pitchFamily="18" charset="0"/>
                <a:ea typeface="黑体" pitchFamily="49" charset="-122"/>
              </a:rPr>
              <a:t>B</a:t>
            </a:r>
            <a:r>
              <a:rPr kumimoji="1" lang="en-US" altLang="zh-CN" b="1">
                <a:solidFill>
                  <a:schemeClr val="tx1"/>
                </a:solidFill>
                <a:latin typeface="Courier New" pitchFamily="49" charset="0"/>
                <a:ea typeface="黑体" pitchFamily="49" charset="-122"/>
              </a:rPr>
              <a:t>==</a:t>
            </a:r>
            <a:r>
              <a:rPr kumimoji="1" lang="en-US" altLang="zh-CN" b="1">
                <a:solidFill>
                  <a:schemeClr val="tx1"/>
                </a:solidFill>
                <a:latin typeface="Times New Roman" pitchFamily="18" charset="0"/>
                <a:ea typeface="黑体" pitchFamily="49" charset="-122"/>
              </a:rPr>
              <a:t>2</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A</a:t>
            </a:r>
            <a:r>
              <a:rPr kumimoji="1" lang="en-US" altLang="zh-CN" b="1">
                <a:solidFill>
                  <a:schemeClr val="tx1"/>
                </a:solidFill>
                <a:latin typeface="Courier New" pitchFamily="49" charset="0"/>
                <a:ea typeface="黑体" pitchFamily="49" charset="-122"/>
              </a:rPr>
              <a:t>==</a:t>
            </a:r>
            <a:r>
              <a:rPr kumimoji="1" lang="en-US" altLang="zh-CN" b="1">
                <a:solidFill>
                  <a:schemeClr val="tx1"/>
                </a:solidFill>
                <a:latin typeface="Times New Roman" pitchFamily="18" charset="0"/>
                <a:ea typeface="黑体" pitchFamily="49" charset="-122"/>
              </a:rPr>
              <a:t>3</a:t>
            </a:r>
            <a:r>
              <a:rPr kumimoji="1" lang="zh-CN" altLang="en-US" b="1">
                <a:solidFill>
                  <a:schemeClr val="tx1"/>
                </a:solidFill>
                <a:latin typeface="Times New Roman" pitchFamily="18" charset="0"/>
                <a:ea typeface="黑体" pitchFamily="49" charset="-122"/>
              </a:rPr>
              <a:t>；</a:t>
            </a:r>
          </a:p>
          <a:p>
            <a:pPr lvl="1" eaLnBrk="1" hangingPunct="1"/>
            <a:r>
              <a:rPr kumimoji="1" lang="en-US" altLang="zh-CN" b="1">
                <a:solidFill>
                  <a:schemeClr val="tx1"/>
                </a:solidFill>
                <a:latin typeface="Times New Roman" pitchFamily="18" charset="0"/>
                <a:ea typeface="黑体" pitchFamily="49" charset="-122"/>
              </a:rPr>
              <a:t>  B</a:t>
            </a:r>
            <a:r>
              <a:rPr kumimoji="1" lang="zh-CN" altLang="en-US" b="1">
                <a:solidFill>
                  <a:schemeClr val="tx1"/>
                </a:solidFill>
                <a:latin typeface="Times New Roman" pitchFamily="18" charset="0"/>
                <a:ea typeface="黑体" pitchFamily="49" charset="-122"/>
              </a:rPr>
              <a:t>选手说：</a:t>
            </a:r>
            <a:r>
              <a:rPr kumimoji="1" lang="en-US" altLang="zh-CN" b="1">
                <a:solidFill>
                  <a:schemeClr val="tx1"/>
                </a:solidFill>
                <a:latin typeface="Times New Roman" pitchFamily="18" charset="0"/>
                <a:ea typeface="黑体" pitchFamily="49" charset="-122"/>
              </a:rPr>
              <a:t>B</a:t>
            </a:r>
            <a:r>
              <a:rPr kumimoji="1" lang="en-US" altLang="zh-CN" b="1">
                <a:solidFill>
                  <a:schemeClr val="tx1"/>
                </a:solidFill>
                <a:latin typeface="Courier New" pitchFamily="49" charset="0"/>
                <a:ea typeface="黑体" pitchFamily="49" charset="-122"/>
              </a:rPr>
              <a:t>==</a:t>
            </a:r>
            <a:r>
              <a:rPr kumimoji="1" lang="en-US" altLang="zh-CN" b="1">
                <a:solidFill>
                  <a:schemeClr val="tx1"/>
                </a:solidFill>
                <a:latin typeface="Times New Roman" pitchFamily="18" charset="0"/>
                <a:ea typeface="黑体" pitchFamily="49" charset="-122"/>
              </a:rPr>
              <a:t>2</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E</a:t>
            </a:r>
            <a:r>
              <a:rPr kumimoji="1" lang="en-US" altLang="zh-CN" b="1">
                <a:solidFill>
                  <a:schemeClr val="tx1"/>
                </a:solidFill>
                <a:latin typeface="Courier New" pitchFamily="49" charset="0"/>
                <a:ea typeface="黑体" pitchFamily="49" charset="-122"/>
              </a:rPr>
              <a:t>==</a:t>
            </a:r>
            <a:r>
              <a:rPr kumimoji="1" lang="en-US" altLang="zh-CN" b="1">
                <a:solidFill>
                  <a:schemeClr val="tx1"/>
                </a:solidFill>
                <a:latin typeface="Times New Roman" pitchFamily="18" charset="0"/>
                <a:ea typeface="黑体" pitchFamily="49" charset="-122"/>
              </a:rPr>
              <a:t>4</a:t>
            </a:r>
            <a:r>
              <a:rPr kumimoji="1" lang="zh-CN" altLang="en-US" b="1">
                <a:solidFill>
                  <a:schemeClr val="tx1"/>
                </a:solidFill>
                <a:latin typeface="Times New Roman" pitchFamily="18" charset="0"/>
                <a:ea typeface="黑体" pitchFamily="49" charset="-122"/>
              </a:rPr>
              <a:t>；</a:t>
            </a:r>
          </a:p>
          <a:p>
            <a:pPr lvl="1" eaLnBrk="1" hangingPunct="1"/>
            <a:r>
              <a:rPr kumimoji="1" lang="en-US" altLang="zh-CN" b="1">
                <a:solidFill>
                  <a:schemeClr val="tx1"/>
                </a:solidFill>
                <a:latin typeface="Times New Roman" pitchFamily="18" charset="0"/>
                <a:ea typeface="黑体" pitchFamily="49" charset="-122"/>
              </a:rPr>
              <a:t>  C</a:t>
            </a:r>
            <a:r>
              <a:rPr kumimoji="1" lang="zh-CN" altLang="en-US" b="1">
                <a:solidFill>
                  <a:schemeClr val="tx1"/>
                </a:solidFill>
                <a:latin typeface="Times New Roman" pitchFamily="18" charset="0"/>
                <a:ea typeface="黑体" pitchFamily="49" charset="-122"/>
              </a:rPr>
              <a:t>选手说：</a:t>
            </a:r>
            <a:r>
              <a:rPr kumimoji="1" lang="en-US" altLang="zh-CN" b="1">
                <a:solidFill>
                  <a:schemeClr val="tx1"/>
                </a:solidFill>
                <a:latin typeface="Times New Roman" pitchFamily="18" charset="0"/>
                <a:ea typeface="黑体" pitchFamily="49" charset="-122"/>
              </a:rPr>
              <a:t>C</a:t>
            </a:r>
            <a:r>
              <a:rPr kumimoji="1" lang="en-US" altLang="zh-CN" b="1">
                <a:solidFill>
                  <a:schemeClr val="tx1"/>
                </a:solidFill>
                <a:latin typeface="Courier New" pitchFamily="49" charset="0"/>
                <a:ea typeface="黑体" pitchFamily="49" charset="-122"/>
              </a:rPr>
              <a:t>==</a:t>
            </a:r>
            <a:r>
              <a:rPr kumimoji="1" lang="en-US" altLang="zh-CN" b="1">
                <a:solidFill>
                  <a:schemeClr val="tx1"/>
                </a:solidFill>
                <a:latin typeface="Times New Roman" pitchFamily="18" charset="0"/>
                <a:ea typeface="黑体" pitchFamily="49" charset="-122"/>
              </a:rPr>
              <a:t>1</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D</a:t>
            </a:r>
            <a:r>
              <a:rPr kumimoji="1" lang="en-US" altLang="zh-CN" b="1">
                <a:solidFill>
                  <a:schemeClr val="tx1"/>
                </a:solidFill>
                <a:latin typeface="Courier New" pitchFamily="49" charset="0"/>
                <a:ea typeface="黑体" pitchFamily="49" charset="-122"/>
              </a:rPr>
              <a:t>==</a:t>
            </a:r>
            <a:r>
              <a:rPr kumimoji="1" lang="en-US" altLang="zh-CN" b="1">
                <a:solidFill>
                  <a:schemeClr val="tx1"/>
                </a:solidFill>
                <a:latin typeface="Times New Roman" pitchFamily="18" charset="0"/>
                <a:ea typeface="黑体" pitchFamily="49" charset="-122"/>
              </a:rPr>
              <a:t>2</a:t>
            </a:r>
            <a:r>
              <a:rPr kumimoji="1" lang="zh-CN" altLang="en-US" b="1">
                <a:solidFill>
                  <a:schemeClr val="tx1"/>
                </a:solidFill>
                <a:latin typeface="Times New Roman" pitchFamily="18" charset="0"/>
                <a:ea typeface="黑体" pitchFamily="49" charset="-122"/>
              </a:rPr>
              <a:t>；</a:t>
            </a:r>
          </a:p>
          <a:p>
            <a:pPr lvl="1" eaLnBrk="1" hangingPunct="1"/>
            <a:r>
              <a:rPr kumimoji="1" lang="en-US" altLang="zh-CN" b="1">
                <a:solidFill>
                  <a:schemeClr val="tx1"/>
                </a:solidFill>
                <a:latin typeface="Times New Roman" pitchFamily="18" charset="0"/>
                <a:ea typeface="黑体" pitchFamily="49" charset="-122"/>
              </a:rPr>
              <a:t>  D</a:t>
            </a:r>
            <a:r>
              <a:rPr kumimoji="1" lang="zh-CN" altLang="en-US" b="1">
                <a:solidFill>
                  <a:schemeClr val="tx1"/>
                </a:solidFill>
                <a:latin typeface="Times New Roman" pitchFamily="18" charset="0"/>
                <a:ea typeface="黑体" pitchFamily="49" charset="-122"/>
              </a:rPr>
              <a:t>选手说：</a:t>
            </a:r>
            <a:r>
              <a:rPr kumimoji="1" lang="en-US" altLang="zh-CN" b="1">
                <a:solidFill>
                  <a:schemeClr val="tx1"/>
                </a:solidFill>
                <a:latin typeface="Times New Roman" pitchFamily="18" charset="0"/>
                <a:ea typeface="黑体" pitchFamily="49" charset="-122"/>
              </a:rPr>
              <a:t>C</a:t>
            </a:r>
            <a:r>
              <a:rPr kumimoji="1" lang="en-US" altLang="zh-CN" b="1">
                <a:solidFill>
                  <a:schemeClr val="tx1"/>
                </a:solidFill>
                <a:latin typeface="Courier New" pitchFamily="49" charset="0"/>
                <a:ea typeface="黑体" pitchFamily="49" charset="-122"/>
              </a:rPr>
              <a:t>==</a:t>
            </a:r>
            <a:r>
              <a:rPr kumimoji="1" lang="en-US" altLang="zh-CN" b="1">
                <a:solidFill>
                  <a:schemeClr val="tx1"/>
                </a:solidFill>
                <a:latin typeface="Times New Roman" pitchFamily="18" charset="0"/>
                <a:ea typeface="黑体" pitchFamily="49" charset="-122"/>
              </a:rPr>
              <a:t>5</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D</a:t>
            </a:r>
            <a:r>
              <a:rPr kumimoji="1" lang="en-US" altLang="zh-CN" b="1">
                <a:solidFill>
                  <a:schemeClr val="tx1"/>
                </a:solidFill>
                <a:latin typeface="Courier New" pitchFamily="49" charset="0"/>
                <a:ea typeface="黑体" pitchFamily="49" charset="-122"/>
              </a:rPr>
              <a:t>==</a:t>
            </a:r>
            <a:r>
              <a:rPr kumimoji="1" lang="en-US" altLang="zh-CN" b="1">
                <a:solidFill>
                  <a:schemeClr val="tx1"/>
                </a:solidFill>
                <a:latin typeface="Times New Roman" pitchFamily="18" charset="0"/>
                <a:ea typeface="黑体" pitchFamily="49" charset="-122"/>
              </a:rPr>
              <a:t>3</a:t>
            </a:r>
            <a:r>
              <a:rPr kumimoji="1" lang="zh-CN" altLang="en-US" b="1">
                <a:solidFill>
                  <a:schemeClr val="tx1"/>
                </a:solidFill>
                <a:latin typeface="Times New Roman" pitchFamily="18" charset="0"/>
                <a:ea typeface="黑体" pitchFamily="49" charset="-122"/>
              </a:rPr>
              <a:t>；</a:t>
            </a:r>
          </a:p>
          <a:p>
            <a:pPr lvl="1" eaLnBrk="1" hangingPunct="1"/>
            <a:r>
              <a:rPr kumimoji="1" lang="en-US" altLang="zh-CN" b="1">
                <a:solidFill>
                  <a:schemeClr val="tx1"/>
                </a:solidFill>
                <a:latin typeface="Times New Roman" pitchFamily="18" charset="0"/>
                <a:ea typeface="黑体" pitchFamily="49" charset="-122"/>
              </a:rPr>
              <a:t>  E</a:t>
            </a:r>
            <a:r>
              <a:rPr kumimoji="1" lang="zh-CN" altLang="en-US" b="1">
                <a:solidFill>
                  <a:schemeClr val="tx1"/>
                </a:solidFill>
                <a:latin typeface="Times New Roman" pitchFamily="18" charset="0"/>
                <a:ea typeface="黑体" pitchFamily="49" charset="-122"/>
              </a:rPr>
              <a:t>选手说：</a:t>
            </a:r>
            <a:r>
              <a:rPr kumimoji="1" lang="en-US" altLang="zh-CN" b="1">
                <a:solidFill>
                  <a:schemeClr val="tx1"/>
                </a:solidFill>
                <a:latin typeface="Times New Roman" pitchFamily="18" charset="0"/>
                <a:ea typeface="黑体" pitchFamily="49" charset="-122"/>
              </a:rPr>
              <a:t>E</a:t>
            </a:r>
            <a:r>
              <a:rPr kumimoji="1" lang="en-US" altLang="zh-CN" b="1">
                <a:solidFill>
                  <a:schemeClr val="tx1"/>
                </a:solidFill>
                <a:latin typeface="Courier New" pitchFamily="49" charset="0"/>
                <a:ea typeface="黑体" pitchFamily="49" charset="-122"/>
              </a:rPr>
              <a:t>==</a:t>
            </a:r>
            <a:r>
              <a:rPr kumimoji="1" lang="en-US" altLang="zh-CN" b="1">
                <a:solidFill>
                  <a:schemeClr val="tx1"/>
                </a:solidFill>
                <a:latin typeface="Times New Roman" pitchFamily="18" charset="0"/>
                <a:ea typeface="黑体" pitchFamily="49" charset="-122"/>
              </a:rPr>
              <a:t>4</a:t>
            </a:r>
            <a:r>
              <a:rPr kumimoji="1" lang="zh-CN" altLang="en-US" b="1">
                <a:solidFill>
                  <a:schemeClr val="tx1"/>
                </a:solidFill>
                <a:latin typeface="Times New Roman" pitchFamily="18" charset="0"/>
                <a:ea typeface="黑体" pitchFamily="49" charset="-122"/>
              </a:rPr>
              <a:t>，</a:t>
            </a:r>
            <a:r>
              <a:rPr kumimoji="1" lang="en-US" altLang="zh-CN" b="1">
                <a:solidFill>
                  <a:schemeClr val="tx1"/>
                </a:solidFill>
                <a:latin typeface="Times New Roman" pitchFamily="18" charset="0"/>
                <a:ea typeface="黑体" pitchFamily="49" charset="-122"/>
              </a:rPr>
              <a:t>A</a:t>
            </a:r>
            <a:r>
              <a:rPr kumimoji="1" lang="en-US" altLang="zh-CN" b="1">
                <a:solidFill>
                  <a:schemeClr val="tx1"/>
                </a:solidFill>
                <a:latin typeface="Courier New" pitchFamily="49" charset="0"/>
                <a:ea typeface="黑体" pitchFamily="49" charset="-122"/>
              </a:rPr>
              <a:t>==</a:t>
            </a:r>
            <a:r>
              <a:rPr kumimoji="1" lang="en-US" altLang="zh-CN" b="1">
                <a:solidFill>
                  <a:schemeClr val="tx1"/>
                </a:solidFill>
                <a:latin typeface="Times New Roman" pitchFamily="18" charset="0"/>
                <a:ea typeface="黑体" pitchFamily="49" charset="-122"/>
              </a:rPr>
              <a:t>1</a:t>
            </a:r>
            <a:r>
              <a:rPr kumimoji="1" lang="zh-CN" altLang="en-US" b="1">
                <a:solidFill>
                  <a:schemeClr val="tx1"/>
                </a:solidFill>
                <a:latin typeface="Times New Roman" pitchFamily="18" charset="0"/>
                <a:ea typeface="黑体" pitchFamily="49" charset="-122"/>
              </a:rPr>
              <a:t>；</a:t>
            </a:r>
          </a:p>
        </p:txBody>
      </p:sp>
      <p:sp>
        <p:nvSpPr>
          <p:cNvPr id="11" name="Text Box 4"/>
          <p:cNvSpPr txBox="1">
            <a:spLocks noChangeArrowheads="1"/>
          </p:cNvSpPr>
          <p:nvPr/>
        </p:nvSpPr>
        <p:spPr bwMode="auto">
          <a:xfrm>
            <a:off x="7082425" y="3469865"/>
            <a:ext cx="4156370" cy="1938992"/>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en-US" altLang="zh-CN" sz="2400">
                <a:solidFill>
                  <a:schemeClr val="tx1"/>
                </a:solidFill>
                <a:latin typeface="Times New Roman" pitchFamily="18" charset="0"/>
                <a:ea typeface="黑体" pitchFamily="49" charset="-122"/>
              </a:rPr>
              <a:t>A</a:t>
            </a:r>
            <a:r>
              <a:rPr kumimoji="1" lang="zh-CN" altLang="en-US" sz="2400">
                <a:solidFill>
                  <a:schemeClr val="tx1"/>
                </a:solidFill>
                <a:latin typeface="Times New Roman" pitchFamily="18" charset="0"/>
                <a:ea typeface="黑体" pitchFamily="49" charset="-122"/>
              </a:rPr>
              <a:t>选手说：</a:t>
            </a:r>
            <a:r>
              <a:rPr kumimoji="1" lang="en-US" altLang="zh-CN" sz="2400">
                <a:solidFill>
                  <a:schemeClr val="tx1"/>
                </a:solidFill>
                <a:latin typeface="Times New Roman" pitchFamily="18" charset="0"/>
                <a:ea typeface="黑体" pitchFamily="49" charset="-122"/>
              </a:rPr>
              <a:t>B</a:t>
            </a:r>
            <a:r>
              <a:rPr kumimoji="1" lang="zh-CN" altLang="en-US" sz="2400">
                <a:solidFill>
                  <a:schemeClr val="tx1"/>
                </a:solidFill>
                <a:latin typeface="Times New Roman" pitchFamily="18" charset="0"/>
                <a:ea typeface="黑体" pitchFamily="49" charset="-122"/>
              </a:rPr>
              <a:t>第二，我第三；</a:t>
            </a:r>
            <a:br>
              <a:rPr kumimoji="1" lang="zh-CN" altLang="en-US" sz="2400">
                <a:solidFill>
                  <a:schemeClr val="tx1"/>
                </a:solidFill>
                <a:latin typeface="Times New Roman" pitchFamily="18" charset="0"/>
                <a:ea typeface="黑体" pitchFamily="49" charset="-122"/>
              </a:rPr>
            </a:br>
            <a:r>
              <a:rPr kumimoji="1" lang="en-US" altLang="zh-CN" sz="2400">
                <a:solidFill>
                  <a:schemeClr val="tx1"/>
                </a:solidFill>
                <a:latin typeface="Times New Roman" pitchFamily="18" charset="0"/>
                <a:ea typeface="黑体" pitchFamily="49" charset="-122"/>
              </a:rPr>
              <a:t>B</a:t>
            </a:r>
            <a:r>
              <a:rPr kumimoji="1" lang="zh-CN" altLang="en-US" sz="2400">
                <a:solidFill>
                  <a:schemeClr val="tx1"/>
                </a:solidFill>
                <a:latin typeface="Times New Roman" pitchFamily="18" charset="0"/>
                <a:ea typeface="黑体" pitchFamily="49" charset="-122"/>
              </a:rPr>
              <a:t>选手说：我第二，</a:t>
            </a:r>
            <a:r>
              <a:rPr kumimoji="1" lang="en-US" altLang="zh-CN" sz="2400">
                <a:solidFill>
                  <a:schemeClr val="tx1"/>
                </a:solidFill>
                <a:latin typeface="Times New Roman" pitchFamily="18" charset="0"/>
                <a:ea typeface="黑体" pitchFamily="49" charset="-122"/>
              </a:rPr>
              <a:t>E</a:t>
            </a:r>
            <a:r>
              <a:rPr kumimoji="1" lang="zh-CN" altLang="en-US" sz="2400">
                <a:solidFill>
                  <a:schemeClr val="tx1"/>
                </a:solidFill>
                <a:latin typeface="Times New Roman" pitchFamily="18" charset="0"/>
                <a:ea typeface="黑体" pitchFamily="49" charset="-122"/>
              </a:rPr>
              <a:t>第四；</a:t>
            </a:r>
            <a:br>
              <a:rPr kumimoji="1" lang="zh-CN" altLang="en-US" sz="2400">
                <a:solidFill>
                  <a:schemeClr val="tx1"/>
                </a:solidFill>
                <a:latin typeface="Times New Roman" pitchFamily="18" charset="0"/>
                <a:ea typeface="黑体" pitchFamily="49" charset="-122"/>
              </a:rPr>
            </a:br>
            <a:r>
              <a:rPr kumimoji="1" lang="en-US" altLang="zh-CN" sz="2400">
                <a:solidFill>
                  <a:schemeClr val="tx1"/>
                </a:solidFill>
                <a:latin typeface="Times New Roman" pitchFamily="18" charset="0"/>
                <a:ea typeface="黑体" pitchFamily="49" charset="-122"/>
              </a:rPr>
              <a:t>C</a:t>
            </a:r>
            <a:r>
              <a:rPr kumimoji="1" lang="zh-CN" altLang="en-US" sz="2400">
                <a:solidFill>
                  <a:schemeClr val="tx1"/>
                </a:solidFill>
                <a:latin typeface="Times New Roman" pitchFamily="18" charset="0"/>
                <a:ea typeface="黑体" pitchFamily="49" charset="-122"/>
              </a:rPr>
              <a:t>选手说：我第一，</a:t>
            </a:r>
            <a:r>
              <a:rPr kumimoji="1" lang="en-US" altLang="zh-CN" sz="2400">
                <a:solidFill>
                  <a:schemeClr val="tx1"/>
                </a:solidFill>
                <a:latin typeface="Times New Roman" pitchFamily="18" charset="0"/>
                <a:ea typeface="黑体" pitchFamily="49" charset="-122"/>
              </a:rPr>
              <a:t>D</a:t>
            </a:r>
            <a:r>
              <a:rPr kumimoji="1" lang="zh-CN" altLang="en-US" sz="2400">
                <a:solidFill>
                  <a:schemeClr val="tx1"/>
                </a:solidFill>
                <a:latin typeface="Times New Roman" pitchFamily="18" charset="0"/>
                <a:ea typeface="黑体" pitchFamily="49" charset="-122"/>
              </a:rPr>
              <a:t>第二；</a:t>
            </a:r>
            <a:br>
              <a:rPr kumimoji="1" lang="zh-CN" altLang="en-US" sz="2400">
                <a:solidFill>
                  <a:schemeClr val="tx1"/>
                </a:solidFill>
                <a:latin typeface="Times New Roman" pitchFamily="18" charset="0"/>
                <a:ea typeface="黑体" pitchFamily="49" charset="-122"/>
              </a:rPr>
            </a:br>
            <a:r>
              <a:rPr kumimoji="1" lang="en-US" altLang="zh-CN" sz="2400">
                <a:solidFill>
                  <a:schemeClr val="tx1"/>
                </a:solidFill>
                <a:latin typeface="Times New Roman" pitchFamily="18" charset="0"/>
                <a:ea typeface="黑体" pitchFamily="49" charset="-122"/>
              </a:rPr>
              <a:t>D</a:t>
            </a:r>
            <a:r>
              <a:rPr kumimoji="1" lang="zh-CN" altLang="en-US" sz="2400">
                <a:solidFill>
                  <a:schemeClr val="tx1"/>
                </a:solidFill>
                <a:latin typeface="Times New Roman" pitchFamily="18" charset="0"/>
                <a:ea typeface="黑体" pitchFamily="49" charset="-122"/>
              </a:rPr>
              <a:t>选手说：</a:t>
            </a:r>
            <a:r>
              <a:rPr kumimoji="1" lang="en-US" altLang="zh-CN" sz="2400">
                <a:solidFill>
                  <a:schemeClr val="tx1"/>
                </a:solidFill>
                <a:latin typeface="Times New Roman" pitchFamily="18" charset="0"/>
                <a:ea typeface="黑体" pitchFamily="49" charset="-122"/>
              </a:rPr>
              <a:t>C</a:t>
            </a:r>
            <a:r>
              <a:rPr kumimoji="1" lang="zh-CN" altLang="en-US" sz="2400">
                <a:solidFill>
                  <a:schemeClr val="tx1"/>
                </a:solidFill>
                <a:latin typeface="Times New Roman" pitchFamily="18" charset="0"/>
                <a:ea typeface="黑体" pitchFamily="49" charset="-122"/>
              </a:rPr>
              <a:t>最后，我第三；</a:t>
            </a:r>
            <a:br>
              <a:rPr kumimoji="1" lang="zh-CN" altLang="en-US" sz="2400">
                <a:solidFill>
                  <a:schemeClr val="tx1"/>
                </a:solidFill>
                <a:latin typeface="Times New Roman" pitchFamily="18" charset="0"/>
                <a:ea typeface="黑体" pitchFamily="49" charset="-122"/>
              </a:rPr>
            </a:br>
            <a:r>
              <a:rPr kumimoji="1" lang="en-US" altLang="zh-CN" sz="2400">
                <a:solidFill>
                  <a:schemeClr val="tx1"/>
                </a:solidFill>
                <a:latin typeface="Times New Roman" pitchFamily="18" charset="0"/>
                <a:ea typeface="黑体" pitchFamily="49" charset="-122"/>
              </a:rPr>
              <a:t>E</a:t>
            </a:r>
            <a:r>
              <a:rPr kumimoji="1" lang="zh-CN" altLang="en-US" sz="2400">
                <a:solidFill>
                  <a:schemeClr val="tx1"/>
                </a:solidFill>
                <a:latin typeface="Times New Roman" pitchFamily="18" charset="0"/>
                <a:ea typeface="黑体" pitchFamily="49" charset="-122"/>
              </a:rPr>
              <a:t>选手说：我第四，</a:t>
            </a:r>
            <a:r>
              <a:rPr kumimoji="1" lang="en-US" altLang="zh-CN" sz="2400">
                <a:solidFill>
                  <a:schemeClr val="tx1"/>
                </a:solidFill>
                <a:latin typeface="Times New Roman" pitchFamily="18" charset="0"/>
                <a:ea typeface="黑体" pitchFamily="49" charset="-122"/>
              </a:rPr>
              <a:t>A</a:t>
            </a:r>
            <a:r>
              <a:rPr kumimoji="1" lang="zh-CN" altLang="en-US" sz="2400">
                <a:solidFill>
                  <a:schemeClr val="tx1"/>
                </a:solidFill>
                <a:latin typeface="Times New Roman" pitchFamily="18" charset="0"/>
                <a:ea typeface="黑体" pitchFamily="49" charset="-122"/>
              </a:rPr>
              <a:t>第一；</a:t>
            </a:r>
          </a:p>
        </p:txBody>
      </p:sp>
    </p:spTree>
    <p:extLst>
      <p:ext uri="{BB962C8B-B14F-4D97-AF65-F5344CB8AC3E}">
        <p14:creationId xmlns:p14="http://schemas.microsoft.com/office/powerpoint/2010/main" val="50926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box(in)">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box(in)">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box(in)">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box(in)">
                                      <p:cBhvr>
                                        <p:cTn id="27" dur="500"/>
                                        <p:tgtEl>
                                          <p:spTgt spid="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box(in)">
                                      <p:cBhvr>
                                        <p:cTn id="32"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具体实现</a:t>
            </a:r>
            <a:r>
              <a:rPr lang="en-US" altLang="zh-CN" sz="4800">
                <a:solidFill>
                  <a:schemeClr val="accent2"/>
                </a:solidFill>
                <a:latin typeface="隶书" pitchFamily="49" charset="-122"/>
                <a:ea typeface="隶书" pitchFamily="49" charset="-122"/>
              </a:rPr>
              <a:t>(3)</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2" name="Text Box 3"/>
          <p:cNvSpPr txBox="1">
            <a:spLocks noChangeArrowheads="1"/>
          </p:cNvSpPr>
          <p:nvPr/>
        </p:nvSpPr>
        <p:spPr bwMode="auto">
          <a:xfrm>
            <a:off x="719579" y="1525963"/>
            <a:ext cx="1028647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marL="342900" indent="-3429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en-US" altLang="zh-CN" b="1">
                <a:solidFill>
                  <a:schemeClr val="tx1"/>
                </a:solidFill>
                <a:latin typeface="Times New Roman" pitchFamily="18" charset="0"/>
                <a:ea typeface="黑体" pitchFamily="49" charset="-122"/>
              </a:rPr>
              <a:t>3</a:t>
            </a:r>
            <a:r>
              <a:rPr kumimoji="1" lang="zh-CN" altLang="en-US" b="1">
                <a:solidFill>
                  <a:schemeClr val="tx1"/>
                </a:solidFill>
                <a:latin typeface="Times New Roman" pitchFamily="18" charset="0"/>
                <a:ea typeface="黑体" pitchFamily="49" charset="-122"/>
              </a:rPr>
              <a:t>、考虑到每个人说的话是一对一错，即</a:t>
            </a:r>
            <a:r>
              <a:rPr kumimoji="1" lang="zh-CN" altLang="en-US" b="1">
                <a:solidFill>
                  <a:schemeClr val="tx2"/>
                </a:solidFill>
                <a:latin typeface="Times New Roman" pitchFamily="18" charset="0"/>
                <a:ea typeface="黑体" pitchFamily="49" charset="-122"/>
              </a:rPr>
              <a:t>一真一假</a:t>
            </a:r>
            <a:r>
              <a:rPr kumimoji="1" lang="zh-CN" altLang="en-US" b="1">
                <a:solidFill>
                  <a:schemeClr val="tx1"/>
                </a:solidFill>
                <a:latin typeface="Times New Roman" pitchFamily="18" charset="0"/>
                <a:ea typeface="黑体" pitchFamily="49" charset="-122"/>
              </a:rPr>
              <a:t>，比如</a:t>
            </a:r>
            <a:r>
              <a:rPr kumimoji="1" lang="en-US" altLang="zh-CN" b="1">
                <a:solidFill>
                  <a:schemeClr val="tx1"/>
                </a:solidFill>
                <a:latin typeface="Times New Roman" pitchFamily="18" charset="0"/>
                <a:ea typeface="黑体" pitchFamily="49" charset="-122"/>
              </a:rPr>
              <a:t>A</a:t>
            </a:r>
            <a:r>
              <a:rPr kumimoji="1" lang="zh-CN" altLang="en-US" b="1">
                <a:solidFill>
                  <a:schemeClr val="tx1"/>
                </a:solidFill>
                <a:latin typeface="Times New Roman" pitchFamily="18" charset="0"/>
                <a:ea typeface="黑体" pitchFamily="49" charset="-122"/>
              </a:rPr>
              <a:t>说的，如</a:t>
            </a:r>
            <a:r>
              <a:rPr kumimoji="1" lang="en-US" altLang="zh-CN" b="1">
                <a:solidFill>
                  <a:schemeClr val="tx1"/>
                </a:solidFill>
                <a:latin typeface="Times New Roman" pitchFamily="18" charset="0"/>
                <a:ea typeface="黑体" pitchFamily="49" charset="-122"/>
              </a:rPr>
              <a:t>B==2</a:t>
            </a:r>
            <a:r>
              <a:rPr kumimoji="1" lang="zh-CN" altLang="en-US" b="1">
                <a:solidFill>
                  <a:schemeClr val="tx1"/>
                </a:solidFill>
                <a:latin typeface="Times New Roman" pitchFamily="18" charset="0"/>
                <a:ea typeface="黑体" pitchFamily="49" charset="-122"/>
              </a:rPr>
              <a:t>为真，则</a:t>
            </a:r>
            <a:r>
              <a:rPr kumimoji="1" lang="en-US" altLang="zh-CN" b="1">
                <a:solidFill>
                  <a:schemeClr val="tx1"/>
                </a:solidFill>
                <a:latin typeface="Times New Roman" pitchFamily="18" charset="0"/>
                <a:ea typeface="黑体" pitchFamily="49" charset="-122"/>
              </a:rPr>
              <a:t>A==3</a:t>
            </a:r>
            <a:r>
              <a:rPr kumimoji="1" lang="zh-CN" altLang="en-US" b="1">
                <a:solidFill>
                  <a:schemeClr val="tx1"/>
                </a:solidFill>
                <a:latin typeface="Times New Roman" pitchFamily="18" charset="0"/>
                <a:ea typeface="黑体" pitchFamily="49" charset="-122"/>
              </a:rPr>
              <a:t>为假，为真取值为</a:t>
            </a:r>
            <a:r>
              <a:rPr kumimoji="1" lang="en-US" altLang="zh-CN" b="1">
                <a:solidFill>
                  <a:schemeClr val="tx1"/>
                </a:solidFill>
                <a:latin typeface="Times New Roman" pitchFamily="18" charset="0"/>
                <a:ea typeface="黑体" pitchFamily="49" charset="-122"/>
              </a:rPr>
              <a:t>1 (True)</a:t>
            </a:r>
            <a:r>
              <a:rPr kumimoji="1" lang="zh-CN" altLang="en-US" b="1">
                <a:solidFill>
                  <a:schemeClr val="tx1"/>
                </a:solidFill>
                <a:latin typeface="Times New Roman" pitchFamily="18" charset="0"/>
                <a:ea typeface="黑体" pitchFamily="49" charset="-122"/>
              </a:rPr>
              <a:t>，为假取值为</a:t>
            </a:r>
            <a:r>
              <a:rPr kumimoji="1" lang="en-US" altLang="zh-CN" b="1">
                <a:solidFill>
                  <a:schemeClr val="tx1"/>
                </a:solidFill>
                <a:latin typeface="Times New Roman" pitchFamily="18" charset="0"/>
                <a:ea typeface="黑体" pitchFamily="49" charset="-122"/>
              </a:rPr>
              <a:t>0(False)</a:t>
            </a:r>
            <a:r>
              <a:rPr kumimoji="1" lang="zh-CN" altLang="en-US" b="1">
                <a:solidFill>
                  <a:schemeClr val="tx1"/>
                </a:solidFill>
                <a:latin typeface="Times New Roman" pitchFamily="18" charset="0"/>
                <a:ea typeface="黑体" pitchFamily="49" charset="-122"/>
              </a:rPr>
              <a:t>，</a:t>
            </a:r>
            <a:r>
              <a:rPr kumimoji="1" lang="zh-CN" altLang="en-US" b="1">
                <a:solidFill>
                  <a:srgbClr val="FF0000"/>
                </a:solidFill>
                <a:latin typeface="Times New Roman" pitchFamily="18" charset="0"/>
                <a:ea typeface="黑体" pitchFamily="49" charset="-122"/>
              </a:rPr>
              <a:t>怎么描述</a:t>
            </a:r>
            <a:r>
              <a:rPr kumimoji="1" lang="zh-CN" altLang="en-US" b="1">
                <a:solidFill>
                  <a:schemeClr val="tx1"/>
                </a:solidFill>
                <a:latin typeface="Times New Roman" pitchFamily="18" charset="0"/>
                <a:ea typeface="黑体" pitchFamily="49" charset="-122"/>
              </a:rPr>
              <a:t>？</a:t>
            </a:r>
          </a:p>
        </p:txBody>
      </p:sp>
      <p:sp>
        <p:nvSpPr>
          <p:cNvPr id="13" name="Text Box 4"/>
          <p:cNvSpPr txBox="1">
            <a:spLocks noChangeArrowheads="1"/>
          </p:cNvSpPr>
          <p:nvPr/>
        </p:nvSpPr>
        <p:spPr bwMode="auto">
          <a:xfrm>
            <a:off x="965233" y="3607435"/>
            <a:ext cx="705167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marL="342900" indent="-3429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b="1">
                <a:solidFill>
                  <a:schemeClr val="tx1"/>
                </a:solidFill>
                <a:latin typeface="Times New Roman" pitchFamily="18" charset="0"/>
                <a:ea typeface="黑体" pitchFamily="49" charset="-122"/>
              </a:rPr>
              <a:t>  两个关系表达式之和必为</a:t>
            </a:r>
            <a:r>
              <a:rPr kumimoji="1" lang="en-US" altLang="zh-CN" b="1">
                <a:solidFill>
                  <a:schemeClr val="tx1"/>
                </a:solidFill>
                <a:latin typeface="Times New Roman" pitchFamily="18" charset="0"/>
                <a:ea typeface="黑体" pitchFamily="49" charset="-122"/>
              </a:rPr>
              <a:t>1</a:t>
            </a:r>
            <a:r>
              <a:rPr kumimoji="1" lang="zh-CN" altLang="en-US" b="1">
                <a:solidFill>
                  <a:schemeClr val="tx1"/>
                </a:solidFill>
                <a:latin typeface="Times New Roman" pitchFamily="18" charset="0"/>
                <a:ea typeface="黑体" pitchFamily="49" charset="-122"/>
              </a:rPr>
              <a:t>。即：</a:t>
            </a:r>
            <a:br>
              <a:rPr kumimoji="1" lang="zh-CN" altLang="en-US" b="1">
                <a:solidFill>
                  <a:schemeClr val="tx1"/>
                </a:solidFill>
                <a:latin typeface="Times New Roman" pitchFamily="18" charset="0"/>
                <a:ea typeface="黑体" pitchFamily="49" charset="-122"/>
              </a:rPr>
            </a:br>
            <a:r>
              <a:rPr kumimoji="1" lang="en-US" altLang="zh-CN" b="1">
                <a:solidFill>
                  <a:schemeClr val="tx1"/>
                </a:solidFill>
                <a:latin typeface="Times New Roman" pitchFamily="18" charset="0"/>
                <a:ea typeface="黑体" pitchFamily="49" charset="-122"/>
              </a:rPr>
              <a:t>(B == 2) + (A == 3) </a:t>
            </a:r>
            <a:r>
              <a:rPr kumimoji="1" lang="zh-CN" altLang="en-US" b="1">
                <a:solidFill>
                  <a:schemeClr val="tx1"/>
                </a:solidFill>
                <a:latin typeface="Times New Roman" pitchFamily="18" charset="0"/>
                <a:ea typeface="黑体" pitchFamily="49" charset="-122"/>
              </a:rPr>
              <a:t>应该是 </a:t>
            </a:r>
            <a:r>
              <a:rPr kumimoji="1" lang="en-US" altLang="zh-CN" b="1">
                <a:solidFill>
                  <a:schemeClr val="tx1"/>
                </a:solidFill>
                <a:latin typeface="Times New Roman" pitchFamily="18" charset="0"/>
                <a:ea typeface="黑体" pitchFamily="49" charset="-122"/>
              </a:rPr>
              <a:t>1</a:t>
            </a:r>
          </a:p>
        </p:txBody>
      </p:sp>
    </p:spTree>
    <p:extLst>
      <p:ext uri="{BB962C8B-B14F-4D97-AF65-F5344CB8AC3E}">
        <p14:creationId xmlns:p14="http://schemas.microsoft.com/office/powerpoint/2010/main" val="201740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具体实现</a:t>
            </a:r>
            <a:r>
              <a:rPr lang="en-US" altLang="zh-CN" sz="4800">
                <a:solidFill>
                  <a:schemeClr val="accent2"/>
                </a:solidFill>
                <a:latin typeface="隶书" pitchFamily="49" charset="-122"/>
                <a:ea typeface="隶书" pitchFamily="49" charset="-122"/>
              </a:rPr>
              <a:t>(4)</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Text Box 3"/>
          <p:cNvSpPr txBox="1">
            <a:spLocks noChangeArrowheads="1"/>
          </p:cNvSpPr>
          <p:nvPr/>
        </p:nvSpPr>
        <p:spPr bwMode="auto">
          <a:xfrm>
            <a:off x="794645" y="1261025"/>
            <a:ext cx="10435848"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marL="342900" indent="-3429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a:spcBef>
                <a:spcPct val="50000"/>
              </a:spcBef>
            </a:pPr>
            <a:r>
              <a:rPr kumimoji="1" lang="zh-CN" altLang="en-US" sz="2800" b="1">
                <a:solidFill>
                  <a:schemeClr val="tx1"/>
                </a:solidFill>
                <a:latin typeface="Times New Roman" pitchFamily="18" charset="0"/>
                <a:ea typeface="黑体" pitchFamily="49" charset="-122"/>
              </a:rPr>
              <a:t>我们可以归纳出要同时满足五个人所说的话都符合一半对一半错的条件是</a:t>
            </a:r>
            <a:br>
              <a:rPr kumimoji="1" lang="zh-CN" altLang="en-US" sz="2800" b="1">
                <a:solidFill>
                  <a:schemeClr val="tx1"/>
                </a:solidFill>
                <a:latin typeface="Times New Roman" pitchFamily="18" charset="0"/>
                <a:ea typeface="黑体" pitchFamily="49" charset="-122"/>
              </a:rPr>
            </a:br>
            <a:r>
              <a:rPr kumimoji="1" lang="en-US" altLang="zh-CN" sz="2800" b="1">
                <a:solidFill>
                  <a:schemeClr val="tx1"/>
                </a:solidFill>
                <a:latin typeface="Times New Roman" pitchFamily="18" charset="0"/>
                <a:ea typeface="黑体" pitchFamily="49" charset="-122"/>
              </a:rPr>
              <a:t>ta = ((B==2) + (A==3) == 1); </a:t>
            </a:r>
            <a:r>
              <a:rPr kumimoji="1" lang="zh-CN" altLang="en-US" sz="2800" b="1">
                <a:solidFill>
                  <a:schemeClr val="tx1"/>
                </a:solidFill>
                <a:latin typeface="Times New Roman" pitchFamily="18" charset="0"/>
                <a:ea typeface="黑体" pitchFamily="49" charset="-122"/>
              </a:rPr>
              <a:t>符合</a:t>
            </a:r>
            <a:r>
              <a:rPr kumimoji="1" lang="en-US" altLang="zh-CN" sz="2800" b="1">
                <a:solidFill>
                  <a:schemeClr val="tx1"/>
                </a:solidFill>
                <a:latin typeface="Times New Roman" pitchFamily="18" charset="0"/>
                <a:ea typeface="黑体" pitchFamily="49" charset="-122"/>
              </a:rPr>
              <a:t>A</a:t>
            </a:r>
            <a:r>
              <a:rPr kumimoji="1" lang="zh-CN" altLang="en-US" sz="2800" b="1">
                <a:solidFill>
                  <a:schemeClr val="tx1"/>
                </a:solidFill>
                <a:latin typeface="Times New Roman" pitchFamily="18" charset="0"/>
                <a:ea typeface="黑体" pitchFamily="49" charset="-122"/>
              </a:rPr>
              <a:t>选手的话，则</a:t>
            </a:r>
            <a:r>
              <a:rPr kumimoji="1" lang="en-US" altLang="zh-CN" sz="2800" b="1">
                <a:solidFill>
                  <a:schemeClr val="tx1"/>
                </a:solidFill>
                <a:latin typeface="Times New Roman" pitchFamily="18" charset="0"/>
                <a:ea typeface="黑体" pitchFamily="49" charset="-122"/>
              </a:rPr>
              <a:t>ta</a:t>
            </a:r>
            <a:r>
              <a:rPr kumimoji="1" lang="zh-CN" altLang="en-US" sz="2800" b="1">
                <a:solidFill>
                  <a:schemeClr val="tx1"/>
                </a:solidFill>
                <a:latin typeface="Times New Roman" pitchFamily="18" charset="0"/>
                <a:ea typeface="黑体" pitchFamily="49" charset="-122"/>
              </a:rPr>
              <a:t>为</a:t>
            </a:r>
            <a:r>
              <a:rPr kumimoji="1" lang="en-US" altLang="zh-CN" sz="2800" b="1">
                <a:solidFill>
                  <a:schemeClr val="tx1"/>
                </a:solidFill>
                <a:latin typeface="Times New Roman" pitchFamily="18" charset="0"/>
                <a:ea typeface="黑体" pitchFamily="49" charset="-122"/>
              </a:rPr>
              <a:t>1(True)</a:t>
            </a:r>
            <a:br>
              <a:rPr kumimoji="1" lang="en-US" altLang="zh-CN" sz="2800" b="1">
                <a:solidFill>
                  <a:schemeClr val="tx1"/>
                </a:solidFill>
                <a:latin typeface="Times New Roman" pitchFamily="18" charset="0"/>
                <a:ea typeface="黑体" pitchFamily="49" charset="-122"/>
              </a:rPr>
            </a:br>
            <a:r>
              <a:rPr kumimoji="1" lang="en-US" altLang="zh-CN" sz="2800" b="1">
                <a:solidFill>
                  <a:schemeClr val="tx1"/>
                </a:solidFill>
                <a:latin typeface="Times New Roman" pitchFamily="18" charset="0"/>
                <a:ea typeface="黑体" pitchFamily="49" charset="-122"/>
              </a:rPr>
              <a:t>tb = ((B==2) + (E==4) == 1); </a:t>
            </a:r>
            <a:r>
              <a:rPr kumimoji="1" lang="zh-CN" altLang="en-US" sz="2800" b="1">
                <a:solidFill>
                  <a:schemeClr val="tx1"/>
                </a:solidFill>
                <a:latin typeface="Times New Roman" pitchFamily="18" charset="0"/>
                <a:ea typeface="黑体" pitchFamily="49" charset="-122"/>
              </a:rPr>
              <a:t>符合</a:t>
            </a:r>
            <a:r>
              <a:rPr kumimoji="1" lang="en-US" altLang="zh-CN" sz="2800" b="1">
                <a:solidFill>
                  <a:schemeClr val="tx1"/>
                </a:solidFill>
                <a:latin typeface="Times New Roman" pitchFamily="18" charset="0"/>
                <a:ea typeface="黑体" pitchFamily="49" charset="-122"/>
              </a:rPr>
              <a:t>B</a:t>
            </a:r>
            <a:r>
              <a:rPr kumimoji="1" lang="zh-CN" altLang="en-US" sz="2800" b="1">
                <a:solidFill>
                  <a:schemeClr val="tx1"/>
                </a:solidFill>
                <a:latin typeface="Times New Roman" pitchFamily="18" charset="0"/>
                <a:ea typeface="黑体" pitchFamily="49" charset="-122"/>
              </a:rPr>
              <a:t>选手的话，则</a:t>
            </a:r>
            <a:r>
              <a:rPr kumimoji="1" lang="en-US" altLang="zh-CN" sz="2800" b="1">
                <a:solidFill>
                  <a:schemeClr val="tx1"/>
                </a:solidFill>
                <a:latin typeface="Times New Roman" pitchFamily="18" charset="0"/>
                <a:ea typeface="黑体" pitchFamily="49" charset="-122"/>
              </a:rPr>
              <a:t>tb</a:t>
            </a:r>
            <a:r>
              <a:rPr kumimoji="1" lang="zh-CN" altLang="en-US" sz="2800" b="1">
                <a:solidFill>
                  <a:schemeClr val="tx1"/>
                </a:solidFill>
                <a:latin typeface="Times New Roman" pitchFamily="18" charset="0"/>
                <a:ea typeface="黑体" pitchFamily="49" charset="-122"/>
              </a:rPr>
              <a:t>为</a:t>
            </a:r>
            <a:r>
              <a:rPr kumimoji="1" lang="en-US" altLang="zh-CN" sz="2800" b="1">
                <a:solidFill>
                  <a:schemeClr val="tx1"/>
                </a:solidFill>
                <a:latin typeface="Times New Roman" pitchFamily="18" charset="0"/>
                <a:ea typeface="黑体" pitchFamily="49" charset="-122"/>
              </a:rPr>
              <a:t>1(True)</a:t>
            </a:r>
            <a:br>
              <a:rPr kumimoji="1" lang="en-US" altLang="zh-CN" sz="2800" b="1">
                <a:solidFill>
                  <a:schemeClr val="tx1"/>
                </a:solidFill>
                <a:latin typeface="Times New Roman" pitchFamily="18" charset="0"/>
                <a:ea typeface="黑体" pitchFamily="49" charset="-122"/>
              </a:rPr>
            </a:br>
            <a:r>
              <a:rPr kumimoji="1" lang="en-US" altLang="zh-CN" sz="2800" b="1">
                <a:solidFill>
                  <a:schemeClr val="tx1"/>
                </a:solidFill>
                <a:latin typeface="Times New Roman" pitchFamily="18" charset="0"/>
                <a:ea typeface="黑体" pitchFamily="49" charset="-122"/>
              </a:rPr>
              <a:t>tc = ((C==1) + (D==2) == 1); </a:t>
            </a:r>
            <a:r>
              <a:rPr kumimoji="1" lang="zh-CN" altLang="en-US" sz="2800" b="1">
                <a:solidFill>
                  <a:schemeClr val="tx1"/>
                </a:solidFill>
                <a:latin typeface="Times New Roman" pitchFamily="18" charset="0"/>
                <a:ea typeface="黑体" pitchFamily="49" charset="-122"/>
              </a:rPr>
              <a:t>符合</a:t>
            </a:r>
            <a:r>
              <a:rPr kumimoji="1" lang="en-US" altLang="zh-CN" sz="2800" b="1">
                <a:solidFill>
                  <a:schemeClr val="tx1"/>
                </a:solidFill>
                <a:latin typeface="Times New Roman" pitchFamily="18" charset="0"/>
                <a:ea typeface="黑体" pitchFamily="49" charset="-122"/>
              </a:rPr>
              <a:t>C</a:t>
            </a:r>
            <a:r>
              <a:rPr kumimoji="1" lang="zh-CN" altLang="en-US" sz="2800" b="1">
                <a:solidFill>
                  <a:schemeClr val="tx1"/>
                </a:solidFill>
                <a:latin typeface="Times New Roman" pitchFamily="18" charset="0"/>
                <a:ea typeface="黑体" pitchFamily="49" charset="-122"/>
              </a:rPr>
              <a:t>选手的话，则</a:t>
            </a:r>
            <a:r>
              <a:rPr kumimoji="1" lang="en-US" altLang="zh-CN" sz="2800" b="1">
                <a:solidFill>
                  <a:schemeClr val="tx1"/>
                </a:solidFill>
                <a:latin typeface="Times New Roman" pitchFamily="18" charset="0"/>
                <a:ea typeface="黑体" pitchFamily="49" charset="-122"/>
              </a:rPr>
              <a:t>tc</a:t>
            </a:r>
            <a:r>
              <a:rPr kumimoji="1" lang="zh-CN" altLang="en-US" sz="2800" b="1">
                <a:solidFill>
                  <a:schemeClr val="tx1"/>
                </a:solidFill>
                <a:latin typeface="Times New Roman" pitchFamily="18" charset="0"/>
                <a:ea typeface="黑体" pitchFamily="49" charset="-122"/>
              </a:rPr>
              <a:t>为</a:t>
            </a:r>
            <a:r>
              <a:rPr kumimoji="1" lang="en-US" altLang="zh-CN" sz="2800" b="1">
                <a:solidFill>
                  <a:schemeClr val="tx1"/>
                </a:solidFill>
                <a:latin typeface="Times New Roman" pitchFamily="18" charset="0"/>
                <a:ea typeface="黑体" pitchFamily="49" charset="-122"/>
              </a:rPr>
              <a:t>1(True)</a:t>
            </a:r>
            <a:br>
              <a:rPr kumimoji="1" lang="en-US" altLang="zh-CN" sz="2800" b="1">
                <a:solidFill>
                  <a:schemeClr val="tx1"/>
                </a:solidFill>
                <a:latin typeface="Times New Roman" pitchFamily="18" charset="0"/>
                <a:ea typeface="黑体" pitchFamily="49" charset="-122"/>
              </a:rPr>
            </a:br>
            <a:r>
              <a:rPr kumimoji="1" lang="en-US" altLang="zh-CN" sz="2800" b="1">
                <a:solidFill>
                  <a:schemeClr val="tx1"/>
                </a:solidFill>
                <a:latin typeface="Times New Roman" pitchFamily="18" charset="0"/>
                <a:ea typeface="黑体" pitchFamily="49" charset="-122"/>
              </a:rPr>
              <a:t>td = ((C==5) + (D==3) == 1); </a:t>
            </a:r>
            <a:r>
              <a:rPr kumimoji="1" lang="zh-CN" altLang="en-US" sz="2800" b="1">
                <a:solidFill>
                  <a:schemeClr val="tx1"/>
                </a:solidFill>
                <a:latin typeface="Times New Roman" pitchFamily="18" charset="0"/>
                <a:ea typeface="黑体" pitchFamily="49" charset="-122"/>
              </a:rPr>
              <a:t>符合</a:t>
            </a:r>
            <a:r>
              <a:rPr kumimoji="1" lang="en-US" altLang="zh-CN" sz="2800" b="1">
                <a:solidFill>
                  <a:schemeClr val="tx1"/>
                </a:solidFill>
                <a:latin typeface="Times New Roman" pitchFamily="18" charset="0"/>
                <a:ea typeface="黑体" pitchFamily="49" charset="-122"/>
              </a:rPr>
              <a:t>D</a:t>
            </a:r>
            <a:r>
              <a:rPr kumimoji="1" lang="zh-CN" altLang="en-US" sz="2800" b="1">
                <a:solidFill>
                  <a:schemeClr val="tx1"/>
                </a:solidFill>
                <a:latin typeface="Times New Roman" pitchFamily="18" charset="0"/>
                <a:ea typeface="黑体" pitchFamily="49" charset="-122"/>
              </a:rPr>
              <a:t>选手的话，则</a:t>
            </a:r>
            <a:r>
              <a:rPr kumimoji="1" lang="en-US" altLang="zh-CN" sz="2800" b="1">
                <a:solidFill>
                  <a:schemeClr val="tx1"/>
                </a:solidFill>
                <a:latin typeface="Times New Roman" pitchFamily="18" charset="0"/>
                <a:ea typeface="黑体" pitchFamily="49" charset="-122"/>
              </a:rPr>
              <a:t>td</a:t>
            </a:r>
            <a:r>
              <a:rPr kumimoji="1" lang="zh-CN" altLang="en-US" sz="2800" b="1">
                <a:solidFill>
                  <a:schemeClr val="tx1"/>
                </a:solidFill>
                <a:latin typeface="Times New Roman" pitchFamily="18" charset="0"/>
                <a:ea typeface="黑体" pitchFamily="49" charset="-122"/>
              </a:rPr>
              <a:t>为</a:t>
            </a:r>
            <a:r>
              <a:rPr kumimoji="1" lang="en-US" altLang="zh-CN" sz="2800" b="1">
                <a:solidFill>
                  <a:schemeClr val="tx1"/>
                </a:solidFill>
                <a:latin typeface="Times New Roman" pitchFamily="18" charset="0"/>
                <a:ea typeface="黑体" pitchFamily="49" charset="-122"/>
              </a:rPr>
              <a:t>1(True)</a:t>
            </a:r>
            <a:br>
              <a:rPr kumimoji="1" lang="en-US" altLang="zh-CN" sz="2800" b="1">
                <a:solidFill>
                  <a:schemeClr val="tx1"/>
                </a:solidFill>
                <a:latin typeface="Times New Roman" pitchFamily="18" charset="0"/>
                <a:ea typeface="黑体" pitchFamily="49" charset="-122"/>
              </a:rPr>
            </a:br>
            <a:r>
              <a:rPr kumimoji="1" lang="en-US" altLang="zh-CN" sz="2800" b="1">
                <a:solidFill>
                  <a:schemeClr val="tx1"/>
                </a:solidFill>
                <a:latin typeface="Times New Roman" pitchFamily="18" charset="0"/>
                <a:ea typeface="黑体" pitchFamily="49" charset="-122"/>
              </a:rPr>
              <a:t>te = ((E==4) + (A==1) == 1); </a:t>
            </a:r>
            <a:r>
              <a:rPr kumimoji="1" lang="zh-CN" altLang="en-US" sz="2800" b="1">
                <a:solidFill>
                  <a:schemeClr val="tx1"/>
                </a:solidFill>
                <a:latin typeface="Times New Roman" pitchFamily="18" charset="0"/>
                <a:ea typeface="黑体" pitchFamily="49" charset="-122"/>
              </a:rPr>
              <a:t>符合</a:t>
            </a:r>
            <a:r>
              <a:rPr kumimoji="1" lang="en-US" altLang="zh-CN" sz="2800" b="1">
                <a:solidFill>
                  <a:schemeClr val="tx1"/>
                </a:solidFill>
                <a:latin typeface="Times New Roman" pitchFamily="18" charset="0"/>
                <a:ea typeface="黑体" pitchFamily="49" charset="-122"/>
              </a:rPr>
              <a:t>E</a:t>
            </a:r>
            <a:r>
              <a:rPr kumimoji="1" lang="zh-CN" altLang="en-US" sz="2800" b="1">
                <a:solidFill>
                  <a:schemeClr val="tx1"/>
                </a:solidFill>
                <a:latin typeface="Times New Roman" pitchFamily="18" charset="0"/>
                <a:ea typeface="黑体" pitchFamily="49" charset="-122"/>
              </a:rPr>
              <a:t>选手的话，则</a:t>
            </a:r>
            <a:r>
              <a:rPr kumimoji="1" lang="en-US" altLang="zh-CN" sz="2800" b="1">
                <a:solidFill>
                  <a:schemeClr val="tx1"/>
                </a:solidFill>
                <a:latin typeface="Times New Roman" pitchFamily="18" charset="0"/>
                <a:ea typeface="黑体" pitchFamily="49" charset="-122"/>
              </a:rPr>
              <a:t>te</a:t>
            </a:r>
            <a:r>
              <a:rPr kumimoji="1" lang="zh-CN" altLang="en-US" sz="2800" b="1">
                <a:solidFill>
                  <a:schemeClr val="tx1"/>
                </a:solidFill>
                <a:latin typeface="Times New Roman" pitchFamily="18" charset="0"/>
                <a:ea typeface="黑体" pitchFamily="49" charset="-122"/>
              </a:rPr>
              <a:t>为</a:t>
            </a:r>
            <a:r>
              <a:rPr kumimoji="1" lang="en-US" altLang="zh-CN" sz="2800" b="1">
                <a:solidFill>
                  <a:schemeClr val="tx1"/>
                </a:solidFill>
                <a:latin typeface="Times New Roman" pitchFamily="18" charset="0"/>
                <a:ea typeface="黑体" pitchFamily="49" charset="-122"/>
              </a:rPr>
              <a:t>1(True)</a:t>
            </a:r>
            <a:br>
              <a:rPr kumimoji="1" lang="en-US" altLang="zh-CN" sz="2800" b="1">
                <a:solidFill>
                  <a:schemeClr val="tx1"/>
                </a:solidFill>
                <a:latin typeface="Times New Roman" pitchFamily="18" charset="0"/>
                <a:ea typeface="黑体" pitchFamily="49" charset="-122"/>
              </a:rPr>
            </a:br>
            <a:r>
              <a:rPr kumimoji="1" lang="zh-CN" altLang="en-US" sz="2800" b="1">
                <a:solidFill>
                  <a:schemeClr val="tx1"/>
                </a:solidFill>
                <a:latin typeface="Times New Roman" pitchFamily="18" charset="0"/>
                <a:ea typeface="黑体" pitchFamily="49" charset="-122"/>
              </a:rPr>
              <a:t>因为</a:t>
            </a:r>
            <a:r>
              <a:rPr kumimoji="1" lang="en-US" altLang="zh-CN" sz="2800" b="1">
                <a:solidFill>
                  <a:schemeClr val="tx1"/>
                </a:solidFill>
                <a:latin typeface="Times New Roman" pitchFamily="18" charset="0"/>
                <a:ea typeface="黑体" pitchFamily="49" charset="-122"/>
              </a:rPr>
              <a:t>ta,tb,…,te</a:t>
            </a:r>
            <a:r>
              <a:rPr kumimoji="1" lang="zh-CN" altLang="en-US" sz="2800" b="1">
                <a:solidFill>
                  <a:schemeClr val="tx1"/>
                </a:solidFill>
                <a:latin typeface="Times New Roman" pitchFamily="18" charset="0"/>
                <a:ea typeface="黑体" pitchFamily="49" charset="-122"/>
              </a:rPr>
              <a:t>非</a:t>
            </a:r>
            <a:r>
              <a:rPr kumimoji="1" lang="en-US" altLang="zh-CN" sz="2800" b="1">
                <a:solidFill>
                  <a:schemeClr val="tx1"/>
                </a:solidFill>
                <a:latin typeface="Times New Roman" pitchFamily="18" charset="0"/>
                <a:ea typeface="黑体" pitchFamily="49" charset="-122"/>
              </a:rPr>
              <a:t>1</a:t>
            </a:r>
            <a:r>
              <a:rPr kumimoji="1" lang="zh-CN" altLang="en-US" sz="2800" b="1">
                <a:solidFill>
                  <a:schemeClr val="tx1"/>
                </a:solidFill>
                <a:latin typeface="Times New Roman" pitchFamily="18" charset="0"/>
                <a:ea typeface="黑体" pitchFamily="49" charset="-122"/>
              </a:rPr>
              <a:t>即</a:t>
            </a:r>
            <a:r>
              <a:rPr kumimoji="1" lang="en-US" altLang="zh-CN" sz="2800" b="1">
                <a:solidFill>
                  <a:schemeClr val="tx1"/>
                </a:solidFill>
                <a:latin typeface="Times New Roman" pitchFamily="18" charset="0"/>
                <a:ea typeface="黑体" pitchFamily="49" charset="-122"/>
              </a:rPr>
              <a:t>0</a:t>
            </a:r>
            <a:r>
              <a:rPr kumimoji="1" lang="zh-CN" altLang="en-US" sz="2800" b="1">
                <a:solidFill>
                  <a:schemeClr val="tx1"/>
                </a:solidFill>
                <a:latin typeface="Times New Roman" pitchFamily="18" charset="0"/>
                <a:ea typeface="黑体" pitchFamily="49" charset="-122"/>
              </a:rPr>
              <a:t>，五个条件值都加在一起</a:t>
            </a: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2491" y="5098820"/>
            <a:ext cx="72771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89609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具体实现</a:t>
            </a:r>
            <a:r>
              <a:rPr lang="en-US" altLang="zh-CN" sz="4800">
                <a:solidFill>
                  <a:schemeClr val="accent2"/>
                </a:solidFill>
                <a:latin typeface="隶书" pitchFamily="49" charset="-122"/>
                <a:ea typeface="隶书" pitchFamily="49" charset="-122"/>
              </a:rPr>
              <a:t>(5)</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2" name="Text Box 3"/>
          <p:cNvSpPr txBox="1">
            <a:spLocks noChangeArrowheads="1"/>
          </p:cNvSpPr>
          <p:nvPr/>
        </p:nvSpPr>
        <p:spPr bwMode="auto">
          <a:xfrm>
            <a:off x="775894" y="1016595"/>
            <a:ext cx="9872714"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marL="342900" indent="-3429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lnSpc>
                <a:spcPct val="120000"/>
              </a:lnSpc>
              <a:spcBef>
                <a:spcPct val="50000"/>
              </a:spcBef>
            </a:pPr>
            <a:r>
              <a:rPr kumimoji="1" lang="en-US" altLang="zh-CN" sz="2800" b="1">
                <a:solidFill>
                  <a:schemeClr val="tx1"/>
                </a:solidFill>
                <a:latin typeface="Times New Roman" pitchFamily="18" charset="0"/>
                <a:ea typeface="黑体" pitchFamily="49" charset="-122"/>
              </a:rPr>
              <a:t>4</a:t>
            </a:r>
            <a:r>
              <a:rPr kumimoji="1" lang="zh-CN" altLang="en-US" sz="2800" b="1">
                <a:solidFill>
                  <a:schemeClr val="tx1"/>
                </a:solidFill>
                <a:latin typeface="Times New Roman" pitchFamily="18" charset="0"/>
                <a:ea typeface="黑体" pitchFamily="49" charset="-122"/>
              </a:rPr>
              <a:t>、只有等于</a:t>
            </a:r>
            <a:r>
              <a:rPr kumimoji="1" lang="en-US" altLang="zh-CN" sz="2800" b="1">
                <a:solidFill>
                  <a:schemeClr val="tx1"/>
                </a:solidFill>
                <a:latin typeface="Times New Roman" pitchFamily="18" charset="0"/>
                <a:ea typeface="黑体" pitchFamily="49" charset="-122"/>
              </a:rPr>
              <a:t>5</a:t>
            </a:r>
            <a:r>
              <a:rPr kumimoji="1" lang="zh-CN" altLang="en-US" sz="2800" b="1">
                <a:solidFill>
                  <a:schemeClr val="tx1"/>
                </a:solidFill>
                <a:latin typeface="Times New Roman" pitchFamily="18" charset="0"/>
                <a:ea typeface="黑体" pitchFamily="49" charset="-122"/>
              </a:rPr>
              <a:t>时才都符合每个人所说的话，这仅只是符合题意的一个必要条件，同时还得考虑</a:t>
            </a:r>
            <a:r>
              <a:rPr kumimoji="1" lang="en-US" altLang="zh-CN" sz="2800" b="1">
                <a:solidFill>
                  <a:schemeClr val="tx1"/>
                </a:solidFill>
                <a:latin typeface="Times New Roman" pitchFamily="18" charset="0"/>
                <a:ea typeface="黑体" pitchFamily="49" charset="-122"/>
              </a:rPr>
              <a:t>A</a:t>
            </a:r>
            <a:r>
              <a:rPr kumimoji="1" lang="zh-CN" altLang="en-US" sz="2800" b="1">
                <a:solidFill>
                  <a:schemeClr val="tx1"/>
                </a:solidFill>
                <a:latin typeface="Times New Roman" pitchFamily="18" charset="0"/>
                <a:ea typeface="黑体" pitchFamily="49" charset="-122"/>
              </a:rPr>
              <a:t>、</a:t>
            </a:r>
            <a:r>
              <a:rPr kumimoji="1" lang="en-US" altLang="zh-CN" sz="2800" b="1">
                <a:solidFill>
                  <a:schemeClr val="tx1"/>
                </a:solidFill>
                <a:latin typeface="Times New Roman" pitchFamily="18" charset="0"/>
                <a:ea typeface="黑体" pitchFamily="49" charset="-122"/>
              </a:rPr>
              <a:t>B</a:t>
            </a:r>
            <a:r>
              <a:rPr kumimoji="1" lang="zh-CN" altLang="en-US" sz="2800" b="1">
                <a:solidFill>
                  <a:schemeClr val="tx1"/>
                </a:solidFill>
                <a:latin typeface="Times New Roman" pitchFamily="18" charset="0"/>
                <a:ea typeface="黑体" pitchFamily="49" charset="-122"/>
              </a:rPr>
              <a:t>、</a:t>
            </a:r>
            <a:r>
              <a:rPr kumimoji="1" lang="en-US" altLang="zh-CN" sz="2800" b="1">
                <a:solidFill>
                  <a:schemeClr val="tx1"/>
                </a:solidFill>
                <a:latin typeface="Times New Roman" pitchFamily="18" charset="0"/>
                <a:ea typeface="黑体" pitchFamily="49" charset="-122"/>
              </a:rPr>
              <a:t>C</a:t>
            </a:r>
            <a:r>
              <a:rPr kumimoji="1" lang="zh-CN" altLang="en-US" sz="2800" b="1">
                <a:solidFill>
                  <a:schemeClr val="tx1"/>
                </a:solidFill>
                <a:latin typeface="Times New Roman" pitchFamily="18" charset="0"/>
                <a:ea typeface="黑体" pitchFamily="49" charset="-122"/>
              </a:rPr>
              <a:t>、</a:t>
            </a:r>
            <a:r>
              <a:rPr kumimoji="1" lang="en-US" altLang="zh-CN" sz="2800" b="1">
                <a:solidFill>
                  <a:schemeClr val="tx1"/>
                </a:solidFill>
                <a:latin typeface="Times New Roman" pitchFamily="18" charset="0"/>
                <a:ea typeface="黑体" pitchFamily="49" charset="-122"/>
              </a:rPr>
              <a:t>D</a:t>
            </a:r>
            <a:r>
              <a:rPr kumimoji="1" lang="zh-CN" altLang="en-US" sz="2800" b="1">
                <a:solidFill>
                  <a:schemeClr val="tx1"/>
                </a:solidFill>
                <a:latin typeface="Times New Roman" pitchFamily="18" charset="0"/>
                <a:ea typeface="黑体" pitchFamily="49" charset="-122"/>
              </a:rPr>
              <a:t>、</a:t>
            </a:r>
            <a:r>
              <a:rPr kumimoji="1" lang="en-US" altLang="zh-CN" sz="2800" b="1">
                <a:solidFill>
                  <a:schemeClr val="tx1"/>
                </a:solidFill>
                <a:latin typeface="Times New Roman" pitchFamily="18" charset="0"/>
                <a:ea typeface="黑体" pitchFamily="49" charset="-122"/>
              </a:rPr>
              <a:t>E</a:t>
            </a:r>
            <a:r>
              <a:rPr kumimoji="1" lang="zh-CN" altLang="en-US" sz="2800" b="1">
                <a:solidFill>
                  <a:schemeClr val="tx1"/>
                </a:solidFill>
                <a:latin typeface="Times New Roman" pitchFamily="18" charset="0"/>
                <a:ea typeface="黑体" pitchFamily="49" charset="-122"/>
              </a:rPr>
              <a:t>的取值不得有相同者</a:t>
            </a: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6102" y="2793337"/>
            <a:ext cx="6305550" cy="117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 name="组合 1"/>
          <p:cNvGrpSpPr/>
          <p:nvPr/>
        </p:nvGrpSpPr>
        <p:grpSpPr>
          <a:xfrm>
            <a:off x="1134940" y="4365863"/>
            <a:ext cx="8684809" cy="1264915"/>
            <a:chOff x="1134940" y="4565375"/>
            <a:chExt cx="8684809" cy="1264915"/>
          </a:xfrm>
        </p:grpSpPr>
        <p:sp>
          <p:nvSpPr>
            <p:cNvPr id="15" name="Text Box 6"/>
            <p:cNvSpPr txBox="1">
              <a:spLocks noChangeArrowheads="1"/>
            </p:cNvSpPr>
            <p:nvPr/>
          </p:nvSpPr>
          <p:spPr bwMode="auto">
            <a:xfrm>
              <a:off x="1134940" y="4565375"/>
              <a:ext cx="1800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marL="342900" indent="-3429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sz="2800" b="1">
                  <a:solidFill>
                    <a:schemeClr val="tx1"/>
                  </a:solidFill>
                  <a:latin typeface="Times New Roman" pitchFamily="18" charset="0"/>
                  <a:ea typeface="黑体" pitchFamily="49" charset="-122"/>
                </a:rPr>
                <a:t>可以考虑</a:t>
              </a:r>
            </a:p>
          </p:txBody>
        </p:sp>
        <p:sp>
          <p:nvSpPr>
            <p:cNvPr id="17" name="Text Box 8"/>
            <p:cNvSpPr txBox="1">
              <a:spLocks noChangeArrowheads="1"/>
            </p:cNvSpPr>
            <p:nvPr/>
          </p:nvSpPr>
          <p:spPr bwMode="auto">
            <a:xfrm>
              <a:off x="7370236" y="5311177"/>
              <a:ext cx="24495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marL="342900" indent="-3429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spcBef>
                  <a:spcPct val="50000"/>
                </a:spcBef>
              </a:pPr>
              <a:r>
                <a:rPr kumimoji="1" lang="zh-CN" altLang="en-US" sz="2800" b="1">
                  <a:solidFill>
                    <a:schemeClr val="tx1"/>
                  </a:solidFill>
                  <a:latin typeface="Times New Roman" pitchFamily="18" charset="0"/>
                  <a:ea typeface="黑体" pitchFamily="49" charset="-122"/>
                </a:rPr>
                <a:t>是一个条件</a:t>
              </a:r>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0332" y="5306200"/>
              <a:ext cx="5570739" cy="511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96523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具体实现</a:t>
            </a:r>
            <a:r>
              <a:rPr lang="en-US" altLang="zh-CN" sz="4800">
                <a:solidFill>
                  <a:schemeClr val="accent2"/>
                </a:solidFill>
                <a:latin typeface="隶书" pitchFamily="49" charset="-122"/>
                <a:ea typeface="隶书" pitchFamily="49" charset="-122"/>
              </a:rPr>
              <a:t>(6)</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13" name="Text Box 3"/>
          <p:cNvSpPr txBox="1">
            <a:spLocks noChangeArrowheads="1"/>
          </p:cNvSpPr>
          <p:nvPr/>
        </p:nvSpPr>
        <p:spPr bwMode="auto">
          <a:xfrm>
            <a:off x="1240036" y="1709831"/>
            <a:ext cx="9475066"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marL="342900" indent="-342900">
              <a:defRPr sz="3200">
                <a:solidFill>
                  <a:srgbClr val="CC0066"/>
                </a:solidFill>
                <a:latin typeface="Tahoma" pitchFamily="34" charset="0"/>
              </a:defRPr>
            </a:lvl1pPr>
            <a:lvl2pPr marL="742950" indent="-285750">
              <a:defRPr sz="3200">
                <a:solidFill>
                  <a:srgbClr val="CC0066"/>
                </a:solidFill>
                <a:latin typeface="Tahoma" pitchFamily="34" charset="0"/>
              </a:defRPr>
            </a:lvl2pPr>
            <a:lvl3pPr marL="1143000" indent="-228600">
              <a:defRPr sz="3200">
                <a:solidFill>
                  <a:srgbClr val="CC0066"/>
                </a:solidFill>
                <a:latin typeface="Tahoma" pitchFamily="34" charset="0"/>
              </a:defRPr>
            </a:lvl3pPr>
            <a:lvl4pPr marL="1600200" indent="-228600">
              <a:defRPr sz="3200">
                <a:solidFill>
                  <a:srgbClr val="CC0066"/>
                </a:solidFill>
                <a:latin typeface="Tahoma" pitchFamily="34" charset="0"/>
              </a:defRPr>
            </a:lvl4pPr>
            <a:lvl5pPr marL="2057400" indent="-228600">
              <a:defRPr sz="3200">
                <a:solidFill>
                  <a:srgbClr val="CC0066"/>
                </a:solidFill>
                <a:latin typeface="Tahoma" pitchFamily="34" charset="0"/>
              </a:defRPr>
            </a:lvl5pPr>
            <a:lvl6pPr marL="2514600" indent="-228600" eaLnBrk="0" fontAlgn="base" hangingPunct="0">
              <a:spcBef>
                <a:spcPct val="0"/>
              </a:spcBef>
              <a:spcAft>
                <a:spcPct val="0"/>
              </a:spcAft>
              <a:defRPr sz="3200">
                <a:solidFill>
                  <a:srgbClr val="CC0066"/>
                </a:solidFill>
                <a:latin typeface="Tahoma" pitchFamily="34" charset="0"/>
              </a:defRPr>
            </a:lvl6pPr>
            <a:lvl7pPr marL="2971800" indent="-228600" eaLnBrk="0" fontAlgn="base" hangingPunct="0">
              <a:spcBef>
                <a:spcPct val="0"/>
              </a:spcBef>
              <a:spcAft>
                <a:spcPct val="0"/>
              </a:spcAft>
              <a:defRPr sz="3200">
                <a:solidFill>
                  <a:srgbClr val="CC0066"/>
                </a:solidFill>
                <a:latin typeface="Tahoma" pitchFamily="34" charset="0"/>
              </a:defRPr>
            </a:lvl7pPr>
            <a:lvl8pPr marL="3429000" indent="-228600" eaLnBrk="0" fontAlgn="base" hangingPunct="0">
              <a:spcBef>
                <a:spcPct val="0"/>
              </a:spcBef>
              <a:spcAft>
                <a:spcPct val="0"/>
              </a:spcAft>
              <a:defRPr sz="3200">
                <a:solidFill>
                  <a:srgbClr val="CC0066"/>
                </a:solidFill>
                <a:latin typeface="Tahoma" pitchFamily="34" charset="0"/>
              </a:defRPr>
            </a:lvl8pPr>
            <a:lvl9pPr marL="3886200" indent="-228600" eaLnBrk="0" fontAlgn="base" hangingPunct="0">
              <a:spcBef>
                <a:spcPct val="0"/>
              </a:spcBef>
              <a:spcAft>
                <a:spcPct val="0"/>
              </a:spcAft>
              <a:defRPr sz="3200">
                <a:solidFill>
                  <a:srgbClr val="CC0066"/>
                </a:solidFill>
                <a:latin typeface="Tahoma" pitchFamily="34" charset="0"/>
              </a:defRPr>
            </a:lvl9pPr>
          </a:lstStyle>
          <a:p>
            <a:pPr eaLnBrk="1" hangingPunct="1">
              <a:lnSpc>
                <a:spcPct val="150000"/>
              </a:lnSpc>
              <a:spcBef>
                <a:spcPct val="50000"/>
              </a:spcBef>
            </a:pPr>
            <a:r>
              <a:rPr kumimoji="1" lang="en-US" altLang="zh-CN" sz="3600" b="1">
                <a:solidFill>
                  <a:schemeClr val="tx1"/>
                </a:solidFill>
                <a:latin typeface="Times New Roman" pitchFamily="18" charset="0"/>
                <a:ea typeface="黑体" pitchFamily="49" charset="-122"/>
              </a:rPr>
              <a:t>5</a:t>
            </a:r>
            <a:r>
              <a:rPr kumimoji="1" lang="zh-CN" altLang="en-US" sz="3600" b="1">
                <a:solidFill>
                  <a:schemeClr val="tx1"/>
                </a:solidFill>
                <a:latin typeface="Times New Roman" pitchFamily="18" charset="0"/>
                <a:ea typeface="黑体" pitchFamily="49" charset="-122"/>
              </a:rPr>
              <a:t>、仍然可以用枚举的方法，让变量</a:t>
            </a:r>
            <a:r>
              <a:rPr kumimoji="1" lang="en-US" altLang="zh-CN" sz="3600" b="1">
                <a:solidFill>
                  <a:schemeClr val="tx1"/>
                </a:solidFill>
                <a:latin typeface="Times New Roman" pitchFamily="18" charset="0"/>
                <a:ea typeface="黑体" pitchFamily="49" charset="-122"/>
              </a:rPr>
              <a:t>A</a:t>
            </a:r>
            <a:r>
              <a:rPr kumimoji="1" lang="zh-CN" altLang="en-US" sz="3600" b="1">
                <a:solidFill>
                  <a:schemeClr val="tx1"/>
                </a:solidFill>
                <a:latin typeface="Times New Roman" pitchFamily="18" charset="0"/>
                <a:ea typeface="黑体" pitchFamily="49" charset="-122"/>
              </a:rPr>
              <a:t>、</a:t>
            </a:r>
            <a:r>
              <a:rPr kumimoji="1" lang="en-US" altLang="zh-CN" sz="3600" b="1">
                <a:solidFill>
                  <a:schemeClr val="tx1"/>
                </a:solidFill>
                <a:latin typeface="Times New Roman" pitchFamily="18" charset="0"/>
                <a:ea typeface="黑体" pitchFamily="49" charset="-122"/>
              </a:rPr>
              <a:t>B</a:t>
            </a:r>
            <a:r>
              <a:rPr kumimoji="1" lang="zh-CN" altLang="en-US" sz="3600" b="1">
                <a:solidFill>
                  <a:schemeClr val="tx1"/>
                </a:solidFill>
                <a:latin typeface="Times New Roman" pitchFamily="18" charset="0"/>
                <a:ea typeface="黑体" pitchFamily="49" charset="-122"/>
              </a:rPr>
              <a:t>、</a:t>
            </a:r>
            <a:r>
              <a:rPr kumimoji="1" lang="en-US" altLang="zh-CN" sz="3600" b="1">
                <a:solidFill>
                  <a:schemeClr val="tx1"/>
                </a:solidFill>
                <a:latin typeface="Times New Roman" pitchFamily="18" charset="0"/>
                <a:ea typeface="黑体" pitchFamily="49" charset="-122"/>
              </a:rPr>
              <a:t>C</a:t>
            </a:r>
            <a:r>
              <a:rPr kumimoji="1" lang="zh-CN" altLang="en-US" sz="3600" b="1">
                <a:solidFill>
                  <a:schemeClr val="tx1"/>
                </a:solidFill>
                <a:latin typeface="Times New Roman" pitchFamily="18" charset="0"/>
                <a:ea typeface="黑体" pitchFamily="49" charset="-122"/>
              </a:rPr>
              <a:t>、</a:t>
            </a:r>
            <a:r>
              <a:rPr kumimoji="1" lang="en-US" altLang="zh-CN" sz="3600" b="1">
                <a:solidFill>
                  <a:schemeClr val="tx1"/>
                </a:solidFill>
                <a:latin typeface="Times New Roman" pitchFamily="18" charset="0"/>
                <a:ea typeface="黑体" pitchFamily="49" charset="-122"/>
              </a:rPr>
              <a:t>D</a:t>
            </a:r>
            <a:r>
              <a:rPr kumimoji="1" lang="zh-CN" altLang="en-US" sz="3600" b="1">
                <a:solidFill>
                  <a:schemeClr val="tx1"/>
                </a:solidFill>
                <a:latin typeface="Times New Roman" pitchFamily="18" charset="0"/>
                <a:ea typeface="黑体" pitchFamily="49" charset="-122"/>
              </a:rPr>
              <a:t>、</a:t>
            </a:r>
            <a:r>
              <a:rPr kumimoji="1" lang="en-US" altLang="zh-CN" sz="3600" b="1">
                <a:solidFill>
                  <a:schemeClr val="tx1"/>
                </a:solidFill>
                <a:latin typeface="Times New Roman" pitchFamily="18" charset="0"/>
                <a:ea typeface="黑体" pitchFamily="49" charset="-122"/>
              </a:rPr>
              <a:t>E</a:t>
            </a:r>
            <a:r>
              <a:rPr kumimoji="1" lang="zh-CN" altLang="en-US" sz="3600" b="1">
                <a:solidFill>
                  <a:schemeClr val="tx1"/>
                </a:solidFill>
                <a:latin typeface="Times New Roman" pitchFamily="18" charset="0"/>
                <a:ea typeface="黑体" pitchFamily="49" charset="-122"/>
              </a:rPr>
              <a:t>在 </a:t>
            </a:r>
            <a:r>
              <a:rPr kumimoji="1" lang="en-US" altLang="zh-CN" sz="3600" b="1">
                <a:solidFill>
                  <a:schemeClr val="tx1"/>
                </a:solidFill>
                <a:latin typeface="Times New Roman" pitchFamily="18" charset="0"/>
                <a:ea typeface="黑体" pitchFamily="49" charset="-122"/>
              </a:rPr>
              <a:t>1~5 </a:t>
            </a:r>
            <a:r>
              <a:rPr kumimoji="1" lang="zh-CN" altLang="en-US" sz="3600" b="1">
                <a:solidFill>
                  <a:schemeClr val="tx1"/>
                </a:solidFill>
                <a:latin typeface="Times New Roman" pitchFamily="18" charset="0"/>
                <a:ea typeface="黑体" pitchFamily="49" charset="-122"/>
              </a:rPr>
              <a:t>中取值，形成满足上述条件的 </a:t>
            </a:r>
            <a:r>
              <a:rPr kumimoji="1" lang="en-US" altLang="zh-CN" sz="3600" b="1">
                <a:solidFill>
                  <a:schemeClr val="tx1"/>
                </a:solidFill>
                <a:latin typeface="Times New Roman" pitchFamily="18" charset="0"/>
                <a:ea typeface="黑体" pitchFamily="49" charset="-122"/>
              </a:rPr>
              <a:t>A~E </a:t>
            </a:r>
            <a:r>
              <a:rPr kumimoji="1" lang="zh-CN" altLang="en-US" sz="3600" b="1">
                <a:solidFill>
                  <a:schemeClr val="tx1"/>
                </a:solidFill>
                <a:latin typeface="Times New Roman" pitchFamily="18" charset="0"/>
                <a:ea typeface="黑体" pitchFamily="49" charset="-122"/>
              </a:rPr>
              <a:t>的组合，即是所求。这时可用循环结构。</a:t>
            </a:r>
          </a:p>
        </p:txBody>
      </p:sp>
    </p:spTree>
    <p:extLst>
      <p:ext uri="{BB962C8B-B14F-4D97-AF65-F5344CB8AC3E}">
        <p14:creationId xmlns:p14="http://schemas.microsoft.com/office/powerpoint/2010/main" val="40635066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参考</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3"/>
          <p:cNvSpPr>
            <a:spLocks noChangeArrowheads="1"/>
          </p:cNvSpPr>
          <p:nvPr/>
        </p:nvSpPr>
        <p:spPr bwMode="auto">
          <a:xfrm>
            <a:off x="1436930" y="1021395"/>
            <a:ext cx="8534400" cy="563231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1" hangingPunct="1"/>
            <a:r>
              <a:rPr kumimoji="1" lang="en-US" altLang="zh-CN" sz="2400" b="1">
                <a:solidFill>
                  <a:schemeClr val="tx1"/>
                </a:solidFill>
                <a:latin typeface="Courier New" pitchFamily="49" charset="0"/>
                <a:ea typeface="宋体" charset="-122"/>
                <a:cs typeface="Courier New" pitchFamily="49" charset="0"/>
              </a:rPr>
              <a:t>for </a:t>
            </a:r>
            <a:r>
              <a:rPr kumimoji="1" lang="en-US" altLang="zh-CN" sz="2400" b="1">
                <a:solidFill>
                  <a:srgbClr val="0000FF"/>
                </a:solidFill>
                <a:latin typeface="Courier New" pitchFamily="49" charset="0"/>
                <a:ea typeface="宋体" charset="-122"/>
                <a:cs typeface="Courier New" pitchFamily="49" charset="0"/>
              </a:rPr>
              <a:t>A in range(1, 6):</a:t>
            </a:r>
          </a:p>
          <a:p>
            <a:pPr eaLnBrk="1" hangingPunct="1"/>
            <a:r>
              <a:rPr kumimoji="1" lang="en-US" altLang="zh-CN" sz="2400" b="1">
                <a:solidFill>
                  <a:schemeClr val="tx1"/>
                </a:solidFill>
                <a:latin typeface="Courier New" pitchFamily="49" charset="0"/>
                <a:ea typeface="宋体" charset="-122"/>
                <a:cs typeface="Courier New" pitchFamily="49" charset="0"/>
              </a:rPr>
              <a:t>    for </a:t>
            </a:r>
            <a:r>
              <a:rPr kumimoji="1" lang="en-US" altLang="zh-CN" sz="2400" b="1">
                <a:solidFill>
                  <a:srgbClr val="0000FF"/>
                </a:solidFill>
                <a:latin typeface="Courier New" pitchFamily="49" charset="0"/>
                <a:ea typeface="宋体" charset="-122"/>
                <a:cs typeface="Courier New" pitchFamily="49" charset="0"/>
              </a:rPr>
              <a:t>B in range(1, 6):</a:t>
            </a:r>
          </a:p>
          <a:p>
            <a:pPr eaLnBrk="1" hangingPunct="1"/>
            <a:r>
              <a:rPr kumimoji="1" lang="en-US" altLang="zh-CN" sz="2400" b="1">
                <a:solidFill>
                  <a:schemeClr val="tx1"/>
                </a:solidFill>
                <a:latin typeface="Courier New" pitchFamily="49" charset="0"/>
                <a:ea typeface="宋体" charset="-122"/>
                <a:cs typeface="Courier New" pitchFamily="49" charset="0"/>
              </a:rPr>
              <a:t>        for </a:t>
            </a:r>
            <a:r>
              <a:rPr kumimoji="1" lang="en-US" altLang="zh-CN" sz="2400" b="1">
                <a:solidFill>
                  <a:srgbClr val="0000FF"/>
                </a:solidFill>
                <a:latin typeface="Courier New" pitchFamily="49" charset="0"/>
                <a:ea typeface="宋体" charset="-122"/>
                <a:cs typeface="Courier New" pitchFamily="49" charset="0"/>
              </a:rPr>
              <a:t>C in range(1, 6):</a:t>
            </a:r>
          </a:p>
          <a:p>
            <a:pPr eaLnBrk="1" hangingPunct="1"/>
            <a:r>
              <a:rPr kumimoji="1" lang="en-US" altLang="zh-CN" sz="2400" b="1">
                <a:solidFill>
                  <a:schemeClr val="tx1"/>
                </a:solidFill>
                <a:latin typeface="Courier New" pitchFamily="49" charset="0"/>
                <a:ea typeface="宋体" charset="-122"/>
                <a:cs typeface="Courier New" pitchFamily="49" charset="0"/>
              </a:rPr>
              <a:t>            for </a:t>
            </a:r>
            <a:r>
              <a:rPr kumimoji="1" lang="en-US" altLang="zh-CN" sz="2400" b="1">
                <a:solidFill>
                  <a:srgbClr val="0000FF"/>
                </a:solidFill>
                <a:latin typeface="Courier New" pitchFamily="49" charset="0"/>
                <a:ea typeface="宋体" charset="-122"/>
                <a:cs typeface="Courier New" pitchFamily="49" charset="0"/>
              </a:rPr>
              <a:t>D in range(1, 6):</a:t>
            </a:r>
          </a:p>
          <a:p>
            <a:pPr eaLnBrk="1" hangingPunct="1"/>
            <a:r>
              <a:rPr kumimoji="1" lang="en-US" altLang="zh-CN" sz="2400" b="1">
                <a:solidFill>
                  <a:schemeClr val="tx1"/>
                </a:solidFill>
                <a:latin typeface="Courier New" pitchFamily="49" charset="0"/>
                <a:ea typeface="宋体" charset="-122"/>
                <a:cs typeface="Courier New" pitchFamily="49" charset="0"/>
              </a:rPr>
              <a:t>                E = 15 - (A + B + C + D)</a:t>
            </a:r>
          </a:p>
          <a:p>
            <a:pPr eaLnBrk="1" hangingPunct="1"/>
            <a:r>
              <a:rPr kumimoji="1" lang="en-US" altLang="zh-CN" sz="2400" b="1">
                <a:solidFill>
                  <a:schemeClr val="tx1"/>
                </a:solidFill>
                <a:latin typeface="Courier New" pitchFamily="49" charset="0"/>
                <a:ea typeface="宋体" charset="-122"/>
                <a:cs typeface="Courier New" pitchFamily="49" charset="0"/>
              </a:rPr>
              <a:t>                if A*B*C*D*E  !=  120 :</a:t>
            </a:r>
          </a:p>
          <a:p>
            <a:pPr eaLnBrk="1" hangingPunct="1"/>
            <a:r>
              <a:rPr kumimoji="1" lang="en-US" altLang="zh-CN" sz="2400" b="1">
                <a:solidFill>
                  <a:schemeClr val="tx1"/>
                </a:solidFill>
                <a:latin typeface="Courier New" pitchFamily="49" charset="0"/>
                <a:ea typeface="宋体" charset="-122"/>
                <a:cs typeface="Courier New" pitchFamily="49" charset="0"/>
              </a:rPr>
              <a:t>                    continue</a:t>
            </a:r>
          </a:p>
          <a:p>
            <a:r>
              <a:rPr kumimoji="1" lang="en-US" altLang="zh-CN" sz="2400" b="1">
                <a:latin typeface="Courier New" pitchFamily="49" charset="0"/>
                <a:ea typeface="宋体" charset="-122"/>
                <a:cs typeface="Courier New" pitchFamily="49" charset="0"/>
              </a:rPr>
              <a:t>                </a:t>
            </a:r>
            <a:r>
              <a:rPr kumimoji="1" lang="pl-PL" altLang="zh-CN" sz="2400" b="1">
                <a:latin typeface="Courier New" pitchFamily="49" charset="0"/>
                <a:ea typeface="宋体" charset="-122"/>
                <a:cs typeface="Courier New" pitchFamily="49" charset="0"/>
              </a:rPr>
              <a:t>ta = ((B==2)+(A==3) == 1)</a:t>
            </a:r>
            <a:endParaRPr kumimoji="1" lang="en-US" altLang="zh-CN" sz="2400" b="1">
              <a:latin typeface="Courier New" pitchFamily="49" charset="0"/>
              <a:ea typeface="宋体" charset="-122"/>
              <a:cs typeface="Courier New" pitchFamily="49" charset="0"/>
            </a:endParaRPr>
          </a:p>
          <a:p>
            <a:r>
              <a:rPr kumimoji="1" lang="pt-BR" altLang="zh-CN" sz="2400" b="1">
                <a:latin typeface="Courier New" pitchFamily="49" charset="0"/>
                <a:ea typeface="宋体" charset="-122"/>
                <a:cs typeface="Courier New" pitchFamily="49" charset="0"/>
              </a:rPr>
              <a:t>                tb = ((B==2)+(E==4) == 1)</a:t>
            </a:r>
          </a:p>
          <a:p>
            <a:r>
              <a:rPr kumimoji="1" lang="pt-BR" altLang="zh-CN" sz="2400" b="1">
                <a:latin typeface="Courier New" pitchFamily="49" charset="0"/>
                <a:ea typeface="宋体" charset="-122"/>
                <a:cs typeface="Courier New" pitchFamily="49" charset="0"/>
              </a:rPr>
              <a:t>                tc = ((C==1)+(D==2) == 1)</a:t>
            </a:r>
          </a:p>
          <a:p>
            <a:r>
              <a:rPr kumimoji="1" lang="pt-BR" altLang="zh-CN" sz="2400" b="1">
                <a:latin typeface="Courier New" pitchFamily="49" charset="0"/>
                <a:ea typeface="宋体" charset="-122"/>
                <a:cs typeface="Courier New" pitchFamily="49" charset="0"/>
              </a:rPr>
              <a:t>                td = ((C==5)+(D==3) == 1)</a:t>
            </a:r>
          </a:p>
          <a:p>
            <a:r>
              <a:rPr kumimoji="1" lang="pt-BR" altLang="zh-CN" sz="2400" b="1">
                <a:latin typeface="Courier New" pitchFamily="49" charset="0"/>
                <a:ea typeface="宋体" charset="-122"/>
                <a:cs typeface="Courier New" pitchFamily="49" charset="0"/>
              </a:rPr>
              <a:t>                te = ((E==4)+(A==1) == 1)</a:t>
            </a:r>
          </a:p>
          <a:p>
            <a:r>
              <a:rPr kumimoji="1" lang="pt-BR" altLang="zh-CN" sz="2400" b="1">
                <a:solidFill>
                  <a:schemeClr val="tx1"/>
                </a:solidFill>
                <a:latin typeface="Courier New" pitchFamily="49" charset="0"/>
                <a:ea typeface="宋体" charset="-122"/>
                <a:cs typeface="Courier New" pitchFamily="49" charset="0"/>
              </a:rPr>
              <a:t> </a:t>
            </a:r>
            <a:r>
              <a:rPr kumimoji="1" lang="pt-BR" altLang="zh-CN" sz="2400" b="1">
                <a:latin typeface="Courier New" pitchFamily="49" charset="0"/>
                <a:ea typeface="宋体" charset="-122"/>
                <a:cs typeface="Courier New" pitchFamily="49" charset="0"/>
              </a:rPr>
              <a:t>               t = ta + tb + tc + td + te</a:t>
            </a:r>
          </a:p>
          <a:p>
            <a:r>
              <a:rPr kumimoji="1" lang="pt-BR" altLang="zh-CN" sz="2400" b="1">
                <a:solidFill>
                  <a:schemeClr val="tx1"/>
                </a:solidFill>
                <a:latin typeface="Courier New" pitchFamily="49" charset="0"/>
                <a:ea typeface="宋体" charset="-122"/>
                <a:cs typeface="Courier New" pitchFamily="49" charset="0"/>
              </a:rPr>
              <a:t>                if t == 5:</a:t>
            </a:r>
          </a:p>
          <a:p>
            <a:r>
              <a:rPr kumimoji="1" lang="pt-BR" altLang="zh-CN" sz="2400" b="1">
                <a:latin typeface="Courier New" pitchFamily="49" charset="0"/>
                <a:ea typeface="宋体" charset="-122"/>
                <a:cs typeface="Courier New" pitchFamily="49" charset="0"/>
              </a:rPr>
              <a:t>                    print(A, B, C, D, E)</a:t>
            </a:r>
            <a:endParaRPr kumimoji="1" lang="en-US" altLang="zh-CN" sz="2400" b="1">
              <a:solidFill>
                <a:schemeClr val="tx1"/>
              </a:solidFill>
              <a:latin typeface="Courier New" pitchFamily="49" charset="0"/>
              <a:ea typeface="宋体" charset="-122"/>
              <a:cs typeface="Courier New" pitchFamily="49" charset="0"/>
            </a:endParaRPr>
          </a:p>
        </p:txBody>
      </p:sp>
    </p:spTree>
    <p:extLst>
      <p:ext uri="{BB962C8B-B14F-4D97-AF65-F5344CB8AC3E}">
        <p14:creationId xmlns:p14="http://schemas.microsoft.com/office/powerpoint/2010/main" val="149457681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3.4</a:t>
            </a:r>
            <a:r>
              <a:rPr lang="en-US" altLang="zh-CN" sz="4800">
                <a:solidFill>
                  <a:schemeClr val="accent2"/>
                </a:solidFill>
                <a:latin typeface="隶书" pitchFamily="49" charset="-122"/>
                <a:ea typeface="隶书" pitchFamily="49" charset="-122"/>
              </a:rPr>
              <a:t>.6</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 </a:t>
            </a:r>
            <a:r>
              <a:rPr lang="zh-CN" altLang="en-US" sz="4800">
                <a:solidFill>
                  <a:schemeClr val="accent2"/>
                </a:solidFill>
                <a:latin typeface="隶书" pitchFamily="49" charset="-122"/>
                <a:ea typeface="隶书" pitchFamily="49" charset="-122"/>
              </a:rPr>
              <a:t>猜数字游戏</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3"/>
          <p:cNvSpPr>
            <a:spLocks noChangeArrowheads="1"/>
          </p:cNvSpPr>
          <p:nvPr/>
        </p:nvSpPr>
        <p:spPr bwMode="auto">
          <a:xfrm>
            <a:off x="998485" y="1501459"/>
            <a:ext cx="5262563" cy="448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850900" eaLnBrk="1" hangingPunct="1">
              <a:spcBef>
                <a:spcPct val="50000"/>
              </a:spcBef>
              <a:buClr>
                <a:srgbClr val="FFFF66"/>
              </a:buClr>
              <a:buFont typeface="Wingdings" pitchFamily="2" charset="2"/>
              <a:buNone/>
            </a:pPr>
            <a:r>
              <a:rPr kumimoji="1" lang="zh-CN" altLang="en-US" sz="3600" b="1">
                <a:solidFill>
                  <a:srgbClr val="0000FF"/>
                </a:solidFill>
                <a:latin typeface="Times New Roman" pitchFamily="18" charset="0"/>
                <a:ea typeface="黑体" pitchFamily="49" charset="-122"/>
              </a:rPr>
              <a:t>问题描述：</a:t>
            </a:r>
          </a:p>
          <a:p>
            <a:pPr defTabSz="850900" eaLnBrk="1" hangingPunct="1">
              <a:spcBef>
                <a:spcPct val="80000"/>
              </a:spcBef>
              <a:buClr>
                <a:srgbClr val="FFFF66"/>
              </a:buClr>
            </a:pPr>
            <a:r>
              <a:rPr kumimoji="1" lang="zh-CN" altLang="zh-CN" sz="3200" b="1">
                <a:solidFill>
                  <a:schemeClr val="tx1"/>
                </a:solidFill>
                <a:latin typeface="Times New Roman" pitchFamily="18" charset="0"/>
                <a:ea typeface="宋体" charset="-122"/>
              </a:rPr>
              <a:t>电脑随机产生一个数字不重复的四位数</a:t>
            </a:r>
            <a:r>
              <a:rPr kumimoji="1" lang="zh-CN" altLang="en-US" sz="3200" b="1">
                <a:solidFill>
                  <a:schemeClr val="tx1"/>
                </a:solidFill>
                <a:latin typeface="Times New Roman" pitchFamily="18" charset="0"/>
                <a:ea typeface="宋体" charset="-122"/>
              </a:rPr>
              <a:t>，由玩家来猜，每猜一次，电脑将显示形如“</a:t>
            </a:r>
            <a:r>
              <a:rPr kumimoji="1" lang="zh-CN" altLang="zh-CN" sz="3200" b="1">
                <a:solidFill>
                  <a:schemeClr val="tx1"/>
                </a:solidFill>
                <a:latin typeface="Times New Roman" pitchFamily="18" charset="0"/>
                <a:ea typeface="宋体" charset="-122"/>
              </a:rPr>
              <a:t>*A*B</a:t>
            </a:r>
            <a:r>
              <a:rPr kumimoji="1" lang="zh-CN" altLang="en-US" sz="3200" b="1">
                <a:solidFill>
                  <a:schemeClr val="tx1"/>
                </a:solidFill>
                <a:latin typeface="Times New Roman" pitchFamily="18" charset="0"/>
                <a:ea typeface="宋体" charset="-122"/>
              </a:rPr>
              <a:t>”的结果，</a:t>
            </a:r>
            <a:r>
              <a:rPr kumimoji="1" lang="zh-CN" altLang="zh-CN" sz="3200" b="1">
                <a:solidFill>
                  <a:schemeClr val="tx1"/>
                </a:solidFill>
                <a:latin typeface="Times New Roman" pitchFamily="18" charset="0"/>
                <a:ea typeface="宋体" charset="-122"/>
              </a:rPr>
              <a:t>A代表位置正确数字也正确，B代表数字正确但位置不正确</a:t>
            </a:r>
            <a:r>
              <a:rPr kumimoji="1" lang="zh-CN" altLang="en-US" sz="3200" b="1">
                <a:solidFill>
                  <a:schemeClr val="tx1"/>
                </a:solidFill>
                <a:latin typeface="Times New Roman" pitchFamily="18" charset="0"/>
                <a:ea typeface="宋体" charset="-122"/>
              </a:rPr>
              <a:t>，例如：</a:t>
            </a:r>
            <a:r>
              <a:rPr kumimoji="1" lang="en-US" altLang="zh-CN" sz="3200" b="1">
                <a:solidFill>
                  <a:schemeClr val="tx1"/>
                </a:solidFill>
                <a:latin typeface="Times New Roman" pitchFamily="18" charset="0"/>
                <a:ea typeface="宋体" charset="-122"/>
              </a:rPr>
              <a:t>2A2B</a:t>
            </a:r>
            <a:r>
              <a:rPr kumimoji="1" lang="zh-CN" altLang="en-US" sz="3200" b="1">
                <a:solidFill>
                  <a:schemeClr val="tx1"/>
                </a:solidFill>
                <a:latin typeface="Times New Roman" pitchFamily="18" charset="0"/>
                <a:ea typeface="宋体" charset="-122"/>
              </a:rPr>
              <a:t>。总共</a:t>
            </a:r>
            <a:r>
              <a:rPr kumimoji="1" lang="zh-CN" altLang="zh-CN" sz="3200" b="1">
                <a:solidFill>
                  <a:schemeClr val="tx1"/>
                </a:solidFill>
                <a:latin typeface="Times New Roman" pitchFamily="18" charset="0"/>
                <a:ea typeface="宋体" charset="-122"/>
              </a:rPr>
              <a:t>有10次机会</a:t>
            </a:r>
            <a:endParaRPr kumimoji="1" lang="zh-CN" altLang="en-US" sz="3200" b="1">
              <a:solidFill>
                <a:schemeClr val="tx1"/>
              </a:solidFill>
              <a:latin typeface="Times New Roman" pitchFamily="18" charset="0"/>
              <a:ea typeface="宋体" charset="-122"/>
            </a:endParaRPr>
          </a:p>
        </p:txBody>
      </p:sp>
      <p:pic>
        <p:nvPicPr>
          <p:cNvPr id="12" name="图片 3" descr="无标题.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86352" y="1501459"/>
            <a:ext cx="3603567" cy="48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143290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问题分析</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2"/>
          <p:cNvSpPr>
            <a:spLocks noChangeArrowheads="1"/>
          </p:cNvSpPr>
          <p:nvPr/>
        </p:nvSpPr>
        <p:spPr bwMode="auto">
          <a:xfrm>
            <a:off x="829196" y="1903959"/>
            <a:ext cx="10068791"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Times New Roman" pitchFamily="18" charset="0"/>
                <a:ea typeface="宋体" charset="-122"/>
              </a:rPr>
              <a:t>如何随机产生一个数字不重复的四位数？</a:t>
            </a:r>
          </a:p>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Times New Roman" pitchFamily="18" charset="0"/>
                <a:ea typeface="宋体" charset="-122"/>
              </a:rPr>
              <a:t>对于玩家猜测的一个四位数，如何计算相应的</a:t>
            </a:r>
            <a:r>
              <a:rPr kumimoji="1" lang="en-US" altLang="zh-CN" sz="3600" b="1">
                <a:solidFill>
                  <a:schemeClr val="tx1"/>
                </a:solidFill>
                <a:latin typeface="Times New Roman" pitchFamily="18" charset="0"/>
                <a:ea typeface="宋体" charset="-122"/>
              </a:rPr>
              <a:t>A</a:t>
            </a:r>
            <a:r>
              <a:rPr kumimoji="1" lang="zh-CN" altLang="en-US" sz="3600" b="1">
                <a:solidFill>
                  <a:schemeClr val="tx1"/>
                </a:solidFill>
                <a:latin typeface="Times New Roman" pitchFamily="18" charset="0"/>
                <a:ea typeface="宋体" charset="-122"/>
              </a:rPr>
              <a:t>和</a:t>
            </a:r>
            <a:r>
              <a:rPr kumimoji="1" lang="en-US" altLang="zh-CN" sz="3600" b="1">
                <a:solidFill>
                  <a:schemeClr val="tx1"/>
                </a:solidFill>
                <a:latin typeface="Times New Roman" pitchFamily="18" charset="0"/>
                <a:ea typeface="宋体" charset="-122"/>
              </a:rPr>
              <a:t>B</a:t>
            </a:r>
            <a:r>
              <a:rPr kumimoji="1" lang="zh-CN" altLang="en-US" sz="3600" b="1">
                <a:solidFill>
                  <a:schemeClr val="tx1"/>
                </a:solidFill>
                <a:latin typeface="Times New Roman" pitchFamily="18" charset="0"/>
                <a:ea typeface="宋体" charset="-122"/>
              </a:rPr>
              <a:t>的数量？</a:t>
            </a:r>
          </a:p>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Times New Roman" pitchFamily="18" charset="0"/>
                <a:ea typeface="宋体" charset="-122"/>
              </a:rPr>
              <a:t>如何实现“总共有十次机会”？</a:t>
            </a:r>
          </a:p>
        </p:txBody>
      </p:sp>
    </p:spTree>
    <p:extLst>
      <p:ext uri="{BB962C8B-B14F-4D97-AF65-F5344CB8AC3E}">
        <p14:creationId xmlns:p14="http://schemas.microsoft.com/office/powerpoint/2010/main" val="299987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checkerboard(across)">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checkerboard(across)">
                                      <p:cBhvr>
                                        <p:cTn id="1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sz="4800">
                <a:solidFill>
                  <a:schemeClr val="accent2"/>
                </a:solidFill>
                <a:latin typeface="隶书" pitchFamily="49" charset="-122"/>
                <a:ea typeface="隶书" pitchFamily="49" charset="-122"/>
              </a:rPr>
              <a:t>1</a:t>
            </a:r>
            <a:r>
              <a:rPr lang="zh-CN" altLang="en-US" sz="4800">
                <a:solidFill>
                  <a:schemeClr val="accent2"/>
                </a:solidFill>
                <a:latin typeface="隶书" pitchFamily="49" charset="-122"/>
                <a:ea typeface="隶书" pitchFamily="49" charset="-122"/>
              </a:rPr>
              <a:t>、随机数</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5"/>
          <p:cNvSpPr>
            <a:spLocks noChangeArrowheads="1"/>
          </p:cNvSpPr>
          <p:nvPr/>
        </p:nvSpPr>
        <p:spPr bwMode="auto">
          <a:xfrm>
            <a:off x="546560" y="1721073"/>
            <a:ext cx="10434551"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Times New Roman" pitchFamily="18" charset="0"/>
                <a:ea typeface="宋体" charset="-122"/>
              </a:rPr>
              <a:t>随机数：随机过程，如</a:t>
            </a:r>
            <a:r>
              <a:rPr kumimoji="1" lang="zh-CN" altLang="en-US" sz="3600" b="1">
                <a:solidFill>
                  <a:srgbClr val="0000FF"/>
                </a:solidFill>
                <a:latin typeface="Times New Roman" pitchFamily="18" charset="0"/>
                <a:ea typeface="宋体" charset="-122"/>
              </a:rPr>
              <a:t>仍硬币</a:t>
            </a:r>
            <a:r>
              <a:rPr kumimoji="1" lang="zh-CN" altLang="en-US" sz="3600" b="1">
                <a:solidFill>
                  <a:schemeClr val="tx1"/>
                </a:solidFill>
                <a:latin typeface="Times New Roman" pitchFamily="18" charset="0"/>
                <a:ea typeface="宋体" charset="-122"/>
              </a:rPr>
              <a:t>、</a:t>
            </a:r>
            <a:r>
              <a:rPr kumimoji="1" lang="zh-CN" altLang="en-US" sz="3600" b="1">
                <a:solidFill>
                  <a:srgbClr val="0000FF"/>
                </a:solidFill>
                <a:latin typeface="Times New Roman" pitchFamily="18" charset="0"/>
                <a:ea typeface="宋体" charset="-122"/>
              </a:rPr>
              <a:t>掷骰子</a:t>
            </a:r>
            <a:r>
              <a:rPr kumimoji="1" lang="zh-CN" altLang="en-US" sz="3600" b="1">
                <a:solidFill>
                  <a:schemeClr val="tx1"/>
                </a:solidFill>
                <a:latin typeface="Times New Roman" pitchFamily="18" charset="0"/>
                <a:ea typeface="宋体" charset="-122"/>
              </a:rPr>
              <a:t>，不确定事件；</a:t>
            </a:r>
          </a:p>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Times New Roman" pitchFamily="18" charset="0"/>
                <a:ea typeface="宋体" charset="-122"/>
              </a:rPr>
              <a:t>计算机：代码的执行是</a:t>
            </a:r>
            <a:r>
              <a:rPr kumimoji="1" lang="zh-CN" altLang="en-US" sz="3600" b="1">
                <a:solidFill>
                  <a:srgbClr val="0000FF"/>
                </a:solidFill>
                <a:latin typeface="Times New Roman" pitchFamily="18" charset="0"/>
                <a:ea typeface="宋体" charset="-122"/>
              </a:rPr>
              <a:t>确定的；</a:t>
            </a:r>
          </a:p>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Times New Roman" pitchFamily="18" charset="0"/>
                <a:ea typeface="宋体" charset="-122"/>
              </a:rPr>
              <a:t>伪随机：用一个确定的过程来生成，从</a:t>
            </a:r>
            <a:r>
              <a:rPr kumimoji="1" lang="zh-CN" altLang="en-US" sz="3600" b="1">
                <a:solidFill>
                  <a:srgbClr val="0000FF"/>
                </a:solidFill>
                <a:latin typeface="Times New Roman" pitchFamily="18" charset="0"/>
                <a:ea typeface="宋体" charset="-122"/>
              </a:rPr>
              <a:t>统计意义</a:t>
            </a:r>
            <a:r>
              <a:rPr kumimoji="1" lang="zh-CN" altLang="en-US" sz="3600" b="1">
                <a:solidFill>
                  <a:schemeClr val="tx1"/>
                </a:solidFill>
                <a:latin typeface="Times New Roman" pitchFamily="18" charset="0"/>
                <a:ea typeface="宋体" charset="-122"/>
              </a:rPr>
              <a:t>上类似随机数，且难以预测。</a:t>
            </a:r>
          </a:p>
        </p:txBody>
      </p:sp>
    </p:spTree>
    <p:extLst>
      <p:ext uri="{BB962C8B-B14F-4D97-AF65-F5344CB8AC3E}">
        <p14:creationId xmlns:p14="http://schemas.microsoft.com/office/powerpoint/2010/main" val="426290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checkerboard(across)">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checkerboard(across)">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checkerboard(across)">
                                      <p:cBhvr>
                                        <p:cTn id="17"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随机生成不重复四位数</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5"/>
          <p:cNvSpPr>
            <a:spLocks noChangeArrowheads="1"/>
          </p:cNvSpPr>
          <p:nvPr/>
        </p:nvSpPr>
        <p:spPr bwMode="auto">
          <a:xfrm>
            <a:off x="546560" y="1721073"/>
            <a:ext cx="10434551"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chemeClr val="tx1"/>
              </a:buClr>
              <a:buFont typeface="Wingdings" pitchFamily="2" charset="2"/>
              <a:buAutoNum type="arabicPeriod"/>
            </a:pPr>
            <a:r>
              <a:rPr kumimoji="1" lang="zh-CN" altLang="en-US" sz="3600" b="1">
                <a:latin typeface="Times New Roman" pitchFamily="18" charset="0"/>
                <a:ea typeface="宋体" charset="-122"/>
              </a:rPr>
              <a:t>用</a:t>
            </a:r>
            <a:r>
              <a:rPr kumimoji="1" lang="en-US" altLang="zh-CN" sz="3600" b="1">
                <a:latin typeface="Times New Roman" pitchFamily="18" charset="0"/>
                <a:ea typeface="宋体" charset="-122"/>
              </a:rPr>
              <a:t>randint(1000, 9999)</a:t>
            </a:r>
            <a:r>
              <a:rPr kumimoji="1" lang="zh-CN" altLang="en-US" sz="3600" b="1">
                <a:latin typeface="Times New Roman" pitchFamily="18" charset="0"/>
                <a:ea typeface="宋体" charset="-122"/>
              </a:rPr>
              <a:t>生成一个四位的随机数</a:t>
            </a:r>
            <a:endParaRPr kumimoji="1" lang="zh-CN" altLang="en-US" sz="3600" b="1">
              <a:solidFill>
                <a:schemeClr val="tx1"/>
              </a:solidFill>
              <a:latin typeface="Times New Roman" pitchFamily="18" charset="0"/>
              <a:ea typeface="宋体" charset="-122"/>
            </a:endParaRPr>
          </a:p>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Times New Roman" pitchFamily="18" charset="0"/>
                <a:ea typeface="宋体" charset="-122"/>
              </a:rPr>
              <a:t>判断该四位数是否有重复的数字</a:t>
            </a:r>
            <a:endParaRPr kumimoji="1" lang="zh-CN" altLang="en-US" sz="3600" b="1">
              <a:solidFill>
                <a:srgbClr val="0000FF"/>
              </a:solidFill>
              <a:latin typeface="Times New Roman" pitchFamily="18" charset="0"/>
              <a:ea typeface="宋体" charset="-122"/>
            </a:endParaRPr>
          </a:p>
          <a:p>
            <a:pPr marL="936625" lvl="1" indent="-457200" defTabSz="850900" eaLnBrk="1" hangingPunct="1">
              <a:spcBef>
                <a:spcPct val="50000"/>
              </a:spcBef>
              <a:buClr>
                <a:schemeClr val="tx1"/>
              </a:buClr>
              <a:buFont typeface="Wingdings" pitchFamily="2" charset="2"/>
              <a:buAutoNum type="arabicPeriod"/>
            </a:pPr>
            <a:r>
              <a:rPr kumimoji="1" lang="zh-CN" altLang="en-US" sz="3600" b="1">
                <a:solidFill>
                  <a:schemeClr val="tx1"/>
                </a:solidFill>
                <a:latin typeface="Times New Roman" pitchFamily="18" charset="0"/>
                <a:ea typeface="宋体" charset="-122"/>
              </a:rPr>
              <a:t>如果有，转第</a:t>
            </a:r>
            <a:r>
              <a:rPr kumimoji="1" lang="en-US" altLang="zh-CN" sz="3600" b="1">
                <a:solidFill>
                  <a:schemeClr val="tx1"/>
                </a:solidFill>
                <a:latin typeface="Times New Roman" pitchFamily="18" charset="0"/>
                <a:ea typeface="宋体" charset="-122"/>
              </a:rPr>
              <a:t>1</a:t>
            </a:r>
            <a:r>
              <a:rPr kumimoji="1" lang="zh-CN" altLang="en-US" sz="3600" b="1">
                <a:solidFill>
                  <a:schemeClr val="tx1"/>
                </a:solidFill>
                <a:latin typeface="Times New Roman" pitchFamily="18" charset="0"/>
                <a:ea typeface="宋体" charset="-122"/>
              </a:rPr>
              <a:t>步，重新生成一个新的随机数</a:t>
            </a:r>
            <a:endParaRPr kumimoji="1" lang="en-US" altLang="zh-CN" sz="3600" b="1">
              <a:solidFill>
                <a:schemeClr val="tx1"/>
              </a:solidFill>
              <a:latin typeface="Times New Roman" pitchFamily="18" charset="0"/>
              <a:ea typeface="宋体" charset="-122"/>
            </a:endParaRPr>
          </a:p>
          <a:p>
            <a:pPr marL="936625" lvl="1" indent="-457200" defTabSz="850900" eaLnBrk="1" hangingPunct="1">
              <a:spcBef>
                <a:spcPct val="50000"/>
              </a:spcBef>
              <a:buClr>
                <a:schemeClr val="tx1"/>
              </a:buClr>
              <a:buFont typeface="Wingdings" pitchFamily="2" charset="2"/>
              <a:buAutoNum type="arabicPeriod"/>
            </a:pPr>
            <a:r>
              <a:rPr kumimoji="1" lang="zh-CN" altLang="en-US" sz="3600" b="1">
                <a:latin typeface="Times New Roman" pitchFamily="18" charset="0"/>
                <a:ea typeface="宋体" charset="-122"/>
              </a:rPr>
              <a:t>如果没有，算法结束</a:t>
            </a:r>
            <a:endParaRPr kumimoji="1" lang="zh-CN" altLang="en-US" sz="3600" b="1">
              <a:solidFill>
                <a:schemeClr val="tx1"/>
              </a:solidFill>
              <a:latin typeface="Times New Roman" pitchFamily="18" charset="0"/>
              <a:ea typeface="宋体" charset="-122"/>
            </a:endParaRPr>
          </a:p>
        </p:txBody>
      </p:sp>
    </p:spTree>
    <p:extLst>
      <p:ext uri="{BB962C8B-B14F-4D97-AF65-F5344CB8AC3E}">
        <p14:creationId xmlns:p14="http://schemas.microsoft.com/office/powerpoint/2010/main" val="1572772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checkerboard(across)">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checkerboard(across)">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checkerboard(across)">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checkerboard(across)">
                                      <p:cBhvr>
                                        <p:cTn id="22"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sz="4800">
                <a:solidFill>
                  <a:schemeClr val="accent2"/>
                </a:solidFill>
                <a:latin typeface="隶书" pitchFamily="49" charset="-122"/>
                <a:ea typeface="隶书" pitchFamily="49" charset="-122"/>
              </a:rPr>
              <a:t>2</a:t>
            </a:r>
            <a:r>
              <a:rPr lang="zh-CN" altLang="en-US" sz="4800">
                <a:solidFill>
                  <a:schemeClr val="accent2"/>
                </a:solidFill>
                <a:latin typeface="隶书" pitchFamily="49" charset="-122"/>
                <a:ea typeface="隶书" pitchFamily="49" charset="-122"/>
              </a:rPr>
              <a:t>、计算</a:t>
            </a:r>
            <a:r>
              <a:rPr lang="en-US" altLang="zh-CN" sz="4800">
                <a:solidFill>
                  <a:schemeClr val="accent2"/>
                </a:solidFill>
                <a:latin typeface="隶书" pitchFamily="49" charset="-122"/>
                <a:ea typeface="隶书" pitchFamily="49" charset="-122"/>
              </a:rPr>
              <a:t>A</a:t>
            </a:r>
            <a:r>
              <a:rPr lang="zh-CN" altLang="en-US" sz="4800">
                <a:solidFill>
                  <a:schemeClr val="accent2"/>
                </a:solidFill>
                <a:latin typeface="隶书" pitchFamily="49" charset="-122"/>
                <a:ea typeface="隶书" pitchFamily="49" charset="-122"/>
              </a:rPr>
              <a:t>和</a:t>
            </a:r>
            <a:r>
              <a:rPr lang="en-US" altLang="zh-CN" sz="4800">
                <a:solidFill>
                  <a:schemeClr val="accent2"/>
                </a:solidFill>
                <a:latin typeface="隶书" pitchFamily="49" charset="-122"/>
                <a:ea typeface="隶书" pitchFamily="49" charset="-122"/>
              </a:rPr>
              <a:t>B</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8" name="Rectangle 4"/>
          <p:cNvSpPr>
            <a:spLocks noChangeArrowheads="1"/>
          </p:cNvSpPr>
          <p:nvPr/>
        </p:nvSpPr>
        <p:spPr bwMode="auto">
          <a:xfrm>
            <a:off x="1061268" y="1476888"/>
            <a:ext cx="922989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kumimoji="1" lang="zh-CN" altLang="en-US" sz="3200" b="1">
                <a:solidFill>
                  <a:schemeClr val="tx1"/>
                </a:solidFill>
                <a:latin typeface="黑体" pitchFamily="49" charset="-122"/>
                <a:ea typeface="黑体" pitchFamily="49" charset="-122"/>
              </a:rPr>
              <a:t>已知目标数和猜测数，如何计算相应的</a:t>
            </a:r>
            <a:r>
              <a:rPr kumimoji="1" lang="en-US" altLang="zh-CN" sz="3200" b="1">
                <a:solidFill>
                  <a:schemeClr val="tx1"/>
                </a:solidFill>
                <a:latin typeface="黑体" pitchFamily="49" charset="-122"/>
                <a:ea typeface="黑体" pitchFamily="49" charset="-122"/>
              </a:rPr>
              <a:t>A</a:t>
            </a:r>
            <a:r>
              <a:rPr kumimoji="1" lang="zh-CN" altLang="en-US" sz="3200" b="1">
                <a:solidFill>
                  <a:schemeClr val="tx1"/>
                </a:solidFill>
                <a:latin typeface="黑体" pitchFamily="49" charset="-122"/>
                <a:ea typeface="黑体" pitchFamily="49" charset="-122"/>
              </a:rPr>
              <a:t>和</a:t>
            </a:r>
            <a:r>
              <a:rPr kumimoji="1" lang="en-US" altLang="zh-CN" sz="3200" b="1">
                <a:solidFill>
                  <a:schemeClr val="tx1"/>
                </a:solidFill>
                <a:latin typeface="黑体" pitchFamily="49" charset="-122"/>
                <a:ea typeface="黑体" pitchFamily="49" charset="-122"/>
              </a:rPr>
              <a:t>B</a:t>
            </a:r>
            <a:r>
              <a:rPr kumimoji="1" lang="zh-CN" altLang="en-US" sz="3200" b="1">
                <a:solidFill>
                  <a:schemeClr val="tx1"/>
                </a:solidFill>
                <a:latin typeface="黑体" pitchFamily="49" charset="-122"/>
                <a:ea typeface="黑体" pitchFamily="49" charset="-122"/>
              </a:rPr>
              <a:t>的数量？</a:t>
            </a:r>
          </a:p>
        </p:txBody>
      </p:sp>
      <p:sp>
        <p:nvSpPr>
          <p:cNvPr id="11" name="Rectangle 5"/>
          <p:cNvSpPr>
            <a:spLocks noChangeArrowheads="1"/>
          </p:cNvSpPr>
          <p:nvPr/>
        </p:nvSpPr>
        <p:spPr bwMode="auto">
          <a:xfrm>
            <a:off x="1100052" y="2408684"/>
            <a:ext cx="9365673"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542925" indent="-542925" eaLnBrk="1" hangingPunct="1">
              <a:spcBef>
                <a:spcPct val="50000"/>
              </a:spcBef>
              <a:buFont typeface="Wingdings" pitchFamily="2" charset="2"/>
              <a:buChar char="Ø"/>
            </a:pPr>
            <a:r>
              <a:rPr kumimoji="1" lang="zh-CN" altLang="en-US" sz="3200" b="1">
                <a:solidFill>
                  <a:schemeClr val="tx1"/>
                </a:solidFill>
                <a:latin typeface="宋体" charset="-122"/>
                <a:ea typeface="宋体" charset="-122"/>
              </a:rPr>
              <a:t>假设目标数为</a:t>
            </a:r>
            <a:r>
              <a:rPr kumimoji="1" lang="en-US" altLang="zh-CN" sz="3200" b="1">
                <a:solidFill>
                  <a:srgbClr val="0000FF"/>
                </a:solidFill>
                <a:latin typeface="宋体" charset="-122"/>
                <a:ea typeface="宋体" charset="-122"/>
              </a:rPr>
              <a:t>T1 T2 T3 T4</a:t>
            </a:r>
            <a:r>
              <a:rPr kumimoji="1" lang="zh-CN" altLang="en-US" sz="3200" b="1">
                <a:solidFill>
                  <a:schemeClr val="tx1"/>
                </a:solidFill>
                <a:latin typeface="宋体" charset="-122"/>
                <a:ea typeface="宋体" charset="-122"/>
              </a:rPr>
              <a:t>，</a:t>
            </a:r>
            <a:br>
              <a:rPr kumimoji="1" lang="zh-CN" altLang="en-US" sz="3200" b="1">
                <a:solidFill>
                  <a:schemeClr val="tx1"/>
                </a:solidFill>
                <a:latin typeface="宋体" charset="-122"/>
                <a:ea typeface="宋体" charset="-122"/>
              </a:rPr>
            </a:br>
            <a:r>
              <a:rPr kumimoji="1" lang="zh-CN" altLang="en-US" sz="3200" b="1">
                <a:solidFill>
                  <a:schemeClr val="tx1"/>
                </a:solidFill>
                <a:latin typeface="宋体" charset="-122"/>
                <a:ea typeface="宋体" charset="-122"/>
              </a:rPr>
              <a:t>    猜测数为</a:t>
            </a:r>
            <a:r>
              <a:rPr kumimoji="1" lang="en-US" altLang="zh-CN" sz="3200" b="1">
                <a:solidFill>
                  <a:srgbClr val="0000FF"/>
                </a:solidFill>
                <a:latin typeface="宋体" charset="-122"/>
                <a:ea typeface="宋体" charset="-122"/>
              </a:rPr>
              <a:t>G1 G2 G3 G4</a:t>
            </a:r>
            <a:r>
              <a:rPr kumimoji="1" lang="zh-CN" altLang="en-US" sz="3200" b="1">
                <a:solidFill>
                  <a:schemeClr val="tx1"/>
                </a:solidFill>
                <a:latin typeface="宋体" charset="-122"/>
                <a:ea typeface="宋体" charset="-122"/>
              </a:rPr>
              <a:t>；</a:t>
            </a:r>
          </a:p>
          <a:p>
            <a:pPr marL="542925" indent="-542925" eaLnBrk="1" hangingPunct="1">
              <a:spcBef>
                <a:spcPct val="50000"/>
              </a:spcBef>
              <a:buFont typeface="Wingdings" pitchFamily="2" charset="2"/>
              <a:buChar char="Ø"/>
            </a:pPr>
            <a:r>
              <a:rPr kumimoji="1" lang="zh-CN" altLang="en-US" sz="3200" b="1">
                <a:solidFill>
                  <a:schemeClr val="tx1"/>
                </a:solidFill>
                <a:latin typeface="宋体" charset="-122"/>
                <a:ea typeface="宋体" charset="-122"/>
              </a:rPr>
              <a:t>一种方法：</a:t>
            </a:r>
            <a:r>
              <a:rPr kumimoji="1" lang="en-US" altLang="zh-CN" sz="3200" b="1">
                <a:solidFill>
                  <a:schemeClr val="tx1"/>
                </a:solidFill>
                <a:latin typeface="宋体" charset="-122"/>
                <a:ea typeface="宋体" charset="-122"/>
              </a:rPr>
              <a:t>T</a:t>
            </a:r>
            <a:r>
              <a:rPr kumimoji="1" lang="en-US" altLang="zh-CN" sz="3200" b="1" baseline="-10000">
                <a:solidFill>
                  <a:schemeClr val="tx1"/>
                </a:solidFill>
                <a:latin typeface="宋体" charset="-122"/>
                <a:ea typeface="宋体" charset="-122"/>
              </a:rPr>
              <a:t>i</a:t>
            </a:r>
            <a:r>
              <a:rPr kumimoji="1" lang="zh-CN" altLang="en-US" sz="3200" b="1">
                <a:solidFill>
                  <a:schemeClr val="tx1"/>
                </a:solidFill>
                <a:latin typeface="宋体" charset="-122"/>
                <a:ea typeface="宋体" charset="-122"/>
              </a:rPr>
              <a:t>和</a:t>
            </a:r>
            <a:r>
              <a:rPr kumimoji="1" lang="en-US" altLang="zh-CN" sz="3200" b="1">
                <a:solidFill>
                  <a:schemeClr val="tx1"/>
                </a:solidFill>
                <a:latin typeface="宋体" charset="-122"/>
                <a:ea typeface="宋体" charset="-122"/>
              </a:rPr>
              <a:t>G</a:t>
            </a:r>
            <a:r>
              <a:rPr kumimoji="1" lang="en-US" altLang="zh-CN" sz="3200" b="1" baseline="-10000">
                <a:solidFill>
                  <a:schemeClr val="tx1"/>
                </a:solidFill>
                <a:latin typeface="宋体" charset="-122"/>
                <a:ea typeface="宋体" charset="-122"/>
              </a:rPr>
              <a:t>i</a:t>
            </a:r>
            <a:r>
              <a:rPr kumimoji="1" lang="zh-CN" altLang="en-US" sz="3200" b="1">
                <a:solidFill>
                  <a:schemeClr val="tx1"/>
                </a:solidFill>
                <a:latin typeface="宋体" charset="-122"/>
                <a:ea typeface="宋体" charset="-122"/>
              </a:rPr>
              <a:t>相比，相同则</a:t>
            </a:r>
            <a:r>
              <a:rPr kumimoji="1" lang="en-US" altLang="zh-CN" sz="3200" b="1">
                <a:solidFill>
                  <a:schemeClr val="tx1"/>
                </a:solidFill>
                <a:latin typeface="宋体" charset="-122"/>
                <a:ea typeface="宋体" charset="-122"/>
              </a:rPr>
              <a:t>A</a:t>
            </a:r>
            <a:r>
              <a:rPr kumimoji="1" lang="zh-CN" altLang="en-US" sz="3200" b="1">
                <a:solidFill>
                  <a:schemeClr val="tx1"/>
                </a:solidFill>
                <a:latin typeface="宋体" charset="-122"/>
                <a:ea typeface="宋体" charset="-122"/>
              </a:rPr>
              <a:t>加</a:t>
            </a:r>
            <a:r>
              <a:rPr kumimoji="1" lang="en-US" altLang="zh-CN" sz="3200" b="1">
                <a:solidFill>
                  <a:schemeClr val="tx1"/>
                </a:solidFill>
                <a:latin typeface="宋体" charset="-122"/>
                <a:ea typeface="宋体" charset="-122"/>
              </a:rPr>
              <a:t>1</a:t>
            </a:r>
            <a:r>
              <a:rPr kumimoji="1" lang="zh-CN" altLang="en-US" sz="3200" b="1">
                <a:solidFill>
                  <a:schemeClr val="tx1"/>
                </a:solidFill>
                <a:latin typeface="宋体" charset="-122"/>
                <a:ea typeface="宋体" charset="-122"/>
              </a:rPr>
              <a:t>；不相同则把</a:t>
            </a:r>
            <a:r>
              <a:rPr kumimoji="1" lang="en-US" altLang="zh-CN" sz="3200" b="1">
                <a:solidFill>
                  <a:schemeClr val="tx1"/>
                </a:solidFill>
                <a:latin typeface="宋体" charset="-122"/>
                <a:ea typeface="宋体" charset="-122"/>
              </a:rPr>
              <a:t>T</a:t>
            </a:r>
            <a:r>
              <a:rPr kumimoji="1" lang="en-US" altLang="zh-CN" sz="3200" b="1" baseline="-10000">
                <a:solidFill>
                  <a:schemeClr val="tx1"/>
                </a:solidFill>
                <a:latin typeface="宋体" charset="-122"/>
                <a:ea typeface="宋体" charset="-122"/>
              </a:rPr>
              <a:t>i</a:t>
            </a:r>
            <a:r>
              <a:rPr kumimoji="1" lang="zh-CN" altLang="en-US" sz="3200" b="1">
                <a:solidFill>
                  <a:schemeClr val="tx1"/>
                </a:solidFill>
                <a:latin typeface="宋体" charset="-122"/>
                <a:ea typeface="宋体" charset="-122"/>
              </a:rPr>
              <a:t>和剩余三个猜测位相比，若有相同者，则</a:t>
            </a:r>
            <a:r>
              <a:rPr kumimoji="1" lang="en-US" altLang="zh-CN" sz="3200" b="1">
                <a:solidFill>
                  <a:schemeClr val="tx1"/>
                </a:solidFill>
                <a:latin typeface="宋体" charset="-122"/>
                <a:ea typeface="宋体" charset="-122"/>
              </a:rPr>
              <a:t>B</a:t>
            </a:r>
            <a:r>
              <a:rPr kumimoji="1" lang="zh-CN" altLang="en-US" sz="3200" b="1">
                <a:solidFill>
                  <a:schemeClr val="tx1"/>
                </a:solidFill>
                <a:latin typeface="宋体" charset="-122"/>
                <a:ea typeface="宋体" charset="-122"/>
              </a:rPr>
              <a:t>加</a:t>
            </a:r>
            <a:r>
              <a:rPr kumimoji="1" lang="en-US" altLang="zh-CN" sz="3200" b="1">
                <a:solidFill>
                  <a:schemeClr val="tx1"/>
                </a:solidFill>
                <a:latin typeface="宋体" charset="-122"/>
                <a:ea typeface="宋体" charset="-122"/>
              </a:rPr>
              <a:t>1</a:t>
            </a:r>
            <a:r>
              <a:rPr kumimoji="1" lang="zh-CN" altLang="en-US" sz="3200" b="1">
                <a:solidFill>
                  <a:schemeClr val="tx1"/>
                </a:solidFill>
                <a:latin typeface="宋体" charset="-122"/>
                <a:ea typeface="宋体" charset="-122"/>
              </a:rPr>
              <a:t>。</a:t>
            </a:r>
          </a:p>
        </p:txBody>
      </p:sp>
    </p:spTree>
    <p:extLst>
      <p:ext uri="{BB962C8B-B14F-4D97-AF65-F5344CB8AC3E}">
        <p14:creationId xmlns:p14="http://schemas.microsoft.com/office/powerpoint/2010/main" val="4179576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dissolve">
                                      <p:cBhvr>
                                        <p:cTn id="7" dur="500"/>
                                        <p:tgtEl>
                                          <p:spTgt spid="8">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animEffect transition="in" filter="dissolve">
                                      <p:cBhvr>
                                        <p:cTn id="11" dur="500"/>
                                        <p:tgtEl>
                                          <p:spTgt spid="11">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1">
                                            <p:txEl>
                                              <p:pRg st="1" end="1"/>
                                            </p:txEl>
                                          </p:spTgt>
                                        </p:tgtEl>
                                        <p:attrNameLst>
                                          <p:attrName>style.visibility</p:attrName>
                                        </p:attrNameLst>
                                      </p:cBhvr>
                                      <p:to>
                                        <p:strVal val="visible"/>
                                      </p:to>
                                    </p:set>
                                    <p:animEffect transition="in" filter="dissolve">
                                      <p:cBhvr>
                                        <p:cTn id="16"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1"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算法思路</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2"/>
          <p:cNvSpPr>
            <a:spLocks noChangeArrowheads="1"/>
          </p:cNvSpPr>
          <p:nvPr/>
        </p:nvSpPr>
        <p:spPr bwMode="auto">
          <a:xfrm>
            <a:off x="596433" y="1443644"/>
            <a:ext cx="10168544"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随机产生一个数字不重复的四位数，将它</a:t>
            </a:r>
            <a:r>
              <a:rPr kumimoji="1" lang="zh-CN" altLang="en-US" sz="3200" b="1">
                <a:solidFill>
                  <a:srgbClr val="FF0000"/>
                </a:solidFill>
                <a:latin typeface="Times New Roman" pitchFamily="18" charset="0"/>
                <a:ea typeface="宋体" charset="-122"/>
              </a:rPr>
              <a:t>拆分</a:t>
            </a:r>
            <a:r>
              <a:rPr kumimoji="1" lang="zh-CN" altLang="en-US" sz="3200" b="1">
                <a:solidFill>
                  <a:schemeClr val="tx1"/>
                </a:solidFill>
                <a:latin typeface="Times New Roman" pitchFamily="18" charset="0"/>
                <a:ea typeface="宋体" charset="-122"/>
              </a:rPr>
              <a:t>为四位数字</a:t>
            </a:r>
            <a:r>
              <a:rPr kumimoji="1" lang="en-US" altLang="zh-CN" sz="3200" b="1">
                <a:solidFill>
                  <a:schemeClr val="tx1"/>
                </a:solidFill>
                <a:latin typeface="Times New Roman" pitchFamily="18" charset="0"/>
                <a:ea typeface="宋体" charset="-122"/>
              </a:rPr>
              <a:t>T1 T2 T3 T4</a:t>
            </a:r>
            <a:r>
              <a:rPr kumimoji="1" lang="zh-CN" altLang="en-US" sz="3200" b="1">
                <a:solidFill>
                  <a:schemeClr val="tx1"/>
                </a:solidFill>
                <a:latin typeface="Times New Roman" pitchFamily="18" charset="0"/>
                <a:ea typeface="宋体" charset="-122"/>
              </a:rPr>
              <a:t>；</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让用户输入一个数字不重复的四位数，将它拆分为四位数字</a:t>
            </a:r>
            <a:r>
              <a:rPr kumimoji="1" lang="en-US" altLang="zh-CN" sz="3200" b="1">
                <a:solidFill>
                  <a:schemeClr val="tx1"/>
                </a:solidFill>
                <a:latin typeface="Times New Roman" pitchFamily="18" charset="0"/>
                <a:ea typeface="宋体" charset="-122"/>
              </a:rPr>
              <a:t>G1 G2 G3 G4</a:t>
            </a:r>
            <a:r>
              <a:rPr kumimoji="1" lang="zh-CN" altLang="en-US" sz="3200" b="1">
                <a:solidFill>
                  <a:schemeClr val="tx1"/>
                </a:solidFill>
                <a:latin typeface="Times New Roman" pitchFamily="18" charset="0"/>
                <a:ea typeface="宋体" charset="-122"/>
              </a:rPr>
              <a:t>；</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计算相应的</a:t>
            </a:r>
            <a:r>
              <a:rPr kumimoji="1" lang="en-US" altLang="zh-CN" sz="3200" b="1">
                <a:solidFill>
                  <a:schemeClr val="tx1"/>
                </a:solidFill>
                <a:latin typeface="Times New Roman" pitchFamily="18" charset="0"/>
                <a:ea typeface="宋体" charset="-122"/>
              </a:rPr>
              <a:t>A</a:t>
            </a:r>
            <a:r>
              <a:rPr kumimoji="1" lang="zh-CN" altLang="en-US" sz="3200" b="1">
                <a:solidFill>
                  <a:schemeClr val="tx1"/>
                </a:solidFill>
                <a:latin typeface="Times New Roman" pitchFamily="18" charset="0"/>
                <a:ea typeface="宋体" charset="-122"/>
              </a:rPr>
              <a:t>和</a:t>
            </a:r>
            <a:r>
              <a:rPr kumimoji="1" lang="en-US" altLang="zh-CN" sz="3200" b="1">
                <a:solidFill>
                  <a:schemeClr val="tx1"/>
                </a:solidFill>
                <a:latin typeface="Times New Roman" pitchFamily="18" charset="0"/>
                <a:ea typeface="宋体" charset="-122"/>
              </a:rPr>
              <a:t>B</a:t>
            </a:r>
            <a:r>
              <a:rPr kumimoji="1" lang="zh-CN" altLang="en-US" sz="3200" b="1">
                <a:solidFill>
                  <a:schemeClr val="tx1"/>
                </a:solidFill>
                <a:latin typeface="Times New Roman" pitchFamily="18" charset="0"/>
                <a:ea typeface="宋体" charset="-122"/>
              </a:rPr>
              <a:t>的数量；</a:t>
            </a:r>
          </a:p>
          <a:p>
            <a:pPr marL="936625" lvl="1" indent="-457200" defTabSz="850900" eaLnBrk="1" hangingPunct="1">
              <a:spcBef>
                <a:spcPct val="50000"/>
              </a:spcBef>
              <a:buClr>
                <a:schemeClr val="tx1"/>
              </a:buClr>
              <a:buFont typeface="Wingdings" pitchFamily="2" charset="2"/>
              <a:buAutoNum type="arabicPeriod"/>
            </a:pPr>
            <a:r>
              <a:rPr kumimoji="1" lang="zh-CN" altLang="en-US" sz="3200" b="1">
                <a:solidFill>
                  <a:schemeClr val="tx1"/>
                </a:solidFill>
                <a:latin typeface="Times New Roman" pitchFamily="18" charset="0"/>
                <a:ea typeface="宋体" charset="-122"/>
              </a:rPr>
              <a:t>如果结果为</a:t>
            </a:r>
            <a:r>
              <a:rPr kumimoji="1" lang="en-US" altLang="zh-CN" sz="3200" b="1">
                <a:solidFill>
                  <a:schemeClr val="tx1"/>
                </a:solidFill>
                <a:latin typeface="Times New Roman" pitchFamily="18" charset="0"/>
                <a:ea typeface="宋体" charset="-122"/>
              </a:rPr>
              <a:t>4A0B</a:t>
            </a:r>
            <a:r>
              <a:rPr kumimoji="1" lang="zh-CN" altLang="en-US" sz="3200" b="1">
                <a:solidFill>
                  <a:schemeClr val="tx1"/>
                </a:solidFill>
                <a:latin typeface="Times New Roman" pitchFamily="18" charset="0"/>
                <a:ea typeface="宋体" charset="-122"/>
              </a:rPr>
              <a:t>，则成功；否则，将猜测的次数加</a:t>
            </a:r>
            <a:r>
              <a:rPr kumimoji="1" lang="en-US" altLang="zh-CN" sz="3200" b="1">
                <a:solidFill>
                  <a:schemeClr val="tx1"/>
                </a:solidFill>
                <a:latin typeface="Times New Roman" pitchFamily="18" charset="0"/>
                <a:ea typeface="宋体" charset="-122"/>
              </a:rPr>
              <a:t>1</a:t>
            </a:r>
            <a:r>
              <a:rPr kumimoji="1" lang="zh-CN" altLang="en-US" sz="3200" b="1">
                <a:solidFill>
                  <a:schemeClr val="tx1"/>
                </a:solidFill>
                <a:latin typeface="Times New Roman" pitchFamily="18" charset="0"/>
                <a:ea typeface="宋体" charset="-122"/>
              </a:rPr>
              <a:t>，如果不超过</a:t>
            </a:r>
            <a:r>
              <a:rPr kumimoji="1" lang="en-US" altLang="zh-CN" sz="3200" b="1">
                <a:solidFill>
                  <a:schemeClr val="tx1"/>
                </a:solidFill>
                <a:latin typeface="Times New Roman" pitchFamily="18" charset="0"/>
                <a:ea typeface="宋体" charset="-122"/>
              </a:rPr>
              <a:t>10</a:t>
            </a:r>
            <a:r>
              <a:rPr kumimoji="1" lang="zh-CN" altLang="en-US" sz="3200" b="1">
                <a:solidFill>
                  <a:schemeClr val="tx1"/>
                </a:solidFill>
                <a:latin typeface="Times New Roman" pitchFamily="18" charset="0"/>
                <a:ea typeface="宋体" charset="-122"/>
              </a:rPr>
              <a:t>，则转第</a:t>
            </a:r>
            <a:r>
              <a:rPr kumimoji="1" lang="en-US" altLang="zh-CN" sz="3200" b="1">
                <a:solidFill>
                  <a:schemeClr val="tx1"/>
                </a:solidFill>
                <a:latin typeface="Times New Roman" pitchFamily="18" charset="0"/>
                <a:ea typeface="宋体" charset="-122"/>
              </a:rPr>
              <a:t>2</a:t>
            </a:r>
            <a:r>
              <a:rPr kumimoji="1" lang="zh-CN" altLang="en-US" sz="3200" b="1">
                <a:solidFill>
                  <a:schemeClr val="tx1"/>
                </a:solidFill>
                <a:latin typeface="Times New Roman" pitchFamily="18" charset="0"/>
                <a:ea typeface="宋体" charset="-122"/>
              </a:rPr>
              <a:t>步；否则猜测失败。</a:t>
            </a:r>
          </a:p>
        </p:txBody>
      </p:sp>
    </p:spTree>
    <p:extLst>
      <p:ext uri="{BB962C8B-B14F-4D97-AF65-F5344CB8AC3E}">
        <p14:creationId xmlns:p14="http://schemas.microsoft.com/office/powerpoint/2010/main" val="524506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checkerboard(across)">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checkerboard(across)">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checkerboard(across)">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checkerboard(across)">
                                      <p:cBhvr>
                                        <p:cTn id="22"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参考</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代码</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2"/>
          <p:cNvSpPr>
            <a:spLocks noChangeArrowheads="1"/>
          </p:cNvSpPr>
          <p:nvPr/>
        </p:nvSpPr>
        <p:spPr bwMode="auto">
          <a:xfrm>
            <a:off x="1205339" y="973967"/>
            <a:ext cx="9991905" cy="5601533"/>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r>
              <a:rPr kumimoji="1" lang="en-US" altLang="zh-CN" sz="2400" b="1">
                <a:latin typeface="Courier New" pitchFamily="49" charset="0"/>
                <a:ea typeface="宋体" charset="-122"/>
              </a:rPr>
              <a:t>#_*_ coding: gbk _*_</a:t>
            </a:r>
          </a:p>
          <a:p>
            <a:pPr eaLnBrk="1" hangingPunct="1"/>
            <a:r>
              <a:rPr kumimoji="1" lang="en-US" altLang="zh-CN" sz="2400" b="1">
                <a:solidFill>
                  <a:schemeClr val="tx1"/>
                </a:solidFill>
                <a:latin typeface="Courier New" pitchFamily="49" charset="0"/>
                <a:ea typeface="宋体" charset="-122"/>
              </a:rPr>
              <a:t>import random</a:t>
            </a:r>
          </a:p>
          <a:p>
            <a:pPr eaLnBrk="1" hangingPunct="1"/>
            <a:r>
              <a:rPr kumimoji="1" lang="en-US" altLang="zh-CN" sz="2400" b="1">
                <a:solidFill>
                  <a:schemeClr val="tx1"/>
                </a:solidFill>
                <a:latin typeface="Courier New" pitchFamily="49" charset="0"/>
                <a:ea typeface="宋体" charset="-122"/>
              </a:rPr>
              <a:t># </a:t>
            </a:r>
            <a:r>
              <a:rPr kumimoji="1" lang="zh-CN" altLang="en-US" sz="2400" b="1">
                <a:solidFill>
                  <a:schemeClr val="tx1"/>
                </a:solidFill>
                <a:latin typeface="Courier New" pitchFamily="49" charset="0"/>
                <a:ea typeface="宋体" charset="-122"/>
              </a:rPr>
              <a:t>随机产生一个数字不重复的四位数</a:t>
            </a:r>
          </a:p>
          <a:p>
            <a:pPr eaLnBrk="1" hangingPunct="1"/>
            <a:r>
              <a:rPr kumimoji="1" lang="en-US" altLang="zh-CN" sz="2400" b="1">
                <a:solidFill>
                  <a:schemeClr val="tx1"/>
                </a:solidFill>
                <a:latin typeface="Courier New" pitchFamily="49" charset="0"/>
                <a:ea typeface="宋体" charset="-122"/>
              </a:rPr>
              <a:t>while True:</a:t>
            </a:r>
          </a:p>
          <a:p>
            <a:pPr eaLnBrk="1" hangingPunct="1"/>
            <a:r>
              <a:rPr kumimoji="1" lang="en-US" altLang="zh-CN" sz="2400" b="1">
                <a:solidFill>
                  <a:srgbClr val="0000FF"/>
                </a:solidFill>
                <a:latin typeface="Courier New" pitchFamily="49" charset="0"/>
                <a:ea typeface="宋体" charset="-122"/>
              </a:rPr>
              <a:t>    </a:t>
            </a:r>
            <a:r>
              <a:rPr kumimoji="1" lang="en-US" altLang="zh-CN" sz="2400" b="1">
                <a:latin typeface="Courier New" pitchFamily="49" charset="0"/>
                <a:ea typeface="宋体" charset="-122"/>
              </a:rPr>
              <a:t>Target = random.randint(1000, 9999)</a:t>
            </a:r>
          </a:p>
          <a:p>
            <a:pPr eaLnBrk="1" hangingPunct="1">
              <a:spcBef>
                <a:spcPct val="50000"/>
              </a:spcBef>
            </a:pPr>
            <a:r>
              <a:rPr kumimoji="1" lang="en-US" altLang="zh-CN" sz="2400" b="1">
                <a:solidFill>
                  <a:schemeClr val="tx1"/>
                </a:solidFill>
                <a:latin typeface="Courier New" pitchFamily="49" charset="0"/>
                <a:ea typeface="宋体" charset="-122"/>
              </a:rPr>
              <a:t>    # </a:t>
            </a:r>
            <a:r>
              <a:rPr kumimoji="1" lang="zh-CN" altLang="en-US" sz="2400" b="1">
                <a:solidFill>
                  <a:schemeClr val="tx1"/>
                </a:solidFill>
                <a:latin typeface="Courier New" pitchFamily="49" charset="0"/>
                <a:ea typeface="宋体" charset="-122"/>
              </a:rPr>
              <a:t>将它拆分为四位数字</a:t>
            </a:r>
          </a:p>
          <a:p>
            <a:pPr eaLnBrk="1" hangingPunct="1"/>
            <a:r>
              <a:rPr kumimoji="1" lang="zh-CN" altLang="en-US" sz="2400" b="1">
                <a:solidFill>
                  <a:schemeClr val="tx1"/>
                </a:solidFill>
                <a:latin typeface="Courier New" pitchFamily="49" charset="0"/>
                <a:ea typeface="宋体" charset="-122"/>
              </a:rPr>
              <a:t>    </a:t>
            </a:r>
            <a:r>
              <a:rPr kumimoji="1" lang="en-US" altLang="zh-CN" sz="2400" b="1">
                <a:solidFill>
                  <a:schemeClr val="tx1"/>
                </a:solidFill>
                <a:latin typeface="Courier New" pitchFamily="49" charset="0"/>
                <a:ea typeface="宋体" charset="-122"/>
              </a:rPr>
              <a:t>T1 = Target // 1000</a:t>
            </a:r>
          </a:p>
          <a:p>
            <a:pPr eaLnBrk="1" hangingPunct="1"/>
            <a:r>
              <a:rPr kumimoji="1" lang="en-US" altLang="zh-CN" sz="2400" b="1">
                <a:solidFill>
                  <a:schemeClr val="tx1"/>
                </a:solidFill>
                <a:latin typeface="Courier New" pitchFamily="49" charset="0"/>
                <a:ea typeface="宋体" charset="-122"/>
              </a:rPr>
              <a:t>    T2 = (Target // 100) </a:t>
            </a:r>
            <a:r>
              <a:rPr kumimoji="1" lang="en-US" altLang="zh-CN" sz="2400" b="1">
                <a:solidFill>
                  <a:srgbClr val="0000FF"/>
                </a:solidFill>
                <a:latin typeface="Courier New" pitchFamily="49" charset="0"/>
                <a:ea typeface="宋体" charset="-122"/>
              </a:rPr>
              <a:t>%</a:t>
            </a:r>
            <a:r>
              <a:rPr kumimoji="1" lang="en-US" altLang="zh-CN" sz="2400" b="1">
                <a:solidFill>
                  <a:schemeClr val="tx1"/>
                </a:solidFill>
                <a:latin typeface="Courier New" pitchFamily="49" charset="0"/>
                <a:ea typeface="宋体" charset="-122"/>
              </a:rPr>
              <a:t> 10</a:t>
            </a:r>
          </a:p>
          <a:p>
            <a:pPr eaLnBrk="1" hangingPunct="1"/>
            <a:r>
              <a:rPr kumimoji="1" lang="en-US" altLang="zh-CN" sz="2400" b="1">
                <a:solidFill>
                  <a:schemeClr val="tx1"/>
                </a:solidFill>
                <a:latin typeface="Courier New" pitchFamily="49" charset="0"/>
                <a:ea typeface="宋体" charset="-122"/>
              </a:rPr>
              <a:t>    T3 = (Target // 10) % 10</a:t>
            </a:r>
          </a:p>
          <a:p>
            <a:pPr eaLnBrk="1" hangingPunct="1"/>
            <a:r>
              <a:rPr kumimoji="1" lang="en-US" altLang="zh-CN" sz="2400" b="1">
                <a:solidFill>
                  <a:schemeClr val="tx1"/>
                </a:solidFill>
                <a:latin typeface="Courier New" pitchFamily="49" charset="0"/>
                <a:ea typeface="宋体" charset="-122"/>
              </a:rPr>
              <a:t>    T4 = Target % 10</a:t>
            </a:r>
          </a:p>
          <a:p>
            <a:pPr eaLnBrk="1" hangingPunct="1"/>
            <a:r>
              <a:rPr kumimoji="1" lang="en-US" altLang="zh-CN" sz="2400" b="1">
                <a:solidFill>
                  <a:schemeClr val="tx1"/>
                </a:solidFill>
                <a:latin typeface="Courier New" pitchFamily="49" charset="0"/>
                <a:ea typeface="宋体" charset="-122"/>
              </a:rPr>
              <a:t>    if((T1 != T2) and (T1 != T3) and (T1 != T4) and \</a:t>
            </a:r>
          </a:p>
          <a:p>
            <a:pPr eaLnBrk="1" hangingPunct="1"/>
            <a:r>
              <a:rPr kumimoji="1" lang="en-US" altLang="zh-CN" sz="2400" b="1">
                <a:solidFill>
                  <a:schemeClr val="tx1"/>
                </a:solidFill>
                <a:latin typeface="Courier New" pitchFamily="49" charset="0"/>
                <a:ea typeface="宋体" charset="-122"/>
              </a:rPr>
              <a:t>       (T2 != T3) and (T2 != T4) and (T3 != T4)):</a:t>
            </a:r>
          </a:p>
          <a:p>
            <a:pPr eaLnBrk="1" hangingPunct="1"/>
            <a:r>
              <a:rPr kumimoji="1" lang="en-US" altLang="zh-CN" sz="2400" b="1">
                <a:solidFill>
                  <a:schemeClr val="tx1"/>
                </a:solidFill>
                <a:latin typeface="Courier New" pitchFamily="49" charset="0"/>
                <a:ea typeface="宋体" charset="-122"/>
              </a:rPr>
              <a:t>        break</a:t>
            </a:r>
            <a:endParaRPr kumimoji="1" lang="en-US" altLang="zh-CN" sz="2400" b="1">
              <a:latin typeface="Courier New" pitchFamily="49" charset="0"/>
              <a:ea typeface="宋体" charset="-122"/>
            </a:endParaRPr>
          </a:p>
          <a:p>
            <a:pPr>
              <a:spcBef>
                <a:spcPts val="1200"/>
              </a:spcBef>
            </a:pPr>
            <a:r>
              <a:rPr kumimoji="1" lang="en-US" altLang="zh-CN" sz="2400" b="1">
                <a:latin typeface="Courier New" pitchFamily="49" charset="0"/>
                <a:ea typeface="宋体" charset="-122"/>
              </a:rPr>
              <a:t>NumGuess = 0</a:t>
            </a:r>
            <a:endParaRPr kumimoji="1" lang="en-US" altLang="zh-CN" sz="2400" b="1">
              <a:solidFill>
                <a:schemeClr val="tx1"/>
              </a:solidFill>
              <a:latin typeface="Courier New" pitchFamily="49" charset="0"/>
              <a:ea typeface="宋体" charset="-122"/>
            </a:endParaRPr>
          </a:p>
        </p:txBody>
      </p:sp>
    </p:spTree>
    <p:extLst>
      <p:ext uri="{BB962C8B-B14F-4D97-AF65-F5344CB8AC3E}">
        <p14:creationId xmlns:p14="http://schemas.microsoft.com/office/powerpoint/2010/main" val="4049591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dissolve">
                                      <p:cBhvr>
                                        <p:cTn id="7" dur="500"/>
                                        <p:tgtEl>
                                          <p:spTgt spid="9">
                                            <p:txEl>
                                              <p:pRg st="3" end="3"/>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animEffect transition="in" filter="dissolve">
                                      <p:cBhvr>
                                        <p:cTn id="11" dur="500"/>
                                        <p:tgtEl>
                                          <p:spTgt spid="9">
                                            <p:txEl>
                                              <p:pRg st="4" end="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9">
                                            <p:txEl>
                                              <p:pRg st="5" end="5"/>
                                            </p:txEl>
                                          </p:spTgt>
                                        </p:tgtEl>
                                        <p:attrNameLst>
                                          <p:attrName>style.visibility</p:attrName>
                                        </p:attrNameLst>
                                      </p:cBhvr>
                                      <p:to>
                                        <p:strVal val="visible"/>
                                      </p:to>
                                    </p:set>
                                    <p:animEffect transition="in" filter="dissolve">
                                      <p:cBhvr>
                                        <p:cTn id="16" dur="500"/>
                                        <p:tgtEl>
                                          <p:spTgt spid="9">
                                            <p:txEl>
                                              <p:pRg st="5" end="5"/>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animEffect transition="in" filter="dissolve">
                                      <p:cBhvr>
                                        <p:cTn id="19" dur="500"/>
                                        <p:tgtEl>
                                          <p:spTgt spid="9">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9">
                                            <p:txEl>
                                              <p:pRg st="7" end="7"/>
                                            </p:txEl>
                                          </p:spTgt>
                                        </p:tgtEl>
                                        <p:attrNameLst>
                                          <p:attrName>style.visibility</p:attrName>
                                        </p:attrNameLst>
                                      </p:cBhvr>
                                      <p:to>
                                        <p:strVal val="visible"/>
                                      </p:to>
                                    </p:set>
                                    <p:animEffect transition="in" filter="dissolve">
                                      <p:cBhvr>
                                        <p:cTn id="24" dur="500"/>
                                        <p:tgtEl>
                                          <p:spTgt spid="9">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9">
                                            <p:txEl>
                                              <p:pRg st="8" end="8"/>
                                            </p:txEl>
                                          </p:spTgt>
                                        </p:tgtEl>
                                        <p:attrNameLst>
                                          <p:attrName>style.visibility</p:attrName>
                                        </p:attrNameLst>
                                      </p:cBhvr>
                                      <p:to>
                                        <p:strVal val="visible"/>
                                      </p:to>
                                    </p:set>
                                    <p:animEffect transition="in" filter="dissolve">
                                      <p:cBhvr>
                                        <p:cTn id="29" dur="500"/>
                                        <p:tgtEl>
                                          <p:spTgt spid="9">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9">
                                            <p:txEl>
                                              <p:pRg st="9" end="9"/>
                                            </p:txEl>
                                          </p:spTgt>
                                        </p:tgtEl>
                                        <p:attrNameLst>
                                          <p:attrName>style.visibility</p:attrName>
                                        </p:attrNameLst>
                                      </p:cBhvr>
                                      <p:to>
                                        <p:strVal val="visible"/>
                                      </p:to>
                                    </p:set>
                                    <p:animEffect transition="in" filter="dissolve">
                                      <p:cBhvr>
                                        <p:cTn id="34" dur="500"/>
                                        <p:tgtEl>
                                          <p:spTgt spid="9">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9">
                                            <p:txEl>
                                              <p:pRg st="10" end="10"/>
                                            </p:txEl>
                                          </p:spTgt>
                                        </p:tgtEl>
                                        <p:attrNameLst>
                                          <p:attrName>style.visibility</p:attrName>
                                        </p:attrNameLst>
                                      </p:cBhvr>
                                      <p:to>
                                        <p:strVal val="visible"/>
                                      </p:to>
                                    </p:set>
                                    <p:animEffect transition="in" filter="dissolve">
                                      <p:cBhvr>
                                        <p:cTn id="39" dur="500"/>
                                        <p:tgtEl>
                                          <p:spTgt spid="9">
                                            <p:txEl>
                                              <p:pRg st="10" end="10"/>
                                            </p:txEl>
                                          </p:spTgt>
                                        </p:tgtEl>
                                      </p:cBhvr>
                                    </p:animEffect>
                                  </p:childTnLst>
                                </p:cTn>
                              </p:par>
                              <p:par>
                                <p:cTn id="40" presetID="9" presetClass="entr" presetSubtype="0" fill="hold" nodeType="withEffect">
                                  <p:stCondLst>
                                    <p:cond delay="0"/>
                                  </p:stCondLst>
                                  <p:childTnLst>
                                    <p:set>
                                      <p:cBhvr>
                                        <p:cTn id="41" dur="1" fill="hold">
                                          <p:stCondLst>
                                            <p:cond delay="0"/>
                                          </p:stCondLst>
                                        </p:cTn>
                                        <p:tgtEl>
                                          <p:spTgt spid="9">
                                            <p:txEl>
                                              <p:pRg st="11" end="11"/>
                                            </p:txEl>
                                          </p:spTgt>
                                        </p:tgtEl>
                                        <p:attrNameLst>
                                          <p:attrName>style.visibility</p:attrName>
                                        </p:attrNameLst>
                                      </p:cBhvr>
                                      <p:to>
                                        <p:strVal val="visible"/>
                                      </p:to>
                                    </p:set>
                                    <p:animEffect transition="in" filter="dissolve">
                                      <p:cBhvr>
                                        <p:cTn id="42" dur="500"/>
                                        <p:tgtEl>
                                          <p:spTgt spid="9">
                                            <p:txEl>
                                              <p:pRg st="11" end="11"/>
                                            </p:txEl>
                                          </p:spTgt>
                                        </p:tgtEl>
                                      </p:cBhvr>
                                    </p:animEffect>
                                  </p:childTnLst>
                                </p:cTn>
                              </p:par>
                              <p:par>
                                <p:cTn id="43" presetID="9" presetClass="entr" presetSubtype="0" fill="hold" nodeType="withEffect">
                                  <p:stCondLst>
                                    <p:cond delay="0"/>
                                  </p:stCondLst>
                                  <p:childTnLst>
                                    <p:set>
                                      <p:cBhvr>
                                        <p:cTn id="44" dur="1" fill="hold">
                                          <p:stCondLst>
                                            <p:cond delay="0"/>
                                          </p:stCondLst>
                                        </p:cTn>
                                        <p:tgtEl>
                                          <p:spTgt spid="9">
                                            <p:txEl>
                                              <p:pRg st="12" end="12"/>
                                            </p:txEl>
                                          </p:spTgt>
                                        </p:tgtEl>
                                        <p:attrNameLst>
                                          <p:attrName>style.visibility</p:attrName>
                                        </p:attrNameLst>
                                      </p:cBhvr>
                                      <p:to>
                                        <p:strVal val="visible"/>
                                      </p:to>
                                    </p:set>
                                    <p:animEffect transition="in" filter="dissolve">
                                      <p:cBhvr>
                                        <p:cTn id="45" dur="500"/>
                                        <p:tgtEl>
                                          <p:spTgt spid="9">
                                            <p:txEl>
                                              <p:pRg st="12" end="12"/>
                                            </p:txEl>
                                          </p:spTgt>
                                        </p:tgtEl>
                                      </p:cBhvr>
                                    </p:animEffect>
                                  </p:childTnLst>
                                </p:cTn>
                              </p:par>
                              <p:par>
                                <p:cTn id="46" presetID="9" presetClass="entr" presetSubtype="0" fill="hold" nodeType="withEffect">
                                  <p:stCondLst>
                                    <p:cond delay="0"/>
                                  </p:stCondLst>
                                  <p:childTnLst>
                                    <p:set>
                                      <p:cBhvr>
                                        <p:cTn id="47" dur="1" fill="hold">
                                          <p:stCondLst>
                                            <p:cond delay="0"/>
                                          </p:stCondLst>
                                        </p:cTn>
                                        <p:tgtEl>
                                          <p:spTgt spid="9">
                                            <p:txEl>
                                              <p:pRg st="13" end="13"/>
                                            </p:txEl>
                                          </p:spTgt>
                                        </p:tgtEl>
                                        <p:attrNameLst>
                                          <p:attrName>style.visibility</p:attrName>
                                        </p:attrNameLst>
                                      </p:cBhvr>
                                      <p:to>
                                        <p:strVal val="visible"/>
                                      </p:to>
                                    </p:set>
                                    <p:animEffect transition="in" filter="dissolve">
                                      <p:cBhvr>
                                        <p:cTn id="48" dur="500"/>
                                        <p:tgtEl>
                                          <p:spTgt spid="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参考</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代码</a:t>
            </a: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(2)</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2"/>
          <p:cNvSpPr>
            <a:spLocks noChangeArrowheads="1"/>
          </p:cNvSpPr>
          <p:nvPr/>
        </p:nvSpPr>
        <p:spPr bwMode="auto">
          <a:xfrm>
            <a:off x="1230278" y="865898"/>
            <a:ext cx="9991905" cy="5940088"/>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eaLnBrk="1" hangingPunct="1"/>
            <a:r>
              <a:rPr kumimoji="1" lang="en-US" altLang="zh-CN" sz="2000" b="1">
                <a:solidFill>
                  <a:schemeClr val="tx1"/>
                </a:solidFill>
                <a:latin typeface="Courier New" pitchFamily="49" charset="0"/>
                <a:ea typeface="宋体" charset="-122"/>
              </a:rPr>
              <a:t>while True:</a:t>
            </a:r>
          </a:p>
          <a:p>
            <a:r>
              <a:rPr kumimoji="1" lang="en-US" altLang="zh-CN" sz="2000" b="1">
                <a:latin typeface="Courier New" pitchFamily="49" charset="0"/>
                <a:ea typeface="宋体" charset="-122"/>
              </a:rPr>
              <a:t>    Guess = int(input("</a:t>
            </a:r>
            <a:r>
              <a:rPr kumimoji="1" lang="zh-CN" altLang="en-US" sz="2000" b="1">
                <a:latin typeface="Courier New" pitchFamily="49" charset="0"/>
                <a:ea typeface="宋体" charset="-122"/>
              </a:rPr>
              <a:t>输入一个不重复的四位数：</a:t>
            </a:r>
            <a:r>
              <a:rPr kumimoji="1" lang="en-US" altLang="zh-CN" sz="2000" b="1">
                <a:latin typeface="Courier New" pitchFamily="49" charset="0"/>
                <a:ea typeface="宋体" charset="-122"/>
              </a:rPr>
              <a:t>"))</a:t>
            </a:r>
          </a:p>
          <a:p>
            <a:pPr eaLnBrk="1" hangingPunct="1"/>
            <a:r>
              <a:rPr kumimoji="1" lang="zh-CN" altLang="en-US" sz="2000" b="1">
                <a:solidFill>
                  <a:schemeClr val="tx1"/>
                </a:solidFill>
                <a:latin typeface="Courier New" pitchFamily="49" charset="0"/>
                <a:ea typeface="宋体" charset="-122"/>
              </a:rPr>
              <a:t>    </a:t>
            </a:r>
            <a:r>
              <a:rPr kumimoji="1" lang="en-US" altLang="zh-CN" sz="2000" b="1">
                <a:solidFill>
                  <a:schemeClr val="tx1"/>
                </a:solidFill>
                <a:latin typeface="Courier New" pitchFamily="49" charset="0"/>
                <a:ea typeface="宋体" charset="-122"/>
              </a:rPr>
              <a:t>G1 = Guess // 1000</a:t>
            </a:r>
          </a:p>
          <a:p>
            <a:pPr eaLnBrk="1" hangingPunct="1"/>
            <a:r>
              <a:rPr kumimoji="1" lang="en-US" altLang="zh-CN" sz="2000" b="1">
                <a:solidFill>
                  <a:schemeClr val="tx1"/>
                </a:solidFill>
                <a:latin typeface="Courier New" pitchFamily="49" charset="0"/>
                <a:ea typeface="宋体" charset="-122"/>
              </a:rPr>
              <a:t>    G2 = (Guess // 100) </a:t>
            </a:r>
            <a:r>
              <a:rPr kumimoji="1" lang="en-US" altLang="zh-CN" sz="2000" b="1">
                <a:latin typeface="Courier New" pitchFamily="49" charset="0"/>
                <a:ea typeface="宋体" charset="-122"/>
              </a:rPr>
              <a:t>%</a:t>
            </a:r>
            <a:r>
              <a:rPr kumimoji="1" lang="en-US" altLang="zh-CN" sz="2000" b="1">
                <a:solidFill>
                  <a:schemeClr val="tx1"/>
                </a:solidFill>
                <a:latin typeface="Courier New" pitchFamily="49" charset="0"/>
                <a:ea typeface="宋体" charset="-122"/>
              </a:rPr>
              <a:t> 10</a:t>
            </a:r>
          </a:p>
          <a:p>
            <a:pPr eaLnBrk="1" hangingPunct="1"/>
            <a:r>
              <a:rPr kumimoji="1" lang="en-US" altLang="zh-CN" sz="2000" b="1">
                <a:solidFill>
                  <a:schemeClr val="tx1"/>
                </a:solidFill>
                <a:latin typeface="Courier New" pitchFamily="49" charset="0"/>
                <a:ea typeface="宋体" charset="-122"/>
              </a:rPr>
              <a:t>    G3 = (Guess // 10) % 10</a:t>
            </a:r>
          </a:p>
          <a:p>
            <a:pPr eaLnBrk="1" hangingPunct="1"/>
            <a:r>
              <a:rPr kumimoji="1" lang="en-US" altLang="zh-CN" sz="2000" b="1">
                <a:solidFill>
                  <a:schemeClr val="tx1"/>
                </a:solidFill>
                <a:latin typeface="Courier New" pitchFamily="49" charset="0"/>
                <a:ea typeface="宋体" charset="-122"/>
              </a:rPr>
              <a:t>    G4 = Guess % 10</a:t>
            </a:r>
          </a:p>
          <a:p>
            <a:pPr eaLnBrk="1" hangingPunct="1"/>
            <a:r>
              <a:rPr kumimoji="1" lang="en-US" altLang="zh-CN" sz="2000" b="1">
                <a:latin typeface="Courier New" pitchFamily="49" charset="0"/>
                <a:ea typeface="宋体" charset="-122"/>
              </a:rPr>
              <a:t>    nA = nB = 0</a:t>
            </a:r>
          </a:p>
          <a:p>
            <a:r>
              <a:rPr kumimoji="1" lang="en-US" altLang="zh-CN" sz="2000" b="1">
                <a:latin typeface="Courier New" pitchFamily="49" charset="0"/>
                <a:ea typeface="宋体" charset="-122"/>
              </a:rPr>
              <a:t>    if T1 == G1:</a:t>
            </a:r>
          </a:p>
          <a:p>
            <a:r>
              <a:rPr kumimoji="1" lang="en-US" altLang="zh-CN" sz="2000" b="1">
                <a:latin typeface="Courier New" pitchFamily="49" charset="0"/>
                <a:ea typeface="宋体" charset="-122"/>
              </a:rPr>
              <a:t>        nA += 1</a:t>
            </a:r>
          </a:p>
          <a:p>
            <a:r>
              <a:rPr kumimoji="1" lang="en-US" altLang="zh-CN" sz="2000" b="1">
                <a:latin typeface="Courier New" pitchFamily="49" charset="0"/>
                <a:ea typeface="宋体" charset="-122"/>
              </a:rPr>
              <a:t>    elif (T1==G2) or (T1==G3) or (T1==G4):</a:t>
            </a:r>
          </a:p>
          <a:p>
            <a:r>
              <a:rPr kumimoji="1" lang="en-US" altLang="zh-CN" sz="2000" b="1">
                <a:latin typeface="Courier New" pitchFamily="49" charset="0"/>
                <a:ea typeface="宋体" charset="-122"/>
              </a:rPr>
              <a:t>        nB += 1</a:t>
            </a:r>
          </a:p>
          <a:p>
            <a:r>
              <a:rPr kumimoji="1" lang="en-US" altLang="zh-CN" sz="2000" b="1">
                <a:latin typeface="Courier New" pitchFamily="49" charset="0"/>
                <a:ea typeface="宋体" charset="-122"/>
              </a:rPr>
              <a:t>    if T2 == G2:</a:t>
            </a:r>
          </a:p>
          <a:p>
            <a:r>
              <a:rPr kumimoji="1" lang="en-US" altLang="zh-CN" sz="2000" b="1">
                <a:latin typeface="Courier New" pitchFamily="49" charset="0"/>
                <a:ea typeface="宋体" charset="-122"/>
              </a:rPr>
              <a:t>        nA += 1</a:t>
            </a:r>
          </a:p>
          <a:p>
            <a:r>
              <a:rPr kumimoji="1" lang="en-US" altLang="zh-CN" sz="2000" b="1">
                <a:latin typeface="Courier New" pitchFamily="49" charset="0"/>
                <a:ea typeface="宋体" charset="-122"/>
              </a:rPr>
              <a:t>    elif (T2==G1) or (T2==G3) or (T2==G4):</a:t>
            </a:r>
          </a:p>
          <a:p>
            <a:r>
              <a:rPr kumimoji="1" lang="en-US" altLang="zh-CN" sz="2000" b="1">
                <a:latin typeface="Courier New" pitchFamily="49" charset="0"/>
                <a:ea typeface="宋体" charset="-122"/>
              </a:rPr>
              <a:t>        nB += 1</a:t>
            </a:r>
          </a:p>
          <a:p>
            <a:r>
              <a:rPr kumimoji="1" lang="en-US" altLang="zh-CN" sz="2000" b="1">
                <a:latin typeface="Courier New" pitchFamily="49" charset="0"/>
                <a:ea typeface="宋体" charset="-122"/>
              </a:rPr>
              <a:t>    if T3 == G3:</a:t>
            </a:r>
          </a:p>
          <a:p>
            <a:r>
              <a:rPr kumimoji="1" lang="en-US" altLang="zh-CN" sz="2000" b="1">
                <a:latin typeface="Courier New" pitchFamily="49" charset="0"/>
                <a:ea typeface="宋体" charset="-122"/>
              </a:rPr>
              <a:t>        nA += 1</a:t>
            </a:r>
          </a:p>
          <a:p>
            <a:r>
              <a:rPr kumimoji="1" lang="en-US" altLang="zh-CN" sz="2000" b="1">
                <a:latin typeface="Courier New" pitchFamily="49" charset="0"/>
                <a:ea typeface="宋体" charset="-122"/>
              </a:rPr>
              <a:t>    elif (T3==G1) or (T3==G2) or (T3==G4):</a:t>
            </a:r>
          </a:p>
          <a:p>
            <a:r>
              <a:rPr kumimoji="1" lang="en-US" altLang="zh-CN" sz="2000" b="1">
                <a:latin typeface="Courier New" pitchFamily="49" charset="0"/>
                <a:ea typeface="宋体" charset="-122"/>
              </a:rPr>
              <a:t>        nB += 1</a:t>
            </a:r>
          </a:p>
        </p:txBody>
      </p:sp>
    </p:spTree>
    <p:extLst>
      <p:ext uri="{BB962C8B-B14F-4D97-AF65-F5344CB8AC3E}">
        <p14:creationId xmlns:p14="http://schemas.microsoft.com/office/powerpoint/2010/main" val="11456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dissolve">
                                      <p:cBhvr>
                                        <p:cTn id="7" dur="500"/>
                                        <p:tgtEl>
                                          <p:spTgt spid="9">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dissolve">
                                      <p:cBhvr>
                                        <p:cTn id="11" dur="500"/>
                                        <p:tgtEl>
                                          <p:spTgt spid="9">
                                            <p:txEl>
                                              <p:pRg st="1" end="1"/>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9">
                                            <p:txEl>
                                              <p:pRg st="2" end="2"/>
                                            </p:txEl>
                                          </p:spTgt>
                                        </p:tgtEl>
                                        <p:attrNameLst>
                                          <p:attrName>style.visibility</p:attrName>
                                        </p:attrNameLst>
                                      </p:cBhvr>
                                      <p:to>
                                        <p:strVal val="visible"/>
                                      </p:to>
                                    </p:set>
                                    <p:animEffect transition="in" filter="dissolve">
                                      <p:cBhvr>
                                        <p:cTn id="14" dur="500"/>
                                        <p:tgtEl>
                                          <p:spTgt spid="9">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Effect transition="in" filter="dissolve">
                                      <p:cBhvr>
                                        <p:cTn id="19" dur="500"/>
                                        <p:tgtEl>
                                          <p:spTgt spid="9">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dissolve">
                                      <p:cBhvr>
                                        <p:cTn id="24" dur="500"/>
                                        <p:tgtEl>
                                          <p:spTgt spid="9">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animEffect transition="in" filter="dissolve">
                                      <p:cBhvr>
                                        <p:cTn id="29" dur="500"/>
                                        <p:tgtEl>
                                          <p:spTgt spid="9">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9">
                                            <p:txEl>
                                              <p:pRg st="6" end="6"/>
                                            </p:txEl>
                                          </p:spTgt>
                                        </p:tgtEl>
                                        <p:attrNameLst>
                                          <p:attrName>style.visibility</p:attrName>
                                        </p:attrNameLst>
                                      </p:cBhvr>
                                      <p:to>
                                        <p:strVal val="visible"/>
                                      </p:to>
                                    </p:set>
                                    <p:animEffect transition="in" filter="dissolve">
                                      <p:cBhvr>
                                        <p:cTn id="34" dur="500"/>
                                        <p:tgtEl>
                                          <p:spTgt spid="9">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9">
                                            <p:txEl>
                                              <p:pRg st="7" end="7"/>
                                            </p:txEl>
                                          </p:spTgt>
                                        </p:tgtEl>
                                        <p:attrNameLst>
                                          <p:attrName>style.visibility</p:attrName>
                                        </p:attrNameLst>
                                      </p:cBhvr>
                                      <p:to>
                                        <p:strVal val="visible"/>
                                      </p:to>
                                    </p:set>
                                    <p:animEffect transition="in" filter="dissolve">
                                      <p:cBhvr>
                                        <p:cTn id="39" dur="500"/>
                                        <p:tgtEl>
                                          <p:spTgt spid="9">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9">
                                            <p:txEl>
                                              <p:pRg st="8" end="8"/>
                                            </p:txEl>
                                          </p:spTgt>
                                        </p:tgtEl>
                                        <p:attrNameLst>
                                          <p:attrName>style.visibility</p:attrName>
                                        </p:attrNameLst>
                                      </p:cBhvr>
                                      <p:to>
                                        <p:strVal val="visible"/>
                                      </p:to>
                                    </p:set>
                                    <p:animEffect transition="in" filter="dissolve">
                                      <p:cBhvr>
                                        <p:cTn id="44" dur="500"/>
                                        <p:tgtEl>
                                          <p:spTgt spid="9">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9">
                                            <p:txEl>
                                              <p:pRg st="9" end="9"/>
                                            </p:txEl>
                                          </p:spTgt>
                                        </p:tgtEl>
                                        <p:attrNameLst>
                                          <p:attrName>style.visibility</p:attrName>
                                        </p:attrNameLst>
                                      </p:cBhvr>
                                      <p:to>
                                        <p:strVal val="visible"/>
                                      </p:to>
                                    </p:set>
                                    <p:animEffect transition="in" filter="dissolve">
                                      <p:cBhvr>
                                        <p:cTn id="49" dur="500"/>
                                        <p:tgtEl>
                                          <p:spTgt spid="9">
                                            <p:txEl>
                                              <p:pRg st="9" end="9"/>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9">
                                            <p:txEl>
                                              <p:pRg st="10" end="10"/>
                                            </p:txEl>
                                          </p:spTgt>
                                        </p:tgtEl>
                                        <p:attrNameLst>
                                          <p:attrName>style.visibility</p:attrName>
                                        </p:attrNameLst>
                                      </p:cBhvr>
                                      <p:to>
                                        <p:strVal val="visible"/>
                                      </p:to>
                                    </p:set>
                                    <p:animEffect transition="in" filter="dissolve">
                                      <p:cBhvr>
                                        <p:cTn id="54" dur="500"/>
                                        <p:tgtEl>
                                          <p:spTgt spid="9">
                                            <p:txEl>
                                              <p:pRg st="10" end="1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9">
                                            <p:txEl>
                                              <p:pRg st="11" end="11"/>
                                            </p:txEl>
                                          </p:spTgt>
                                        </p:tgtEl>
                                        <p:attrNameLst>
                                          <p:attrName>style.visibility</p:attrName>
                                        </p:attrNameLst>
                                      </p:cBhvr>
                                      <p:to>
                                        <p:strVal val="visible"/>
                                      </p:to>
                                    </p:set>
                                    <p:animEffect transition="in" filter="dissolve">
                                      <p:cBhvr>
                                        <p:cTn id="59" dur="500"/>
                                        <p:tgtEl>
                                          <p:spTgt spid="9">
                                            <p:txEl>
                                              <p:pRg st="11" end="1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9">
                                            <p:txEl>
                                              <p:pRg st="12" end="12"/>
                                            </p:txEl>
                                          </p:spTgt>
                                        </p:tgtEl>
                                        <p:attrNameLst>
                                          <p:attrName>style.visibility</p:attrName>
                                        </p:attrNameLst>
                                      </p:cBhvr>
                                      <p:to>
                                        <p:strVal val="visible"/>
                                      </p:to>
                                    </p:set>
                                    <p:animEffect transition="in" filter="dissolve">
                                      <p:cBhvr>
                                        <p:cTn id="64" dur="500"/>
                                        <p:tgtEl>
                                          <p:spTgt spid="9">
                                            <p:txEl>
                                              <p:pRg st="12" end="12"/>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9">
                                            <p:txEl>
                                              <p:pRg st="13" end="13"/>
                                            </p:txEl>
                                          </p:spTgt>
                                        </p:tgtEl>
                                        <p:attrNameLst>
                                          <p:attrName>style.visibility</p:attrName>
                                        </p:attrNameLst>
                                      </p:cBhvr>
                                      <p:to>
                                        <p:strVal val="visible"/>
                                      </p:to>
                                    </p:set>
                                    <p:animEffect transition="in" filter="dissolve">
                                      <p:cBhvr>
                                        <p:cTn id="69" dur="500"/>
                                        <p:tgtEl>
                                          <p:spTgt spid="9">
                                            <p:txEl>
                                              <p:pRg st="13" end="1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nodeType="clickEffect">
                                  <p:stCondLst>
                                    <p:cond delay="0"/>
                                  </p:stCondLst>
                                  <p:childTnLst>
                                    <p:set>
                                      <p:cBhvr>
                                        <p:cTn id="73" dur="1" fill="hold">
                                          <p:stCondLst>
                                            <p:cond delay="0"/>
                                          </p:stCondLst>
                                        </p:cTn>
                                        <p:tgtEl>
                                          <p:spTgt spid="9">
                                            <p:txEl>
                                              <p:pRg st="14" end="14"/>
                                            </p:txEl>
                                          </p:spTgt>
                                        </p:tgtEl>
                                        <p:attrNameLst>
                                          <p:attrName>style.visibility</p:attrName>
                                        </p:attrNameLst>
                                      </p:cBhvr>
                                      <p:to>
                                        <p:strVal val="visible"/>
                                      </p:to>
                                    </p:set>
                                    <p:animEffect transition="in" filter="dissolve">
                                      <p:cBhvr>
                                        <p:cTn id="74" dur="500"/>
                                        <p:tgtEl>
                                          <p:spTgt spid="9">
                                            <p:txEl>
                                              <p:pRg st="14" end="14"/>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nodeType="clickEffect">
                                  <p:stCondLst>
                                    <p:cond delay="0"/>
                                  </p:stCondLst>
                                  <p:childTnLst>
                                    <p:set>
                                      <p:cBhvr>
                                        <p:cTn id="78" dur="1" fill="hold">
                                          <p:stCondLst>
                                            <p:cond delay="0"/>
                                          </p:stCondLst>
                                        </p:cTn>
                                        <p:tgtEl>
                                          <p:spTgt spid="9">
                                            <p:txEl>
                                              <p:pRg st="15" end="15"/>
                                            </p:txEl>
                                          </p:spTgt>
                                        </p:tgtEl>
                                        <p:attrNameLst>
                                          <p:attrName>style.visibility</p:attrName>
                                        </p:attrNameLst>
                                      </p:cBhvr>
                                      <p:to>
                                        <p:strVal val="visible"/>
                                      </p:to>
                                    </p:set>
                                    <p:animEffect transition="in" filter="dissolve">
                                      <p:cBhvr>
                                        <p:cTn id="79" dur="500"/>
                                        <p:tgtEl>
                                          <p:spTgt spid="9">
                                            <p:txEl>
                                              <p:pRg st="15" end="15"/>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nodeType="clickEffect">
                                  <p:stCondLst>
                                    <p:cond delay="0"/>
                                  </p:stCondLst>
                                  <p:childTnLst>
                                    <p:set>
                                      <p:cBhvr>
                                        <p:cTn id="83" dur="1" fill="hold">
                                          <p:stCondLst>
                                            <p:cond delay="0"/>
                                          </p:stCondLst>
                                        </p:cTn>
                                        <p:tgtEl>
                                          <p:spTgt spid="9">
                                            <p:txEl>
                                              <p:pRg st="16" end="16"/>
                                            </p:txEl>
                                          </p:spTgt>
                                        </p:tgtEl>
                                        <p:attrNameLst>
                                          <p:attrName>style.visibility</p:attrName>
                                        </p:attrNameLst>
                                      </p:cBhvr>
                                      <p:to>
                                        <p:strVal val="visible"/>
                                      </p:to>
                                    </p:set>
                                    <p:animEffect transition="in" filter="dissolve">
                                      <p:cBhvr>
                                        <p:cTn id="84" dur="500"/>
                                        <p:tgtEl>
                                          <p:spTgt spid="9">
                                            <p:txEl>
                                              <p:pRg st="16" end="16"/>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nodeType="clickEffect">
                                  <p:stCondLst>
                                    <p:cond delay="0"/>
                                  </p:stCondLst>
                                  <p:childTnLst>
                                    <p:set>
                                      <p:cBhvr>
                                        <p:cTn id="88" dur="1" fill="hold">
                                          <p:stCondLst>
                                            <p:cond delay="0"/>
                                          </p:stCondLst>
                                        </p:cTn>
                                        <p:tgtEl>
                                          <p:spTgt spid="9">
                                            <p:txEl>
                                              <p:pRg st="17" end="17"/>
                                            </p:txEl>
                                          </p:spTgt>
                                        </p:tgtEl>
                                        <p:attrNameLst>
                                          <p:attrName>style.visibility</p:attrName>
                                        </p:attrNameLst>
                                      </p:cBhvr>
                                      <p:to>
                                        <p:strVal val="visible"/>
                                      </p:to>
                                    </p:set>
                                    <p:animEffect transition="in" filter="dissolve">
                                      <p:cBhvr>
                                        <p:cTn id="89" dur="500"/>
                                        <p:tgtEl>
                                          <p:spTgt spid="9">
                                            <p:txEl>
                                              <p:pRg st="17" end="17"/>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nodeType="clickEffect">
                                  <p:stCondLst>
                                    <p:cond delay="0"/>
                                  </p:stCondLst>
                                  <p:childTnLst>
                                    <p:set>
                                      <p:cBhvr>
                                        <p:cTn id="93" dur="1" fill="hold">
                                          <p:stCondLst>
                                            <p:cond delay="0"/>
                                          </p:stCondLst>
                                        </p:cTn>
                                        <p:tgtEl>
                                          <p:spTgt spid="9">
                                            <p:txEl>
                                              <p:pRg st="18" end="18"/>
                                            </p:txEl>
                                          </p:spTgt>
                                        </p:tgtEl>
                                        <p:attrNameLst>
                                          <p:attrName>style.visibility</p:attrName>
                                        </p:attrNameLst>
                                      </p:cBhvr>
                                      <p:to>
                                        <p:strVal val="visible"/>
                                      </p:to>
                                    </p:set>
                                    <p:animEffect transition="in" filter="dissolve">
                                      <p:cBhvr>
                                        <p:cTn id="94" dur="500"/>
                                        <p:tgtEl>
                                          <p:spTgt spid="9">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37564" y="98987"/>
            <a:ext cx="6418458" cy="6940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4800">
                <a:solidFill>
                  <a:schemeClr val="accent2"/>
                </a:solidFill>
                <a:latin typeface="隶书" pitchFamily="49" charset="-122"/>
                <a:ea typeface="隶书" pitchFamily="49" charset="-122"/>
              </a:rPr>
              <a:t>参考</a:t>
            </a:r>
            <a:r>
              <a:rPr kumimoji="0" lang="zh-CN" altLang="en-US" sz="4800" b="1" i="0" u="none" strike="noStrike" kern="1200" cap="none" spc="0" normalizeH="0" baseline="0" noProof="0">
                <a:ln>
                  <a:noFill/>
                </a:ln>
                <a:solidFill>
                  <a:schemeClr val="accent2"/>
                </a:solidFill>
                <a:effectLst/>
                <a:uLnTx/>
                <a:uFillTx/>
                <a:latin typeface="隶书" pitchFamily="49" charset="-122"/>
                <a:ea typeface="隶书" pitchFamily="49" charset="-122"/>
              </a:rPr>
              <a:t>代码</a:t>
            </a:r>
            <a:r>
              <a:rPr kumimoji="0" lang="en-US" altLang="zh-CN" sz="4800" b="1" i="0" u="none" strike="noStrike" kern="1200" cap="none" spc="0" normalizeH="0" baseline="0" noProof="0">
                <a:ln>
                  <a:noFill/>
                </a:ln>
                <a:solidFill>
                  <a:schemeClr val="accent2"/>
                </a:solidFill>
                <a:effectLst/>
                <a:uLnTx/>
                <a:uFillTx/>
                <a:latin typeface="隶书" pitchFamily="49" charset="-122"/>
                <a:ea typeface="隶书" pitchFamily="49" charset="-122"/>
              </a:rPr>
              <a:t>(3)</a:t>
            </a: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sp>
        <p:nvSpPr>
          <p:cNvPr id="9" name="Rectangle 2"/>
          <p:cNvSpPr>
            <a:spLocks noChangeArrowheads="1"/>
          </p:cNvSpPr>
          <p:nvPr/>
        </p:nvSpPr>
        <p:spPr bwMode="auto">
          <a:xfrm>
            <a:off x="1205339" y="973967"/>
            <a:ext cx="9991905" cy="5632311"/>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r>
              <a:rPr kumimoji="1" lang="en-US" altLang="zh-CN" sz="2400" b="1">
                <a:latin typeface="Courier New" pitchFamily="49" charset="0"/>
                <a:ea typeface="宋体" charset="-122"/>
              </a:rPr>
              <a:t>    if T4 == G4:</a:t>
            </a:r>
          </a:p>
          <a:p>
            <a:r>
              <a:rPr kumimoji="1" lang="en-US" altLang="zh-CN" sz="2400" b="1">
                <a:latin typeface="Courier New" pitchFamily="49" charset="0"/>
                <a:ea typeface="宋体" charset="-122"/>
              </a:rPr>
              <a:t>        nA += 1</a:t>
            </a:r>
          </a:p>
          <a:p>
            <a:r>
              <a:rPr kumimoji="1" lang="en-US" altLang="zh-CN" sz="2400" b="1">
                <a:latin typeface="Courier New" pitchFamily="49" charset="0"/>
                <a:ea typeface="宋体" charset="-122"/>
              </a:rPr>
              <a:t>    elif (T4==G1) or (T4==G2) or (T4==G3):</a:t>
            </a:r>
          </a:p>
          <a:p>
            <a:r>
              <a:rPr kumimoji="1" lang="en-US" altLang="zh-CN" sz="2400" b="1">
                <a:latin typeface="Courier New" pitchFamily="49" charset="0"/>
                <a:ea typeface="宋体" charset="-122"/>
              </a:rPr>
              <a:t>        nB += 1</a:t>
            </a:r>
          </a:p>
          <a:p>
            <a:r>
              <a:rPr kumimoji="1" lang="en-US" altLang="zh-CN" sz="2400" b="1">
                <a:latin typeface="Courier New" pitchFamily="49" charset="0"/>
                <a:ea typeface="宋体" charset="-122"/>
              </a:rPr>
              <a:t>    if nA == 4 and nB == 0:</a:t>
            </a:r>
            <a:endParaRPr kumimoji="1" lang="en-US" altLang="zh-CN" sz="2400" b="1">
              <a:solidFill>
                <a:schemeClr val="tx1"/>
              </a:solidFill>
              <a:latin typeface="Courier New" pitchFamily="49" charset="0"/>
              <a:ea typeface="宋体" charset="-122"/>
            </a:endParaRPr>
          </a:p>
          <a:p>
            <a:r>
              <a:rPr kumimoji="1" lang="en-US" altLang="zh-CN" sz="2400" b="1">
                <a:solidFill>
                  <a:schemeClr val="tx1"/>
                </a:solidFill>
                <a:latin typeface="Courier New" pitchFamily="49" charset="0"/>
                <a:ea typeface="宋体" charset="-122"/>
              </a:rPr>
              <a:t>        print("</a:t>
            </a:r>
            <a:r>
              <a:rPr kumimoji="1" lang="zh-CN" altLang="en-US" sz="2400" b="1">
                <a:latin typeface="Courier New" pitchFamily="49" charset="0"/>
                <a:ea typeface="宋体" charset="-122"/>
              </a:rPr>
              <a:t>恭喜你猜对了！</a:t>
            </a:r>
            <a:r>
              <a:rPr kumimoji="1" lang="en-US" altLang="zh-CN" sz="2400" b="1">
                <a:latin typeface="Courier New" pitchFamily="49" charset="0"/>
                <a:ea typeface="宋体" charset="-122"/>
              </a:rPr>
              <a:t>"</a:t>
            </a:r>
            <a:r>
              <a:rPr kumimoji="1" lang="en-US" altLang="zh-CN" sz="2400" b="1">
                <a:solidFill>
                  <a:schemeClr val="tx1"/>
                </a:solidFill>
                <a:latin typeface="Courier New" pitchFamily="49" charset="0"/>
                <a:ea typeface="宋体" charset="-122"/>
              </a:rPr>
              <a:t>)</a:t>
            </a:r>
          </a:p>
          <a:p>
            <a:pPr eaLnBrk="1" hangingPunct="1"/>
            <a:r>
              <a:rPr kumimoji="1" lang="en-US" altLang="zh-CN" sz="2400" b="1">
                <a:solidFill>
                  <a:schemeClr val="tx1"/>
                </a:solidFill>
                <a:latin typeface="Courier New" pitchFamily="49" charset="0"/>
                <a:ea typeface="宋体" charset="-122"/>
              </a:rPr>
              <a:t>        break</a:t>
            </a:r>
          </a:p>
          <a:p>
            <a:pPr eaLnBrk="1" hangingPunct="1"/>
            <a:r>
              <a:rPr kumimoji="1" lang="en-US" altLang="zh-CN" sz="2400" b="1">
                <a:solidFill>
                  <a:schemeClr val="tx1"/>
                </a:solidFill>
                <a:latin typeface="Courier New" pitchFamily="49" charset="0"/>
                <a:ea typeface="宋体" charset="-122"/>
              </a:rPr>
              <a:t>    else:</a:t>
            </a:r>
          </a:p>
          <a:p>
            <a:pPr eaLnBrk="1" hangingPunct="1"/>
            <a:r>
              <a:rPr kumimoji="1" lang="en-US" altLang="zh-CN" sz="2400" b="1">
                <a:solidFill>
                  <a:schemeClr val="tx1"/>
                </a:solidFill>
                <a:latin typeface="Courier New" pitchFamily="49" charset="0"/>
                <a:ea typeface="宋体" charset="-122"/>
              </a:rPr>
              <a:t>        NumGuess += 1</a:t>
            </a:r>
          </a:p>
          <a:p>
            <a:pPr eaLnBrk="1" hangingPunct="1"/>
            <a:r>
              <a:rPr kumimoji="1" lang="en-US" altLang="zh-CN" sz="2400" b="1">
                <a:solidFill>
                  <a:schemeClr val="tx1"/>
                </a:solidFill>
                <a:latin typeface="Courier New" pitchFamily="49" charset="0"/>
                <a:ea typeface="宋体" charset="-122"/>
              </a:rPr>
              <a:t>        if NumGuess &gt;= 10:</a:t>
            </a:r>
          </a:p>
          <a:p>
            <a:r>
              <a:rPr kumimoji="1" lang="en-US" altLang="zh-CN" sz="2400" b="1">
                <a:latin typeface="Courier New" pitchFamily="49" charset="0"/>
                <a:ea typeface="宋体" charset="-122"/>
              </a:rPr>
              <a:t>            print("</a:t>
            </a:r>
            <a:r>
              <a:rPr kumimoji="1" lang="zh-CN" altLang="en-US" sz="2400" b="1">
                <a:latin typeface="Courier New" pitchFamily="49" charset="0"/>
                <a:ea typeface="宋体" charset="-122"/>
              </a:rPr>
              <a:t>十次都没猜中，你玩完了！</a:t>
            </a:r>
            <a:r>
              <a:rPr kumimoji="1" lang="en-US" altLang="zh-CN" sz="2400" b="1">
                <a:latin typeface="Courier New" pitchFamily="49" charset="0"/>
                <a:ea typeface="宋体" charset="-122"/>
              </a:rPr>
              <a:t>")</a:t>
            </a:r>
          </a:p>
          <a:p>
            <a:r>
              <a:rPr kumimoji="1" lang="en-US" altLang="zh-CN" sz="2400" b="1">
                <a:latin typeface="Courier New" pitchFamily="49" charset="0"/>
                <a:ea typeface="宋体" charset="-122"/>
              </a:rPr>
              <a:t>            print("</a:t>
            </a:r>
            <a:r>
              <a:rPr kumimoji="1" lang="zh-CN" altLang="en-US" sz="2400" b="1">
                <a:latin typeface="Courier New" pitchFamily="49" charset="0"/>
                <a:ea typeface="宋体" charset="-122"/>
              </a:rPr>
              <a:t>答案是：</a:t>
            </a:r>
            <a:r>
              <a:rPr kumimoji="1" lang="en-US" altLang="zh-CN" sz="2400" b="1">
                <a:latin typeface="Courier New" pitchFamily="49" charset="0"/>
                <a:ea typeface="宋体" charset="-122"/>
              </a:rPr>
              <a:t>", Target)</a:t>
            </a:r>
            <a:endParaRPr kumimoji="1" lang="en-US" altLang="zh-CN" sz="2400" b="1">
              <a:solidFill>
                <a:schemeClr val="tx1"/>
              </a:solidFill>
              <a:latin typeface="Courier New" pitchFamily="49" charset="0"/>
              <a:ea typeface="宋体" charset="-122"/>
            </a:endParaRPr>
          </a:p>
          <a:p>
            <a:pPr eaLnBrk="1" hangingPunct="1"/>
            <a:r>
              <a:rPr kumimoji="1" lang="en-US" altLang="zh-CN" sz="2400" b="1">
                <a:solidFill>
                  <a:schemeClr val="tx1"/>
                </a:solidFill>
                <a:latin typeface="Courier New" pitchFamily="49" charset="0"/>
                <a:ea typeface="宋体" charset="-122"/>
              </a:rPr>
              <a:t>            break</a:t>
            </a:r>
          </a:p>
          <a:p>
            <a:pPr eaLnBrk="1" hangingPunct="1"/>
            <a:r>
              <a:rPr kumimoji="1" lang="en-US" altLang="zh-CN" sz="2400" b="1">
                <a:latin typeface="Courier New" pitchFamily="49" charset="0"/>
                <a:ea typeface="宋体" charset="-122"/>
              </a:rPr>
              <a:t>        else:</a:t>
            </a:r>
          </a:p>
          <a:p>
            <a:pPr eaLnBrk="1" hangingPunct="1"/>
            <a:r>
              <a:rPr kumimoji="1" lang="en-US" altLang="zh-CN" sz="2400" b="1">
                <a:latin typeface="Courier New" pitchFamily="49" charset="0"/>
                <a:ea typeface="宋体" charset="-122"/>
              </a:rPr>
              <a:t>            print("%dA %dB" % (nA, nB))</a:t>
            </a:r>
          </a:p>
        </p:txBody>
      </p:sp>
    </p:spTree>
    <p:extLst>
      <p:ext uri="{BB962C8B-B14F-4D97-AF65-F5344CB8AC3E}">
        <p14:creationId xmlns:p14="http://schemas.microsoft.com/office/powerpoint/2010/main" val="331053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animEffect transition="in" filter="dissolve">
                                      <p:cBhvr>
                                        <p:cTn id="7" dur="500"/>
                                        <p:tgtEl>
                                          <p:spTgt spid="9">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dissolve">
                                      <p:cBhvr>
                                        <p:cTn id="10" dur="500"/>
                                        <p:tgtEl>
                                          <p:spTgt spid="9">
                                            <p:txEl>
                                              <p:pRg st="0" end="0"/>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dissolve">
                                      <p:cBhvr>
                                        <p:cTn id="13" dur="500"/>
                                        <p:tgtEl>
                                          <p:spTgt spid="9">
                                            <p:txEl>
                                              <p:pRg st="1" end="1"/>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animEffect transition="in" filter="dissolve">
                                      <p:cBhvr>
                                        <p:cTn id="16" dur="500"/>
                                        <p:tgtEl>
                                          <p:spTgt spid="9">
                                            <p:txEl>
                                              <p:pRg st="2" end="2"/>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Effect transition="in" filter="dissolve">
                                      <p:cBhvr>
                                        <p:cTn id="19" dur="500"/>
                                        <p:tgtEl>
                                          <p:spTgt spid="9">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dissolve">
                                      <p:cBhvr>
                                        <p:cTn id="24" dur="500"/>
                                        <p:tgtEl>
                                          <p:spTgt spid="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Effect transition="in" filter="dissolve">
                                      <p:cBhvr>
                                        <p:cTn id="29" dur="500"/>
                                        <p:tgtEl>
                                          <p:spTgt spid="9">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9">
                                            <p:txEl>
                                              <p:pRg st="7" end="7"/>
                                            </p:txEl>
                                          </p:spTgt>
                                        </p:tgtEl>
                                        <p:attrNameLst>
                                          <p:attrName>style.visibility</p:attrName>
                                        </p:attrNameLst>
                                      </p:cBhvr>
                                      <p:to>
                                        <p:strVal val="visible"/>
                                      </p:to>
                                    </p:set>
                                    <p:animEffect transition="in" filter="dissolve">
                                      <p:cBhvr>
                                        <p:cTn id="34" dur="500"/>
                                        <p:tgtEl>
                                          <p:spTgt spid="9">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animEffect transition="in" filter="dissolve">
                                      <p:cBhvr>
                                        <p:cTn id="39" dur="500"/>
                                        <p:tgtEl>
                                          <p:spTgt spid="9">
                                            <p:txEl>
                                              <p:pRg st="8" end="8"/>
                                            </p:txEl>
                                          </p:spTgt>
                                        </p:tgtEl>
                                      </p:cBhvr>
                                    </p:animEffect>
                                  </p:childTnLst>
                                </p:cTn>
                              </p:par>
                              <p:par>
                                <p:cTn id="40" presetID="9" presetClass="entr" presetSubtype="0" fill="hold" nodeType="withEffect">
                                  <p:stCondLst>
                                    <p:cond delay="0"/>
                                  </p:stCondLst>
                                  <p:childTnLst>
                                    <p:set>
                                      <p:cBhvr>
                                        <p:cTn id="41" dur="1" fill="hold">
                                          <p:stCondLst>
                                            <p:cond delay="0"/>
                                          </p:stCondLst>
                                        </p:cTn>
                                        <p:tgtEl>
                                          <p:spTgt spid="9">
                                            <p:txEl>
                                              <p:pRg st="9" end="9"/>
                                            </p:txEl>
                                          </p:spTgt>
                                        </p:tgtEl>
                                        <p:attrNameLst>
                                          <p:attrName>style.visibility</p:attrName>
                                        </p:attrNameLst>
                                      </p:cBhvr>
                                      <p:to>
                                        <p:strVal val="visible"/>
                                      </p:to>
                                    </p:set>
                                    <p:animEffect transition="in" filter="dissolve">
                                      <p:cBhvr>
                                        <p:cTn id="42" dur="500"/>
                                        <p:tgtEl>
                                          <p:spTgt spid="9">
                                            <p:txEl>
                                              <p:pRg st="9" end="9"/>
                                            </p:txEl>
                                          </p:spTgt>
                                        </p:tgtEl>
                                      </p:cBhvr>
                                    </p:animEffect>
                                  </p:childTnLst>
                                </p:cTn>
                              </p:par>
                              <p:par>
                                <p:cTn id="43" presetID="9" presetClass="entr" presetSubtype="0" fill="hold" nodeType="withEffect">
                                  <p:stCondLst>
                                    <p:cond delay="0"/>
                                  </p:stCondLst>
                                  <p:childTnLst>
                                    <p:set>
                                      <p:cBhvr>
                                        <p:cTn id="44" dur="1" fill="hold">
                                          <p:stCondLst>
                                            <p:cond delay="0"/>
                                          </p:stCondLst>
                                        </p:cTn>
                                        <p:tgtEl>
                                          <p:spTgt spid="9">
                                            <p:txEl>
                                              <p:pRg st="10" end="10"/>
                                            </p:txEl>
                                          </p:spTgt>
                                        </p:tgtEl>
                                        <p:attrNameLst>
                                          <p:attrName>style.visibility</p:attrName>
                                        </p:attrNameLst>
                                      </p:cBhvr>
                                      <p:to>
                                        <p:strVal val="visible"/>
                                      </p:to>
                                    </p:set>
                                    <p:animEffect transition="in" filter="dissolve">
                                      <p:cBhvr>
                                        <p:cTn id="45" dur="500"/>
                                        <p:tgtEl>
                                          <p:spTgt spid="9">
                                            <p:txEl>
                                              <p:pRg st="10" end="10"/>
                                            </p:txEl>
                                          </p:spTgt>
                                        </p:tgtEl>
                                      </p:cBhvr>
                                    </p:animEffect>
                                  </p:childTnLst>
                                </p:cTn>
                              </p:par>
                              <p:par>
                                <p:cTn id="46" presetID="9" presetClass="entr" presetSubtype="0" fill="hold" nodeType="withEffect">
                                  <p:stCondLst>
                                    <p:cond delay="0"/>
                                  </p:stCondLst>
                                  <p:childTnLst>
                                    <p:set>
                                      <p:cBhvr>
                                        <p:cTn id="47" dur="1" fill="hold">
                                          <p:stCondLst>
                                            <p:cond delay="0"/>
                                          </p:stCondLst>
                                        </p:cTn>
                                        <p:tgtEl>
                                          <p:spTgt spid="9">
                                            <p:txEl>
                                              <p:pRg st="11" end="11"/>
                                            </p:txEl>
                                          </p:spTgt>
                                        </p:tgtEl>
                                        <p:attrNameLst>
                                          <p:attrName>style.visibility</p:attrName>
                                        </p:attrNameLst>
                                      </p:cBhvr>
                                      <p:to>
                                        <p:strVal val="visible"/>
                                      </p:to>
                                    </p:set>
                                    <p:animEffect transition="in" filter="dissolve">
                                      <p:cBhvr>
                                        <p:cTn id="48" dur="500"/>
                                        <p:tgtEl>
                                          <p:spTgt spid="9">
                                            <p:txEl>
                                              <p:pRg st="11" end="11"/>
                                            </p:txEl>
                                          </p:spTgt>
                                        </p:tgtEl>
                                      </p:cBhvr>
                                    </p:animEffect>
                                  </p:childTnLst>
                                </p:cTn>
                              </p:par>
                              <p:par>
                                <p:cTn id="49" presetID="9" presetClass="entr" presetSubtype="0" fill="hold" nodeType="withEffect">
                                  <p:stCondLst>
                                    <p:cond delay="0"/>
                                  </p:stCondLst>
                                  <p:childTnLst>
                                    <p:set>
                                      <p:cBhvr>
                                        <p:cTn id="50" dur="1" fill="hold">
                                          <p:stCondLst>
                                            <p:cond delay="0"/>
                                          </p:stCondLst>
                                        </p:cTn>
                                        <p:tgtEl>
                                          <p:spTgt spid="9">
                                            <p:txEl>
                                              <p:pRg st="12" end="12"/>
                                            </p:txEl>
                                          </p:spTgt>
                                        </p:tgtEl>
                                        <p:attrNameLst>
                                          <p:attrName>style.visibility</p:attrName>
                                        </p:attrNameLst>
                                      </p:cBhvr>
                                      <p:to>
                                        <p:strVal val="visible"/>
                                      </p:to>
                                    </p:set>
                                    <p:animEffect transition="in" filter="dissolve">
                                      <p:cBhvr>
                                        <p:cTn id="51" dur="500"/>
                                        <p:tgtEl>
                                          <p:spTgt spid="9">
                                            <p:txEl>
                                              <p:pRg st="12" end="12"/>
                                            </p:txEl>
                                          </p:spTgt>
                                        </p:tgtEl>
                                      </p:cBhvr>
                                    </p:animEffect>
                                  </p:childTnLst>
                                </p:cTn>
                              </p:par>
                              <p:par>
                                <p:cTn id="52" presetID="9" presetClass="entr" presetSubtype="0" fill="hold" nodeType="withEffect">
                                  <p:stCondLst>
                                    <p:cond delay="0"/>
                                  </p:stCondLst>
                                  <p:childTnLst>
                                    <p:set>
                                      <p:cBhvr>
                                        <p:cTn id="53" dur="1" fill="hold">
                                          <p:stCondLst>
                                            <p:cond delay="0"/>
                                          </p:stCondLst>
                                        </p:cTn>
                                        <p:tgtEl>
                                          <p:spTgt spid="9">
                                            <p:txEl>
                                              <p:pRg st="13" end="13"/>
                                            </p:txEl>
                                          </p:spTgt>
                                        </p:tgtEl>
                                        <p:attrNameLst>
                                          <p:attrName>style.visibility</p:attrName>
                                        </p:attrNameLst>
                                      </p:cBhvr>
                                      <p:to>
                                        <p:strVal val="visible"/>
                                      </p:to>
                                    </p:set>
                                    <p:animEffect transition="in" filter="dissolve">
                                      <p:cBhvr>
                                        <p:cTn id="54" dur="500"/>
                                        <p:tgtEl>
                                          <p:spTgt spid="9">
                                            <p:txEl>
                                              <p:pRg st="13" end="13"/>
                                            </p:txEl>
                                          </p:spTgt>
                                        </p:tgtEl>
                                      </p:cBhvr>
                                    </p:animEffect>
                                  </p:childTnLst>
                                </p:cTn>
                              </p:par>
                              <p:par>
                                <p:cTn id="55" presetID="9" presetClass="entr" presetSubtype="0" fill="hold" nodeType="withEffect">
                                  <p:stCondLst>
                                    <p:cond delay="0"/>
                                  </p:stCondLst>
                                  <p:childTnLst>
                                    <p:set>
                                      <p:cBhvr>
                                        <p:cTn id="56" dur="1" fill="hold">
                                          <p:stCondLst>
                                            <p:cond delay="0"/>
                                          </p:stCondLst>
                                        </p:cTn>
                                        <p:tgtEl>
                                          <p:spTgt spid="9">
                                            <p:txEl>
                                              <p:pRg st="14" end="14"/>
                                            </p:txEl>
                                          </p:spTgt>
                                        </p:tgtEl>
                                        <p:attrNameLst>
                                          <p:attrName>style.visibility</p:attrName>
                                        </p:attrNameLst>
                                      </p:cBhvr>
                                      <p:to>
                                        <p:strVal val="visible"/>
                                      </p:to>
                                    </p:set>
                                    <p:animEffect transition="in" filter="dissolve">
                                      <p:cBhvr>
                                        <p:cTn id="57" dur="500"/>
                                        <p:tgtEl>
                                          <p:spTgt spid="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5361" y="116633"/>
            <a:ext cx="629872" cy="612768"/>
            <a:chOff x="3070727" y="196457"/>
            <a:chExt cx="692047" cy="673255"/>
          </a:xfrm>
        </p:grpSpPr>
        <p:sp>
          <p:nvSpPr>
            <p:cNvPr id="5" name="平行四边形 4"/>
            <p:cNvSpPr/>
            <p:nvPr/>
          </p:nvSpPr>
          <p:spPr>
            <a:xfrm>
              <a:off x="3070727" y="196457"/>
              <a:ext cx="629587" cy="612775"/>
            </a:xfrm>
            <a:prstGeom prst="parallelogram">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平行四边形 5"/>
            <p:cNvSpPr/>
            <p:nvPr/>
          </p:nvSpPr>
          <p:spPr>
            <a:xfrm>
              <a:off x="3133187" y="256937"/>
              <a:ext cx="629587" cy="612775"/>
            </a:xfrm>
            <a:prstGeom prst="parallelogram">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cxnSp>
        <p:nvCxnSpPr>
          <p:cNvPr id="7" name="直接连接符 6"/>
          <p:cNvCxnSpPr/>
          <p:nvPr/>
        </p:nvCxnSpPr>
        <p:spPr>
          <a:xfrm>
            <a:off x="367840" y="809674"/>
            <a:ext cx="11488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文本占位符 5"/>
          <p:cNvSpPr txBox="1"/>
          <p:nvPr/>
        </p:nvSpPr>
        <p:spPr>
          <a:xfrm>
            <a:off x="1254190" y="49109"/>
            <a:ext cx="5994422" cy="6127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endParaRPr kumimoji="0" lang="zh-CN" altLang="en-US" sz="4800" b="1" i="0" u="none" strike="noStrike" kern="1200" cap="none" spc="0" normalizeH="0" baseline="0" noProof="0" dirty="0">
              <a:ln>
                <a:noFill/>
              </a:ln>
              <a:solidFill>
                <a:schemeClr val="accent2"/>
              </a:solidFill>
              <a:effectLst/>
              <a:uLnTx/>
              <a:uFillTx/>
              <a:latin typeface="隶书" pitchFamily="49" charset="-122"/>
              <a:ea typeface="隶书" pitchFamily="49" charset="-122"/>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2335" y="317260"/>
            <a:ext cx="5702530" cy="5702530"/>
          </a:xfrm>
          <a:prstGeom prst="rect">
            <a:avLst/>
          </a:prstGeom>
        </p:spPr>
      </p:pic>
    </p:spTree>
    <p:extLst>
      <p:ext uri="{BB962C8B-B14F-4D97-AF65-F5344CB8AC3E}">
        <p14:creationId xmlns:p14="http://schemas.microsoft.com/office/powerpoint/2010/main" val="82969002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f2660095-1412-4de3-82c3-8cc48b93c150"/>
  <p:tag name="COMMONDATA" val="eyJoZGlkIjoiNWRkODIxNmNlMWQwOGQ5ZWM2NDdjYjliN2MxOTE4YTk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Office">
      <a:dk1>
        <a:srgbClr val="000000"/>
      </a:dk1>
      <a:lt1>
        <a:srgbClr val="FFFFFF"/>
      </a:lt1>
      <a:dk2>
        <a:srgbClr val="1F497D"/>
      </a:dk2>
      <a:lt2>
        <a:srgbClr val="EEECE1"/>
      </a:lt2>
      <a:accent1>
        <a:srgbClr val="A550DE"/>
      </a:accent1>
      <a:accent2>
        <a:srgbClr val="81308C"/>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A550DE"/>
    </a:accent1>
    <a:accent2>
      <a:srgbClr val="81308C"/>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4039</TotalTime>
  <Words>6063</Words>
  <Application>Microsoft Office PowerPoint</Application>
  <PresentationFormat>宽屏</PresentationFormat>
  <Paragraphs>829</Paragraphs>
  <Slides>95</Slides>
  <Notes>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95</vt:i4>
      </vt:variant>
    </vt:vector>
  </HeadingPairs>
  <TitlesOfParts>
    <vt:vector size="114" baseType="lpstr">
      <vt:lpstr>等线</vt:lpstr>
      <vt:lpstr>方正舒体</vt:lpstr>
      <vt:lpstr>黑体</vt:lpstr>
      <vt:lpstr>楷体_GB2312</vt:lpstr>
      <vt:lpstr>隶书</vt:lpstr>
      <vt:lpstr>宋体</vt:lpstr>
      <vt:lpstr>微软雅黑</vt:lpstr>
      <vt:lpstr>Arial</vt:lpstr>
      <vt:lpstr>Arial Black</vt:lpstr>
      <vt:lpstr>Calibri</vt:lpstr>
      <vt:lpstr>Candara</vt:lpstr>
      <vt:lpstr>Comic Sans MS</vt:lpstr>
      <vt:lpstr>Courier New</vt:lpstr>
      <vt:lpstr>Segoe UI</vt:lpstr>
      <vt:lpstr>Segoe UI Semilight</vt:lpstr>
      <vt:lpstr>Tahoma</vt:lpstr>
      <vt:lpstr>Times New Roman</vt:lpstr>
      <vt:lpstr>Wingdings</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CWJ</cp:lastModifiedBy>
  <cp:revision>382</cp:revision>
  <dcterms:created xsi:type="dcterms:W3CDTF">2020-07-27T01:08:00Z</dcterms:created>
  <dcterms:modified xsi:type="dcterms:W3CDTF">2025-10-14T04:29:18Z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F2ED8728BD3849908EBCAD75A285C632_13</vt:lpwstr>
  </property>
  <property fmtid="{D5CDD505-2E9C-101B-9397-08002B2CF9AE}" pid="3" name="KSOProductBuildVer">
    <vt:lpwstr>2052-11.1.0.14309</vt:lpwstr>
  </property>
</Properties>
</file>