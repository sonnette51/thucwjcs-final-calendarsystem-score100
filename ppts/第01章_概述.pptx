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8"/>
  </p:handoutMasterIdLst>
  <p:sldIdLst>
    <p:sldId id="451" r:id="rId3"/>
    <p:sldId id="452" r:id="rId4"/>
    <p:sldId id="454" r:id="rId5"/>
    <p:sldId id="460" r:id="rId6"/>
    <p:sldId id="461" r:id="rId7"/>
    <p:sldId id="462" r:id="rId8"/>
    <p:sldId id="463" r:id="rId9"/>
    <p:sldId id="464" r:id="rId11"/>
    <p:sldId id="465" r:id="rId12"/>
    <p:sldId id="468" r:id="rId13"/>
    <p:sldId id="476" r:id="rId14"/>
    <p:sldId id="469" r:id="rId15"/>
    <p:sldId id="477" r:id="rId16"/>
    <p:sldId id="478" r:id="rId17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3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5825"/>
    <a:srgbClr val="D1D1F0"/>
    <a:srgbClr val="82308E"/>
    <a:srgbClr val="0086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9" d="100"/>
          <a:sy n="89" d="100"/>
        </p:scale>
        <p:origin x="304" y="64"/>
      </p:cViewPr>
      <p:guideLst>
        <p:guide orient="horz" pos="2150"/>
        <p:guide pos="385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3752"/>
    </p:cViewPr>
  </p:sorterViewPr>
  <p:notesViewPr>
    <p:cSldViewPr snapToGrid="0">
      <p:cViewPr varScale="1">
        <p:scale>
          <a:sx n="50" d="100"/>
          <a:sy n="50" d="100"/>
        </p:scale>
        <p:origin x="247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4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22160" y="1717964"/>
            <a:ext cx="4347422" cy="434742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51544" y="869784"/>
            <a:ext cx="5028111" cy="5028111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09146" y="6433625"/>
            <a:ext cx="254608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自强不息，厚德载物</a:t>
            </a:r>
            <a:endParaRPr lang="zh-CN" altLang="en-US" sz="2000" dirty="0">
              <a:solidFill>
                <a:schemeClr val="accent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109146" y="6433625"/>
            <a:ext cx="254608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自强不息，厚德载物</a:t>
            </a:r>
            <a:endParaRPr lang="zh-CN" altLang="en-US" sz="2000" dirty="0">
              <a:solidFill>
                <a:schemeClr val="accent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11599363" y="6477007"/>
            <a:ext cx="55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35A5ECB-3606-4A97-BFD1-55C7127585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6842406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变量的命名规则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343803" y="1674667"/>
            <a:ext cx="9504305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8925" indent="-288925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仅包含字母、数字和下划线（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rPr>
              <a:t>'</a:t>
            </a:r>
            <a:r>
              <a:rPr kumimoji="1" lang="en-US" altLang="zh-CN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_</a:t>
            </a:r>
            <a:r>
              <a:rPr kumimoji="1" lang="en-US" altLang="zh-CN" sz="3200" b="1">
                <a:latin typeface="Times New Roman" panose="02020503050405090304" pitchFamily="18" charset="0"/>
                <a:ea typeface="楷体_GB2312" pitchFamily="49" charset="-122"/>
              </a:rPr>
              <a:t>'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）；</a:t>
            </a:r>
            <a:endParaRPr kumimoji="1" lang="zh-CN" altLang="en-US" sz="3200" b="1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第一个字符必须为字母或下划线；</a:t>
            </a:r>
            <a:endParaRPr kumimoji="1" lang="zh-CN" altLang="en-US" sz="3200" b="1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不能使用</a:t>
            </a:r>
            <a:r>
              <a:rPr kumimoji="1" lang="en-US" altLang="zh-CN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Python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语言保留的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rPr>
              <a:t>“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关键字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rPr>
              <a:t>”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来作为变量名，如</a:t>
            </a:r>
            <a:r>
              <a:rPr kumimoji="1" lang="en-US" altLang="zh-CN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if, True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等；</a:t>
            </a:r>
            <a:endParaRPr kumimoji="1" lang="zh-CN" altLang="en-US" sz="3200" b="1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变量名是大小写有关的，例如：</a:t>
            </a:r>
            <a:r>
              <a:rPr kumimoji="1" lang="en-US" altLang="zh-CN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sum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kumimoji="1" lang="en-US" altLang="zh-CN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SUM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是两个不同的变量名。</a:t>
            </a:r>
            <a:endParaRPr kumimoji="1" lang="zh-CN" altLang="en-US" sz="3200" b="1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2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6842406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变量的命名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内容占位符 2" descr="Rectangle: Click to edit Master text styles&#10;Second level&#10;Third level&#10;Fourth level&#10;Fifth level"/>
          <p:cNvSpPr txBox="1"/>
          <p:nvPr/>
        </p:nvSpPr>
        <p:spPr>
          <a:xfrm>
            <a:off x="1163805" y="1371600"/>
            <a:ext cx="9019286" cy="4953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90000"/>
              <a:buFont typeface="Wingdings" panose="05000000000000000000" pitchFamily="2" charset="2"/>
              <a:buChar char="l"/>
            </a:pPr>
            <a:r>
              <a:rPr lang="zh-CN" altLang="en-US" b="1">
                <a:latin typeface="SimSun" pitchFamily="2" charset="-122"/>
                <a:ea typeface="SimSun" pitchFamily="2" charset="-122"/>
                <a:cs typeface="Times New Roman" panose="02020503050405090304" pitchFamily="18" charset="0"/>
              </a:rPr>
              <a:t>合法的标识符</a:t>
            </a:r>
            <a:endParaRPr lang="en-US" altLang="zh-CN" b="1">
              <a:latin typeface="SimSun" pitchFamily="2" charset="-122"/>
              <a:ea typeface="SimSun" pitchFamily="2" charset="-122"/>
              <a:cs typeface="Times New Roman" panose="0202050305040509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503050405090304" pitchFamily="18" charset="0"/>
                <a:ea typeface="SimSun" pitchFamily="2" charset="-122"/>
                <a:cs typeface="Times New Roman" panose="02020503050405090304" pitchFamily="18" charset="0"/>
              </a:rPr>
              <a:t>   _BandNames		</a:t>
            </a:r>
            <a:r>
              <a:rPr lang="en-US" altLang="zh-CN" b="1">
                <a:latin typeface="Consolas" pitchFamily="49" charset="0"/>
                <a:ea typeface="SimSun" pitchFamily="2" charset="-122"/>
                <a:cs typeface="Times New Roman" panose="02020503050405090304" pitchFamily="18" charset="0"/>
              </a:rPr>
              <a:t>TFBoys</a:t>
            </a:r>
            <a:r>
              <a:rPr lang="en-US" altLang="zh-CN" b="1">
                <a:latin typeface="Times New Roman" panose="02020503050405090304" pitchFamily="18" charset="0"/>
                <a:ea typeface="SimSun" pitchFamily="2" charset="-122"/>
                <a:cs typeface="Times New Roman" panose="02020503050405090304" pitchFamily="18" charset="0"/>
              </a:rPr>
              <a:t>	S_H_E	F4</a:t>
            </a:r>
            <a:endParaRPr lang="en-US" altLang="zh-CN" b="1">
              <a:latin typeface="Times New Roman" panose="02020503050405090304" pitchFamily="18" charset="0"/>
              <a:ea typeface="SimSun" pitchFamily="2" charset="-122"/>
              <a:cs typeface="Times New Roman" panose="0202050305040509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503050405090304" pitchFamily="18" charset="0"/>
                <a:ea typeface="SimSun" pitchFamily="2" charset="-122"/>
                <a:cs typeface="Times New Roman" panose="02020503050405090304" pitchFamily="18" charset="0"/>
              </a:rPr>
              <a:t>	Twins</a:t>
            </a:r>
            <a:endParaRPr lang="en-US" altLang="zh-CN" b="1">
              <a:latin typeface="Times New Roman" panose="02020503050405090304" pitchFamily="18" charset="0"/>
              <a:ea typeface="SimSun" pitchFamily="2" charset="-122"/>
              <a:cs typeface="Times New Roman" panose="02020503050405090304" pitchFamily="18" charset="0"/>
            </a:endParaRPr>
          </a:p>
          <a:p>
            <a:pPr>
              <a:spcBef>
                <a:spcPts val="1800"/>
              </a:spcBef>
              <a:buSzPct val="90000"/>
              <a:buFont typeface="Wingdings" panose="05000000000000000000" pitchFamily="2" charset="2"/>
              <a:buChar char="l"/>
            </a:pPr>
            <a:r>
              <a:rPr lang="zh-CN" altLang="en-US" b="1">
                <a:latin typeface="Times New Roman" panose="02020503050405090304" pitchFamily="18" charset="0"/>
                <a:ea typeface="SimSun" pitchFamily="2" charset="-122"/>
                <a:cs typeface="Times New Roman" panose="02020503050405090304" pitchFamily="18" charset="0"/>
              </a:rPr>
              <a:t>非法的标识符</a:t>
            </a:r>
            <a:endParaRPr lang="en-US" altLang="zh-CN" b="1">
              <a:latin typeface="Times New Roman" panose="02020503050405090304" pitchFamily="18" charset="0"/>
              <a:ea typeface="SimSun" pitchFamily="2" charset="-122"/>
              <a:cs typeface="Times New Roman" panose="02020503050405090304" pitchFamily="18" charset="0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503050405090304" pitchFamily="18" charset="0"/>
                <a:ea typeface="SimSun" pitchFamily="2" charset="-122"/>
                <a:cs typeface="Times New Roman" panose="02020503050405090304" pitchFamily="18" charset="0"/>
              </a:rPr>
              <a:t>   Magic1+1      	183club	S.H.E		Y-Star   </a:t>
            </a:r>
            <a:endParaRPr lang="en-US" altLang="zh-CN" b="1">
              <a:latin typeface="Times New Roman" panose="02020503050405090304" pitchFamily="18" charset="0"/>
              <a:ea typeface="SimSun" pitchFamily="2" charset="-122"/>
              <a:cs typeface="Times New Roman" panose="02020503050405090304" pitchFamily="18" charset="0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503050405090304" pitchFamily="18" charset="0"/>
                <a:ea typeface="SimSun" pitchFamily="2" charset="-122"/>
                <a:cs typeface="Times New Roman" panose="02020503050405090304" pitchFamily="18" charset="0"/>
              </a:rPr>
              <a:t>	Robynn&amp;kendy	Angel Girl</a:t>
            </a:r>
            <a:endParaRPr lang="en-US" altLang="zh-CN" b="1">
              <a:latin typeface="Times New Roman" panose="02020503050405090304" pitchFamily="18" charset="0"/>
              <a:ea typeface="SimSun" pitchFamily="2" charset="-122"/>
              <a:cs typeface="Times New Roman" panose="02020503050405090304" pitchFamily="18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380831" y="4962005"/>
            <a:ext cx="1825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b="1">
                <a:solidFill>
                  <a:srgbClr val="FF0000"/>
                </a:solidFill>
                <a:ea typeface="SimSun" pitchFamily="2" charset="-122"/>
              </a:rPr>
              <a:t>凤凰传奇</a:t>
            </a:r>
            <a:endParaRPr lang="en-US" altLang="zh-CN" b="1">
              <a:solidFill>
                <a:srgbClr val="FF0000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6842406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整型的取值范围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012788" y="1371600"/>
            <a:ext cx="9993265" cy="13234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3200" b="1">
                <a:latin typeface="Times New Roman" panose="02020503050405090304" pitchFamily="18" charset="0"/>
                <a:ea typeface="楷体_GB2312" pitchFamily="49" charset="-122"/>
              </a:rPr>
              <a:t>由于数据类型决定了空间大小及编码方式，因此通常</a:t>
            </a:r>
            <a:endParaRPr kumimoji="1" lang="en-US" altLang="zh-CN" sz="3200" b="1">
              <a:latin typeface="Times New Roman" panose="02020503050405090304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None/>
            </a:pPr>
            <a:r>
              <a:rPr kumimoji="1" lang="zh-CN" altLang="en-US" sz="3200" b="1">
                <a:latin typeface="Times New Roman" panose="02020503050405090304" pitchFamily="18" charset="0"/>
                <a:ea typeface="楷体_GB2312" pitchFamily="49" charset="-122"/>
              </a:rPr>
              <a:t>的整数类型有取值范围和无符号整型。</a:t>
            </a:r>
            <a:endParaRPr kumimoji="1" lang="zh-CN" altLang="en-US" sz="3200" b="1"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Group 144"/>
          <p:cNvGraphicFramePr/>
          <p:nvPr/>
        </p:nvGraphicFramePr>
        <p:xfrm>
          <a:off x="1183197" y="3124200"/>
          <a:ext cx="8767138" cy="2667000"/>
        </p:xfrm>
        <a:graphic>
          <a:graphicData uri="http://schemas.openxmlformats.org/drawingml/2006/table">
            <a:tbl>
              <a:tblPr/>
              <a:tblGrid>
                <a:gridCol w="2362200"/>
                <a:gridCol w="1517054"/>
                <a:gridCol w="1504604"/>
                <a:gridCol w="338328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itchFamily="2" charset="-122"/>
                          <a:ea typeface="SimSun" pitchFamily="2" charset="-122"/>
                        </a:rPr>
                        <a:t>数据类型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itchFamily="2" charset="-122"/>
                          <a:ea typeface="SimSun" pitchFamily="2" charset="-122"/>
                        </a:rPr>
                        <a:t>字节数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itchFamily="2" charset="-122"/>
                          <a:ea typeface="SimSun" pitchFamily="2" charset="-122"/>
                        </a:rPr>
                        <a:t>比特数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itchFamily="2" charset="-122"/>
                          <a:ea typeface="SimSun" pitchFamily="2" charset="-122"/>
                        </a:rPr>
                        <a:t>取值范围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byte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-2</a:t>
                      </a:r>
                      <a:r>
                        <a:rPr kumimoji="0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7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 (2</a:t>
                      </a:r>
                      <a:r>
                        <a:rPr kumimoji="0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7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 – 1) 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short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16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-2</a:t>
                      </a:r>
                      <a:r>
                        <a:rPr kumimoji="0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15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 (2</a:t>
                      </a:r>
                      <a:r>
                        <a:rPr kumimoji="0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15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 – 1) 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int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32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-2</a:t>
                      </a:r>
                      <a:r>
                        <a:rPr kumimoji="0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31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 (2</a:t>
                      </a:r>
                      <a:r>
                        <a:rPr kumimoji="0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31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 – 1)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long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64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-2</a:t>
                      </a:r>
                      <a:r>
                        <a:rPr kumimoji="0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63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 (2</a:t>
                      </a:r>
                      <a:r>
                        <a:rPr kumimoji="0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63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 – 1)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6842406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整数 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VS 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实数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761999" y="1447800"/>
            <a:ext cx="10160925" cy="4495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504190">
              <a:buFont typeface="Wingdings 2" panose="05020102010507070707" pitchFamily="18" charset="2"/>
              <a:buChar char="ö"/>
            </a:pPr>
            <a:r>
              <a:rPr lang="zh-CN" altLang="en-US" sz="3600" b="1">
                <a:latin typeface="SimSun" pitchFamily="2" charset="-122"/>
                <a:ea typeface="SimSun" pitchFamily="2" charset="-122"/>
              </a:rPr>
              <a:t>整数与实数的区别</a:t>
            </a:r>
            <a:endParaRPr lang="en-US" altLang="zh-CN" sz="3600" b="1">
              <a:latin typeface="SimSun" pitchFamily="2" charset="-122"/>
              <a:ea typeface="SimSun" pitchFamily="2" charset="-122"/>
            </a:endParaRPr>
          </a:p>
          <a:p>
            <a:pPr marL="864235" lvl="1" indent="-504190">
              <a:spcBef>
                <a:spcPts val="1800"/>
              </a:spcBef>
              <a:buSzPct val="90000"/>
              <a:buFont typeface="Wingdings" panose="05000000000000000000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整数：能够精确地存储数据，而且没有取值范围的限制</a:t>
            </a:r>
            <a:endParaRPr lang="en-US" altLang="zh-CN" sz="3200" b="1">
              <a:latin typeface="楷体" pitchFamily="49" charset="-122"/>
              <a:ea typeface="楷体" pitchFamily="49" charset="-122"/>
            </a:endParaRPr>
          </a:p>
          <a:p>
            <a:pPr marL="791845" lvl="1" indent="-504190">
              <a:spcBef>
                <a:spcPts val="1200"/>
              </a:spcBef>
              <a:buSzPct val="90000"/>
              <a:buFont typeface="Wingdings" panose="05000000000000000000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实数：</a:t>
            </a:r>
            <a:r>
              <a:rPr lang="zh-CN" altLang="en-US" sz="32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不精确</a:t>
            </a: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地存储数据，而且有取值范围和精度的限制。解决办法：使用标准库中的</a:t>
            </a:r>
            <a:r>
              <a:rPr lang="en-US" altLang="zh-CN" sz="3200" b="1">
                <a:latin typeface="Times New Roman" panose="02020503050405090304" pitchFamily="18" charset="0"/>
                <a:ea typeface="楷体" pitchFamily="49" charset="-122"/>
                <a:cs typeface="Times New Roman" panose="02020503050405090304" pitchFamily="18" charset="0"/>
              </a:rPr>
              <a:t>decimal.Decimal</a:t>
            </a: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类型</a:t>
            </a:r>
            <a:endParaRPr lang="en-US" altLang="zh-CN" sz="3200" b="1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6842406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指数表示法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762000" y="1256601"/>
            <a:ext cx="7620000" cy="4953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90000"/>
              <a:buFont typeface="Wingdings 2" panose="05020102010507070707" pitchFamily="18" charset="2"/>
              <a:buChar char="ö"/>
            </a:pPr>
            <a:r>
              <a:rPr lang="zh-CN" altLang="en-US" sz="3600" b="1">
                <a:latin typeface="SimSun" pitchFamily="2" charset="-122"/>
                <a:ea typeface="SimSun" pitchFamily="2" charset="-122"/>
              </a:rPr>
              <a:t>指数表示法（</a:t>
            </a:r>
            <a:r>
              <a:rPr lang="en-US" altLang="zh-CN" sz="3600" b="1">
                <a:latin typeface="Times New Roman" panose="02020503050405090304" pitchFamily="18" charset="0"/>
                <a:ea typeface="SimSun" pitchFamily="2" charset="-122"/>
                <a:cs typeface="Times New Roman" panose="02020503050405090304" pitchFamily="18" charset="0"/>
              </a:rPr>
              <a:t>exponent notation</a:t>
            </a:r>
            <a:r>
              <a:rPr lang="zh-CN" altLang="en-US" sz="3600" b="1">
                <a:latin typeface="SimSun" pitchFamily="2" charset="-122"/>
                <a:ea typeface="SimSun" pitchFamily="2" charset="-122"/>
              </a:rPr>
              <a:t>）</a:t>
            </a:r>
            <a:endParaRPr lang="en-US" altLang="zh-CN" sz="3600" b="1">
              <a:latin typeface="SimSun" pitchFamily="2" charset="-122"/>
              <a:ea typeface="SimSun" pitchFamily="2" charset="-122"/>
            </a:endParaRPr>
          </a:p>
          <a:p>
            <a:pPr marL="864235" lvl="1" indent="-431800">
              <a:spcBef>
                <a:spcPts val="1800"/>
              </a:spcBef>
              <a:buSzPct val="90000"/>
              <a:buFont typeface="Wingdings" panose="05000000000000000000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用于描述特别大或特别小的实数</a:t>
            </a:r>
            <a:endParaRPr lang="en-US" altLang="zh-CN" sz="3200" b="1">
              <a:latin typeface="楷体" pitchFamily="49" charset="-122"/>
              <a:ea typeface="楷体" pitchFamily="49" charset="-122"/>
            </a:endParaRPr>
          </a:p>
          <a:p>
            <a:pPr marL="864235" lvl="1" indent="-431800">
              <a:spcBef>
                <a:spcPts val="1800"/>
              </a:spcBef>
              <a:buSzPct val="90000"/>
              <a:buFont typeface="Wingdings" panose="05000000000000000000" pitchFamily="2" charset="2"/>
              <a:buChar char="J"/>
            </a:pPr>
            <a:r>
              <a:rPr lang="en-US" altLang="zh-CN" sz="3200" b="1">
                <a:latin typeface="楷体" pitchFamily="49" charset="-122"/>
                <a:ea typeface="楷体" pitchFamily="49" charset="-122"/>
              </a:rPr>
              <a:t>100000000.0</a:t>
            </a:r>
            <a:endParaRPr lang="en-US" altLang="zh-CN" sz="3200" b="1">
              <a:latin typeface="楷体" pitchFamily="49" charset="-122"/>
              <a:ea typeface="楷体" pitchFamily="49" charset="-122"/>
            </a:endParaRPr>
          </a:p>
          <a:p>
            <a:pPr marL="864235" lvl="1" indent="-431800">
              <a:spcBef>
                <a:spcPts val="1800"/>
              </a:spcBef>
              <a:buSzPct val="90000"/>
              <a:buFont typeface="Wingdings" panose="05000000000000000000" pitchFamily="2" charset="2"/>
              <a:buChar char="J"/>
            </a:pPr>
            <a:r>
              <a:rPr lang="en-US" altLang="zh-CN" sz="3200" b="1">
                <a:latin typeface="楷体" pitchFamily="49" charset="-122"/>
                <a:ea typeface="楷体" pitchFamily="49" charset="-122"/>
              </a:rPr>
              <a:t>1.0e8</a:t>
            </a:r>
            <a:endParaRPr lang="en-US" altLang="zh-CN" sz="3200" b="1">
              <a:latin typeface="楷体" pitchFamily="49" charset="-122"/>
              <a:ea typeface="楷体" pitchFamily="49" charset="-122"/>
            </a:endParaRPr>
          </a:p>
          <a:p>
            <a:pPr marL="864235" lvl="1" indent="-431800">
              <a:spcBef>
                <a:spcPts val="1800"/>
              </a:spcBef>
              <a:buSzPct val="90000"/>
              <a:buFont typeface="Wingdings" panose="05000000000000000000" pitchFamily="2" charset="2"/>
              <a:buChar char="J"/>
            </a:pPr>
            <a:r>
              <a:rPr lang="en-US" altLang="zh-CN" sz="3200" b="1">
                <a:latin typeface="楷体" pitchFamily="49" charset="-122"/>
                <a:ea typeface="楷体" pitchFamily="49" charset="-122"/>
              </a:rPr>
              <a:t>-22.51e-6</a:t>
            </a:r>
            <a:br>
              <a:rPr lang="en-US" altLang="zh-CN" sz="3200" b="1">
                <a:latin typeface="楷体" pitchFamily="49" charset="-122"/>
                <a:ea typeface="楷体" pitchFamily="49" charset="-122"/>
              </a:rPr>
            </a:br>
            <a:r>
              <a:rPr lang="en-US" altLang="zh-CN" sz="3200" b="1">
                <a:latin typeface="楷体" pitchFamily="49" charset="-122"/>
                <a:ea typeface="楷体" pitchFamily="49" charset="-122"/>
              </a:rPr>
              <a:t>(-0.00002251</a:t>
            </a: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）</a:t>
            </a:r>
            <a:endParaRPr lang="en-US" altLang="zh-CN" sz="3200" b="1" dirty="0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221" y="2753082"/>
            <a:ext cx="4429125" cy="320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6842406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布尔类型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1077894" y="1256601"/>
            <a:ext cx="7620000" cy="4953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90000"/>
              <a:buFont typeface="Wingdings 2" panose="05020102010507070707" pitchFamily="18" charset="2"/>
              <a:buChar char="ö"/>
            </a:pPr>
            <a:r>
              <a:rPr lang="zh-CN" altLang="en-US" sz="3600" b="1">
                <a:latin typeface="SimSun" pitchFamily="2" charset="-122"/>
                <a:ea typeface="SimSun" pitchFamily="2" charset="-122"/>
              </a:rPr>
              <a:t>布尔类型（</a:t>
            </a:r>
            <a:r>
              <a:rPr lang="en-US" altLang="zh-CN" sz="3600" b="1">
                <a:latin typeface="Times New Roman" panose="02020503050405090304" pitchFamily="18" charset="0"/>
                <a:ea typeface="SimSun" pitchFamily="2" charset="-122"/>
                <a:cs typeface="Times New Roman" panose="02020503050405090304" pitchFamily="18" charset="0"/>
              </a:rPr>
              <a:t>bool</a:t>
            </a:r>
            <a:r>
              <a:rPr lang="zh-CN" altLang="en-US" sz="3600" b="1">
                <a:latin typeface="SimSun" pitchFamily="2" charset="-122"/>
                <a:ea typeface="SimSun" pitchFamily="2" charset="-122"/>
              </a:rPr>
              <a:t>）</a:t>
            </a:r>
            <a:endParaRPr lang="en-US" altLang="zh-CN" sz="3600" b="1">
              <a:latin typeface="SimSun" pitchFamily="2" charset="-122"/>
              <a:ea typeface="SimSun" pitchFamily="2" charset="-122"/>
            </a:endParaRPr>
          </a:p>
          <a:p>
            <a:pPr marL="864235" lvl="1" indent="-431800">
              <a:spcBef>
                <a:spcPts val="1800"/>
              </a:spcBef>
              <a:buSzPct val="90000"/>
              <a:buFont typeface="Wingdings" panose="05000000000000000000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值：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ea typeface="楷体" pitchFamily="49" charset="-122"/>
                <a:cs typeface="Times New Roman" panose="02020503050405090304" pitchFamily="18" charset="0"/>
              </a:rPr>
              <a:t>T</a:t>
            </a:r>
            <a:r>
              <a:rPr lang="en-US" altLang="zh-CN" sz="3200" b="1">
                <a:latin typeface="Times New Roman" panose="02020503050405090304" pitchFamily="18" charset="0"/>
                <a:ea typeface="楷体" pitchFamily="49" charset="-122"/>
                <a:cs typeface="Times New Roman" panose="02020503050405090304" pitchFamily="18" charset="0"/>
              </a:rPr>
              <a:t>rue</a:t>
            </a:r>
            <a:r>
              <a:rPr lang="zh-CN" altLang="en-US" sz="3200" b="1">
                <a:latin typeface="楷体" pitchFamily="49" charset="-122"/>
                <a:ea typeface="楷体" pitchFamily="49" charset="-122"/>
                <a:cs typeface="Times New Roman" panose="02020503050405090304" pitchFamily="18" charset="0"/>
              </a:rPr>
              <a:t>、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ea typeface="楷体" pitchFamily="49" charset="-122"/>
                <a:cs typeface="Times New Roman" panose="02020503050405090304" pitchFamily="18" charset="0"/>
              </a:rPr>
              <a:t>F</a:t>
            </a:r>
            <a:r>
              <a:rPr lang="en-US" altLang="zh-CN" sz="3200" b="1">
                <a:latin typeface="Times New Roman" panose="02020503050405090304" pitchFamily="18" charset="0"/>
                <a:ea typeface="楷体" pitchFamily="49" charset="-122"/>
                <a:cs typeface="Times New Roman" panose="02020503050405090304" pitchFamily="18" charset="0"/>
              </a:rPr>
              <a:t>alse</a:t>
            </a:r>
            <a:endParaRPr lang="en-US" altLang="zh-CN" sz="3200" b="1">
              <a:latin typeface="Times New Roman" panose="02020503050405090304" pitchFamily="18" charset="0"/>
              <a:ea typeface="楷体" pitchFamily="49" charset="-122"/>
              <a:cs typeface="Times New Roman" panose="02020503050405090304" pitchFamily="18" charset="0"/>
            </a:endParaRPr>
          </a:p>
          <a:p>
            <a:pPr marL="864235" lvl="1" indent="-431800">
              <a:spcBef>
                <a:spcPts val="1800"/>
              </a:spcBef>
              <a:buSzPct val="90000"/>
              <a:buFont typeface="Wingdings" panose="05000000000000000000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实现方式：</a:t>
            </a:r>
            <a:r>
              <a:rPr lang="en-US" altLang="zh-CN" sz="32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、</a:t>
            </a:r>
            <a:r>
              <a:rPr lang="en-US" altLang="zh-CN" sz="32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0</a:t>
            </a:r>
            <a:endParaRPr lang="en-US" altLang="zh-CN" sz="3200" b="1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3563383" y="3693632"/>
            <a:ext cx="6096000" cy="2057400"/>
          </a:xfrm>
          <a:prstGeom prst="rect">
            <a:avLst/>
          </a:prstGeom>
          <a:solidFill>
            <a:srgbClr val="D1D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•"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SimHei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77783" y="3846032"/>
            <a:ext cx="4134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>
                <a:solidFill>
                  <a:srgbClr val="990000"/>
                </a:solidFill>
              </a:rPr>
              <a:t>Welcome to the world of </a:t>
            </a:r>
            <a:endParaRPr lang="zh-CN" altLang="en-US" sz="2800">
              <a:solidFill>
                <a:srgbClr val="99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39756" y="4608032"/>
            <a:ext cx="3900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>
                <a:solidFill>
                  <a:srgbClr val="0070C0"/>
                </a:solidFill>
                <a:latin typeface="Comic Sans MS" panose="030F0902030302020204" pitchFamily="66" charset="0"/>
              </a:rPr>
              <a:t>True</a:t>
            </a:r>
            <a:r>
              <a:rPr lang="en-US" altLang="zh-CN" sz="3600">
                <a:solidFill>
                  <a:srgbClr val="990000"/>
                </a:solidFill>
                <a:latin typeface="Comic Sans MS" panose="030F0902030302020204" pitchFamily="66" charset="0"/>
              </a:rPr>
              <a:t>    </a:t>
            </a:r>
            <a:r>
              <a:rPr lang="en-US" altLang="zh-CN" sz="3600">
                <a:latin typeface="Comic Sans MS" panose="030F0902030302020204" pitchFamily="66" charset="0"/>
              </a:rPr>
              <a:t>or</a:t>
            </a:r>
            <a:r>
              <a:rPr lang="en-US" altLang="zh-CN" sz="3600">
                <a:solidFill>
                  <a:srgbClr val="990000"/>
                </a:solidFill>
                <a:latin typeface="Comic Sans MS" panose="030F0902030302020204" pitchFamily="66" charset="0"/>
              </a:rPr>
              <a:t>   </a:t>
            </a:r>
            <a:r>
              <a:rPr lang="en-US" altLang="zh-CN" sz="3600">
                <a:solidFill>
                  <a:srgbClr val="FF0000"/>
                </a:solidFill>
                <a:latin typeface="Comic Sans MS" panose="030F0902030302020204" pitchFamily="66" charset="0"/>
              </a:rPr>
              <a:t>False</a:t>
            </a:r>
            <a:r>
              <a:rPr lang="en-US" altLang="zh-CN" sz="3600">
                <a:solidFill>
                  <a:srgbClr val="990000"/>
                </a:solidFill>
                <a:latin typeface="Comic Sans MS" panose="030F0902030302020204" pitchFamily="66" charset="0"/>
              </a:rPr>
              <a:t> </a:t>
            </a:r>
            <a:endParaRPr lang="zh-CN" altLang="en-US" sz="3600">
              <a:solidFill>
                <a:srgbClr val="990000"/>
              </a:solidFill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6726028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1.6</a:t>
            </a:r>
            <a:r>
              <a:rPr kumimoji="0" lang="en-US" altLang="zh-CN" sz="4800" b="1" i="0" u="none" strike="noStrike" kern="1200" cap="none" spc="0" normalizeH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r>
              <a:rPr kumimoji="0" lang="zh-CN" altLang="en-US" sz="4800" b="1" i="0" u="none" strike="noStrike" kern="1200" cap="none" spc="0" normalizeH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算术运算及表达式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9" name="Group 144"/>
          <p:cNvGraphicFramePr/>
          <p:nvPr/>
        </p:nvGraphicFramePr>
        <p:xfrm>
          <a:off x="2687789" y="1459719"/>
          <a:ext cx="8001000" cy="4654296"/>
        </p:xfrm>
        <a:graphic>
          <a:graphicData uri="http://schemas.openxmlformats.org/drawingml/2006/table">
            <a:tbl>
              <a:tblPr/>
              <a:tblGrid>
                <a:gridCol w="1295400"/>
                <a:gridCol w="990600"/>
                <a:gridCol w="1676400"/>
                <a:gridCol w="1676400"/>
                <a:gridCol w="23622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itchFamily="2" charset="-122"/>
                          <a:ea typeface="SimSun" pitchFamily="2" charset="-122"/>
                        </a:rPr>
                        <a:t>运算符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itchFamily="2" charset="-122"/>
                          <a:ea typeface="SimSun" pitchFamily="2" charset="-122"/>
                        </a:rPr>
                        <a:t>功能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itchFamily="2" charset="-122"/>
                          <a:ea typeface="SimSun" pitchFamily="2" charset="-122"/>
                        </a:rPr>
                        <a:t>运算对象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itchFamily="2" charset="-122"/>
                          <a:ea typeface="SimSun" pitchFamily="2" charset="-122"/>
                        </a:rPr>
                        <a:t>运算结果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itchFamily="2" charset="-122"/>
                          <a:ea typeface="SimSun" pitchFamily="2" charset="-122"/>
                        </a:rPr>
                        <a:t>举例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>
                          <a:solidFill>
                            <a:srgbClr val="973095"/>
                          </a:solidFill>
                          <a:latin typeface="Times New Roman" panose="02020503050405090304" pitchFamily="18" charset="0"/>
                          <a:ea typeface="SimSun" pitchFamily="2" charset="-122"/>
                        </a:rPr>
                        <a:t>＋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73095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加法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3 + 2 = 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3.5 + 2.6 = 6.1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>
                          <a:solidFill>
                            <a:srgbClr val="973095"/>
                          </a:solidFill>
                          <a:latin typeface="Times New Roman" panose="02020503050405090304" pitchFamily="18" charset="0"/>
                          <a:ea typeface="楷体_GB2312" pitchFamily="49" charset="-122"/>
                        </a:rPr>
                        <a:t>－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73095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减法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3 - 2 =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3.6 - 2.5 = 1.1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>
                          <a:solidFill>
                            <a:srgbClr val="973095"/>
                          </a:solidFill>
                          <a:latin typeface="Times New Roman" panose="02020503050405090304" pitchFamily="18" charset="0"/>
                          <a:ea typeface="SimSun" pitchFamily="2" charset="-122"/>
                        </a:rPr>
                        <a:t>*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73095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乘法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3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*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 2 = 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3.6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*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 2.5 = 9.0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>
                          <a:solidFill>
                            <a:srgbClr val="973095"/>
                          </a:solidFill>
                          <a:latin typeface="Times New Roman" panose="02020503050405090304" pitchFamily="18" charset="0"/>
                          <a:ea typeface="SimSun" pitchFamily="2" charset="-122"/>
                        </a:rPr>
                        <a:t>**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73095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乘方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3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**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 2 = 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2.5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**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 2.0 = 6.25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214623" y="2011686"/>
            <a:ext cx="94669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>
                <a:latin typeface="隶书" pitchFamily="49" charset="-122"/>
                <a:ea typeface="隶书" pitchFamily="49" charset="-122"/>
              </a:rPr>
              <a:t>算术运算</a:t>
            </a:r>
            <a:endParaRPr lang="zh-CN" altLang="en-US" sz="4800"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6842406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算术运算</a:t>
            </a:r>
            <a:r>
              <a:rPr lang="en-US" altLang="zh-CN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(cont.)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11" name="Group 144"/>
          <p:cNvGraphicFramePr/>
          <p:nvPr/>
        </p:nvGraphicFramePr>
        <p:xfrm>
          <a:off x="1432587" y="1386192"/>
          <a:ext cx="8001000" cy="3624072"/>
        </p:xfrm>
        <a:graphic>
          <a:graphicData uri="http://schemas.openxmlformats.org/drawingml/2006/table">
            <a:tbl>
              <a:tblPr/>
              <a:tblGrid>
                <a:gridCol w="1295400"/>
                <a:gridCol w="990600"/>
                <a:gridCol w="1676400"/>
                <a:gridCol w="1676400"/>
                <a:gridCol w="23622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itchFamily="2" charset="-122"/>
                          <a:ea typeface="SimSun" pitchFamily="2" charset="-122"/>
                        </a:rPr>
                        <a:t>运算符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itchFamily="2" charset="-122"/>
                          <a:ea typeface="SimSun" pitchFamily="2" charset="-122"/>
                        </a:rPr>
                        <a:t>功能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itchFamily="2" charset="-122"/>
                          <a:ea typeface="SimSun" pitchFamily="2" charset="-122"/>
                        </a:rPr>
                        <a:t>运算对象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itchFamily="2" charset="-122"/>
                          <a:ea typeface="SimSun" pitchFamily="2" charset="-122"/>
                        </a:rPr>
                        <a:t>运算结果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itchFamily="2" charset="-122"/>
                          <a:ea typeface="SimSun" pitchFamily="2" charset="-122"/>
                        </a:rPr>
                        <a:t>举例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1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>
                          <a:solidFill>
                            <a:srgbClr val="973095"/>
                          </a:solidFill>
                          <a:latin typeface="Times New Roman" panose="02020503050405090304" pitchFamily="18" charset="0"/>
                          <a:ea typeface="SimSun" pitchFamily="2" charset="-122"/>
                        </a:rPr>
                        <a:t>/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73095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除法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5 / 2 = 2.5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12.5 / 2.5 = 5.0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73095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//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73095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取整除法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5 // 3 =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5.6 // 2.0 = 2.0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>
                          <a:solidFill>
                            <a:srgbClr val="973095"/>
                          </a:solidFill>
                          <a:latin typeface="Times New Roman" panose="02020503050405090304" pitchFamily="18" charset="0"/>
                          <a:ea typeface="SimSun" pitchFamily="2" charset="-122"/>
                        </a:rPr>
                        <a:t>%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73095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求余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12 % 7 = 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sym typeface="Symbol" pitchFamily="18" charset="2"/>
                        </a:rPr>
                        <a:t>3.6 % 2.5 = 1.1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Rectangle 214"/>
          <p:cNvSpPr>
            <a:spLocks noChangeArrowheads="1"/>
          </p:cNvSpPr>
          <p:nvPr/>
        </p:nvSpPr>
        <p:spPr bwMode="auto">
          <a:xfrm>
            <a:off x="1311357" y="5227314"/>
            <a:ext cx="952843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相同数据类型的算术运算，除了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/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，</a:t>
            </a:r>
            <a:r>
              <a:rPr kumimoji="1" lang="zh-CN" altLang="en-US" sz="2800" b="1">
                <a:latin typeface="Times New Roman" panose="02020503050405090304" pitchFamily="18" charset="0"/>
                <a:ea typeface="SimSun" pitchFamily="2" charset="-122"/>
              </a:rPr>
              <a:t>其他都不会改变结果的数据类型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。</a:t>
            </a:r>
            <a:endParaRPr kumimoji="1" lang="zh-CN" altLang="en-US" sz="2800" b="1">
              <a:solidFill>
                <a:schemeClr val="tx1"/>
              </a:solidFill>
              <a:latin typeface="Times New Roman" panose="02020503050405090304" pitchFamily="18" charset="0"/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6842406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表达式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1111146" y="1432557"/>
            <a:ext cx="4572000" cy="4572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latin typeface="SimSun" pitchFamily="2" charset="-122"/>
                <a:ea typeface="SimSun" pitchFamily="2" charset="-122"/>
              </a:rPr>
              <a:t>表达式：有值的式子，通常由一些变量、常量、函数调用和运算符组合而成。该值有数据类型。</a:t>
            </a:r>
            <a:endParaRPr lang="en-US" altLang="zh-CN" b="1">
              <a:latin typeface="SimSun" pitchFamily="2" charset="-122"/>
              <a:ea typeface="SimSun" pitchFamily="2" charset="-122"/>
            </a:endParaRPr>
          </a:p>
          <a:p>
            <a:r>
              <a:rPr lang="zh-CN" altLang="en-US" b="1">
                <a:latin typeface="SimSun" pitchFamily="2" charset="-122"/>
                <a:ea typeface="SimSun" pitchFamily="2" charset="-122"/>
              </a:rPr>
              <a:t>算术表达式：用算术运算符和括号将运算对象（也称操作数）连接起来的式子。</a:t>
            </a:r>
            <a:endParaRPr lang="en-US" altLang="zh-CN" b="1" dirty="0">
              <a:latin typeface="SimSun" pitchFamily="2" charset="-122"/>
              <a:ea typeface="SimSun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91622" y="1659774"/>
            <a:ext cx="3866792" cy="304698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anose="02020503050405090304" pitchFamily="18" charset="0"/>
                <a:ea typeface="Microsoft JhengHei UI" pitchFamily="34" charset="-120"/>
                <a:cs typeface="Times New Roman" panose="02020503050405090304" pitchFamily="18" charset="0"/>
              </a:rPr>
              <a:t>pi =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Microsoft JhengHei UI" pitchFamily="34" charset="-120"/>
                <a:cs typeface="Times New Roman" panose="02020503050405090304" pitchFamily="18" charset="0"/>
              </a:rPr>
              <a:t>3.14</a:t>
            </a: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ea typeface="Microsoft JhengHei UI" pitchFamily="34" charset="-12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altLang="zh-CN" sz="3200" b="1">
                <a:latin typeface="Times New Roman" panose="02020503050405090304" pitchFamily="18" charset="0"/>
                <a:ea typeface="Microsoft JhengHei UI" pitchFamily="34" charset="-120"/>
                <a:cs typeface="Times New Roman" panose="02020503050405090304" pitchFamily="18" charset="0"/>
              </a:rPr>
              <a:t>r =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Microsoft JhengHei UI" pitchFamily="34" charset="-120"/>
                <a:cs typeface="Times New Roman" panose="02020503050405090304" pitchFamily="18" charset="0"/>
              </a:rPr>
              <a:t>2.0</a:t>
            </a: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ea typeface="Microsoft JhengHei UI" pitchFamily="34" charset="-12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altLang="zh-CN" sz="3200" b="1">
                <a:solidFill>
                  <a:srgbClr val="00B050"/>
                </a:solidFill>
                <a:latin typeface="Times New Roman" panose="02020503050405090304" pitchFamily="18" charset="0"/>
                <a:ea typeface="Microsoft JhengHei UI" pitchFamily="34" charset="-120"/>
                <a:cs typeface="Times New Roman" panose="02020503050405090304" pitchFamily="18" charset="0"/>
              </a:rPr>
              <a:t>#</a:t>
            </a:r>
            <a:r>
              <a:rPr lang="zh-CN" altLang="en-US" sz="3200" b="1">
                <a:solidFill>
                  <a:srgbClr val="00B050"/>
                </a:solidFill>
                <a:latin typeface="SimSun" pitchFamily="2" charset="-122"/>
                <a:ea typeface="SimSun" pitchFamily="2" charset="-122"/>
                <a:cs typeface="Times New Roman" panose="02020503050405090304" pitchFamily="18" charset="0"/>
              </a:rPr>
              <a:t>计算圆面积</a:t>
            </a:r>
            <a:r>
              <a:rPr lang="en-US" altLang="zh-CN" sz="3200" b="1">
                <a:solidFill>
                  <a:srgbClr val="00B050"/>
                </a:solidFill>
                <a:latin typeface="SimSun" pitchFamily="2" charset="-122"/>
                <a:ea typeface="SimSun" pitchFamily="2" charset="-122"/>
                <a:cs typeface="Times New Roman" panose="02020503050405090304" pitchFamily="18" charset="0"/>
              </a:rPr>
              <a:t> </a:t>
            </a:r>
            <a:endParaRPr lang="en-US" altLang="zh-CN" sz="3200" b="1">
              <a:solidFill>
                <a:srgbClr val="00B050"/>
              </a:solidFill>
              <a:latin typeface="SimSun" pitchFamily="2" charset="-122"/>
              <a:ea typeface="SimSun" pitchFamily="2" charset="-122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altLang="zh-CN" sz="3200" b="1">
                <a:latin typeface="Times New Roman" panose="02020503050405090304" pitchFamily="18" charset="0"/>
                <a:ea typeface="Microsoft JhengHei UI" pitchFamily="34" charset="-120"/>
                <a:cs typeface="Times New Roman" panose="02020503050405090304" pitchFamily="18" charset="0"/>
              </a:rPr>
              <a:t>area =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Microsoft JhengHei UI" pitchFamily="34" charset="-120"/>
                <a:cs typeface="Times New Roman" panose="02020503050405090304" pitchFamily="18" charset="0"/>
              </a:rPr>
              <a:t>pi * (r ** 2)</a:t>
            </a: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ea typeface="Microsoft JhengHei UI" pitchFamily="34" charset="-12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altLang="zh-CN" sz="3200" b="1">
                <a:latin typeface="Times New Roman" panose="02020503050405090304" pitchFamily="18" charset="0"/>
                <a:ea typeface="Microsoft JhengHei UI" pitchFamily="34" charset="-120"/>
                <a:cs typeface="Times New Roman" panose="02020503050405090304" pitchFamily="18" charset="0"/>
              </a:rPr>
              <a:t>r =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Microsoft JhengHei UI" pitchFamily="34" charset="-120"/>
                <a:cs typeface="Times New Roman" panose="02020503050405090304" pitchFamily="18" charset="0"/>
              </a:rPr>
              <a:t>r + 1</a:t>
            </a: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ea typeface="Microsoft JhengHei UI" pitchFamily="34" charset="-12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altLang="zh-CN" sz="3200" b="1">
                <a:latin typeface="Times New Roman" panose="02020503050405090304" pitchFamily="18" charset="0"/>
                <a:ea typeface="Microsoft JhengHei UI" pitchFamily="34" charset="-120"/>
                <a:cs typeface="Times New Roman" panose="02020503050405090304" pitchFamily="18" charset="0"/>
              </a:rPr>
              <a:t>area =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Microsoft JhengHei UI" pitchFamily="34" charset="-120"/>
                <a:cs typeface="Times New Roman" panose="02020503050405090304" pitchFamily="18" charset="0"/>
              </a:rPr>
              <a:t>pi * (r ** 2)</a:t>
            </a: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ea typeface="Microsoft JhengHei UI" pitchFamily="34" charset="-120"/>
              <a:cs typeface="Times New Roman" panose="0202050305040509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7060017" y="5241174"/>
            <a:ext cx="3048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•"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SimHei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41017" y="5042744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latin typeface="SimSun" pitchFamily="2" charset="-122"/>
                <a:ea typeface="SimSun" pitchFamily="2" charset="-122"/>
              </a:rPr>
              <a:t>表达式</a:t>
            </a:r>
            <a:endParaRPr lang="zh-CN" altLang="en-US" sz="2800" b="1">
              <a:latin typeface="SimSun" pitchFamily="2" charset="-122"/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6726028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1.7</a:t>
            </a:r>
            <a:r>
              <a:rPr kumimoji="0" lang="en-US" altLang="zh-CN" sz="4800" b="1" i="0" u="none" strike="noStrike" kern="1200" cap="none" spc="0" normalizeH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r>
              <a:rPr kumimoji="0" lang="zh-CN" altLang="en-US" sz="4800" b="1" i="0" u="none" strike="noStrike" kern="1200" cap="none" spc="0" normalizeH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输入与输出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4" name="Picture 7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416" y="1351508"/>
            <a:ext cx="7988181" cy="3952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Line 9"/>
          <p:cNvSpPr>
            <a:spLocks noChangeShapeType="1"/>
          </p:cNvSpPr>
          <p:nvPr/>
        </p:nvSpPr>
        <p:spPr bwMode="auto">
          <a:xfrm flipV="1">
            <a:off x="2934393" y="3414712"/>
            <a:ext cx="1318419" cy="2044083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2382737" y="5458796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9pPr>
          </a:lstStyle>
          <a:p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  <a:ea typeface="SimSun" pitchFamily="2" charset="-122"/>
              </a:rPr>
              <a:t>核心部件</a:t>
            </a:r>
            <a:endParaRPr kumimoji="1" lang="zh-CN" altLang="en-US" sz="2800" b="1">
              <a:solidFill>
                <a:srgbClr val="0000FF"/>
              </a:solidFill>
              <a:latin typeface="Times New Roman" panose="02020503050405090304" pitchFamily="18" charset="0"/>
              <a:ea typeface="SimSun" pitchFamily="2" charset="-122"/>
            </a:endParaRPr>
          </a:p>
        </p:txBody>
      </p:sp>
      <p:sp>
        <p:nvSpPr>
          <p:cNvPr id="17" name="Line 11"/>
          <p:cNvSpPr>
            <a:spLocks noChangeShapeType="1"/>
          </p:cNvSpPr>
          <p:nvPr/>
        </p:nvSpPr>
        <p:spPr bwMode="auto">
          <a:xfrm flipH="1" flipV="1">
            <a:off x="8088211" y="2857500"/>
            <a:ext cx="453231" cy="2616420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7835800" y="5473920"/>
            <a:ext cx="1411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9pPr>
          </a:lstStyle>
          <a:p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SimSun" pitchFamily="2" charset="-122"/>
              </a:rPr>
              <a:t>I/O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  <a:ea typeface="SimSun" pitchFamily="2" charset="-122"/>
              </a:rPr>
              <a:t>设备</a:t>
            </a:r>
            <a:endParaRPr kumimoji="1" lang="zh-CN" altLang="en-US" sz="2800" b="1">
              <a:solidFill>
                <a:srgbClr val="0000FF"/>
              </a:solidFill>
              <a:latin typeface="Times New Roman" panose="02020503050405090304" pitchFamily="18" charset="0"/>
              <a:ea typeface="SimSun" pitchFamily="2" charset="-122"/>
            </a:endParaRPr>
          </a:p>
        </p:txBody>
      </p:sp>
      <p:grpSp>
        <p:nvGrpSpPr>
          <p:cNvPr id="19" name="Group 56"/>
          <p:cNvGrpSpPr/>
          <p:nvPr/>
        </p:nvGrpSpPr>
        <p:grpSpPr bwMode="auto">
          <a:xfrm>
            <a:off x="3387353" y="1789317"/>
            <a:ext cx="3897320" cy="4087830"/>
            <a:chOff x="1344" y="1488"/>
            <a:chExt cx="2455" cy="2575"/>
          </a:xfrm>
        </p:grpSpPr>
        <p:sp>
          <p:nvSpPr>
            <p:cNvPr id="22" name="AutoShape 15"/>
            <p:cNvSpPr>
              <a:spLocks noChangeArrowheads="1"/>
            </p:cNvSpPr>
            <p:nvPr/>
          </p:nvSpPr>
          <p:spPr bwMode="auto">
            <a:xfrm>
              <a:off x="1436" y="1968"/>
              <a:ext cx="240" cy="96"/>
            </a:xfrm>
            <a:prstGeom prst="leftRightArrow">
              <a:avLst>
                <a:gd name="adj1" fmla="val 50000"/>
                <a:gd name="adj2" fmla="val 50000"/>
              </a:avLst>
            </a:prstGeom>
            <a:noFill/>
            <a:ln w="50800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>
                <a:ea typeface="SimSun" pitchFamily="2" charset="-122"/>
              </a:endParaRPr>
            </a:p>
          </p:txBody>
        </p:sp>
        <p:sp>
          <p:nvSpPr>
            <p:cNvPr id="24" name="Text Box 18"/>
            <p:cNvSpPr txBox="1">
              <a:spLocks noChangeArrowheads="1"/>
            </p:cNvSpPr>
            <p:nvPr/>
          </p:nvSpPr>
          <p:spPr bwMode="auto">
            <a:xfrm>
              <a:off x="1344" y="1689"/>
              <a:ext cx="3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zh-CN" sz="1800" b="1">
                  <a:solidFill>
                    <a:schemeClr val="tx2"/>
                  </a:solidFill>
                  <a:ea typeface="SimSun" pitchFamily="2" charset="-122"/>
                </a:rPr>
                <a:t>I/O</a:t>
              </a:r>
              <a:endParaRPr lang="en-US" altLang="zh-CN" sz="1800" b="1">
                <a:solidFill>
                  <a:schemeClr val="tx2"/>
                </a:solidFill>
                <a:ea typeface="SimSun" pitchFamily="2" charset="-122"/>
              </a:endParaRPr>
            </a:p>
          </p:txBody>
        </p:sp>
        <p:sp>
          <p:nvSpPr>
            <p:cNvPr id="25" name="Text Box 19"/>
            <p:cNvSpPr txBox="1">
              <a:spLocks noChangeArrowheads="1"/>
            </p:cNvSpPr>
            <p:nvPr/>
          </p:nvSpPr>
          <p:spPr bwMode="auto">
            <a:xfrm>
              <a:off x="2045" y="3775"/>
              <a:ext cx="15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kumimoji="1" lang="en-US" altLang="zh-CN" sz="2400" b="1">
                  <a:solidFill>
                    <a:srgbClr val="C20500"/>
                  </a:solidFill>
                  <a:latin typeface="Times New Roman" panose="02020503050405090304" pitchFamily="18" charset="0"/>
                  <a:ea typeface="SimSun" pitchFamily="2" charset="-122"/>
                </a:rPr>
                <a:t>I/O</a:t>
              </a:r>
              <a:r>
                <a:rPr kumimoji="1" lang="zh-CN" altLang="en-US" sz="2400" b="1">
                  <a:solidFill>
                    <a:srgbClr val="C20500"/>
                  </a:solidFill>
                  <a:latin typeface="Times New Roman" panose="02020503050405090304" pitchFamily="18" charset="0"/>
                  <a:ea typeface="SimSun" pitchFamily="2" charset="-122"/>
                </a:rPr>
                <a:t>：相对于内存</a:t>
              </a:r>
              <a:endParaRPr kumimoji="1" lang="zh-CN" altLang="en-US" sz="2400" b="1">
                <a:solidFill>
                  <a:srgbClr val="C20500"/>
                </a:solidFill>
                <a:latin typeface="Times New Roman" panose="02020503050405090304" pitchFamily="18" charset="0"/>
                <a:ea typeface="SimSun" pitchFamily="2" charset="-122"/>
              </a:endParaRPr>
            </a:p>
          </p:txBody>
        </p:sp>
        <p:sp>
          <p:nvSpPr>
            <p:cNvPr id="27" name="AutoShape 21"/>
            <p:cNvSpPr>
              <a:spLocks noChangeArrowheads="1"/>
            </p:cNvSpPr>
            <p:nvPr/>
          </p:nvSpPr>
          <p:spPr bwMode="auto">
            <a:xfrm>
              <a:off x="1436" y="1968"/>
              <a:ext cx="240" cy="96"/>
            </a:xfrm>
            <a:prstGeom prst="leftRightArrow">
              <a:avLst>
                <a:gd name="adj1" fmla="val 50000"/>
                <a:gd name="adj2" fmla="val 50000"/>
              </a:avLst>
            </a:prstGeom>
            <a:noFill/>
            <a:ln w="50800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>
                <a:ea typeface="SimSun" pitchFamily="2" charset="-122"/>
              </a:endParaRPr>
            </a:p>
          </p:txBody>
        </p:sp>
        <p:grpSp>
          <p:nvGrpSpPr>
            <p:cNvPr id="29" name="Group 33"/>
            <p:cNvGrpSpPr/>
            <p:nvPr/>
          </p:nvGrpSpPr>
          <p:grpSpPr bwMode="auto">
            <a:xfrm>
              <a:off x="3147" y="2208"/>
              <a:ext cx="494" cy="279"/>
              <a:chOff x="3151" y="2208"/>
              <a:chExt cx="494" cy="279"/>
            </a:xfrm>
          </p:grpSpPr>
          <p:sp>
            <p:nvSpPr>
              <p:cNvPr id="37" name="Text Box 16"/>
              <p:cNvSpPr txBox="1">
                <a:spLocks noChangeArrowheads="1"/>
              </p:cNvSpPr>
              <p:nvPr/>
            </p:nvSpPr>
            <p:spPr bwMode="auto">
              <a:xfrm>
                <a:off x="3151" y="2256"/>
                <a:ext cx="49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altLang="zh-CN" sz="1800" b="1">
                    <a:solidFill>
                      <a:schemeClr val="tx2"/>
                    </a:solidFill>
                    <a:ea typeface="SimSun" pitchFamily="2" charset="-122"/>
                  </a:rPr>
                  <a:t>input</a:t>
                </a:r>
                <a:endParaRPr lang="en-US" altLang="zh-CN" sz="1800" b="1">
                  <a:solidFill>
                    <a:schemeClr val="tx2"/>
                  </a:solidFill>
                  <a:ea typeface="SimSun" pitchFamily="2" charset="-122"/>
                </a:endParaRPr>
              </a:p>
            </p:txBody>
          </p:sp>
          <p:sp>
            <p:nvSpPr>
              <p:cNvPr id="38" name="AutoShape 23"/>
              <p:cNvSpPr>
                <a:spLocks noChangeArrowheads="1"/>
              </p:cNvSpPr>
              <p:nvPr/>
            </p:nvSpPr>
            <p:spPr bwMode="auto">
              <a:xfrm>
                <a:off x="3206" y="2208"/>
                <a:ext cx="288" cy="96"/>
              </a:xfrm>
              <a:prstGeom prst="leftArrow">
                <a:avLst>
                  <a:gd name="adj1" fmla="val 50000"/>
                  <a:gd name="adj2" fmla="val 75000"/>
                </a:avLst>
              </a:prstGeom>
              <a:noFill/>
              <a:ln w="50800">
                <a:solidFill>
                  <a:srgbClr val="FF3300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SimSun" pitchFamily="2" charset="-122"/>
                </a:endParaRPr>
              </a:p>
            </p:txBody>
          </p:sp>
        </p:grpSp>
        <p:sp>
          <p:nvSpPr>
            <p:cNvPr id="30" name="AutoShape 24"/>
            <p:cNvSpPr>
              <a:spLocks noChangeArrowheads="1"/>
            </p:cNvSpPr>
            <p:nvPr/>
          </p:nvSpPr>
          <p:spPr bwMode="auto">
            <a:xfrm>
              <a:off x="1436" y="1968"/>
              <a:ext cx="240" cy="96"/>
            </a:xfrm>
            <a:prstGeom prst="leftRightArrow">
              <a:avLst>
                <a:gd name="adj1" fmla="val 50000"/>
                <a:gd name="adj2" fmla="val 50000"/>
              </a:avLst>
            </a:prstGeom>
            <a:noFill/>
            <a:ln w="50800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>
                <a:ea typeface="SimSun" pitchFamily="2" charset="-122"/>
              </a:endParaRPr>
            </a:p>
          </p:txBody>
        </p:sp>
        <p:grpSp>
          <p:nvGrpSpPr>
            <p:cNvPr id="31" name="Group 27"/>
            <p:cNvGrpSpPr/>
            <p:nvPr/>
          </p:nvGrpSpPr>
          <p:grpSpPr bwMode="auto">
            <a:xfrm>
              <a:off x="1344" y="1689"/>
              <a:ext cx="380" cy="375"/>
              <a:chOff x="1348" y="1689"/>
              <a:chExt cx="380" cy="375"/>
            </a:xfrm>
          </p:grpSpPr>
          <p:sp>
            <p:nvSpPr>
              <p:cNvPr id="35" name="Text Box 25"/>
              <p:cNvSpPr txBox="1">
                <a:spLocks noChangeArrowheads="1"/>
              </p:cNvSpPr>
              <p:nvPr/>
            </p:nvSpPr>
            <p:spPr bwMode="auto">
              <a:xfrm>
                <a:off x="1348" y="1689"/>
                <a:ext cx="3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altLang="zh-CN" sz="1800" b="1">
                    <a:solidFill>
                      <a:schemeClr val="tx2"/>
                    </a:solidFill>
                    <a:ea typeface="SimSun" pitchFamily="2" charset="-122"/>
                  </a:rPr>
                  <a:t>I/O</a:t>
                </a:r>
                <a:endParaRPr lang="en-US" altLang="zh-CN" sz="1800" b="1">
                  <a:solidFill>
                    <a:schemeClr val="tx2"/>
                  </a:solidFill>
                  <a:ea typeface="SimSun" pitchFamily="2" charset="-122"/>
                </a:endParaRPr>
              </a:p>
            </p:txBody>
          </p:sp>
          <p:sp>
            <p:nvSpPr>
              <p:cNvPr id="36" name="AutoShape 26"/>
              <p:cNvSpPr>
                <a:spLocks noChangeArrowheads="1"/>
              </p:cNvSpPr>
              <p:nvPr/>
            </p:nvSpPr>
            <p:spPr bwMode="auto">
              <a:xfrm>
                <a:off x="1440" y="1968"/>
                <a:ext cx="240" cy="96"/>
              </a:xfrm>
              <a:prstGeom prst="leftRightArrow">
                <a:avLst>
                  <a:gd name="adj1" fmla="val 50000"/>
                  <a:gd name="adj2" fmla="val 50000"/>
                </a:avLst>
              </a:prstGeom>
              <a:noFill/>
              <a:ln w="50800">
                <a:solidFill>
                  <a:srgbClr val="FF3300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SimSun" pitchFamily="2" charset="-122"/>
                </a:endParaRPr>
              </a:p>
            </p:txBody>
          </p:sp>
        </p:grpSp>
        <p:grpSp>
          <p:nvGrpSpPr>
            <p:cNvPr id="32" name="Group 30"/>
            <p:cNvGrpSpPr/>
            <p:nvPr/>
          </p:nvGrpSpPr>
          <p:grpSpPr bwMode="auto">
            <a:xfrm>
              <a:off x="3194" y="1488"/>
              <a:ext cx="605" cy="293"/>
              <a:chOff x="3198" y="1488"/>
              <a:chExt cx="605" cy="293"/>
            </a:xfrm>
          </p:grpSpPr>
          <p:sp>
            <p:nvSpPr>
              <p:cNvPr id="33" name="AutoShape 28"/>
              <p:cNvSpPr>
                <a:spLocks noChangeArrowheads="1"/>
              </p:cNvSpPr>
              <p:nvPr/>
            </p:nvSpPr>
            <p:spPr bwMode="auto">
              <a:xfrm>
                <a:off x="3236" y="1685"/>
                <a:ext cx="506" cy="96"/>
              </a:xfrm>
              <a:prstGeom prst="rightArrow">
                <a:avLst>
                  <a:gd name="adj1" fmla="val 50000"/>
                  <a:gd name="adj2" fmla="val 131771"/>
                </a:avLst>
              </a:prstGeom>
              <a:noFill/>
              <a:ln w="50800">
                <a:solidFill>
                  <a:srgbClr val="FF3300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SimSun" pitchFamily="2" charset="-122"/>
                </a:endParaRPr>
              </a:p>
            </p:txBody>
          </p:sp>
          <p:sp>
            <p:nvSpPr>
              <p:cNvPr id="34" name="Text Box 29"/>
              <p:cNvSpPr txBox="1">
                <a:spLocks noChangeArrowheads="1"/>
              </p:cNvSpPr>
              <p:nvPr/>
            </p:nvSpPr>
            <p:spPr bwMode="auto">
              <a:xfrm>
                <a:off x="3198" y="1488"/>
                <a:ext cx="60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altLang="zh-CN" sz="1800" b="1">
                    <a:solidFill>
                      <a:schemeClr val="tx2"/>
                    </a:solidFill>
                    <a:ea typeface="SimSun" pitchFamily="2" charset="-122"/>
                  </a:rPr>
                  <a:t>output</a:t>
                </a:r>
                <a:endParaRPr lang="en-US" altLang="zh-CN" sz="1800" b="1">
                  <a:solidFill>
                    <a:schemeClr val="tx2"/>
                  </a:solidFill>
                  <a:ea typeface="SimSun" pitchFamily="2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6726028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输出多个数据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Text Box 80" descr="再生纸"/>
          <p:cNvSpPr txBox="1">
            <a:spLocks noChangeArrowheads="1"/>
          </p:cNvSpPr>
          <p:nvPr/>
        </p:nvSpPr>
        <p:spPr bwMode="auto">
          <a:xfrm>
            <a:off x="1385475" y="1561401"/>
            <a:ext cx="9041258" cy="13234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en-US" altLang="zh-CN" sz="3200" b="1">
                <a:latin typeface="Times New Roman" panose="02020503050405090304" pitchFamily="18" charset="0"/>
                <a:ea typeface="SimSun" pitchFamily="2" charset="-122"/>
              </a:rPr>
              <a:t>#</a:t>
            </a:r>
            <a:r>
              <a:rPr kumimoji="1" lang="zh-CN" altLang="en-US" sz="3200" b="1">
                <a:latin typeface="Times New Roman" panose="02020503050405090304" pitchFamily="18" charset="0"/>
                <a:ea typeface="SimSun" pitchFamily="2" charset="-122"/>
              </a:rPr>
              <a:t>也可以在屏幕同一行显示若干个各种类型的数据</a:t>
            </a:r>
            <a:endParaRPr kumimoji="1" lang="en-US" altLang="zh-CN" sz="3200" b="1">
              <a:latin typeface="Times New Roman" panose="02020503050405090304" pitchFamily="18" charset="0"/>
              <a:ea typeface="SimSun" pitchFamily="2" charset="-122"/>
            </a:endParaRPr>
          </a:p>
          <a:p>
            <a:pPr>
              <a:spcBef>
                <a:spcPct val="50000"/>
              </a:spcBef>
              <a:buNone/>
            </a:pPr>
            <a:r>
              <a:rPr kumimoji="1" lang="en-US" altLang="zh-CN" sz="3200" b="1">
                <a:latin typeface="Times New Roman" panose="02020503050405090304" pitchFamily="18" charset="0"/>
                <a:ea typeface="SimSun" pitchFamily="2" charset="-122"/>
              </a:rPr>
              <a:t>print(</a:t>
            </a:r>
            <a:r>
              <a:rPr kumimoji="1" lang="zh-CN" altLang="en-US" sz="3200" b="1">
                <a:latin typeface="Times New Roman" panose="02020503050405090304" pitchFamily="18" charset="0"/>
                <a:ea typeface="SimSun" pitchFamily="2" charset="-122"/>
              </a:rPr>
              <a:t>数据</a:t>
            </a:r>
            <a:r>
              <a:rPr kumimoji="1" lang="en-US" altLang="zh-CN" sz="3200" b="1">
                <a:latin typeface="Times New Roman" panose="02020503050405090304" pitchFamily="18" charset="0"/>
                <a:ea typeface="SimSun" pitchFamily="2" charset="-122"/>
              </a:rPr>
              <a:t>1, </a:t>
            </a:r>
            <a:r>
              <a:rPr kumimoji="1" lang="zh-CN" altLang="en-US" sz="3200" b="1">
                <a:latin typeface="Times New Roman" panose="02020503050405090304" pitchFamily="18" charset="0"/>
                <a:ea typeface="SimSun" pitchFamily="2" charset="-122"/>
              </a:rPr>
              <a:t>数据</a:t>
            </a:r>
            <a:r>
              <a:rPr kumimoji="1" lang="en-US" altLang="zh-CN" sz="3200" b="1">
                <a:latin typeface="Times New Roman" panose="02020503050405090304" pitchFamily="18" charset="0"/>
                <a:ea typeface="SimSun" pitchFamily="2" charset="-122"/>
              </a:rPr>
              <a:t>2, …)</a:t>
            </a:r>
            <a:endParaRPr kumimoji="1" lang="zh-CN" altLang="en-US" sz="3200" b="1">
              <a:latin typeface="Times New Roman" panose="02020503050405090304" pitchFamily="18" charset="0"/>
              <a:ea typeface="SimSun" pitchFamily="2" charset="-122"/>
            </a:endParaRPr>
          </a:p>
        </p:txBody>
      </p:sp>
      <p:sp>
        <p:nvSpPr>
          <p:cNvPr id="12" name="Text Box 80" descr="再生纸"/>
          <p:cNvSpPr txBox="1">
            <a:spLocks noChangeArrowheads="1"/>
          </p:cNvSpPr>
          <p:nvPr/>
        </p:nvSpPr>
        <p:spPr bwMode="auto">
          <a:xfrm>
            <a:off x="1385475" y="3262626"/>
            <a:ext cx="7980070" cy="13234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SimSun" pitchFamily="2" charset="-122"/>
              </a:rPr>
              <a:t>print("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anose="02020503050405090304" pitchFamily="18" charset="0"/>
                <a:ea typeface="SimSun" pitchFamily="2" charset="-122"/>
              </a:rPr>
              <a:t>悬崖边上放了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SimSun" pitchFamily="2" charset="-122"/>
              </a:rPr>
              <a:t>", 1, "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anose="02020503050405090304" pitchFamily="18" charset="0"/>
                <a:ea typeface="SimSun" pitchFamily="2" charset="-122"/>
              </a:rPr>
              <a:t>个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SimSun" pitchFamily="2" charset="-122"/>
              </a:rPr>
              <a:t>Warning")</a:t>
            </a:r>
            <a:endParaRPr kumimoji="1" lang="en-US" altLang="zh-CN" sz="3200" b="1">
              <a:solidFill>
                <a:srgbClr val="FF0000"/>
              </a:solidFill>
              <a:latin typeface="Times New Roman" panose="02020503050405090304" pitchFamily="18" charset="0"/>
              <a:ea typeface="SimSun" pitchFamily="2" charset="-122"/>
            </a:endParaRPr>
          </a:p>
          <a:p>
            <a:pPr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SimSun" pitchFamily="2" charset="-122"/>
              </a:rPr>
              <a:t>print("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anose="02020503050405090304" pitchFamily="18" charset="0"/>
                <a:ea typeface="SimSun" pitchFamily="2" charset="-122"/>
              </a:rPr>
              <a:t>的牌子，结果只有程序猿掉了下去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SimSun" pitchFamily="2" charset="-122"/>
              </a:rPr>
              <a:t>")</a:t>
            </a:r>
            <a:endParaRPr kumimoji="1" lang="zh-CN" altLang="en-US" sz="3200" b="1">
              <a:solidFill>
                <a:srgbClr val="FF0000"/>
              </a:solidFill>
              <a:latin typeface="Times New Roman" panose="02020503050405090304" pitchFamily="18" charset="0"/>
              <a:ea typeface="SimSun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6842406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输入数据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501744" y="1510145"/>
            <a:ext cx="9088668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8925" indent="-288925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格式：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  <a:cs typeface="Times New Roman" panose="02020503050405090304" pitchFamily="18" charset="0"/>
              </a:rPr>
              <a:t>input(</a:t>
            </a:r>
            <a:r>
              <a:rPr kumimoji="1" lang="en-US" altLang="zh-CN" sz="3200" b="1">
                <a:latin typeface="Times New Roman" panose="02020503050405090304" pitchFamily="18" charset="0"/>
                <a:ea typeface="楷体_GB2312" pitchFamily="49" charset="-122"/>
                <a:cs typeface="Times New Roman" panose="02020503050405090304" pitchFamily="18" charset="0"/>
              </a:rPr>
              <a:t>"</a:t>
            </a:r>
            <a:r>
              <a:rPr kumimoji="1" lang="zh-CN" altLang="en-US" sz="3200" b="1">
                <a:latin typeface="Times New Roman" panose="02020503050405090304" pitchFamily="18" charset="0"/>
                <a:ea typeface="楷体_GB2312" pitchFamily="49" charset="-122"/>
                <a:cs typeface="Times New Roman" panose="02020503050405090304" pitchFamily="18" charset="0"/>
              </a:rPr>
              <a:t>提示字符串</a:t>
            </a:r>
            <a:r>
              <a:rPr kumimoji="1" lang="en-US" altLang="zh-CN" sz="3200" b="1">
                <a:latin typeface="Times New Roman" panose="02020503050405090304" pitchFamily="18" charset="0"/>
                <a:ea typeface="楷体_GB2312" pitchFamily="49" charset="-122"/>
                <a:cs typeface="Times New Roman" panose="02020503050405090304" pitchFamily="18" charset="0"/>
              </a:rPr>
              <a:t>")</a:t>
            </a:r>
            <a:endParaRPr kumimoji="1" lang="zh-CN" altLang="en-US" sz="3200" b="1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kumimoji="1" lang="zh-CN" altLang="en-US" sz="3200" b="1">
                <a:latin typeface="楷体_GB2312" pitchFamily="49" charset="-122"/>
                <a:ea typeface="楷体_GB2312" pitchFamily="49" charset="-122"/>
              </a:rPr>
              <a:t>先在屏幕上显示“提示字符串”</a:t>
            </a:r>
            <a:endParaRPr kumimoji="1" lang="zh-CN" altLang="en-US" sz="3200" b="1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用户在其后输入一个字符串，用回车结束</a:t>
            </a:r>
            <a:endParaRPr kumimoji="1" lang="zh-CN" altLang="en-US" sz="3200" b="1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kumimoji="1" lang="zh-CN" altLang="en-US" sz="3200" b="1">
                <a:latin typeface="楷体_GB2312" pitchFamily="49" charset="-122"/>
                <a:ea typeface="楷体_GB2312" pitchFamily="49" charset="-122"/>
              </a:rPr>
              <a:t>可以将该字符串与某个变量绑定</a:t>
            </a:r>
            <a:endParaRPr kumimoji="1" lang="en-US" altLang="zh-CN" sz="3200" b="1">
              <a:latin typeface="楷体_GB2312" pitchFamily="49" charset="-122"/>
              <a:ea typeface="楷体_GB2312" pitchFamily="49" charset="-122"/>
            </a:endParaRP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如果需要输入整数、实数等数据类型，可以使用强制类型转换</a:t>
            </a:r>
            <a:endParaRPr kumimoji="1" lang="zh-CN" altLang="en-US" sz="3200" b="1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2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6842406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什么是</a:t>
            </a:r>
            <a:r>
              <a:rPr lang="en-US" altLang="zh-CN" sz="4800" noProof="0">
                <a:solidFill>
                  <a:schemeClr val="accent2"/>
                </a:solidFill>
                <a:latin typeface="Times New Roman" panose="02020503050405090304" pitchFamily="18" charset="0"/>
                <a:ea typeface="隶书" pitchFamily="49" charset="-122"/>
                <a:cs typeface="Times New Roman" panose="02020503050405090304" pitchFamily="18" charset="0"/>
              </a:rPr>
              <a:t>R</a:t>
            </a: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进制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049705" y="1565621"/>
            <a:ext cx="10089349" cy="371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7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如果某种数制只采用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R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个基本符号，则称为基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R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数制（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R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进制），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R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称为数制的“基数”，而数制中每一固定位置所对应的单位值称为“权”。</a:t>
            </a:r>
            <a:endParaRPr kumimoji="1" lang="zh-CN" altLang="en-US" sz="2800" b="1">
              <a:solidFill>
                <a:schemeClr val="tx1"/>
              </a:solidFill>
              <a:latin typeface="Times New Roman" panose="02020503050405090304" pitchFamily="18" charset="0"/>
              <a:ea typeface="SimSun" pitchFamily="2" charset="-122"/>
            </a:endParaRPr>
          </a:p>
          <a:p>
            <a:pPr eaLnBrk="1" hangingPunct="1">
              <a:spcBef>
                <a:spcPct val="7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进位计数制的编码符合“逢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R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进一，借一当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R”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的规则，各个位的权是以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R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为底的幂，一个数可按照权展开成多项式。例如一个十进制数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SimSun" pitchFamily="2" charset="-122"/>
              </a:rPr>
              <a:t>(2564)</a:t>
            </a:r>
            <a:r>
              <a:rPr kumimoji="1" lang="en-US" altLang="zh-CN" sz="2800" b="1" baseline="-25000">
                <a:solidFill>
                  <a:srgbClr val="0000FF"/>
                </a:solidFill>
                <a:latin typeface="Times New Roman" panose="02020503050405090304" pitchFamily="18" charset="0"/>
                <a:ea typeface="SimSun" pitchFamily="2" charset="-122"/>
              </a:rPr>
              <a:t>10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可按权展开为：</a:t>
            </a:r>
            <a:endParaRPr kumimoji="1" lang="zh-CN" altLang="en-US" sz="2800" b="1">
              <a:solidFill>
                <a:schemeClr val="tx1"/>
              </a:solidFill>
              <a:latin typeface="Times New Roman" panose="02020503050405090304" pitchFamily="18" charset="0"/>
              <a:ea typeface="SimSun" pitchFamily="2" charset="-122"/>
            </a:endParaRPr>
          </a:p>
          <a:p>
            <a:pPr eaLnBrk="1" hangingPunct="1">
              <a:spcBef>
                <a:spcPct val="7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2564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＝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2×10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3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+ 5×10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2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+ 6×10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1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+ 4×10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0</a:t>
            </a:r>
            <a:endParaRPr kumimoji="1" lang="en-US" altLang="zh-CN" sz="2800" b="1" baseline="30000">
              <a:solidFill>
                <a:schemeClr val="tx1"/>
              </a:solidFill>
              <a:latin typeface="Times New Roman" panose="02020503050405090304" pitchFamily="18" charset="0"/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6842406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200" b="1" kern="1200">
                <a:solidFill>
                  <a:srgbClr val="0242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几种常用的</a:t>
            </a:r>
            <a:r>
              <a:rPr lang="en-US" altLang="zh-CN" sz="4800" noProof="0">
                <a:solidFill>
                  <a:schemeClr val="accent2"/>
                </a:solidFill>
                <a:latin typeface="Times New Roman" panose="02020503050405090304" pitchFamily="18" charset="0"/>
                <a:ea typeface="隶书" pitchFamily="49" charset="-122"/>
                <a:cs typeface="Times New Roman" panose="02020503050405090304" pitchFamily="18" charset="0"/>
              </a:rPr>
              <a:t>R</a:t>
            </a: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进制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8" name="Group 276"/>
          <p:cNvGraphicFramePr>
            <a:graphicFrameLocks noGrp="1"/>
          </p:cNvGraphicFramePr>
          <p:nvPr/>
        </p:nvGraphicFramePr>
        <p:xfrm>
          <a:off x="1396019" y="1431319"/>
          <a:ext cx="8787072" cy="3268661"/>
        </p:xfrm>
        <a:graphic>
          <a:graphicData uri="http://schemas.openxmlformats.org/drawingml/2006/table">
            <a:tbl>
              <a:tblPr/>
              <a:tblGrid>
                <a:gridCol w="1870883"/>
                <a:gridCol w="1296785"/>
                <a:gridCol w="1762298"/>
                <a:gridCol w="3857106"/>
              </a:tblGrid>
              <a:tr h="8175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SimSun" pitchFamily="2" charset="-122"/>
                        </a:rPr>
                        <a:t>二进制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R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＝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SimSun" pitchFamily="2" charset="-122"/>
                        </a:rPr>
                        <a:t>基本符号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0, 1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75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SimSun" pitchFamily="2" charset="-122"/>
                        </a:rPr>
                        <a:t>八进制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R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＝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SimSun" pitchFamily="2" charset="-122"/>
                        </a:rPr>
                        <a:t>基本符号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0, 1, 2, 3, 4, 5, 6, 7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5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SimSun" pitchFamily="2" charset="-122"/>
                        </a:rPr>
                        <a:t>十进制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R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＝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10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SimSun" pitchFamily="2" charset="-122"/>
                        </a:rPr>
                        <a:t>基本符号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0, 1, 2, 3, 4, 5, 6, 7, 8, 9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75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SimSun" pitchFamily="2" charset="-122"/>
                        </a:rPr>
                        <a:t>十六进制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R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＝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16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SimSun" pitchFamily="2" charset="-122"/>
                        </a:rPr>
                        <a:t>基本符号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0 – 9,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A, B, C, D, E, F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Rectangle 214"/>
          <p:cNvSpPr>
            <a:spLocks noChangeArrowheads="1"/>
          </p:cNvSpPr>
          <p:nvPr/>
        </p:nvSpPr>
        <p:spPr bwMode="auto">
          <a:xfrm>
            <a:off x="1356331" y="5017686"/>
            <a:ext cx="89597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其中，十六进制的符号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A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～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F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分别对应于十进制的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10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～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15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503050405090304" pitchFamily="18" charset="0"/>
                <a:ea typeface="SimSun" pitchFamily="2" charset="-122"/>
              </a:rPr>
              <a:t>。</a:t>
            </a:r>
            <a:endParaRPr kumimoji="1" lang="zh-CN" altLang="en-US" sz="2800" b="1">
              <a:solidFill>
                <a:schemeClr val="tx1"/>
              </a:solidFill>
              <a:latin typeface="Times New Roman" panose="02020503050405090304" pitchFamily="18" charset="0"/>
              <a:ea typeface="SimSun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PP_MARK_KEY" val="f2660095-1412-4de3-82c3-8cc48b93c150"/>
  <p:tag name="COMMONDATA" val="eyJoZGlkIjoiNWRkODIxNmNlMWQwOGQ5ZWM2NDdjYjliN2MxOTE4YTkifQ=="/>
</p:tagLst>
</file>

<file path=ppt/theme/theme1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A550DE"/>
      </a:accent1>
      <a:accent2>
        <a:srgbClr val="81308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1711</Words>
  <Application>WPS Writer</Application>
  <PresentationFormat>宽屏</PresentationFormat>
  <Paragraphs>294</Paragraphs>
  <Slides>14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58" baseType="lpstr">
      <vt:lpstr>Arial</vt:lpstr>
      <vt:lpstr>SimSun</vt:lpstr>
      <vt:lpstr>Wingdings</vt:lpstr>
      <vt:lpstr>方正舒体</vt:lpstr>
      <vt:lpstr>华文宋体</vt:lpstr>
      <vt:lpstr>Calibri</vt:lpstr>
      <vt:lpstr>SimSun</vt:lpstr>
      <vt:lpstr>Microsoft YaHei</vt:lpstr>
      <vt:lpstr>汉仪旗黑</vt:lpstr>
      <vt:lpstr>隶书</vt:lpstr>
      <vt:lpstr>报隶-简</vt:lpstr>
      <vt:lpstr>Times New Roman</vt:lpstr>
      <vt:lpstr>等线</vt:lpstr>
      <vt:lpstr>SimHei</vt:lpstr>
      <vt:lpstr>楷体_GB2312</vt:lpstr>
      <vt:lpstr>Symbol</vt:lpstr>
      <vt:lpstr>Wingdings 2</vt:lpstr>
      <vt:lpstr>华文楷体</vt:lpstr>
      <vt:lpstr>Consolas</vt:lpstr>
      <vt:lpstr>Tahoma</vt:lpstr>
      <vt:lpstr>楷体</vt:lpstr>
      <vt:lpstr>Comic Sans MS</vt:lpstr>
      <vt:lpstr>Microsoft JhengHei UI</vt:lpstr>
      <vt:lpstr>汉仪书宋二KW</vt:lpstr>
      <vt:lpstr>Helvetica Neue</vt:lpstr>
      <vt:lpstr>汉仪中等线KW</vt:lpstr>
      <vt:lpstr>汉仪中黑KW</vt:lpstr>
      <vt:lpstr>汉仪楷体简</vt:lpstr>
      <vt:lpstr>Kingsoft Sign</vt:lpstr>
      <vt:lpstr>苹方-简</vt:lpstr>
      <vt:lpstr>汉仪楷体KW</vt:lpstr>
      <vt:lpstr>Arial Unicode MS</vt:lpstr>
      <vt:lpstr>Microsoft JhengHei UI</vt:lpstr>
      <vt:lpstr>Microsoft YaHei</vt:lpstr>
      <vt:lpstr>SimHei</vt:lpstr>
      <vt:lpstr>SimSun</vt:lpstr>
      <vt:lpstr>Symbol</vt:lpstr>
      <vt:lpstr>Wingdings</vt:lpstr>
      <vt:lpstr>Wingdings 2</vt:lpstr>
      <vt:lpstr>楷体</vt:lpstr>
      <vt:lpstr>楷体_GB2312</vt:lpstr>
      <vt:lpstr>等线</vt:lpstr>
      <vt:lpstr>隶书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楼诗雨(2025013092)</cp:lastModifiedBy>
  <cp:revision>198</cp:revision>
  <dcterms:created xsi:type="dcterms:W3CDTF">2025-12-29T08:49:33Z</dcterms:created>
  <dcterms:modified xsi:type="dcterms:W3CDTF">2025-12-29T08:49:33Z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F2ED8728BD3849908EBCAD75A285C632_13</vt:lpwstr>
  </property>
  <property fmtid="{D5CDD505-2E9C-101B-9397-08002B2CF9AE}" pid="3" name="KSOProductBuildVer">
    <vt:lpwstr>1033-12.1.24031.24031</vt:lpwstr>
  </property>
</Properties>
</file>