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398" r:id="rId2"/>
    <p:sldId id="409" r:id="rId3"/>
    <p:sldId id="502" r:id="rId4"/>
    <p:sldId id="500" r:id="rId5"/>
    <p:sldId id="555" r:id="rId6"/>
    <p:sldId id="503" r:id="rId7"/>
    <p:sldId id="504" r:id="rId8"/>
    <p:sldId id="505" r:id="rId9"/>
    <p:sldId id="506" r:id="rId10"/>
    <p:sldId id="507" r:id="rId11"/>
    <p:sldId id="508" r:id="rId12"/>
    <p:sldId id="509" r:id="rId13"/>
    <p:sldId id="510" r:id="rId14"/>
    <p:sldId id="511" r:id="rId15"/>
    <p:sldId id="512" r:id="rId16"/>
    <p:sldId id="513" r:id="rId17"/>
    <p:sldId id="514" r:id="rId18"/>
    <p:sldId id="515" r:id="rId19"/>
    <p:sldId id="516" r:id="rId20"/>
    <p:sldId id="517" r:id="rId21"/>
    <p:sldId id="518" r:id="rId22"/>
    <p:sldId id="519" r:id="rId23"/>
    <p:sldId id="520" r:id="rId24"/>
    <p:sldId id="521" r:id="rId25"/>
    <p:sldId id="522" r:id="rId26"/>
    <p:sldId id="523" r:id="rId27"/>
    <p:sldId id="524" r:id="rId28"/>
    <p:sldId id="525" r:id="rId29"/>
    <p:sldId id="526" r:id="rId30"/>
    <p:sldId id="527" r:id="rId31"/>
    <p:sldId id="528" r:id="rId32"/>
    <p:sldId id="529" r:id="rId33"/>
    <p:sldId id="530" r:id="rId34"/>
    <p:sldId id="556" r:id="rId35"/>
    <p:sldId id="531" r:id="rId36"/>
    <p:sldId id="532" r:id="rId37"/>
    <p:sldId id="558" r:id="rId38"/>
    <p:sldId id="533" r:id="rId39"/>
    <p:sldId id="534" r:id="rId40"/>
    <p:sldId id="535" r:id="rId41"/>
    <p:sldId id="536" r:id="rId42"/>
    <p:sldId id="537" r:id="rId43"/>
    <p:sldId id="538" r:id="rId44"/>
    <p:sldId id="539" r:id="rId45"/>
    <p:sldId id="540" r:id="rId46"/>
    <p:sldId id="541" r:id="rId47"/>
    <p:sldId id="542" r:id="rId48"/>
    <p:sldId id="543" r:id="rId49"/>
    <p:sldId id="544" r:id="rId50"/>
    <p:sldId id="545" r:id="rId51"/>
    <p:sldId id="546" r:id="rId52"/>
    <p:sldId id="547" r:id="rId53"/>
    <p:sldId id="548" r:id="rId54"/>
    <p:sldId id="549" r:id="rId55"/>
    <p:sldId id="557" r:id="rId56"/>
    <p:sldId id="550" r:id="rId57"/>
    <p:sldId id="551" r:id="rId58"/>
    <p:sldId id="552" r:id="rId59"/>
    <p:sldId id="553" r:id="rId60"/>
    <p:sldId id="554" r:id="rId61"/>
    <p:sldId id="501" r:id="rId62"/>
  </p:sldIdLst>
  <p:sldSz cx="12192000" cy="6858000"/>
  <p:notesSz cx="6858000" cy="9144000"/>
  <p:custDataLst>
    <p:tags r:id="rId6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262673"/>
    <a:srgbClr val="82308E"/>
    <a:srgbClr val="00863A"/>
    <a:srgbClr val="005825"/>
    <a:srgbClr val="D1D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9" d="100"/>
          <a:sy n="89" d="100"/>
        </p:scale>
        <p:origin x="304" y="64"/>
      </p:cViewPr>
      <p:guideLst>
        <p:guide orient="horz" pos="2164"/>
        <p:guide pos="388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752"/>
    </p:cViewPr>
  </p:sorterViewPr>
  <p:notesViewPr>
    <p:cSldViewPr snapToGrid="0">
      <p:cViewPr varScale="1">
        <p:scale>
          <a:sx n="50" d="100"/>
          <a:sy n="50" d="100"/>
        </p:scale>
        <p:origin x="247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268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631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37C1142-F811-4A5F-9F2B-FD8FFE6CA8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2160" y="1717964"/>
            <a:ext cx="4347422" cy="43474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DB7E10-9DCA-46E6-AF35-0DEC12E9EC9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107B553-E0FC-09D8-D059-B7F87DA052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1544" y="869784"/>
            <a:ext cx="5028111" cy="5028111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BA2A0A-9BC3-4B9E-93E4-A416F8D93E95}"/>
              </a:ext>
            </a:extLst>
          </p:cNvPr>
          <p:cNvSpPr txBox="1"/>
          <p:nvPr userDrawn="1"/>
        </p:nvSpPr>
        <p:spPr>
          <a:xfrm>
            <a:off x="109146" y="6433625"/>
            <a:ext cx="254608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自强不息，厚德载物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BC47D6-6CDB-0EC7-BA7E-7BDE5C57F75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5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706545C-F379-4254-89DB-67815911527C}"/>
              </a:ext>
            </a:extLst>
          </p:cNvPr>
          <p:cNvSpPr txBox="1"/>
          <p:nvPr userDrawn="1"/>
        </p:nvSpPr>
        <p:spPr>
          <a:xfrm>
            <a:off x="109146" y="6433625"/>
            <a:ext cx="254608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自强不息，厚德载物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34A283B-A7C5-23BE-ACA9-C971DA503B9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11599363" y="6477007"/>
            <a:ext cx="55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35A5ECB-3606-4A97-BFD1-55C7127585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4" r:id="rId4"/>
    <p:sldLayoutId id="214748365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1337" y="110465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37" y="110465"/>
            <a:ext cx="11809309" cy="5226782"/>
          </a:xfrm>
          <a:prstGeom prst="rect">
            <a:avLst/>
          </a:prstGeom>
          <a:solidFill>
            <a:schemeClr val="accent2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886156" y="4721323"/>
            <a:ext cx="2451398" cy="45297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743200" y="5694633"/>
            <a:ext cx="3021054" cy="691606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748" y="5694633"/>
            <a:ext cx="3020400" cy="691200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2968031" y="5825643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623172" y="5825643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4778558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年秋季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学期</a:t>
            </a:r>
          </a:p>
        </p:txBody>
      </p:sp>
      <p:sp>
        <p:nvSpPr>
          <p:cNvPr id="24" name="文本占位符 24"/>
          <p:cNvSpPr txBox="1"/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5000"/>
              </a:lnSpc>
              <a:defRPr/>
            </a:pPr>
            <a:r>
              <a:rPr lang="zh-CN" altLang="en-US">
                <a:solidFill>
                  <a:sysClr val="window" lastClr="FFFFFF"/>
                </a:solidFill>
              </a:rPr>
              <a:t>计算机程序设计基础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166827" y="3528421"/>
            <a:ext cx="9858345" cy="590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/>
              <a:t>Introduction to Computer Programming</a:t>
            </a:r>
            <a:endParaRPr lang="en-US" altLang="zh-CN" sz="2800" dirty="0"/>
          </a:p>
        </p:txBody>
      </p:sp>
      <p:cxnSp>
        <p:nvCxnSpPr>
          <p:cNvPr id="31" name="直接连接符 30"/>
          <p:cNvCxnSpPr/>
          <p:nvPr/>
        </p:nvCxnSpPr>
        <p:spPr>
          <a:xfrm>
            <a:off x="2207568" y="439245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6158" y="792175"/>
            <a:ext cx="3664780" cy="118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8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36000">
                      <a:schemeClr val="accent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  <a:tileRect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08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36000">
                    <a:schemeClr val="accent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  <a:tileRect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面向对象程序设计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chemeClr val="accent2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chemeClr val="accent2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25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本章结构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文本占位符 50"/>
          <p:cNvSpPr txBox="1"/>
          <p:nvPr/>
        </p:nvSpPr>
        <p:spPr>
          <a:xfrm>
            <a:off x="1379915" y="2445387"/>
            <a:ext cx="2032712" cy="68968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类与对象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50"/>
          <p:cNvSpPr txBox="1"/>
          <p:nvPr/>
        </p:nvSpPr>
        <p:spPr>
          <a:xfrm>
            <a:off x="3707472" y="4028866"/>
            <a:ext cx="2714054" cy="54176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类的定义与使用</a:t>
            </a: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322006" y="3265478"/>
            <a:ext cx="1819616" cy="1819616"/>
            <a:chOff x="1699695" y="2430291"/>
            <a:chExt cx="1819616" cy="1819616"/>
          </a:xfrm>
        </p:grpSpPr>
        <p:sp>
          <p:nvSpPr>
            <p:cNvPr id="19" name="椭圆 18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01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0" name="弧形 19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059179" y="1980180"/>
            <a:ext cx="1819616" cy="1819616"/>
            <a:chOff x="1699695" y="2430291"/>
            <a:chExt cx="1819616" cy="1819616"/>
          </a:xfrm>
        </p:grpSpPr>
        <p:sp>
          <p:nvSpPr>
            <p:cNvPr id="25" name="椭圆 24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/>
                  <a:ea typeface="微软雅黑 Light" panose="020B0502040204020203" charset="-122"/>
                </a:rPr>
                <a:t>02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6" name="弧形 25"/>
            <p:cNvSpPr/>
            <p:nvPr/>
          </p:nvSpPr>
          <p:spPr>
            <a:xfrm rot="2784046" flipH="1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EA5504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549030" y="3095868"/>
            <a:ext cx="1819616" cy="1819616"/>
            <a:chOff x="1699695" y="2430291"/>
            <a:chExt cx="1819616" cy="1819616"/>
          </a:xfrm>
        </p:grpSpPr>
        <p:sp>
          <p:nvSpPr>
            <p:cNvPr id="28" name="椭圆 27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03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9" name="弧形 28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9133212" y="1957678"/>
            <a:ext cx="1819616" cy="1819616"/>
            <a:chOff x="1699695" y="2430291"/>
            <a:chExt cx="1819616" cy="1819616"/>
          </a:xfrm>
        </p:grpSpPr>
        <p:sp>
          <p:nvSpPr>
            <p:cNvPr id="31" name="椭圆 30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/>
                  <a:ea typeface="微软雅黑 Light" panose="020B0502040204020203" charset="-122"/>
                </a:rPr>
                <a:t>04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32" name="弧形 31"/>
            <p:cNvSpPr/>
            <p:nvPr/>
          </p:nvSpPr>
          <p:spPr>
            <a:xfrm rot="2810902" flipH="1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A5504"/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sp>
        <p:nvSpPr>
          <p:cNvPr id="33" name="文本占位符 50"/>
          <p:cNvSpPr txBox="1"/>
          <p:nvPr/>
        </p:nvSpPr>
        <p:spPr>
          <a:xfrm>
            <a:off x="6201290" y="2344199"/>
            <a:ext cx="2759825" cy="608943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引用与静态类型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占位符 50"/>
          <p:cNvSpPr txBox="1"/>
          <p:nvPr/>
        </p:nvSpPr>
        <p:spPr>
          <a:xfrm>
            <a:off x="9335192" y="4028866"/>
            <a:ext cx="1745674" cy="54176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类的继承</a:t>
            </a: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556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一个段子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581115" y="1167213"/>
            <a:ext cx="11280449" cy="4968667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一个人去应聘一份程序员的工作，以下是他和面试官之间的对话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面试官：你懂面向对象程序设计吗？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应聘者：精通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面试官：知道什么叫类吗？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应聘者：我这人很实在，工作努力，不知道什么叫累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面试官：知道什么是对象吗？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应聘者：知道，不过我工作很努力，上进心强，暂时还没打算找对象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面试官：那什么是面向对象编程？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应聘者：就是两个程序员情侣面对面地坐在一张办公桌上写代码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 2" pitchFamily="18" charset="2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面试官：知道什么是继承吗？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应聘者：继承是一种快速致富的方式，不过我是孤儿，没什么可继承的</a:t>
            </a:r>
          </a:p>
        </p:txBody>
      </p:sp>
    </p:spTree>
    <p:extLst>
      <p:ext uri="{BB962C8B-B14F-4D97-AF65-F5344CB8AC3E}">
        <p14:creationId xmlns:p14="http://schemas.microsoft.com/office/powerpoint/2010/main" val="3164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8.1 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类与对象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345632" y="1479669"/>
            <a:ext cx="9537469" cy="404829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latin typeface="宋体" pitchFamily="2" charset="-122"/>
                <a:ea typeface="宋体" pitchFamily="2" charset="-122"/>
              </a:rPr>
              <a:t>什么是</a:t>
            </a:r>
            <a:r>
              <a:rPr lang="zh-CN" altLang="en-US" sz="3600" b="1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对象</a:t>
            </a:r>
            <a:endParaRPr lang="en-US" altLang="zh-CN" sz="3600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Bef>
                <a:spcPts val="12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在认知心理学中，对象是指可触摸、可见或思维可理解的东西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  <a:p>
            <a:pPr marL="903600" lvl="1" indent="-446400">
              <a:spcBef>
                <a:spcPts val="12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软件工程中的定义：对象是一个具有状态、行为和标识的实体。相似对象的结构和行为在它们的共有的类中定义。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284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状态、行为和标识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图片 8" descr="无标题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2604" y="1096758"/>
            <a:ext cx="7543800" cy="507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086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对象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8" name="组合 18"/>
          <p:cNvGrpSpPr/>
          <p:nvPr/>
        </p:nvGrpSpPr>
        <p:grpSpPr>
          <a:xfrm>
            <a:off x="1563649" y="1029706"/>
            <a:ext cx="6638276" cy="1921304"/>
            <a:chOff x="707410" y="1279096"/>
            <a:chExt cx="6638276" cy="1921304"/>
          </a:xfrm>
        </p:grpSpPr>
        <p:sp>
          <p:nvSpPr>
            <p:cNvPr id="11" name="TextBox 10"/>
            <p:cNvSpPr txBox="1"/>
            <p:nvPr/>
          </p:nvSpPr>
          <p:spPr>
            <a:xfrm>
              <a:off x="707410" y="1905000"/>
              <a:ext cx="24929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3600">
                  <a:latin typeface="黑体" pitchFamily="49" charset="-122"/>
                  <a:ea typeface="黑体" pitchFamily="49" charset="-122"/>
                </a:rPr>
                <a:t>物理实体：</a:t>
              </a:r>
            </a:p>
          </p:txBody>
        </p:sp>
        <p:pic>
          <p:nvPicPr>
            <p:cNvPr id="12" name="图片 11" descr="无标题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86" y="1279096"/>
              <a:ext cx="2971800" cy="1921304"/>
            </a:xfrm>
            <a:prstGeom prst="rect">
              <a:avLst/>
            </a:prstGeom>
          </p:spPr>
        </p:pic>
      </p:grpSp>
      <p:grpSp>
        <p:nvGrpSpPr>
          <p:cNvPr id="13" name="组合 20"/>
          <p:cNvGrpSpPr/>
          <p:nvPr/>
        </p:nvGrpSpPr>
        <p:grpSpPr>
          <a:xfrm>
            <a:off x="1563649" y="5136293"/>
            <a:ext cx="8597147" cy="1225330"/>
            <a:chOff x="707410" y="5385683"/>
            <a:chExt cx="8597147" cy="1225330"/>
          </a:xfrm>
        </p:grpSpPr>
        <p:sp>
          <p:nvSpPr>
            <p:cNvPr id="14" name="TextBox 13"/>
            <p:cNvSpPr txBox="1"/>
            <p:nvPr/>
          </p:nvSpPr>
          <p:spPr>
            <a:xfrm>
              <a:off x="707410" y="5525869"/>
              <a:ext cx="24929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3600">
                  <a:latin typeface="黑体" pitchFamily="49" charset="-122"/>
                  <a:ea typeface="黑体" pitchFamily="49" charset="-122"/>
                </a:rPr>
                <a:t>软件实体：</a:t>
              </a:r>
            </a:p>
          </p:txBody>
        </p:sp>
        <p:pic>
          <p:nvPicPr>
            <p:cNvPr id="15" name="图片 14" descr="无标题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4832" y="5385683"/>
              <a:ext cx="5419725" cy="122533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6" name="组合 24"/>
          <p:cNvGrpSpPr/>
          <p:nvPr/>
        </p:nvGrpSpPr>
        <p:grpSpPr>
          <a:xfrm>
            <a:off x="1563649" y="2941485"/>
            <a:ext cx="7213073" cy="2066925"/>
            <a:chOff x="707410" y="3190875"/>
            <a:chExt cx="7213073" cy="2066925"/>
          </a:xfrm>
        </p:grpSpPr>
        <p:sp>
          <p:nvSpPr>
            <p:cNvPr id="17" name="TextBox 16"/>
            <p:cNvSpPr txBox="1"/>
            <p:nvPr/>
          </p:nvSpPr>
          <p:spPr>
            <a:xfrm>
              <a:off x="707410" y="3773269"/>
              <a:ext cx="24929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3600">
                  <a:latin typeface="黑体" pitchFamily="49" charset="-122"/>
                  <a:ea typeface="黑体" pitchFamily="49" charset="-122"/>
                </a:rPr>
                <a:t>概念实体：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086600" y="4419600"/>
              <a:ext cx="8338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000" b="1">
                  <a:latin typeface="宋体" pitchFamily="2" charset="-122"/>
                  <a:ea typeface="宋体" pitchFamily="2" charset="-122"/>
                </a:rPr>
                <a:t>dream</a:t>
              </a:r>
              <a:endParaRPr lang="zh-CN" altLang="en-US" sz="2000" b="1">
                <a:latin typeface="宋体" pitchFamily="2" charset="-122"/>
                <a:ea typeface="宋体" pitchFamily="2" charset="-122"/>
              </a:endParaRPr>
            </a:p>
          </p:txBody>
        </p:sp>
        <p:pic>
          <p:nvPicPr>
            <p:cNvPr id="19" name="图片 18" descr="无标题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40765" y="3190875"/>
              <a:ext cx="2759451" cy="20669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742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对象的属性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1161023" y="1388226"/>
            <a:ext cx="5414344" cy="475487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b="1"/>
              <a:t>对象的属性：对象所具有的一些特征称为属性，以一个人为例，其姓名、性别、年龄、肤色、居住地等可以作为他的属性。这些属性会有其对应的值</a:t>
            </a:r>
            <a:endParaRPr lang="en-US" altLang="zh-CN" b="1"/>
          </a:p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b="1"/>
              <a:t>对象的状态：一个对象的状态包括该对象的所有属性及每个属性的值</a:t>
            </a:r>
            <a:endParaRPr lang="en-US" altLang="zh-CN" b="1"/>
          </a:p>
        </p:txBody>
      </p:sp>
      <p:pic>
        <p:nvPicPr>
          <p:cNvPr id="21" name="图片 20" descr="无标题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31330" y="1388280"/>
            <a:ext cx="2279101" cy="2181170"/>
          </a:xfrm>
          <a:prstGeom prst="rect">
            <a:avLst/>
          </a:prstGeom>
        </p:spPr>
      </p:pic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915044"/>
              </p:ext>
            </p:extLst>
          </p:nvPr>
        </p:nvGraphicFramePr>
        <p:xfrm>
          <a:off x="7209942" y="3754582"/>
          <a:ext cx="320040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990000"/>
                          </a:solidFill>
                          <a:latin typeface="黑体" pitchFamily="49" charset="-122"/>
                          <a:ea typeface="黑体" pitchFamily="49" charset="-122"/>
                        </a:rPr>
                        <a:t>属性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rgbClr val="990000"/>
                          </a:solidFill>
                          <a:latin typeface="黑体" pitchFamily="49" charset="-122"/>
                          <a:ea typeface="黑体" pitchFamily="49" charset="-122"/>
                        </a:rPr>
                        <a:t>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姓名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喜羊羊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性别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年龄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7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肤色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白色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居住地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青青草原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-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羊村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食物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青草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20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对象的行为与操作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1161023" y="1388226"/>
            <a:ext cx="5414344" cy="475487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b="1"/>
              <a:t>对象的行为：对象不是孤立存在的，一个对象可以作用于其他对象，也可被其他对象所作用，从而导致状态的变化。</a:t>
            </a:r>
            <a:endParaRPr lang="en-US" altLang="zh-CN" b="1"/>
          </a:p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b="1"/>
              <a:t>对象的操作：一个对象（类）对外提供的服务。</a:t>
            </a:r>
            <a:endParaRPr lang="en-US" altLang="zh-CN" b="1"/>
          </a:p>
        </p:txBody>
      </p:sp>
      <p:pic>
        <p:nvPicPr>
          <p:cNvPr id="21" name="图片 20" descr="无标题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31330" y="1388280"/>
            <a:ext cx="2279101" cy="2181170"/>
          </a:xfrm>
          <a:prstGeom prst="rect">
            <a:avLst/>
          </a:prstGeom>
        </p:spPr>
      </p:pic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28338"/>
              </p:ext>
            </p:extLst>
          </p:nvPr>
        </p:nvGraphicFramePr>
        <p:xfrm>
          <a:off x="7261180" y="4114800"/>
          <a:ext cx="28194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喜羊羊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 Study()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 Run()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 </a:t>
                      </a:r>
                      <a:r>
                        <a:rPr lang="en-US" altLang="zh-CN" sz="2400" b="1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Play_tricks_on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84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对象太多了怎么办？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2" name="图片 11" descr="无标题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11404" y="1183177"/>
            <a:ext cx="7931374" cy="4512071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075196" y="5773671"/>
            <a:ext cx="34307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物以类聚，人以群分</a:t>
            </a:r>
            <a:endParaRPr lang="en-US" altLang="zh-CN" sz="28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56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(Class)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561770" y="1055706"/>
            <a:ext cx="9537469" cy="404829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latin typeface="宋体" pitchFamily="2" charset="-122"/>
                <a:ea typeface="宋体" pitchFamily="2" charset="-122"/>
              </a:rPr>
              <a:t>什么是类？</a:t>
            </a:r>
            <a:endParaRPr lang="en-US" altLang="zh-CN" sz="3600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Bef>
                <a:spcPts val="12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一组具有类似属性和行为的对象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</p:txBody>
      </p:sp>
      <p:pic>
        <p:nvPicPr>
          <p:cNvPr id="11" name="图片 10" descr="无标题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27083" y="2648976"/>
            <a:ext cx="1692735" cy="162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72281" y="314564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600">
                <a:latin typeface="黑体" pitchFamily="49" charset="-122"/>
                <a:ea typeface="黑体" pitchFamily="49" charset="-122"/>
              </a:rPr>
              <a:t>羊：</a:t>
            </a:r>
          </a:p>
        </p:txBody>
      </p:sp>
      <p:pic>
        <p:nvPicPr>
          <p:cNvPr id="13" name="图片 12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0281" y="2648976"/>
            <a:ext cx="1464962" cy="1620000"/>
          </a:xfrm>
          <a:prstGeom prst="rect">
            <a:avLst/>
          </a:prstGeom>
        </p:spPr>
      </p:pic>
      <p:pic>
        <p:nvPicPr>
          <p:cNvPr id="14" name="图片 13" descr="无标题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22279" y="2648976"/>
            <a:ext cx="1373219" cy="1620000"/>
          </a:xfrm>
          <a:prstGeom prst="rect">
            <a:avLst/>
          </a:prstGeom>
        </p:spPr>
      </p:pic>
      <p:pic>
        <p:nvPicPr>
          <p:cNvPr id="15" name="图片 14" descr="无标题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505819" y="2648976"/>
            <a:ext cx="1231200" cy="162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72281" y="505064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600">
                <a:latin typeface="黑体" pitchFamily="49" charset="-122"/>
                <a:ea typeface="黑体" pitchFamily="49" charset="-122"/>
              </a:rPr>
              <a:t>狼：</a:t>
            </a:r>
          </a:p>
        </p:txBody>
      </p:sp>
      <p:pic>
        <p:nvPicPr>
          <p:cNvPr id="17" name="图片 16" descr="无标题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729495" y="4534176"/>
            <a:ext cx="1304986" cy="1696200"/>
          </a:xfrm>
          <a:prstGeom prst="rect">
            <a:avLst/>
          </a:prstGeom>
        </p:spPr>
      </p:pic>
      <p:pic>
        <p:nvPicPr>
          <p:cNvPr id="18" name="图片 17" descr="无标题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680182" y="4534175"/>
            <a:ext cx="1323037" cy="1680719"/>
          </a:xfrm>
          <a:prstGeom prst="rect">
            <a:avLst/>
          </a:prstGeom>
        </p:spPr>
      </p:pic>
      <p:pic>
        <p:nvPicPr>
          <p:cNvPr id="19" name="图片 18" descr="无标题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472100" y="4534176"/>
            <a:ext cx="1731223" cy="1620000"/>
          </a:xfrm>
          <a:prstGeom prst="rect">
            <a:avLst/>
          </a:prstGeom>
        </p:spPr>
      </p:pic>
      <p:pic>
        <p:nvPicPr>
          <p:cNvPr id="20" name="图片 19" descr="无标题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8400004" y="4534176"/>
            <a:ext cx="1778972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9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类与对象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345632" y="1479669"/>
            <a:ext cx="9537469" cy="404829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4000" b="1">
                <a:latin typeface="宋体" pitchFamily="2" charset="-122"/>
                <a:ea typeface="宋体" pitchFamily="2" charset="-122"/>
              </a:rPr>
              <a:t>类与对象</a:t>
            </a:r>
            <a:endParaRPr lang="en-US" altLang="zh-CN" sz="4000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类：抽象地定义了该类对象的本质特征（属性和操作），类型定义、</a:t>
            </a:r>
            <a:r>
              <a:rPr lang="zh-CN" altLang="en-US" sz="3600" b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模版</a:t>
            </a:r>
            <a:endParaRPr lang="en-US" altLang="zh-CN" sz="3600" b="1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对象：类的实例，具有各自的属性值，占用存储空间</a:t>
            </a:r>
            <a:endParaRPr lang="en-US" altLang="zh-CN" sz="3600" b="1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308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8.2 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类的定义与使用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2711" y="1450566"/>
            <a:ext cx="48173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3600" b="1">
                <a:latin typeface="宋体" pitchFamily="2" charset="-122"/>
                <a:ea typeface="宋体" pitchFamily="2" charset="-122"/>
              </a:rPr>
              <a:t>如何描述现实世界中的</a:t>
            </a:r>
          </a:p>
        </p:txBody>
      </p:sp>
      <p:sp>
        <p:nvSpPr>
          <p:cNvPr id="11" name="矩形 10"/>
          <p:cNvSpPr/>
          <p:nvPr/>
        </p:nvSpPr>
        <p:spPr>
          <a:xfrm>
            <a:off x="2683044" y="2642050"/>
            <a:ext cx="13244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40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Baby</a:t>
            </a:r>
            <a:endParaRPr lang="zh-CN" altLang="en-US" sz="40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53243" y="3796137"/>
            <a:ext cx="2888932" cy="15388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宝宝胖乎乎的</a:t>
            </a:r>
            <a:endParaRPr lang="en-US" altLang="zh-CN" sz="2800" b="1">
              <a:solidFill>
                <a:srgbClr val="0000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宝宝眼睛很大</a:t>
            </a:r>
            <a:endParaRPr lang="en-US" altLang="zh-CN" sz="2800" b="1">
              <a:solidFill>
                <a:srgbClr val="0000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宝宝长了</a:t>
            </a:r>
            <a:r>
              <a:rPr lang="en-US" altLang="zh-CN" sz="28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8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颗牙齿</a:t>
            </a:r>
          </a:p>
        </p:txBody>
      </p:sp>
      <p:pic>
        <p:nvPicPr>
          <p:cNvPr id="13" name="图片 12" descr="无标题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28866" y="2467926"/>
            <a:ext cx="3531240" cy="307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类的描述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4" name="图片 13" descr="无标题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31567" y="2548362"/>
            <a:ext cx="4953000" cy="3029359"/>
          </a:xfrm>
          <a:prstGeom prst="rect">
            <a:avLst/>
          </a:prstGeom>
        </p:spPr>
      </p:pic>
      <p:sp>
        <p:nvSpPr>
          <p:cNvPr id="15" name="Rectangle 86"/>
          <p:cNvSpPr>
            <a:spLocks noChangeArrowheads="1"/>
          </p:cNvSpPr>
          <p:nvPr/>
        </p:nvSpPr>
        <p:spPr bwMode="auto">
          <a:xfrm>
            <a:off x="5091518" y="1246905"/>
            <a:ext cx="1417056" cy="1200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buNone/>
            </a:pPr>
            <a:r>
              <a:rPr lang="en-US" altLang="zh-CN" sz="3600" b="1" u="sng">
                <a:solidFill>
                  <a:srgbClr val="0070C0"/>
                </a:solidFill>
                <a:latin typeface="Arial" pitchFamily="34" charset="0"/>
                <a:ea typeface="宋体" pitchFamily="2" charset="-122"/>
              </a:rPr>
              <a:t>Class</a:t>
            </a:r>
          </a:p>
          <a:p>
            <a:pPr algn="ctr">
              <a:buNone/>
            </a:pPr>
            <a:r>
              <a:rPr lang="en-US" altLang="zh-CN" sz="3600" b="1" u="none">
                <a:solidFill>
                  <a:srgbClr val="0070C0"/>
                </a:solidFill>
                <a:latin typeface="Arial" pitchFamily="34" charset="0"/>
                <a:ea typeface="宋体" pitchFamily="2" charset="-122"/>
              </a:rPr>
              <a:t>Baby</a:t>
            </a:r>
          </a:p>
        </p:txBody>
      </p:sp>
      <p:sp>
        <p:nvSpPr>
          <p:cNvPr id="16" name="Rectangle 87"/>
          <p:cNvSpPr>
            <a:spLocks noChangeArrowheads="1"/>
          </p:cNvSpPr>
          <p:nvPr/>
        </p:nvSpPr>
        <p:spPr bwMode="auto">
          <a:xfrm>
            <a:off x="1163568" y="2552229"/>
            <a:ext cx="1963679" cy="3109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buNone/>
            </a:pPr>
            <a:r>
              <a:rPr lang="en-US" altLang="zh-CN" sz="2800" b="1" u="sng">
                <a:solidFill>
                  <a:srgbClr val="973095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Properties</a:t>
            </a:r>
          </a:p>
          <a:p>
            <a:pPr algn="ctr">
              <a:buNone/>
            </a:pPr>
            <a:r>
              <a:rPr lang="en-US" altLang="zh-CN" sz="2800" b="1" u="none">
                <a:solidFill>
                  <a:srgbClr val="973095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Name</a:t>
            </a:r>
          </a:p>
          <a:p>
            <a:pPr algn="ctr">
              <a:buNone/>
            </a:pPr>
            <a:r>
              <a:rPr lang="en-US" altLang="zh-CN" sz="2800" b="1" u="none">
                <a:solidFill>
                  <a:srgbClr val="973095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Gender</a:t>
            </a:r>
          </a:p>
          <a:p>
            <a:pPr algn="ctr">
              <a:buNone/>
            </a:pPr>
            <a:r>
              <a:rPr lang="en-US" altLang="zh-CN" sz="2800" b="1">
                <a:solidFill>
                  <a:srgbClr val="973095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Age</a:t>
            </a:r>
            <a:endParaRPr lang="en-US" altLang="zh-CN" sz="2800" b="1" u="none">
              <a:solidFill>
                <a:srgbClr val="973095"/>
              </a:solidFill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 algn="ctr">
              <a:buNone/>
            </a:pPr>
            <a:r>
              <a:rPr lang="en-US" altLang="zh-CN" sz="2800" b="1" u="none">
                <a:solidFill>
                  <a:srgbClr val="973095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Weight</a:t>
            </a:r>
          </a:p>
          <a:p>
            <a:pPr algn="ctr">
              <a:buNone/>
            </a:pPr>
            <a:r>
              <a:rPr lang="en-US" altLang="zh-CN" sz="2800" b="1">
                <a:solidFill>
                  <a:srgbClr val="973095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# poops </a:t>
            </a:r>
            <a:br>
              <a:rPr lang="en-US" altLang="zh-CN" sz="2800" b="1">
                <a:solidFill>
                  <a:srgbClr val="973095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</a:br>
            <a:r>
              <a:rPr lang="en-US" altLang="zh-CN" sz="2800" b="1">
                <a:solidFill>
                  <a:srgbClr val="973095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so far</a:t>
            </a:r>
            <a:endParaRPr lang="en-US" altLang="zh-CN" sz="2800" b="1" u="none">
              <a:solidFill>
                <a:srgbClr val="973095"/>
              </a:solidFill>
              <a:latin typeface="Arial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17" name="Rectangle 88"/>
          <p:cNvSpPr>
            <a:spLocks noChangeArrowheads="1"/>
          </p:cNvSpPr>
          <p:nvPr/>
        </p:nvSpPr>
        <p:spPr bwMode="auto">
          <a:xfrm>
            <a:off x="8834917" y="2571548"/>
            <a:ext cx="1724831" cy="2247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buNone/>
            </a:pPr>
            <a:r>
              <a:rPr lang="en-US" altLang="zh-CN" sz="2800" b="1" u="sng">
                <a:solidFill>
                  <a:srgbClr val="002060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Behavior</a:t>
            </a:r>
          </a:p>
          <a:p>
            <a:pPr algn="ctr">
              <a:buNone/>
            </a:pPr>
            <a:r>
              <a:rPr lang="en-US" altLang="zh-CN" sz="2800" b="1">
                <a:solidFill>
                  <a:srgbClr val="002060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Eat</a:t>
            </a:r>
          </a:p>
          <a:p>
            <a:pPr algn="ctr">
              <a:buNone/>
            </a:pPr>
            <a:r>
              <a:rPr lang="en-US" altLang="zh-CN" sz="2800" b="1">
                <a:solidFill>
                  <a:srgbClr val="002060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Poop</a:t>
            </a:r>
          </a:p>
          <a:p>
            <a:pPr algn="ctr">
              <a:buNone/>
            </a:pPr>
            <a:r>
              <a:rPr lang="en-US" altLang="zh-CN" sz="2800" b="1">
                <a:solidFill>
                  <a:srgbClr val="002060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Smile</a:t>
            </a:r>
          </a:p>
          <a:p>
            <a:pPr algn="ctr">
              <a:buNone/>
            </a:pPr>
            <a:r>
              <a:rPr lang="en-US" altLang="zh-CN" sz="2800" b="1">
                <a:solidFill>
                  <a:srgbClr val="002060"/>
                </a:solidFill>
                <a:latin typeface="Arial" pitchFamily="34" charset="0"/>
                <a:ea typeface="宋体" pitchFamily="2" charset="-122"/>
                <a:cs typeface="Arial" pitchFamily="34" charset="0"/>
              </a:rPr>
              <a:t>SayHi</a:t>
            </a:r>
          </a:p>
        </p:txBody>
      </p:sp>
    </p:spTree>
    <p:extLst>
      <p:ext uri="{BB962C8B-B14F-4D97-AF65-F5344CB8AC3E}">
        <p14:creationId xmlns:p14="http://schemas.microsoft.com/office/powerpoint/2010/main" val="2833470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Baby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类的定义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23446" y="1524000"/>
            <a:ext cx="351250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600" b="1" u="sng">
                <a:latin typeface="Courier New" pitchFamily="49" charset="0"/>
                <a:cs typeface="Courier New" pitchFamily="49" charset="0"/>
              </a:rPr>
              <a:t>Baby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6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3314046" y="2438400"/>
            <a:ext cx="5562600" cy="137160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3600" b="1" i="0" u="none" strike="noStrike" cap="none" normalizeH="0" baseline="0">
                <a:ln>
                  <a:noFill/>
                </a:ln>
                <a:effectLst/>
                <a:latin typeface="宋体" pitchFamily="2" charset="-122"/>
                <a:ea typeface="宋体" pitchFamily="2" charset="-122"/>
              </a:rPr>
              <a:t>成员变量</a:t>
            </a:r>
          </a:p>
        </p:txBody>
      </p:sp>
      <p:sp>
        <p:nvSpPr>
          <p:cNvPr id="13" name="矩形 12"/>
          <p:cNvSpPr/>
          <p:nvPr/>
        </p:nvSpPr>
        <p:spPr bwMode="auto">
          <a:xfrm>
            <a:off x="3314046" y="4114800"/>
            <a:ext cx="5562600" cy="13716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3600" b="1" i="0" u="none" strike="noStrike" cap="none" normalizeH="0" baseline="0">
                <a:ln>
                  <a:noFill/>
                </a:ln>
                <a:effectLst/>
                <a:latin typeface="宋体" pitchFamily="2" charset="-122"/>
                <a:ea typeface="宋体" pitchFamily="2" charset="-122"/>
              </a:rPr>
              <a:t>成员函数</a:t>
            </a:r>
          </a:p>
        </p:txBody>
      </p:sp>
    </p:spTree>
    <p:extLst>
      <p:ext uri="{BB962C8B-B14F-4D97-AF65-F5344CB8AC3E}">
        <p14:creationId xmlns:p14="http://schemas.microsoft.com/office/powerpoint/2010/main" val="364655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98956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在构造函数中定义成员变量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53362" y="1313409"/>
            <a:ext cx="77737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class Baby 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#constructor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def __init__(self):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self.name = ''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self.gender = ''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self.age = 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self.weight = 0.0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self.numPoops = 0</a:t>
            </a:r>
          </a:p>
        </p:txBody>
      </p:sp>
      <p:sp>
        <p:nvSpPr>
          <p:cNvPr id="15" name="矩形 14"/>
          <p:cNvSpPr/>
          <p:nvPr/>
        </p:nvSpPr>
        <p:spPr>
          <a:xfrm>
            <a:off x="2680875" y="5843844"/>
            <a:ext cx="5570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构造函数：创建对象时被</a:t>
            </a:r>
            <a:r>
              <a:rPr lang="zh-CN" altLang="en-US" sz="280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自动调用</a:t>
            </a:r>
            <a:endParaRPr lang="zh-CN" altLang="en-US" sz="28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088025" y="2514873"/>
            <a:ext cx="225224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latin typeface="隶书" pitchFamily="49" charset="-122"/>
                <a:ea typeface="隶书" pitchFamily="49" charset="-122"/>
              </a:rPr>
              <a:t>在</a:t>
            </a:r>
            <a:r>
              <a:rPr lang="zh-CN" altLang="en-US" sz="32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定义类时</a:t>
            </a:r>
            <a:r>
              <a:rPr lang="zh-CN" altLang="en-US" sz="3200">
                <a:latin typeface="隶书" pitchFamily="49" charset="-122"/>
                <a:ea typeface="隶书" pitchFamily="49" charset="-122"/>
              </a:rPr>
              <a:t>即可确定，直接赋值</a:t>
            </a:r>
          </a:p>
        </p:txBody>
      </p:sp>
    </p:spTree>
    <p:extLst>
      <p:ext uri="{BB962C8B-B14F-4D97-AF65-F5344CB8AC3E}">
        <p14:creationId xmlns:p14="http://schemas.microsoft.com/office/powerpoint/2010/main" val="3283695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实例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对象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1415976" y="2971800"/>
            <a:ext cx="4267200" cy="3124200"/>
          </a:xfrm>
          <a:prstGeom prst="ellipse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5" name="TextBox 10"/>
          <p:cNvSpPr txBox="1"/>
          <p:nvPr/>
        </p:nvSpPr>
        <p:spPr>
          <a:xfrm>
            <a:off x="3016176" y="2296327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dawa</a:t>
            </a:r>
          </a:p>
        </p:txBody>
      </p:sp>
      <p:sp>
        <p:nvSpPr>
          <p:cNvPr id="16" name="TextBox 12"/>
          <p:cNvSpPr txBox="1"/>
          <p:nvPr/>
        </p:nvSpPr>
        <p:spPr>
          <a:xfrm>
            <a:off x="2374139" y="3295845"/>
            <a:ext cx="1023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3397176" y="3952845"/>
            <a:ext cx="4191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144379"/>
              </p:ext>
            </p:extLst>
          </p:nvPr>
        </p:nvGraphicFramePr>
        <p:xfrm>
          <a:off x="3397176" y="3419445"/>
          <a:ext cx="1752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2"/>
          <p:cNvSpPr txBox="1"/>
          <p:nvPr/>
        </p:nvSpPr>
        <p:spPr>
          <a:xfrm>
            <a:off x="2155176" y="3807045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gender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2"/>
          <p:cNvSpPr txBox="1"/>
          <p:nvPr/>
        </p:nvSpPr>
        <p:spPr>
          <a:xfrm>
            <a:off x="2694740" y="4267845"/>
            <a:ext cx="702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age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3397176" y="4410045"/>
            <a:ext cx="8382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94603" y="4809292"/>
            <a:ext cx="1202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weight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3397176" y="4915845"/>
            <a:ext cx="15240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12"/>
          <p:cNvSpPr txBox="1"/>
          <p:nvPr/>
        </p:nvSpPr>
        <p:spPr>
          <a:xfrm>
            <a:off x="1825912" y="5319980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numPoops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3397176" y="5400645"/>
            <a:ext cx="8382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椭圆 25"/>
          <p:cNvSpPr/>
          <p:nvPr/>
        </p:nvSpPr>
        <p:spPr bwMode="auto">
          <a:xfrm>
            <a:off x="5911776" y="2961473"/>
            <a:ext cx="4267200" cy="3124200"/>
          </a:xfrm>
          <a:prstGeom prst="ellipse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7" name="TextBox 10"/>
          <p:cNvSpPr txBox="1"/>
          <p:nvPr/>
        </p:nvSpPr>
        <p:spPr>
          <a:xfrm>
            <a:off x="7511976" y="2286000"/>
            <a:ext cx="941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erwa</a:t>
            </a:r>
          </a:p>
        </p:txBody>
      </p:sp>
      <p:sp>
        <p:nvSpPr>
          <p:cNvPr id="28" name="TextBox 12"/>
          <p:cNvSpPr txBox="1"/>
          <p:nvPr/>
        </p:nvSpPr>
        <p:spPr>
          <a:xfrm>
            <a:off x="6869939" y="3285518"/>
            <a:ext cx="1023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7892976" y="3942518"/>
            <a:ext cx="4191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875121"/>
              </p:ext>
            </p:extLst>
          </p:nvPr>
        </p:nvGraphicFramePr>
        <p:xfrm>
          <a:off x="7892976" y="3409118"/>
          <a:ext cx="1752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extBox 12"/>
          <p:cNvSpPr txBox="1"/>
          <p:nvPr/>
        </p:nvSpPr>
        <p:spPr>
          <a:xfrm>
            <a:off x="6650976" y="3796718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gender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12"/>
          <p:cNvSpPr txBox="1"/>
          <p:nvPr/>
        </p:nvSpPr>
        <p:spPr>
          <a:xfrm>
            <a:off x="7190540" y="4257518"/>
            <a:ext cx="702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age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7892976" y="4399718"/>
            <a:ext cx="8382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12"/>
          <p:cNvSpPr txBox="1"/>
          <p:nvPr/>
        </p:nvSpPr>
        <p:spPr>
          <a:xfrm>
            <a:off x="6690403" y="4798965"/>
            <a:ext cx="1202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weight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7892976" y="4905518"/>
            <a:ext cx="15240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12"/>
          <p:cNvSpPr txBox="1"/>
          <p:nvPr/>
        </p:nvSpPr>
        <p:spPr>
          <a:xfrm>
            <a:off x="6321712" y="5309653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numPoops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7892976" y="5390318"/>
            <a:ext cx="838200" cy="3048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9"/>
          <p:cNvSpPr txBox="1"/>
          <p:nvPr/>
        </p:nvSpPr>
        <p:spPr>
          <a:xfrm>
            <a:off x="3925516" y="1075030"/>
            <a:ext cx="3789820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600" b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dawa = Baby()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erwa = Baby()</a:t>
            </a:r>
          </a:p>
        </p:txBody>
      </p:sp>
    </p:spTree>
    <p:extLst>
      <p:ext uri="{BB962C8B-B14F-4D97-AF65-F5344CB8AC3E}">
        <p14:creationId xmlns:p14="http://schemas.microsoft.com/office/powerpoint/2010/main" val="3649481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98956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带有参数的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构造函数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1797" y="1145766"/>
            <a:ext cx="83806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Baby 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#constructor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def __init__(self,name,g,w):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self.name = name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self.gender = 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self.age = 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self.weight = w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self.numPoops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0292" y="5152690"/>
            <a:ext cx="68717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create a new object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dawa = Baby(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"dawa", "M", 20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12" name="矩形 11"/>
          <p:cNvSpPr/>
          <p:nvPr/>
        </p:nvSpPr>
        <p:spPr>
          <a:xfrm>
            <a:off x="9088025" y="2907980"/>
            <a:ext cx="22522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>
                <a:latin typeface="隶书" pitchFamily="49" charset="-122"/>
                <a:ea typeface="隶书" pitchFamily="49" charset="-122"/>
              </a:rPr>
              <a:t>在</a:t>
            </a:r>
            <a:r>
              <a:rPr lang="zh-CN" altLang="en-US" sz="32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创建对象时</a:t>
            </a:r>
            <a:r>
              <a:rPr lang="zh-CN" altLang="en-US" sz="3200">
                <a:latin typeface="隶书" pitchFamily="49" charset="-122"/>
                <a:ea typeface="隶书" pitchFamily="49" charset="-122"/>
              </a:rPr>
              <a:t>可确定</a:t>
            </a:r>
          </a:p>
        </p:txBody>
      </p:sp>
    </p:spTree>
    <p:extLst>
      <p:ext uri="{BB962C8B-B14F-4D97-AF65-F5344CB8AC3E}">
        <p14:creationId xmlns:p14="http://schemas.microsoft.com/office/powerpoint/2010/main" val="395344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98956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构造函数的执行过程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831273" y="1197027"/>
            <a:ext cx="10341032" cy="4832092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class Dollar 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def __init__(self): 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self.n = 100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print(self.n, "dollars come to my home")</a:t>
            </a:r>
          </a:p>
          <a:p>
            <a:pPr marL="342900" indent="-342900">
              <a:spcBef>
                <a:spcPts val="0"/>
              </a:spcBef>
              <a:buNone/>
            </a:pPr>
            <a:endParaRPr kumimoji="1" lang="en-US" altLang="zh-CN" sz="2800" b="1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class Money 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self.d = Dollar() 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print("All money come to my home")</a:t>
            </a:r>
          </a:p>
          <a:p>
            <a:pPr marL="342900" indent="-342900">
              <a:spcBef>
                <a:spcPts val="0"/>
              </a:spcBef>
              <a:buNone/>
            </a:pPr>
            <a:endParaRPr kumimoji="1" lang="en-US" altLang="zh-CN" sz="2800" b="1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m = Money()</a:t>
            </a:r>
          </a:p>
        </p:txBody>
      </p:sp>
      <p:pic>
        <p:nvPicPr>
          <p:cNvPr id="13" name="图片 12" descr="无标题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47869" y="5648492"/>
            <a:ext cx="4243531" cy="90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26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98956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成员函数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8384" y="1642170"/>
            <a:ext cx="10305485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class Baby :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...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3600" b="1">
                <a:solidFill>
                  <a:srgbClr val="973095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poop(self):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self.numPoops += 1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print("Dear mother,", end = "")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print("I have pooped.")</a:t>
            </a:r>
          </a:p>
        </p:txBody>
      </p:sp>
    </p:spTree>
    <p:extLst>
      <p:ext uri="{BB962C8B-B14F-4D97-AF65-F5344CB8AC3E}">
        <p14:creationId xmlns:p14="http://schemas.microsoft.com/office/powerpoint/2010/main" val="1685967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98956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成员函数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8386" y="1698124"/>
            <a:ext cx="10897878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3600" b="1">
                <a:solidFill>
                  <a:srgbClr val="973095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altLang="zh-CN" sz="3600" b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sayHi(self):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print("Hi,my name is ", end = '')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print(self.name)</a:t>
            </a:r>
          </a:p>
          <a:p>
            <a:pPr>
              <a:spcBef>
                <a:spcPts val="0"/>
              </a:spcBef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3600" b="1">
                <a:solidFill>
                  <a:srgbClr val="973095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eat(self, </a:t>
            </a:r>
            <a:r>
              <a:rPr lang="en-US" altLang="zh-CN" sz="3600" b="1" err="1">
                <a:latin typeface="Courier New" pitchFamily="49" charset="0"/>
                <a:cs typeface="Courier New" pitchFamily="49" charset="0"/>
              </a:rPr>
              <a:t>foodWeight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self.weight += foodWeight</a:t>
            </a:r>
          </a:p>
          <a:p>
            <a:pPr>
              <a:spcBef>
                <a:spcPts val="0"/>
              </a:spcBef>
              <a:buNone/>
            </a:pPr>
            <a:endParaRPr lang="zh-CN" altLang="en-US" sz="36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115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98956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类的使用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0491" y="1512226"/>
            <a:ext cx="8004114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类定义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Baby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: ...</a:t>
            </a:r>
          </a:p>
          <a:p>
            <a:pPr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类实例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dawa = Baby("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大力士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", "M", 20)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erwa = Baby("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千里眼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", "M", 16)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sanwa = Baby("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钢筋铁骨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", "M", 18)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siwa = Baby("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火神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", "M", 16)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008" y="1299552"/>
            <a:ext cx="4332941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56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98956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访问成员变量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73785" y="1770613"/>
            <a:ext cx="65868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Object</a:t>
            </a:r>
            <a:r>
              <a:rPr lang="en-US" altLang="zh-CN" sz="3600" b="1" err="1">
                <a:latin typeface="Courier New" pitchFamily="49" charset="0"/>
                <a:cs typeface="Courier New" pitchFamily="49" charset="0"/>
              </a:rPr>
              <a:t>.</a:t>
            </a:r>
            <a:r>
              <a:rPr lang="en-US" altLang="zh-CN" sz="3600" b="1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FIELD_NAME</a:t>
            </a:r>
            <a:endParaRPr lang="en-US" altLang="zh-CN" sz="3600" b="1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print(dawa.name)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print(erwa.name)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print(erwa.weight)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print(sanwa.numPoops)</a:t>
            </a: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537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98956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调用成员函数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71127" y="1676400"/>
            <a:ext cx="813813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Object</a:t>
            </a:r>
            <a:r>
              <a:rPr lang="en-US" altLang="zh-CN" sz="3600" b="1" err="1">
                <a:latin typeface="Courier New" pitchFamily="49" charset="0"/>
                <a:cs typeface="Courier New" pitchFamily="49" charset="0"/>
              </a:rPr>
              <a:t>.</a:t>
            </a:r>
            <a:r>
              <a:rPr lang="en-US" altLang="zh-CN" sz="3600" b="1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METHOD_NAME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([</a:t>
            </a:r>
            <a:r>
              <a:rPr lang="zh-CN" altLang="en-US" sz="3600" b="1">
                <a:latin typeface="Courier New" pitchFamily="49" charset="0"/>
                <a:cs typeface="Courier New" pitchFamily="49" charset="0"/>
              </a:rPr>
              <a:t>参数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])</a:t>
            </a:r>
          </a:p>
          <a:p>
            <a:pPr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600" b="1" err="1">
                <a:latin typeface="Courier New" pitchFamily="49" charset="0"/>
                <a:cs typeface="Courier New" pitchFamily="49" charset="0"/>
              </a:rPr>
              <a:t>dawa.</a:t>
            </a:r>
            <a:r>
              <a:rPr lang="en-US" altLang="zh-CN" sz="3600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sayHi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() 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把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sayHi</a:t>
            </a:r>
            <a:r>
              <a:rPr lang="zh-CN" altLang="en-US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作用于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dawa</a:t>
            </a:r>
          </a:p>
          <a:p>
            <a:pPr>
              <a:buNone/>
            </a:pPr>
            <a:r>
              <a:rPr lang="en-US" altLang="zh-CN" sz="3600" b="1" err="1">
                <a:latin typeface="Courier New" pitchFamily="49" charset="0"/>
                <a:cs typeface="Courier New" pitchFamily="49" charset="0"/>
              </a:rPr>
              <a:t>erwa.</a:t>
            </a:r>
            <a:r>
              <a:rPr lang="en-US" altLang="zh-CN" sz="3600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eat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(1)  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把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eat(1)</a:t>
            </a:r>
            <a:r>
              <a:rPr lang="zh-CN" altLang="en-US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作用于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erwa</a:t>
            </a:r>
          </a:p>
          <a:p>
            <a:pPr>
              <a:buNone/>
            </a:pPr>
            <a:r>
              <a:rPr lang="en-US" altLang="zh-CN" sz="3600" b="1" err="1">
                <a:latin typeface="Courier New" pitchFamily="49" charset="0"/>
                <a:cs typeface="Courier New" pitchFamily="49" charset="0"/>
              </a:rPr>
              <a:t>sanwa.</a:t>
            </a:r>
            <a:r>
              <a:rPr lang="en-US" altLang="zh-CN" sz="3600" b="1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poop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() 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把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poop</a:t>
            </a:r>
            <a:r>
              <a:rPr lang="zh-CN" altLang="en-US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作用于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sanwa</a:t>
            </a:r>
          </a:p>
        </p:txBody>
      </p:sp>
      <p:sp>
        <p:nvSpPr>
          <p:cNvPr id="9" name="矩形 8"/>
          <p:cNvSpPr/>
          <p:nvPr/>
        </p:nvSpPr>
        <p:spPr>
          <a:xfrm>
            <a:off x="2520162" y="4839639"/>
            <a:ext cx="80425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程序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 </a:t>
            </a:r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代码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</a:t>
            </a:r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数据（如递归），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self</a:t>
            </a:r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的作用！</a:t>
            </a:r>
          </a:p>
        </p:txBody>
      </p:sp>
      <p:sp>
        <p:nvSpPr>
          <p:cNvPr id="11" name="矩形 10"/>
          <p:cNvSpPr/>
          <p:nvPr/>
        </p:nvSpPr>
        <p:spPr>
          <a:xfrm>
            <a:off x="2520162" y="5441410"/>
            <a:ext cx="51283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2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成员函数能访问哪些变量？</a:t>
            </a:r>
            <a:endParaRPr lang="zh-CN" altLang="en-US" sz="3200" b="1">
              <a:solidFill>
                <a:srgbClr val="0000FF"/>
              </a:solidFill>
              <a:latin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93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98956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类的设计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2" name="图片 11" descr="无标题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12676" y="1439487"/>
            <a:ext cx="8212975" cy="4550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65077" y="1515686"/>
            <a:ext cx="1049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斗地主</a:t>
            </a:r>
          </a:p>
        </p:txBody>
      </p:sp>
    </p:spTree>
    <p:extLst>
      <p:ext uri="{BB962C8B-B14F-4D97-AF65-F5344CB8AC3E}">
        <p14:creationId xmlns:p14="http://schemas.microsoft.com/office/powerpoint/2010/main" val="442915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989563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访问成员变量和方法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316220" y="1031724"/>
            <a:ext cx="8858566" cy="5416868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class Player 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    self.name = ' '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    self.age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    self.height = ''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    self.weight = '' 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def say(self, s):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    print(self.name + ": " + s)</a:t>
            </a:r>
          </a:p>
          <a:p>
            <a:pPr marL="342900" indent="-342900">
              <a:spcBef>
                <a:spcPts val="120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zhubajie = Player()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zhubajie.name = "</a:t>
            </a:r>
            <a:r>
              <a:rPr kumimoji="1" lang="zh-CN" altLang="en-US" sz="2400" b="1">
                <a:latin typeface="Courier New" pitchFamily="49" charset="0"/>
                <a:cs typeface="Courier New" pitchFamily="49" charset="0"/>
              </a:rPr>
              <a:t>猪八戒</a:t>
            </a: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"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zhubajie.age = 800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zhubajie.height = "</a:t>
            </a:r>
            <a:r>
              <a:rPr kumimoji="1" lang="zh-CN" altLang="en-US" sz="2400" b="1">
                <a:latin typeface="Courier New" pitchFamily="49" charset="0"/>
                <a:cs typeface="Courier New" pitchFamily="49" charset="0"/>
              </a:rPr>
              <a:t>天一样高</a:t>
            </a: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"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zhubajie.weight = "</a:t>
            </a:r>
            <a:r>
              <a:rPr kumimoji="1" lang="zh-CN" altLang="en-US" sz="2400" b="1">
                <a:latin typeface="Courier New" pitchFamily="49" charset="0"/>
                <a:cs typeface="Courier New" pitchFamily="49" charset="0"/>
              </a:rPr>
              <a:t>地一样重</a:t>
            </a: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"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zhubajie.say("</a:t>
            </a:r>
            <a:r>
              <a:rPr kumimoji="1" lang="zh-CN" altLang="en-US" sz="2400" b="1">
                <a:latin typeface="Courier New" pitchFamily="49" charset="0"/>
                <a:cs typeface="Courier New" pitchFamily="49" charset="0"/>
              </a:rPr>
              <a:t>师傅，咱们别去西天了，改去月宫吧</a:t>
            </a: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4200486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8.3 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引用与静态类型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4" name="内容占位符 2"/>
          <p:cNvSpPr txBox="1">
            <a:spLocks/>
          </p:cNvSpPr>
          <p:nvPr/>
        </p:nvSpPr>
        <p:spPr>
          <a:xfrm>
            <a:off x="1185962" y="1140219"/>
            <a:ext cx="8257295" cy="4953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latin typeface="宋体" pitchFamily="2" charset="-122"/>
                <a:ea typeface="宋体" pitchFamily="2" charset="-122"/>
              </a:rPr>
              <a:t>对象太大，不能存放在一个变量中</a:t>
            </a:r>
            <a:endParaRPr lang="en-US" altLang="zh-CN" sz="3600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Aft>
                <a:spcPts val="1200"/>
              </a:spcAft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  <a:cs typeface="Times New Roman" pitchFamily="18" charset="0"/>
              </a:rPr>
              <a:t>存放在其他地方</a:t>
            </a:r>
            <a:r>
              <a:rPr lang="en-US" altLang="zh-CN" sz="3200" b="1">
                <a:latin typeface="楷体" pitchFamily="49" charset="-122"/>
                <a:ea typeface="楷体" pitchFamily="49" charset="-122"/>
                <a:cs typeface="Times New Roman" pitchFamily="18" charset="0"/>
              </a:rPr>
              <a:t> </a:t>
            </a:r>
          </a:p>
          <a:p>
            <a:pPr marL="903600" lvl="1" indent="-446400">
              <a:spcBef>
                <a:spcPts val="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  <a:cs typeface="Times New Roman" pitchFamily="18" charset="0"/>
              </a:rPr>
              <a:t>变量中存放一个地址指向该对象</a:t>
            </a:r>
            <a:endParaRPr lang="en-US" altLang="zh-CN" sz="3200" b="1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83410" y="3273819"/>
            <a:ext cx="7592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dawa = Baby("</a:t>
            </a:r>
            <a:r>
              <a:rPr lang="zh-CN" altLang="pl-PL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大力士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"M", 20)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2931648" y="4041366"/>
            <a:ext cx="4876800" cy="2411885"/>
            <a:chOff x="2133600" y="4343400"/>
            <a:chExt cx="4876800" cy="2411885"/>
          </a:xfrm>
        </p:grpSpPr>
        <p:sp>
          <p:nvSpPr>
            <p:cNvPr id="17" name="矩形 16"/>
            <p:cNvSpPr/>
            <p:nvPr/>
          </p:nvSpPr>
          <p:spPr bwMode="auto">
            <a:xfrm>
              <a:off x="2133600" y="5039380"/>
              <a:ext cx="1066800" cy="60960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8" name="椭圆 17"/>
            <p:cNvSpPr/>
            <p:nvPr/>
          </p:nvSpPr>
          <p:spPr bwMode="auto">
            <a:xfrm>
              <a:off x="4876800" y="4343400"/>
              <a:ext cx="2133600" cy="1981200"/>
            </a:xfrm>
            <a:prstGeom prst="ellipse">
              <a:avLst/>
            </a:prstGeom>
            <a:solidFill>
              <a:srgbClr val="FF00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33600" y="5715000"/>
              <a:ext cx="1003801" cy="10402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dawa</a:t>
              </a:r>
            </a:p>
            <a:p>
              <a:pPr>
                <a:buNone/>
              </a:pPr>
              <a:r>
                <a:rPr lang="zh-CN" altLang="en-US" sz="2800" b="1">
                  <a:latin typeface="Times New Roman" pitchFamily="18" charset="0"/>
                  <a:cs typeface="Times New Roman" pitchFamily="18" charset="0"/>
                </a:rPr>
                <a:t>引用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05400" y="4614851"/>
              <a:ext cx="1664238" cy="1557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"</a:t>
              </a:r>
              <a:r>
                <a:rPr lang="zh-CN" altLang="en-US" sz="2800" b="1">
                  <a:latin typeface="Times New Roman" pitchFamily="18" charset="0"/>
                  <a:cs typeface="Times New Roman" pitchFamily="18" charset="0"/>
                </a:rPr>
                <a:t>大力士</a:t>
              </a: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"</a:t>
              </a:r>
            </a:p>
            <a:p>
              <a:pPr algn="ctr"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"M"</a:t>
              </a:r>
            </a:p>
            <a:p>
              <a:pPr algn="ctr"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20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1" name="直接箭头连接符 20"/>
            <p:cNvCxnSpPr>
              <a:endCxn id="18" idx="2"/>
            </p:cNvCxnSpPr>
            <p:nvPr/>
          </p:nvCxnSpPr>
          <p:spPr bwMode="auto">
            <a:xfrm>
              <a:off x="2895600" y="5334000"/>
              <a:ext cx="1981200" cy="1588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46860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引用与对象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4" name="内容占位符 2"/>
          <p:cNvSpPr txBox="1">
            <a:spLocks/>
          </p:cNvSpPr>
          <p:nvPr/>
        </p:nvSpPr>
        <p:spPr>
          <a:xfrm>
            <a:off x="1185962" y="1173471"/>
            <a:ext cx="8257295" cy="4953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latin typeface="宋体" pitchFamily="2" charset="-122"/>
                <a:ea typeface="宋体" pitchFamily="2" charset="-122"/>
              </a:rPr>
              <a:t>可以对引用进行“</a:t>
            </a:r>
            <a:r>
              <a:rPr lang="en-US" altLang="zh-CN" sz="3600" b="1">
                <a:latin typeface="宋体" pitchFamily="2" charset="-122"/>
                <a:ea typeface="宋体" pitchFamily="2" charset="-122"/>
              </a:rPr>
              <a:t>==”</a:t>
            </a:r>
            <a:r>
              <a:rPr lang="zh-CN" altLang="en-US" sz="3600" b="1">
                <a:latin typeface="宋体" pitchFamily="2" charset="-122"/>
                <a:ea typeface="宋体" pitchFamily="2" charset="-122"/>
              </a:rPr>
              <a:t>比较运算</a:t>
            </a:r>
            <a:endParaRPr lang="en-US" altLang="zh-CN" sz="3600" b="1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39013" y="2186244"/>
            <a:ext cx="87934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wukong1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= Baby("</a:t>
            </a:r>
            <a:r>
              <a:rPr lang="zh-CN" altLang="en-US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孙悟空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"M", 20)</a:t>
            </a:r>
            <a:endParaRPr lang="en-US" altLang="zh-CN" sz="3200" b="1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wukong2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= Baby("</a:t>
            </a:r>
            <a:r>
              <a:rPr lang="zh-CN" altLang="en-US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孙悟空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"M", 20)</a:t>
            </a:r>
            <a:endParaRPr lang="en-US" altLang="zh-CN" sz="3200" b="1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200" b="1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zh-CN" altLang="en-US" sz="3200" b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请问：</a:t>
            </a:r>
            <a:r>
              <a:rPr lang="en-US" altLang="zh-CN" sz="3200" b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wukong1 == wukong2</a:t>
            </a:r>
            <a:r>
              <a:rPr lang="zh-CN" altLang="en-US" sz="3200" b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？</a:t>
            </a:r>
            <a:endParaRPr lang="pl-PL" altLang="zh-CN" sz="3200" b="1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077414" y="4548444"/>
            <a:ext cx="259558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7200" b="1" i="1">
                <a:solidFill>
                  <a:srgbClr val="973095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False</a:t>
            </a:r>
            <a:r>
              <a:rPr lang="en-US" altLang="zh-CN" sz="7200" b="1" dirty="0">
                <a:solidFill>
                  <a:srgbClr val="973095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!</a:t>
            </a:r>
            <a:endParaRPr lang="zh-CN" altLang="en-US" sz="7200" b="1" dirty="0">
              <a:solidFill>
                <a:srgbClr val="973095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94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引用与对象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6916" y="1089504"/>
            <a:ext cx="8085868" cy="1175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wukong1 = Baby("</a:t>
            </a:r>
            <a:r>
              <a:rPr lang="zh-CN" altLang="en-US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孙悟空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M", 20)</a:t>
            </a:r>
            <a:endParaRPr lang="en-US" altLang="zh-CN" sz="3200" b="1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= Baby("</a:t>
            </a:r>
            <a:r>
              <a:rPr lang="zh-CN" altLang="en-US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孙悟空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M", 20)</a:t>
            </a:r>
            <a:endParaRPr lang="en-US" altLang="zh-CN" sz="3200" b="1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2697516" y="4323993"/>
            <a:ext cx="2133600" cy="1981200"/>
          </a:xfrm>
          <a:prstGeom prst="ellipse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018428" y="2502199"/>
            <a:ext cx="1584088" cy="1122640"/>
            <a:chOff x="1219200" y="4124980"/>
            <a:chExt cx="1584088" cy="1122640"/>
          </a:xfrm>
        </p:grpSpPr>
        <p:sp>
          <p:nvSpPr>
            <p:cNvPr id="15" name="矩形 14"/>
            <p:cNvSpPr/>
            <p:nvPr/>
          </p:nvSpPr>
          <p:spPr bwMode="auto">
            <a:xfrm>
              <a:off x="1447800" y="4124980"/>
              <a:ext cx="1066800" cy="60960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19200" y="4724400"/>
              <a:ext cx="15840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wukong1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926116" y="4595444"/>
            <a:ext cx="1664238" cy="1557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zh-CN" altLang="en-US" sz="2800" b="1">
                <a:latin typeface="Times New Roman" pitchFamily="18" charset="0"/>
                <a:cs typeface="Times New Roman" pitchFamily="18" charset="0"/>
              </a:rPr>
              <a:t>孙悟空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"M"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20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直接箭头连接符 17"/>
          <p:cNvCxnSpPr/>
          <p:nvPr/>
        </p:nvCxnSpPr>
        <p:spPr bwMode="auto">
          <a:xfrm rot="5400000">
            <a:off x="3044316" y="3603199"/>
            <a:ext cx="1440000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19" name="椭圆 18"/>
          <p:cNvSpPr/>
          <p:nvPr/>
        </p:nvSpPr>
        <p:spPr bwMode="auto">
          <a:xfrm>
            <a:off x="5897916" y="4323993"/>
            <a:ext cx="2133600" cy="1981200"/>
          </a:xfrm>
          <a:prstGeom prst="ellipse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218828" y="2502199"/>
            <a:ext cx="1584088" cy="1122640"/>
            <a:chOff x="1219200" y="4124980"/>
            <a:chExt cx="1584088" cy="1122640"/>
          </a:xfrm>
        </p:grpSpPr>
        <p:sp>
          <p:nvSpPr>
            <p:cNvPr id="21" name="矩形 20"/>
            <p:cNvSpPr/>
            <p:nvPr/>
          </p:nvSpPr>
          <p:spPr bwMode="auto">
            <a:xfrm>
              <a:off x="1447800" y="4124980"/>
              <a:ext cx="1066800" cy="60960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19200" y="4724400"/>
              <a:ext cx="15840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wukong2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126516" y="4595444"/>
            <a:ext cx="1664238" cy="1557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zh-CN" altLang="en-US" sz="2800" b="1">
                <a:latin typeface="Times New Roman" pitchFamily="18" charset="0"/>
                <a:cs typeface="Times New Roman" pitchFamily="18" charset="0"/>
              </a:rPr>
              <a:t>孙悟空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"M"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20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6" name="直接箭头连接符 25"/>
          <p:cNvCxnSpPr/>
          <p:nvPr/>
        </p:nvCxnSpPr>
        <p:spPr bwMode="auto">
          <a:xfrm rot="5400000">
            <a:off x="6244716" y="3603199"/>
            <a:ext cx="1440000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541101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引用与对象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84602" y="1109748"/>
            <a:ext cx="80858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wukong1 = Baby("</a:t>
            </a:r>
            <a:r>
              <a:rPr lang="zh-CN" altLang="en-US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孙悟空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M", 20)</a:t>
            </a:r>
            <a:endParaRPr lang="en-US" altLang="zh-CN" sz="3200" b="1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= Baby("</a:t>
            </a:r>
            <a:r>
              <a:rPr lang="zh-CN" altLang="en-US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孙悟空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", "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M", 20)</a:t>
            </a:r>
            <a:endParaRPr lang="en-US" altLang="zh-CN" sz="3200" b="1">
              <a:solidFill>
                <a:srgbClr val="99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wukong1 = wukong2</a:t>
            </a:r>
          </a:p>
        </p:txBody>
      </p:sp>
      <p:sp>
        <p:nvSpPr>
          <p:cNvPr id="27" name="椭圆 26"/>
          <p:cNvSpPr/>
          <p:nvPr/>
        </p:nvSpPr>
        <p:spPr bwMode="auto">
          <a:xfrm>
            <a:off x="2888715" y="4641194"/>
            <a:ext cx="2133600" cy="1981200"/>
          </a:xfrm>
          <a:prstGeom prst="ellipse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28" name="组合 14"/>
          <p:cNvGrpSpPr/>
          <p:nvPr/>
        </p:nvGrpSpPr>
        <p:grpSpPr>
          <a:xfrm>
            <a:off x="3209627" y="2819400"/>
            <a:ext cx="1584088" cy="1122640"/>
            <a:chOff x="1219200" y="4124980"/>
            <a:chExt cx="1584088" cy="1122640"/>
          </a:xfrm>
        </p:grpSpPr>
        <p:sp>
          <p:nvSpPr>
            <p:cNvPr id="29" name="矩形 28"/>
            <p:cNvSpPr/>
            <p:nvPr/>
          </p:nvSpPr>
          <p:spPr bwMode="auto">
            <a:xfrm>
              <a:off x="1447800" y="4124980"/>
              <a:ext cx="1066800" cy="60960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19200" y="4724400"/>
              <a:ext cx="15840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wukong1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117315" y="4912645"/>
            <a:ext cx="1664238" cy="1557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zh-CN" altLang="en-US" sz="2800" b="1">
                <a:latin typeface="Times New Roman" pitchFamily="18" charset="0"/>
                <a:cs typeface="Times New Roman" pitchFamily="18" charset="0"/>
              </a:rPr>
              <a:t>孙悟空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"M"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20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" name="直接箭头连接符 31"/>
          <p:cNvCxnSpPr>
            <a:endCxn id="33" idx="1"/>
          </p:cNvCxnSpPr>
          <p:nvPr/>
        </p:nvCxnSpPr>
        <p:spPr bwMode="auto">
          <a:xfrm>
            <a:off x="3956309" y="3201194"/>
            <a:ext cx="2445265" cy="17301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33" name="椭圆 32"/>
          <p:cNvSpPr/>
          <p:nvPr/>
        </p:nvSpPr>
        <p:spPr bwMode="auto">
          <a:xfrm>
            <a:off x="6089115" y="4641194"/>
            <a:ext cx="2133600" cy="1981200"/>
          </a:xfrm>
          <a:prstGeom prst="ellipse">
            <a:avLst/>
          </a:prstGeom>
          <a:solidFill>
            <a:srgbClr val="FF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34" name="组合 19"/>
          <p:cNvGrpSpPr/>
          <p:nvPr/>
        </p:nvGrpSpPr>
        <p:grpSpPr>
          <a:xfrm>
            <a:off x="6410027" y="2819400"/>
            <a:ext cx="1584088" cy="1122640"/>
            <a:chOff x="1219200" y="4124980"/>
            <a:chExt cx="1584088" cy="1122640"/>
          </a:xfrm>
        </p:grpSpPr>
        <p:sp>
          <p:nvSpPr>
            <p:cNvPr id="35" name="矩形 34"/>
            <p:cNvSpPr/>
            <p:nvPr/>
          </p:nvSpPr>
          <p:spPr bwMode="auto">
            <a:xfrm>
              <a:off x="1447800" y="4124980"/>
              <a:ext cx="1066800" cy="60960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219200" y="4724400"/>
              <a:ext cx="15840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wukong2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317715" y="4912645"/>
            <a:ext cx="1664238" cy="1557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zh-CN" altLang="en-US" sz="2800" b="1">
                <a:latin typeface="Times New Roman" pitchFamily="18" charset="0"/>
                <a:cs typeface="Times New Roman" pitchFamily="18" charset="0"/>
              </a:rPr>
              <a:t>孙悟空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"M"</a:t>
            </a:r>
          </a:p>
          <a:p>
            <a:pPr algn="ctr"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20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8" name="直接箭头连接符 37"/>
          <p:cNvCxnSpPr/>
          <p:nvPr/>
        </p:nvCxnSpPr>
        <p:spPr bwMode="auto">
          <a:xfrm rot="5400000">
            <a:off x="6435915" y="3920400"/>
            <a:ext cx="1440000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329648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对象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引用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作为函数参数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54141" y="3394048"/>
            <a:ext cx="1524000" cy="17543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buNone/>
            </a:pPr>
            <a:r>
              <a:rPr lang="en-US" altLang="zh-CN" sz="36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buNone/>
            </a:pPr>
            <a:r>
              <a:rPr lang="en-US" altLang="zh-CN" sz="36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36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955009" y="832051"/>
            <a:ext cx="5249233" cy="5730415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class Reference:  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def plus1(self,i):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i += 1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def plus2(self,c):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c.i += 1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def create(self,c):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c = Counter()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c.i += 1; 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endParaRPr kumimoji="1" lang="en-US" altLang="zh-CN" sz="2800" b="1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i = 0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r = Reference()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r.plus1(i)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print(i)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c1 = Counter()  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r.plus2(c1)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print(c1.i)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c2 = Counter()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r.create(c2) </a:t>
            </a:r>
          </a:p>
          <a:p>
            <a:pPr marL="342900" indent="-342900">
              <a:lnSpc>
                <a:spcPts val="2300"/>
              </a:lnSpc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print(c2.i)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6425053" y="962696"/>
            <a:ext cx="5051953" cy="1384995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class Counter: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def __init__(self):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self.i = 0  </a:t>
            </a:r>
          </a:p>
        </p:txBody>
      </p:sp>
    </p:spTree>
    <p:extLst>
      <p:ext uri="{BB962C8B-B14F-4D97-AF65-F5344CB8AC3E}">
        <p14:creationId xmlns:p14="http://schemas.microsoft.com/office/powerpoint/2010/main" val="159102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静态类型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(static)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996486" y="1147149"/>
            <a:ext cx="10217380" cy="481307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static</a:t>
            </a:r>
            <a:r>
              <a:rPr lang="zh-CN" altLang="en-US" sz="3600" b="1">
                <a:latin typeface="宋体" pitchFamily="2" charset="-122"/>
                <a:ea typeface="宋体" pitchFamily="2" charset="-122"/>
              </a:rPr>
              <a:t>类型表示“静态”或“全局”的意思，适用于成员变量和方法</a:t>
            </a:r>
            <a:endParaRPr lang="en-US" altLang="zh-CN" sz="3600" b="1">
              <a:latin typeface="宋体" pitchFamily="2" charset="-122"/>
              <a:ea typeface="宋体" pitchFamily="2" charset="-122"/>
            </a:endParaRPr>
          </a:p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latin typeface="宋体" pitchFamily="2" charset="-122"/>
                <a:ea typeface="宋体" pitchFamily="2" charset="-122"/>
              </a:rPr>
              <a:t>意味着这些成员变量和方法</a:t>
            </a:r>
            <a:endParaRPr lang="en-US" altLang="zh-CN" sz="3600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是类一级的定义，独立于该类的任何实例（对象），为所有实例所共享</a:t>
            </a:r>
            <a:endParaRPr lang="en-US" altLang="zh-CN" sz="3200" b="1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marL="903600" lvl="1" indent="-446400">
              <a:spcBef>
                <a:spcPts val="6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可以在任何类实例创建之前访问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  <a:p>
            <a:pPr marL="903600" lvl="1" indent="-446400">
              <a:spcBef>
                <a:spcPts val="6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类名</a:t>
            </a: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.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静态变量名</a:t>
            </a:r>
            <a:br>
              <a:rPr lang="en-US" altLang="zh-CN" sz="3200" b="1">
                <a:latin typeface="楷体" pitchFamily="49" charset="-122"/>
                <a:ea typeface="楷体" pitchFamily="49" charset="-122"/>
              </a:rPr>
            </a:b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类名</a:t>
            </a:r>
            <a:r>
              <a:rPr lang="en-US" altLang="zh-CN" sz="3200" b="1">
                <a:latin typeface="楷体" pitchFamily="49" charset="-122"/>
                <a:ea typeface="楷体" pitchFamily="49" charset="-122"/>
              </a:rPr>
              <a:t>.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静态方法名（参数列表）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60326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一个例子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0111" y="1337198"/>
            <a:ext cx="10539799" cy="452431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Baby: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numBabiesMade = 0 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class/static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variable</a:t>
            </a:r>
          </a:p>
          <a:p>
            <a:pPr>
              <a:spcBef>
                <a:spcPts val="0"/>
              </a:spcBef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Baby.numBabiesMade += 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b1 = Baby()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b2 = Baby()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print(Baby.numBabiesMade)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print(b1.numBabiesMade)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print(b2.numBabiesMade)</a:t>
            </a:r>
          </a:p>
        </p:txBody>
      </p:sp>
    </p:spTree>
    <p:extLst>
      <p:ext uri="{BB962C8B-B14F-4D97-AF65-F5344CB8AC3E}">
        <p14:creationId xmlns:p14="http://schemas.microsoft.com/office/powerpoint/2010/main" val="11353361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另一个例子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0111" y="1066522"/>
            <a:ext cx="10215059" cy="526297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class Counter: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ourCount = 0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class/static variable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self.myCount = 0 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instance variable</a:t>
            </a:r>
          </a:p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increment(self):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28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self.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myCount +=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28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Counter.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ourCount +=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counter1 = Counter()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counter2 = Counter()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counter1.increment()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counter1.increment()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counter2.increment()</a:t>
            </a:r>
          </a:p>
        </p:txBody>
      </p:sp>
      <p:sp>
        <p:nvSpPr>
          <p:cNvPr id="11" name="矩形 10"/>
          <p:cNvSpPr/>
          <p:nvPr/>
        </p:nvSpPr>
        <p:spPr>
          <a:xfrm>
            <a:off x="7016810" y="4519682"/>
            <a:ext cx="2537874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2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ourCount = ?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myCount = ?</a:t>
            </a:r>
            <a:endParaRPr lang="zh-CN" altLang="en-US" sz="3200" b="1" dirty="0">
              <a:solidFill>
                <a:srgbClr val="99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341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一个例子</a:t>
            </a:r>
            <a:r>
              <a:rPr lang="en-US" altLang="zh-CN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49288" y="1216903"/>
            <a:ext cx="1906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Counter </a:t>
            </a:r>
            <a:r>
              <a:rPr lang="zh-CN" altLang="en-US" sz="2800" b="1">
                <a:latin typeface="Times New Roman" pitchFamily="18" charset="0"/>
                <a:cs typeface="Times New Roman" pitchFamily="18" charset="0"/>
              </a:rPr>
              <a:t>类</a:t>
            </a:r>
          </a:p>
        </p:txBody>
      </p:sp>
      <p:sp>
        <p:nvSpPr>
          <p:cNvPr id="11" name="矩形 10"/>
          <p:cNvSpPr/>
          <p:nvPr/>
        </p:nvSpPr>
        <p:spPr bwMode="auto">
          <a:xfrm>
            <a:off x="1821915" y="1931754"/>
            <a:ext cx="2209800" cy="20574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ourCount</a:t>
            </a:r>
            <a:r>
              <a:rPr kumimoji="0" lang="en-US" altLang="zh-CN" sz="2800" b="1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=0</a:t>
            </a: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869915" y="1206723"/>
            <a:ext cx="2133600" cy="2648768"/>
            <a:chOff x="3581400" y="1857851"/>
            <a:chExt cx="2133600" cy="2648768"/>
          </a:xfrm>
        </p:grpSpPr>
        <p:sp>
          <p:nvSpPr>
            <p:cNvPr id="13" name="椭圆 12"/>
            <p:cNvSpPr/>
            <p:nvPr/>
          </p:nvSpPr>
          <p:spPr bwMode="auto">
            <a:xfrm>
              <a:off x="3581400" y="2525419"/>
              <a:ext cx="2133600" cy="198120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69394" y="1857851"/>
              <a:ext cx="154080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counter1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57600" y="2895600"/>
              <a:ext cx="20088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myCount=0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603399" y="4102323"/>
            <a:ext cx="448071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counter1 = Counter()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counter2 = Counter()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counter1.increment()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counter1.increment()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counter2.increment()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7536915" y="1206723"/>
            <a:ext cx="2133600" cy="2648768"/>
            <a:chOff x="6248400" y="1857851"/>
            <a:chExt cx="2133600" cy="2648768"/>
          </a:xfrm>
        </p:grpSpPr>
        <p:sp>
          <p:nvSpPr>
            <p:cNvPr id="18" name="椭圆 17"/>
            <p:cNvSpPr/>
            <p:nvPr/>
          </p:nvSpPr>
          <p:spPr bwMode="auto">
            <a:xfrm>
              <a:off x="6248400" y="2525419"/>
              <a:ext cx="2133600" cy="1981200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36394" y="1857851"/>
              <a:ext cx="154080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counter2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324600" y="2895600"/>
              <a:ext cx="20088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myCount=0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 bwMode="auto">
          <a:xfrm rot="5400000">
            <a:off x="3650715" y="2044923"/>
            <a:ext cx="304800" cy="304800"/>
          </a:xfrm>
          <a:prstGeom prst="line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直接连接符 21"/>
          <p:cNvCxnSpPr/>
          <p:nvPr/>
        </p:nvCxnSpPr>
        <p:spPr bwMode="auto">
          <a:xfrm rot="5400000">
            <a:off x="3650715" y="2349723"/>
            <a:ext cx="304800" cy="304800"/>
          </a:xfrm>
          <a:prstGeom prst="line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接连接符 22"/>
          <p:cNvCxnSpPr/>
          <p:nvPr/>
        </p:nvCxnSpPr>
        <p:spPr bwMode="auto">
          <a:xfrm rot="5400000">
            <a:off x="6622515" y="2320672"/>
            <a:ext cx="304800" cy="304800"/>
          </a:xfrm>
          <a:prstGeom prst="line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563113" y="2549272"/>
            <a:ext cx="3642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2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直接连接符 24"/>
          <p:cNvCxnSpPr/>
          <p:nvPr/>
        </p:nvCxnSpPr>
        <p:spPr bwMode="auto">
          <a:xfrm rot="5400000">
            <a:off x="6622515" y="2625472"/>
            <a:ext cx="304800" cy="304800"/>
          </a:xfrm>
          <a:prstGeom prst="line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直接连接符 25"/>
          <p:cNvCxnSpPr/>
          <p:nvPr/>
        </p:nvCxnSpPr>
        <p:spPr bwMode="auto">
          <a:xfrm rot="5400000">
            <a:off x="9289515" y="2396872"/>
            <a:ext cx="304800" cy="304800"/>
          </a:xfrm>
          <a:prstGeom prst="line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9230113" y="262547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cxnSp>
        <p:nvCxnSpPr>
          <p:cNvPr id="28" name="直接连接符 27"/>
          <p:cNvCxnSpPr/>
          <p:nvPr/>
        </p:nvCxnSpPr>
        <p:spPr bwMode="auto">
          <a:xfrm rot="5400000">
            <a:off x="3650715" y="2806923"/>
            <a:ext cx="304800" cy="304800"/>
          </a:xfrm>
          <a:prstGeom prst="line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3591313" y="2273523"/>
            <a:ext cx="36420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en-US" sz="2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369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静态成员函数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4" name="内容占位符 2"/>
          <p:cNvSpPr txBox="1">
            <a:spLocks/>
          </p:cNvSpPr>
          <p:nvPr/>
        </p:nvSpPr>
        <p:spPr>
          <a:xfrm>
            <a:off x="1185962" y="1173471"/>
            <a:ext cx="9462642" cy="4953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latin typeface="宋体" pitchFamily="2" charset="-122"/>
                <a:ea typeface="宋体" pitchFamily="2" charset="-122"/>
              </a:rPr>
              <a:t>静态成员函数：在函数定义前面加上声明：</a:t>
            </a:r>
            <a:r>
              <a:rPr lang="en-US" altLang="zh-CN" sz="3600" b="1">
                <a:latin typeface="宋体" pitchFamily="2" charset="-122"/>
                <a:ea typeface="宋体" pitchFamily="2" charset="-122"/>
              </a:rPr>
              <a:t>@staticmethod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9330" y="2671157"/>
            <a:ext cx="71716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Math: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@staticmethod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sin():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no 'self'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pl-PL" altLang="zh-CN" sz="32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print('sin')</a:t>
            </a:r>
          </a:p>
          <a:p>
            <a:pPr>
              <a:buNone/>
            </a:pPr>
            <a:endParaRPr lang="en-US" altLang="zh-CN" sz="3200" b="1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Math.sin()</a:t>
            </a:r>
          </a:p>
        </p:txBody>
      </p:sp>
    </p:spTree>
    <p:extLst>
      <p:ext uri="{BB962C8B-B14F-4D97-AF65-F5344CB8AC3E}">
        <p14:creationId xmlns:p14="http://schemas.microsoft.com/office/powerpoint/2010/main" val="20694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阅读代码分析结果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64503" y="1109252"/>
            <a:ext cx="9377571" cy="5093702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C: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f = 0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__init__(self, k):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self.f = k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a = 3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x = C(a)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C.f +=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y = C(a+1)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x = y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print(x.f, C.f)</a:t>
            </a:r>
          </a:p>
        </p:txBody>
      </p:sp>
      <p:sp>
        <p:nvSpPr>
          <p:cNvPr id="12" name="矩形 11"/>
          <p:cNvSpPr/>
          <p:nvPr/>
        </p:nvSpPr>
        <p:spPr>
          <a:xfrm>
            <a:off x="8119480" y="4940879"/>
            <a:ext cx="877163" cy="646331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60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4  1</a:t>
            </a:r>
            <a:endParaRPr lang="zh-CN" altLang="en-US" sz="3600" dirty="0">
              <a:solidFill>
                <a:schemeClr val="bg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939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8.4 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类的继承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4" name="Picture 6" descr="120618.strip.g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4271" y="1843918"/>
            <a:ext cx="9983951" cy="3102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547114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背景举例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006797" y="1219199"/>
            <a:ext cx="9916127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>
                <a:ea typeface="宋体" pitchFamily="2" charset="-122"/>
              </a:rPr>
              <a:t>        小明小学毕业了，明天要参加毕业典礼。为了让小明精精神神地参加典礼，给他儿时的记忆留下美好的一刻，爸爸为小明买了一条裤子。吃晚饭的时候，小明拿出裤子穿了一下，裤腿长了足足两寸，在饭桌上吃饭的妈妈、姐姐、奶奶听到裤子长了两寸，都没有反应，饭后大家都去忙自己的事情了。</a:t>
            </a:r>
            <a:endParaRPr lang="en-US" altLang="zh-CN" sz="2400" b="1">
              <a:solidFill>
                <a:schemeClr val="tx1"/>
              </a:solidFill>
              <a:ea typeface="宋体" pitchFamily="2" charset="-122"/>
            </a:endParaRPr>
          </a:p>
          <a:p>
            <a:pPr>
              <a:buNone/>
            </a:pPr>
            <a:r>
              <a:rPr lang="zh-CN" altLang="en-US" sz="2400" b="1">
                <a:ea typeface="宋体" pitchFamily="2" charset="-122"/>
              </a:rPr>
              <a:t>        妈妈睡得晚，临睡前想起儿子的裤子长了两寸，于是拿出裤子剪好后又整整齐齐地放回原处。</a:t>
            </a:r>
            <a:endParaRPr lang="en-US" altLang="zh-CN" sz="2400" b="1">
              <a:solidFill>
                <a:schemeClr val="tx1"/>
              </a:solidFill>
              <a:ea typeface="宋体" pitchFamily="2" charset="-122"/>
            </a:endParaRPr>
          </a:p>
          <a:p>
            <a:pPr>
              <a:buNone/>
            </a:pPr>
            <a:r>
              <a:rPr lang="zh-CN" altLang="en-US" sz="2400" b="1">
                <a:ea typeface="宋体" pitchFamily="2" charset="-122"/>
              </a:rPr>
              <a:t>        半夜里，姐姐一觉醒来，猛然想到弟弟明天一早要穿裤子，而裤子又长了两寸，平时对弟弟很疼爱的姐姐披衣起床，把裤腿剪掉两寸后又再入睡。</a:t>
            </a:r>
            <a:endParaRPr lang="en-US" altLang="zh-CN" sz="2400" b="1">
              <a:solidFill>
                <a:schemeClr val="tx1"/>
              </a:solidFill>
              <a:ea typeface="宋体" pitchFamily="2" charset="-122"/>
            </a:endParaRPr>
          </a:p>
          <a:p>
            <a:pPr>
              <a:buNone/>
            </a:pPr>
            <a:r>
              <a:rPr lang="zh-CN" altLang="en-US" sz="2400" b="1">
                <a:ea typeface="宋体" pitchFamily="2" charset="-122"/>
              </a:rPr>
              <a:t>        奶奶一大早起来给小明做早饭，她也想到了孙子的裤子，趁饭未做好时，又拿出裤子剪掉了两寸。</a:t>
            </a:r>
            <a:endParaRPr lang="en-US" altLang="zh-CN" sz="2400" b="1">
              <a:solidFill>
                <a:schemeClr val="tx1"/>
              </a:solidFill>
              <a:ea typeface="宋体" pitchFamily="2" charset="-122"/>
            </a:endParaRPr>
          </a:p>
          <a:p>
            <a:pPr>
              <a:buNone/>
            </a:pPr>
            <a:r>
              <a:rPr lang="zh-CN" altLang="en-US" sz="2400" b="1">
                <a:ea typeface="宋体" pitchFamily="2" charset="-122"/>
              </a:rPr>
              <a:t>        最后，小明只好穿着短了四寸的裤子去参加毕业典礼了。</a:t>
            </a:r>
            <a:endParaRPr lang="en-US" altLang="zh-CN" sz="2400" b="1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637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继承关系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996486" y="1321722"/>
            <a:ext cx="10217380" cy="428936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latin typeface="宋体" pitchFamily="2" charset="-122"/>
                <a:ea typeface="宋体" pitchFamily="2" charset="-122"/>
              </a:rPr>
              <a:t>类与类之间的关系</a:t>
            </a:r>
            <a:endParaRPr lang="en-US" altLang="zh-CN" sz="3600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泛化（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Generalization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）：“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is a”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关系，继承关系，一般类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/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特殊类，父类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/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子类，基类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/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派生类</a:t>
            </a:r>
            <a:endParaRPr lang="en-US" altLang="zh-CN" sz="3200" b="1">
              <a:solidFill>
                <a:srgbClr val="0000FF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聚合（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Aggregation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）：“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part of”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关系，整体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/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部分</a:t>
            </a:r>
            <a:endParaRPr lang="en-US" altLang="zh-CN" sz="3200" b="1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关联（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association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）：类与类之间存在某种语义上的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关联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07132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Why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继承关系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?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内容占位符 5"/>
          <p:cNvSpPr txBox="1">
            <a:spLocks/>
          </p:cNvSpPr>
          <p:nvPr/>
        </p:nvSpPr>
        <p:spPr>
          <a:xfrm>
            <a:off x="1151328" y="1282923"/>
            <a:ext cx="9065014" cy="475211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3600" lvl="1" indent="-446400"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便于软件重用。例如：某电子商务公司允许客户使用信用卡网上购物</a:t>
            </a:r>
            <a:endParaRPr lang="zh-CN" altLang="en-US" sz="3200" b="1" dirty="0"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418520"/>
              </p:ext>
            </p:extLst>
          </p:nvPr>
        </p:nvGraphicFramePr>
        <p:xfrm>
          <a:off x="6603788" y="2780599"/>
          <a:ext cx="3468474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Photo Editor Photo" r:id="rId3" imgW="3459780" imgH="2964437" progId="">
                  <p:embed/>
                </p:oleObj>
              </mc:Choice>
              <mc:Fallback>
                <p:oleObj name="Photo Editor Photo" r:id="rId3" imgW="3459780" imgH="2964437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3788" y="2780599"/>
                        <a:ext cx="3468474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 descr="无标题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02584" y="3013419"/>
            <a:ext cx="3269830" cy="207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397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Why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继承关系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996486" y="1371600"/>
            <a:ext cx="10217380" cy="408154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latin typeface="宋体" pitchFamily="2" charset="-122"/>
                <a:ea typeface="宋体" pitchFamily="2" charset="-122"/>
              </a:rPr>
              <a:t>若系统升级，允许借记卡</a:t>
            </a:r>
            <a:endParaRPr lang="en-US" altLang="zh-CN" sz="3600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信用卡与借记卡有许多共同的属性，如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cardNumber, nameOfCardholder, expirationDate</a:t>
            </a:r>
            <a:endParaRPr lang="en-US" altLang="zh-CN" sz="3200" b="1">
              <a:solidFill>
                <a:srgbClr val="0000FF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主要区别在于：信用卡有信用额度，而借记卡有卡余额</a:t>
            </a:r>
            <a:endParaRPr lang="en-US" altLang="zh-CN" sz="3200" b="1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8376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Why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继承关系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102730"/>
              </p:ext>
            </p:extLst>
          </p:nvPr>
        </p:nvGraphicFramePr>
        <p:xfrm>
          <a:off x="2180743" y="1019688"/>
          <a:ext cx="7010399" cy="3806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Photo Editor Photo" r:id="rId3" imgW="8169348" imgH="4435224" progId="">
                  <p:embed/>
                </p:oleObj>
              </mc:Choice>
              <mc:Fallback>
                <p:oleObj name="Photo Editor Photo" r:id="rId3" imgW="8169348" imgH="44352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743" y="1019688"/>
                        <a:ext cx="7010399" cy="3806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22"/>
          <p:cNvGrpSpPr/>
          <p:nvPr/>
        </p:nvGrpSpPr>
        <p:grpSpPr>
          <a:xfrm>
            <a:off x="2409342" y="5515488"/>
            <a:ext cx="1676400" cy="990600"/>
            <a:chOff x="838200" y="5715000"/>
            <a:chExt cx="1676400" cy="990600"/>
          </a:xfrm>
        </p:grpSpPr>
        <p:sp>
          <p:nvSpPr>
            <p:cNvPr id="12" name="流程图: 卡片 11"/>
            <p:cNvSpPr/>
            <p:nvPr/>
          </p:nvSpPr>
          <p:spPr bwMode="auto">
            <a:xfrm>
              <a:off x="838200" y="5715000"/>
              <a:ext cx="1676400" cy="990600"/>
            </a:xfrm>
            <a:prstGeom prst="flowChartPunchedCard">
              <a:avLst/>
            </a:prstGeom>
            <a:solidFill>
              <a:schemeClr val="tx2">
                <a:lumMod val="20000"/>
                <a:lumOff val="80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accent2">
                  <a:lumMod val="40000"/>
                  <a:lumOff val="60000"/>
                </a:scheme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lang="zh-CN" altLang="en-US" dirty="0">
                  <a:latin typeface="黑体" pitchFamily="49" charset="-122"/>
                  <a:ea typeface="黑体" pitchFamily="49" charset="-122"/>
                </a:rPr>
                <a:t>继承部分</a:t>
              </a:r>
              <a:endParaRPr lang="en-US" altLang="zh-CN" dirty="0">
                <a:latin typeface="黑体" pitchFamily="49" charset="-122"/>
                <a:ea typeface="黑体" pitchFamily="49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黑体" pitchFamily="49" charset="-122"/>
                </a:rPr>
                <a:t>         </a:t>
              </a:r>
              <a:r>
                <a:rPr kumimoji="0" lang="zh-CN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黑体" pitchFamily="49" charset="-122"/>
                </a:rPr>
                <a:t>新增部分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V="1">
              <a:off x="838200" y="5791200"/>
              <a:ext cx="1676400" cy="9144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4" name="直接连接符 13"/>
          <p:cNvCxnSpPr>
            <a:endCxn id="12" idx="0"/>
          </p:cNvCxnSpPr>
          <p:nvPr/>
        </p:nvCxnSpPr>
        <p:spPr bwMode="auto">
          <a:xfrm rot="5400000">
            <a:off x="2904642" y="5172588"/>
            <a:ext cx="6858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15" name="组合 23"/>
          <p:cNvGrpSpPr/>
          <p:nvPr/>
        </p:nvGrpSpPr>
        <p:grpSpPr>
          <a:xfrm>
            <a:off x="7133742" y="5515488"/>
            <a:ext cx="1676400" cy="990600"/>
            <a:chOff x="838200" y="5715000"/>
            <a:chExt cx="1676400" cy="990600"/>
          </a:xfrm>
        </p:grpSpPr>
        <p:sp>
          <p:nvSpPr>
            <p:cNvPr id="16" name="流程图: 卡片 15"/>
            <p:cNvSpPr/>
            <p:nvPr/>
          </p:nvSpPr>
          <p:spPr bwMode="auto">
            <a:xfrm>
              <a:off x="838200" y="5715000"/>
              <a:ext cx="1676400" cy="990600"/>
            </a:xfrm>
            <a:prstGeom prst="flowChartPunchedCard">
              <a:avLst/>
            </a:prstGeom>
            <a:solidFill>
              <a:schemeClr val="tx2">
                <a:lumMod val="20000"/>
                <a:lumOff val="80000"/>
              </a:scheme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50800" dir="5400000" algn="ctr" rotWithShape="0">
                <a:schemeClr val="accent2">
                  <a:lumMod val="40000"/>
                  <a:lumOff val="60000"/>
                </a:scheme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lang="zh-CN" altLang="en-US" dirty="0">
                  <a:latin typeface="黑体" pitchFamily="49" charset="-122"/>
                  <a:ea typeface="黑体" pitchFamily="49" charset="-122"/>
                </a:rPr>
                <a:t>继承部分</a:t>
              </a:r>
              <a:endParaRPr lang="en-US" altLang="zh-CN" dirty="0">
                <a:latin typeface="黑体" pitchFamily="49" charset="-122"/>
                <a:ea typeface="黑体" pitchFamily="49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  <a:tabLst/>
              </a:pPr>
              <a:r>
                <a: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黑体" pitchFamily="49" charset="-122"/>
                </a:rPr>
                <a:t>         </a:t>
              </a:r>
              <a:r>
                <a:rPr kumimoji="0" lang="zh-CN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黑体" pitchFamily="49" charset="-122"/>
                </a:rPr>
                <a:t>新增部分</a:t>
              </a:r>
            </a:p>
          </p:txBody>
        </p:sp>
        <p:cxnSp>
          <p:nvCxnSpPr>
            <p:cNvPr id="17" name="直接连接符 16"/>
            <p:cNvCxnSpPr/>
            <p:nvPr/>
          </p:nvCxnSpPr>
          <p:spPr bwMode="auto">
            <a:xfrm flipV="1">
              <a:off x="838200" y="5791200"/>
              <a:ext cx="1676400" cy="9144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8" name="直接连接符 17"/>
          <p:cNvCxnSpPr>
            <a:endCxn id="16" idx="0"/>
          </p:cNvCxnSpPr>
          <p:nvPr/>
        </p:nvCxnSpPr>
        <p:spPr bwMode="auto">
          <a:xfrm rot="5400000">
            <a:off x="7705242" y="5096388"/>
            <a:ext cx="685800" cy="15240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5186933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继承关系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Picture 5" descr="Fig7-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676400" y="1343880"/>
            <a:ext cx="36576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46766" y="2258280"/>
            <a:ext cx="34871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Wingdings" pitchFamily="2" charset="2"/>
              <a:buChar char="l"/>
            </a:pPr>
            <a:r>
              <a:rPr lang="en-US" altLang="zh-CN" sz="2800" b="1" dirty="0">
                <a:latin typeface="宋体" pitchFamily="2" charset="-122"/>
                <a:ea typeface="宋体" pitchFamily="2" charset="-122"/>
              </a:rPr>
              <a:t>Y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继承了</a:t>
            </a:r>
            <a:r>
              <a:rPr lang="en-US" altLang="zh-CN" sz="2800" b="1" dirty="0">
                <a:latin typeface="宋体" pitchFamily="2" charset="-122"/>
                <a:ea typeface="宋体" pitchFamily="2" charset="-122"/>
              </a:rPr>
              <a:t>X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的属性和操作</a:t>
            </a:r>
            <a:endParaRPr lang="en-US" altLang="zh-CN" sz="2800" b="1" dirty="0">
              <a:latin typeface="宋体" pitchFamily="2" charset="-122"/>
              <a:ea typeface="宋体" pitchFamily="2" charset="-122"/>
            </a:endParaRPr>
          </a:p>
          <a:p>
            <a:pPr marL="355600" indent="-355600">
              <a:buFont typeface="Wingdings" pitchFamily="2" charset="2"/>
              <a:buChar char="l"/>
            </a:pPr>
            <a:r>
              <a:rPr lang="en-US" altLang="zh-CN" sz="2800" b="1" dirty="0">
                <a:latin typeface="宋体" pitchFamily="2" charset="-122"/>
                <a:ea typeface="宋体" pitchFamily="2" charset="-122"/>
              </a:rPr>
              <a:t>Y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只需定义新增的属性和操作</a:t>
            </a:r>
            <a:endParaRPr lang="en-US" altLang="zh-CN" sz="2800" b="1" dirty="0">
              <a:latin typeface="宋体" pitchFamily="2" charset="-122"/>
              <a:ea typeface="宋体" pitchFamily="2" charset="-122"/>
            </a:endParaRPr>
          </a:p>
          <a:p>
            <a:pPr marL="355600" indent="-355600">
              <a:buFont typeface="Wingdings" pitchFamily="2" charset="2"/>
              <a:buChar char="l"/>
            </a:pPr>
            <a:r>
              <a:rPr lang="en-US" altLang="zh-CN" sz="2800" b="1" dirty="0">
                <a:latin typeface="宋体" pitchFamily="2" charset="-122"/>
                <a:ea typeface="宋体" pitchFamily="2" charset="-122"/>
              </a:rPr>
              <a:t>Y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的对象同时也是</a:t>
            </a:r>
            <a:r>
              <a:rPr lang="en-US" altLang="zh-CN" sz="2800" b="1" dirty="0">
                <a:latin typeface="宋体" pitchFamily="2" charset="-122"/>
                <a:ea typeface="宋体" pitchFamily="2" charset="-122"/>
              </a:rPr>
              <a:t>X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的对象</a:t>
            </a:r>
          </a:p>
        </p:txBody>
      </p:sp>
    </p:spTree>
    <p:extLst>
      <p:ext uri="{BB962C8B-B14F-4D97-AF65-F5344CB8AC3E}">
        <p14:creationId xmlns:p14="http://schemas.microsoft.com/office/powerpoint/2010/main" val="11085550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层次结构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1586674" y="1180405"/>
            <a:ext cx="9535740" cy="408154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latin typeface="宋体" pitchFamily="2" charset="-122"/>
                <a:ea typeface="宋体" pitchFamily="2" charset="-122"/>
              </a:rPr>
              <a:t>类的层次结构</a:t>
            </a:r>
            <a:endParaRPr lang="en-US" altLang="zh-CN" sz="3600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不同程度的抽象可得到不同层次的类</a:t>
            </a:r>
            <a:endParaRPr lang="en-US" altLang="zh-CN" sz="3200" b="1">
              <a:solidFill>
                <a:srgbClr val="0000FF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025081" y="2908062"/>
            <a:ext cx="838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生物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3653481" y="4142263"/>
            <a:ext cx="838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植物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5025081" y="4142263"/>
            <a:ext cx="838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动物</a:t>
            </a:r>
          </a:p>
        </p:txBody>
      </p:sp>
      <p:sp>
        <p:nvSpPr>
          <p:cNvPr id="16" name="矩形 15"/>
          <p:cNvSpPr/>
          <p:nvPr/>
        </p:nvSpPr>
        <p:spPr bwMode="auto">
          <a:xfrm>
            <a:off x="6320481" y="4142263"/>
            <a:ext cx="11430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微生物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4962081" y="5346462"/>
            <a:ext cx="838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ea typeface="黑体" pitchFamily="49" charset="-122"/>
              </a:rPr>
              <a:t>羊</a:t>
            </a:r>
          </a:p>
        </p:txBody>
      </p:sp>
      <p:sp>
        <p:nvSpPr>
          <p:cNvPr id="18" name="矩形 17"/>
          <p:cNvSpPr/>
          <p:nvPr/>
        </p:nvSpPr>
        <p:spPr bwMode="auto">
          <a:xfrm>
            <a:off x="6396681" y="5346462"/>
            <a:ext cx="838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ea typeface="黑体" pitchFamily="49" charset="-122"/>
              </a:rPr>
              <a:t>狼</a:t>
            </a:r>
          </a:p>
        </p:txBody>
      </p:sp>
      <p:sp>
        <p:nvSpPr>
          <p:cNvPr id="19" name="矩形 18"/>
          <p:cNvSpPr/>
          <p:nvPr/>
        </p:nvSpPr>
        <p:spPr bwMode="auto">
          <a:xfrm>
            <a:off x="3623481" y="5346462"/>
            <a:ext cx="838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Arial" pitchFamily="34" charset="0"/>
                <a:ea typeface="黑体" pitchFamily="49" charset="-122"/>
              </a:rPr>
              <a:t>人</a:t>
            </a:r>
          </a:p>
        </p:txBody>
      </p:sp>
      <p:cxnSp>
        <p:nvCxnSpPr>
          <p:cNvPr id="20" name="直接连接符 19"/>
          <p:cNvCxnSpPr/>
          <p:nvPr/>
        </p:nvCxnSpPr>
        <p:spPr bwMode="auto">
          <a:xfrm>
            <a:off x="4110681" y="3746262"/>
            <a:ext cx="27360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连接符 20"/>
          <p:cNvCxnSpPr/>
          <p:nvPr/>
        </p:nvCxnSpPr>
        <p:spPr bwMode="auto">
          <a:xfrm rot="16200000" flipH="1">
            <a:off x="5208080" y="3559062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直接连接符 21"/>
          <p:cNvCxnSpPr/>
          <p:nvPr/>
        </p:nvCxnSpPr>
        <p:spPr bwMode="auto">
          <a:xfrm rot="16200000" flipH="1">
            <a:off x="3912680" y="3944262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接连接符 22"/>
          <p:cNvCxnSpPr/>
          <p:nvPr/>
        </p:nvCxnSpPr>
        <p:spPr bwMode="auto">
          <a:xfrm rot="16200000" flipH="1">
            <a:off x="5208082" y="3944262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直接连接符 23"/>
          <p:cNvCxnSpPr/>
          <p:nvPr/>
        </p:nvCxnSpPr>
        <p:spPr bwMode="auto">
          <a:xfrm rot="16200000" flipH="1">
            <a:off x="6655882" y="3944262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接连接符 24"/>
          <p:cNvCxnSpPr/>
          <p:nvPr/>
        </p:nvCxnSpPr>
        <p:spPr bwMode="auto">
          <a:xfrm rot="16200000" flipH="1">
            <a:off x="5208082" y="4796262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直接连接符 25"/>
          <p:cNvCxnSpPr/>
          <p:nvPr/>
        </p:nvCxnSpPr>
        <p:spPr bwMode="auto">
          <a:xfrm>
            <a:off x="4080683" y="4965462"/>
            <a:ext cx="27360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/>
          <p:cNvCxnSpPr/>
          <p:nvPr/>
        </p:nvCxnSpPr>
        <p:spPr bwMode="auto">
          <a:xfrm rot="16200000" flipH="1">
            <a:off x="3882682" y="5163462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直接连接符 27"/>
          <p:cNvCxnSpPr/>
          <p:nvPr/>
        </p:nvCxnSpPr>
        <p:spPr bwMode="auto">
          <a:xfrm rot="16200000" flipH="1">
            <a:off x="5208084" y="5163462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/>
          <p:cNvCxnSpPr/>
          <p:nvPr/>
        </p:nvCxnSpPr>
        <p:spPr bwMode="auto">
          <a:xfrm rot="16200000" flipH="1">
            <a:off x="6625884" y="5163462"/>
            <a:ext cx="396000" cy="1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上箭头标注 29"/>
          <p:cNvSpPr/>
          <p:nvPr/>
        </p:nvSpPr>
        <p:spPr bwMode="auto">
          <a:xfrm>
            <a:off x="1507404" y="3136662"/>
            <a:ext cx="1295400" cy="2514600"/>
          </a:xfrm>
          <a:prstGeom prst="upArrowCallout">
            <a:avLst/>
          </a:prstGeom>
          <a:noFill/>
          <a:ln w="1587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较多地忽略事物之间的差别得到较一般的类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1" name="下箭头标注 30"/>
          <p:cNvSpPr/>
          <p:nvPr/>
        </p:nvSpPr>
        <p:spPr bwMode="auto">
          <a:xfrm>
            <a:off x="8275359" y="3365262"/>
            <a:ext cx="1296000" cy="2516400"/>
          </a:xfrm>
          <a:prstGeom prst="downArrowCallout">
            <a:avLst/>
          </a:prstGeom>
          <a:noFill/>
          <a:ln w="1587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较多地注意事物之间的差别得到较特殊的类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55653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一个继承关系的例子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图片 8" descr="2008_10_13_20_10_28_1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14378" y="1104204"/>
            <a:ext cx="6205451" cy="517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414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Dude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32563" y="1229538"/>
            <a:ext cx="8966662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Dude ():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__init__(self):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self.name = ''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self.hp = 100  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血量</a:t>
            </a:r>
            <a:endParaRPr lang="en-US" altLang="zh-CN" sz="3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self.mp = 0	 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魔力值</a:t>
            </a:r>
            <a:endParaRPr lang="en-US" altLang="zh-CN" sz="3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sayName(self):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print(self.name)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punchFace(self, target):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3200" b="1" dirty="0" err="1">
                <a:latin typeface="Courier New" pitchFamily="49" charset="0"/>
                <a:cs typeface="Courier New" pitchFamily="49" charset="0"/>
              </a:rPr>
              <a:t>target.hp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-= 10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3911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Wizard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7369" y="1840739"/>
            <a:ext cx="91412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Wizard():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# 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A Wizard does and has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# 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everything a Dude does and 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# 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has!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# 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Copy and 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paste Dude’s stuff?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5744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Wizard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32800" y="1231200"/>
            <a:ext cx="8783782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Wizard ():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__init__(self):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self.name = ''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self.hp = 100  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血量</a:t>
            </a:r>
            <a:endParaRPr lang="en-US" altLang="zh-CN" sz="3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self.mp = 0	 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魔力值</a:t>
            </a:r>
            <a:endParaRPr lang="en-US" altLang="zh-CN" sz="3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sayName(self):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print(self.name)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punchFace(self, target):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sz="3200" b="1" dirty="0" err="1">
                <a:latin typeface="Courier New" pitchFamily="49" charset="0"/>
                <a:cs typeface="Courier New" pitchFamily="49" charset="0"/>
              </a:rPr>
              <a:t>target.hp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-= 10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0864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利用继承关系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4152" y="1600200"/>
            <a:ext cx="8001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sz="3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3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Wizard</a:t>
            </a:r>
            <a:r>
              <a:rPr lang="zh-CN" altLang="en-US" sz="3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</a:t>
            </a:r>
            <a:r>
              <a:rPr lang="en-US" altLang="zh-CN" sz="3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Dude</a:t>
            </a:r>
            <a:r>
              <a:rPr lang="zh-CN" altLang="en-US" sz="3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的一个子类</a:t>
            </a:r>
            <a:endParaRPr lang="en-US" altLang="zh-CN" sz="36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buNone/>
            </a:pPr>
            <a:endParaRPr lang="en-US" altLang="zh-CN" sz="2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4000" b="1">
                <a:latin typeface="Courier New" pitchFamily="49" charset="0"/>
                <a:cs typeface="Courier New" pitchFamily="49" charset="0"/>
              </a:rPr>
              <a:t>    class </a:t>
            </a:r>
            <a:r>
              <a:rPr lang="en-US" altLang="zh-CN" sz="40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Wizard</a:t>
            </a:r>
            <a:r>
              <a:rPr lang="en-US" altLang="zh-CN" sz="4000" b="1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zh-CN" sz="4000" b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Dude</a:t>
            </a:r>
            <a:r>
              <a:rPr lang="en-US" altLang="zh-CN" sz="4000" b="1">
                <a:latin typeface="Courier New" pitchFamily="49" charset="0"/>
                <a:cs typeface="Courier New" pitchFamily="49" charset="0"/>
              </a:rPr>
              <a:t>):</a:t>
            </a:r>
            <a:endParaRPr lang="en-US" altLang="zh-CN" sz="40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altLang="zh-CN" sz="28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1" name="直接连接符 10"/>
          <p:cNvCxnSpPr/>
          <p:nvPr/>
        </p:nvCxnSpPr>
        <p:spPr bwMode="auto">
          <a:xfrm flipH="1">
            <a:off x="3912552" y="3352800"/>
            <a:ext cx="1143000" cy="106680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3244761" y="4463931"/>
            <a:ext cx="1181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3200" b="1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子类</a:t>
            </a: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7703175" y="3352800"/>
            <a:ext cx="1143000" cy="1066800"/>
          </a:xfrm>
          <a:prstGeom prst="line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8377008" y="4463931"/>
            <a:ext cx="1382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32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父类</a:t>
            </a:r>
          </a:p>
        </p:txBody>
      </p:sp>
    </p:spTree>
    <p:extLst>
      <p:ext uri="{BB962C8B-B14F-4D97-AF65-F5344CB8AC3E}">
        <p14:creationId xmlns:p14="http://schemas.microsoft.com/office/powerpoint/2010/main" val="28474427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利用继承关系！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15960" y="1525383"/>
            <a:ext cx="937398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itchFamily="34" charset="0"/>
              <a:buChar char="•"/>
            </a:pP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Wizard</a:t>
            </a: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可使用</a:t>
            </a: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Dude</a:t>
            </a: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中的所有成员变量</a:t>
            </a:r>
            <a:b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wizard1.hp += 1</a:t>
            </a:r>
            <a:endParaRPr lang="en-US" altLang="zh-CN" sz="36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55600" indent="-355600">
              <a:spcBef>
                <a:spcPts val="1800"/>
              </a:spcBef>
              <a:buFont typeface="Arial" pitchFamily="34" charset="0"/>
              <a:buChar char="•"/>
            </a:pP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Wizard</a:t>
            </a: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可调用</a:t>
            </a: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Dude</a:t>
            </a: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中的所有成员函数</a:t>
            </a:r>
            <a:b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en-US" altLang="zh-CN" sz="36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wizard1.punchFace(dude1)</a:t>
            </a:r>
          </a:p>
          <a:p>
            <a:pPr marL="355600" indent="-355600">
              <a:spcBef>
                <a:spcPts val="1800"/>
              </a:spcBef>
              <a:buFont typeface="Arial" pitchFamily="34" charset="0"/>
              <a:buChar char="•"/>
            </a:pP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你可以像使用</a:t>
            </a: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Dude</a:t>
            </a: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那样使用</a:t>
            </a: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Wizard</a:t>
            </a:r>
            <a:b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en-US" altLang="zh-CN" sz="36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dude1.punchFace(wizard1)</a:t>
            </a:r>
          </a:p>
          <a:p>
            <a:pPr>
              <a:buNone/>
            </a:pPr>
            <a:endParaRPr lang="en-US" altLang="zh-CN" sz="36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7957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完善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Wizard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6385" y="1251062"/>
            <a:ext cx="8001000" cy="4703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en-US" altLang="zh-CN" sz="3600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Wizard (Dude):</a:t>
            </a:r>
            <a:endParaRPr lang="en-US" altLang="zh-CN" sz="36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>
              <a:spcBef>
                <a:spcPts val="2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Dude.__init__(self)</a:t>
            </a:r>
          </a:p>
          <a:p>
            <a:pPr>
              <a:spcBef>
                <a:spcPts val="2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self.spells = []</a:t>
            </a:r>
          </a:p>
          <a:p>
            <a:pPr>
              <a:spcBef>
                <a:spcPts val="2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def cast(self, spell):</a:t>
            </a:r>
          </a:p>
          <a:p>
            <a:pPr>
              <a:spcBef>
                <a:spcPts val="2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# cool stuff here</a:t>
            </a:r>
          </a:p>
          <a:p>
            <a:pPr>
              <a:spcBef>
                <a:spcPts val="2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...</a:t>
            </a:r>
          </a:p>
          <a:p>
            <a:pPr>
              <a:spcBef>
                <a:spcPts val="2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self.mp -= 10</a:t>
            </a:r>
            <a:endParaRPr lang="en-US" altLang="zh-CN" sz="36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147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继承再继承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1874" y="1384062"/>
            <a:ext cx="1019692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altLang="zh-CN" sz="3200" b="1" err="1">
                <a:latin typeface="Courier New" pitchFamily="49" charset="0"/>
                <a:cs typeface="Courier New" pitchFamily="49" charset="0"/>
              </a:rPr>
              <a:t>GrandWizard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(Wizard):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sayName(self):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print("Grand wizard", self.name)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grandWizard1 = GrandWizard()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grandWizard1.name = "Flash"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grandWizard1.sayName()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84241" y="5086006"/>
            <a:ext cx="3422732" cy="58477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Grand wizard Flash</a:t>
            </a:r>
            <a:endParaRPr lang="zh-CN" altLang="en-US" sz="3200" dirty="0">
              <a:solidFill>
                <a:schemeClr val="bg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56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442657" y="851239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如何实现？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内容占位符 5"/>
          <p:cNvSpPr txBox="1">
            <a:spLocks/>
          </p:cNvSpPr>
          <p:nvPr/>
        </p:nvSpPr>
        <p:spPr>
          <a:xfrm>
            <a:off x="1637646" y="1238592"/>
            <a:ext cx="7696200" cy="4953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sz="3600" b="1">
                <a:latin typeface="楷体" pitchFamily="49" charset="-122"/>
                <a:ea typeface="楷体" pitchFamily="49" charset="-122"/>
              </a:rPr>
              <a:t>Python</a:t>
            </a: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看到如下语句时会如何做？</a:t>
            </a:r>
            <a:endParaRPr lang="en-US" altLang="zh-CN" sz="3600" b="1">
              <a:latin typeface="楷体" pitchFamily="49" charset="-122"/>
              <a:ea typeface="楷体" pitchFamily="49" charset="-122"/>
            </a:endParaRPr>
          </a:p>
          <a:p>
            <a:pPr lvl="1">
              <a:spcBef>
                <a:spcPts val="1200"/>
              </a:spcBef>
              <a:spcAft>
                <a:spcPts val="2400"/>
              </a:spcAft>
              <a:buFont typeface="Arial" panose="020B0604020202020204" pitchFamily="34" charset="0"/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grandWizard1.punchFace(dude1)</a:t>
            </a:r>
          </a:p>
          <a:p>
            <a:pPr lvl="1">
              <a:spcAft>
                <a:spcPts val="240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300581" y="2675313"/>
            <a:ext cx="6779356" cy="3570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</a:t>
            </a: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GrandWizard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类中寻找</a:t>
            </a: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punchFace()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lang="en-US" altLang="zh-CN" sz="28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没有找到！</a:t>
            </a: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grandWizard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有父类吗？</a:t>
            </a:r>
            <a:endParaRPr lang="en-US" altLang="zh-CN" sz="28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</a:t>
            </a: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Wizard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类中查找</a:t>
            </a: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punchFace()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lang="en-US" altLang="zh-CN" sz="28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没有找到！</a:t>
            </a: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Wizard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有父类吗？</a:t>
            </a:r>
            <a:endParaRPr lang="en-US" altLang="zh-CN" sz="28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</a:t>
            </a: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Dude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类中查找</a:t>
            </a: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punchFace()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lang="en-US" altLang="zh-CN" sz="28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找到了！调用</a:t>
            </a: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punchFace()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lang="en-US" altLang="zh-CN" sz="28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减少</a:t>
            </a: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dude1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</a:t>
            </a: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hp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值</a:t>
            </a:r>
          </a:p>
        </p:txBody>
      </p:sp>
    </p:spTree>
    <p:extLst>
      <p:ext uri="{BB962C8B-B14F-4D97-AF65-F5344CB8AC3E}">
        <p14:creationId xmlns:p14="http://schemas.microsoft.com/office/powerpoint/2010/main" val="2189467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442657" y="851239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1885" y="1054863"/>
            <a:ext cx="9366190" cy="50167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Parent: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x 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class Child(Parent):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self.name = ''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def setName(self, s):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self.name = s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a = Parent()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a.setName("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悟空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print(a.name)</a:t>
            </a:r>
          </a:p>
        </p:txBody>
      </p:sp>
    </p:spTree>
    <p:extLst>
      <p:ext uri="{BB962C8B-B14F-4D97-AF65-F5344CB8AC3E}">
        <p14:creationId xmlns:p14="http://schemas.microsoft.com/office/powerpoint/2010/main" val="3407986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子类对象的存储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996486" y="1371600"/>
            <a:ext cx="10217380" cy="408154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latin typeface="宋体" pitchFamily="2" charset="-122"/>
                <a:ea typeface="宋体" pitchFamily="2" charset="-122"/>
              </a:rPr>
              <a:t>在创建一个子类对象后</a:t>
            </a:r>
            <a:endParaRPr lang="en-US" altLang="zh-CN" sz="3600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一方面，该子类对象本身是一个独立、完整的对象</a:t>
            </a:r>
            <a:endParaRPr lang="en-US" altLang="zh-CN" sz="3200" b="1">
              <a:solidFill>
                <a:srgbClr val="0000FF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另一方面，在该对象内部，又包含了一个父类子对象（</a:t>
            </a:r>
            <a:r>
              <a:rPr lang="en-US" altLang="zh-CN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subobject</a:t>
            </a: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）</a:t>
            </a:r>
            <a:endParaRPr lang="en-US" altLang="zh-CN" sz="3200" b="1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2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该子对象与正常创建的父类对象相同</a:t>
            </a:r>
            <a:endParaRPr lang="en-US" altLang="zh-CN" sz="3200" b="1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2656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091789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子类对象中的父类子对象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950" y="1315861"/>
            <a:ext cx="7664334" cy="491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852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091789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子类对象中的父类子对象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319" y="1213653"/>
            <a:ext cx="5791200" cy="46375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76519" y="5861853"/>
            <a:ext cx="1829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Iron man</a:t>
            </a:r>
            <a:endParaRPr lang="zh-C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29847" y="4041589"/>
            <a:ext cx="20695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200" b="1">
                <a:solidFill>
                  <a:srgbClr val="973095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如何实现</a:t>
            </a:r>
            <a:r>
              <a:rPr lang="zh-CN" altLang="en-US" sz="3200" b="1" dirty="0">
                <a:solidFill>
                  <a:srgbClr val="973095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64528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091789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具体实现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602580"/>
              </p:ext>
            </p:extLst>
          </p:nvPr>
        </p:nvGraphicFramePr>
        <p:xfrm>
          <a:off x="3107992" y="1672236"/>
          <a:ext cx="3276600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2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Grand</a:t>
                      </a:r>
                      <a:r>
                        <a:rPr lang="zh-CN" altLang="en-US" sz="28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成员变量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</a:t>
                      </a:r>
                      <a:r>
                        <a:rPr lang="zh-CN" altLang="en-US" sz="2800" b="1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成员变量</a:t>
                      </a:r>
                      <a:endParaRPr lang="zh-CN" altLang="en-US" sz="2800" b="1" baseline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Child</a:t>
                      </a:r>
                      <a:r>
                        <a:rPr lang="zh-CN" altLang="en-US" sz="2800" b="1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成员变量</a:t>
                      </a:r>
                      <a:endParaRPr lang="zh-CN" altLang="en-US" sz="2800" baseline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1" name="直接箭头连接符 10"/>
          <p:cNvCxnSpPr/>
          <p:nvPr/>
        </p:nvCxnSpPr>
        <p:spPr bwMode="auto">
          <a:xfrm>
            <a:off x="2383792" y="1672236"/>
            <a:ext cx="64800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513723" y="1410384"/>
            <a:ext cx="9060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起始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</a:p>
        </p:txBody>
      </p:sp>
      <p:sp>
        <p:nvSpPr>
          <p:cNvPr id="13" name="右大括号 12"/>
          <p:cNvSpPr/>
          <p:nvPr/>
        </p:nvSpPr>
        <p:spPr bwMode="auto">
          <a:xfrm>
            <a:off x="6536992" y="1752901"/>
            <a:ext cx="228600" cy="1595735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86785" y="2086488"/>
            <a:ext cx="12025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Grand</a:t>
            </a:r>
          </a:p>
          <a:p>
            <a:pPr>
              <a:buNone/>
            </a:pPr>
            <a:r>
              <a:rPr lang="zh-CN" altLang="en-US" sz="2800" b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对象</a:t>
            </a:r>
          </a:p>
        </p:txBody>
      </p:sp>
      <p:sp>
        <p:nvSpPr>
          <p:cNvPr id="15" name="右大括号 14"/>
          <p:cNvSpPr/>
          <p:nvPr/>
        </p:nvSpPr>
        <p:spPr bwMode="auto">
          <a:xfrm>
            <a:off x="7750819" y="1740123"/>
            <a:ext cx="228600" cy="297180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08991" y="2664060"/>
            <a:ext cx="12153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Parent</a:t>
            </a:r>
          </a:p>
          <a:p>
            <a:pPr>
              <a:buNone/>
            </a:pPr>
            <a:r>
              <a:rPr lang="zh-CN" altLang="en-US" sz="2800" b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对象</a:t>
            </a:r>
          </a:p>
        </p:txBody>
      </p:sp>
      <p:sp>
        <p:nvSpPr>
          <p:cNvPr id="17" name="右大括号 16"/>
          <p:cNvSpPr/>
          <p:nvPr/>
        </p:nvSpPr>
        <p:spPr bwMode="auto">
          <a:xfrm>
            <a:off x="9074164" y="1748436"/>
            <a:ext cx="228600" cy="396240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02764" y="3205773"/>
            <a:ext cx="10438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Child</a:t>
            </a:r>
          </a:p>
          <a:p>
            <a:pPr>
              <a:buNone/>
            </a:pPr>
            <a:r>
              <a:rPr lang="zh-CN" altLang="en-US" sz="2800" b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对象</a:t>
            </a:r>
          </a:p>
        </p:txBody>
      </p:sp>
    </p:spTree>
    <p:extLst>
      <p:ext uri="{BB962C8B-B14F-4D97-AF65-F5344CB8AC3E}">
        <p14:creationId xmlns:p14="http://schemas.microsoft.com/office/powerpoint/2010/main" val="19844130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3" y="98987"/>
            <a:ext cx="7091789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示例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7788" y="951920"/>
            <a:ext cx="9002670" cy="56342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class Man: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self.name = ' '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class IronMan(Man):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__init__(self):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Man.__init__(self)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self.nickname = ' '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def myprint(self):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print("Man: " + self.name)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print("Ironman: "+self.nickname)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endParaRPr lang="en-US" altLang="zh-CN" sz="2800" b="1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im = IronMan()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im.nickname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= "</a:t>
            </a:r>
            <a:r>
              <a:rPr lang="zh-CN" altLang="en-US" sz="2800" b="1">
                <a:latin typeface="Courier New" pitchFamily="49" charset="0"/>
                <a:cs typeface="Courier New" pitchFamily="49" charset="0"/>
              </a:rPr>
              <a:t>钢铁侠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= im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m.name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= "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Tony Stark"</a:t>
            </a:r>
          </a:p>
          <a:p>
            <a:pPr>
              <a:lnSpc>
                <a:spcPts val="2500"/>
              </a:lnSpc>
              <a:spcBef>
                <a:spcPts val="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im.myprint()</a:t>
            </a:r>
            <a:endParaRPr lang="en-US" altLang="zh-CN" sz="28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951" y="4896189"/>
            <a:ext cx="3971959" cy="1155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385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5994422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026" name="Picture 2" descr="https://gimg2.baidu.com/image_search/src=http%3A%2F%2Fc-ssl.duitang.com%2Fuploads%2Fitem%2F202003%2F27%2F20200327020712_VxjXR.thumb.400_0.gif&amp;refer=http%3A%2F%2Fc-ssl.duitang.com&amp;app=2002&amp;size=f9999,10000&amp;q=a80&amp;n=0&amp;g=0n&amp;fmt=auto?sec=1734404324&amp;t=31ec499bef27ab55aecba2d41f97aff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714" y="579767"/>
            <a:ext cx="5729837" cy="572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434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2660095-1412-4de3-82c3-8cc48b93c150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A550DE"/>
      </a:accent1>
      <a:accent2>
        <a:srgbClr val="81308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A550DE"/>
    </a:accent1>
    <a:accent2>
      <a:srgbClr val="81308C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5663</TotalTime>
  <Words>2865</Words>
  <Application>Microsoft Office PowerPoint</Application>
  <PresentationFormat>宽屏</PresentationFormat>
  <Paragraphs>494</Paragraphs>
  <Slides>61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9" baseType="lpstr">
      <vt:lpstr>等线</vt:lpstr>
      <vt:lpstr>方正舒体</vt:lpstr>
      <vt:lpstr>黑体</vt:lpstr>
      <vt:lpstr>楷体</vt:lpstr>
      <vt:lpstr>隶书</vt:lpstr>
      <vt:lpstr>宋体</vt:lpstr>
      <vt:lpstr>微软雅黑</vt:lpstr>
      <vt:lpstr>Arial</vt:lpstr>
      <vt:lpstr>Arial Black</vt:lpstr>
      <vt:lpstr>Calibri</vt:lpstr>
      <vt:lpstr>Courier New</vt:lpstr>
      <vt:lpstr>Segoe UI</vt:lpstr>
      <vt:lpstr>Segoe UI Semilight</vt:lpstr>
      <vt:lpstr>Times New Roman</vt:lpstr>
      <vt:lpstr>Wingdings</vt:lpstr>
      <vt:lpstr>Wingdings 2</vt:lpstr>
      <vt:lpstr>1_Office 主题</vt:lpstr>
      <vt:lpstr>Photo Editor Photo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CWJ</cp:lastModifiedBy>
  <cp:revision>626</cp:revision>
  <dcterms:created xsi:type="dcterms:W3CDTF">2020-07-27T01:08:00Z</dcterms:created>
  <dcterms:modified xsi:type="dcterms:W3CDTF">2025-09-16T05:02:19Z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F2ED8728BD3849908EBCAD75A285C632_13</vt:lpwstr>
  </property>
  <property fmtid="{D5CDD505-2E9C-101B-9397-08002B2CF9AE}" pid="3" name="KSOProductBuildVer">
    <vt:lpwstr>2052-11.1.0.14309</vt:lpwstr>
  </property>
</Properties>
</file>