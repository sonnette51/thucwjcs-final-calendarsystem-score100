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4"/>
  </p:notesMasterIdLst>
  <p:handoutMasterIdLst>
    <p:handoutMasterId r:id="rId55"/>
  </p:handoutMasterIdLst>
  <p:sldIdLst>
    <p:sldId id="398" r:id="rId2"/>
    <p:sldId id="409" r:id="rId3"/>
    <p:sldId id="503" r:id="rId4"/>
    <p:sldId id="500" r:id="rId5"/>
    <p:sldId id="505" r:id="rId6"/>
    <p:sldId id="506" r:id="rId7"/>
    <p:sldId id="507" r:id="rId8"/>
    <p:sldId id="508" r:id="rId9"/>
    <p:sldId id="509" r:id="rId10"/>
    <p:sldId id="510" r:id="rId11"/>
    <p:sldId id="511" r:id="rId12"/>
    <p:sldId id="512" r:id="rId13"/>
    <p:sldId id="513" r:id="rId14"/>
    <p:sldId id="514" r:id="rId15"/>
    <p:sldId id="515" r:id="rId16"/>
    <p:sldId id="516" r:id="rId17"/>
    <p:sldId id="517" r:id="rId18"/>
    <p:sldId id="518" r:id="rId19"/>
    <p:sldId id="519" r:id="rId20"/>
    <p:sldId id="520" r:id="rId21"/>
    <p:sldId id="521" r:id="rId22"/>
    <p:sldId id="522" r:id="rId23"/>
    <p:sldId id="523" r:id="rId24"/>
    <p:sldId id="524" r:id="rId25"/>
    <p:sldId id="525" r:id="rId26"/>
    <p:sldId id="526" r:id="rId27"/>
    <p:sldId id="527" r:id="rId28"/>
    <p:sldId id="528" r:id="rId29"/>
    <p:sldId id="529" r:id="rId30"/>
    <p:sldId id="530" r:id="rId31"/>
    <p:sldId id="531" r:id="rId32"/>
    <p:sldId id="538" r:id="rId33"/>
    <p:sldId id="537" r:id="rId34"/>
    <p:sldId id="532" r:id="rId35"/>
    <p:sldId id="539" r:id="rId36"/>
    <p:sldId id="540" r:id="rId37"/>
    <p:sldId id="533" r:id="rId38"/>
    <p:sldId id="534" r:id="rId39"/>
    <p:sldId id="535" r:id="rId40"/>
    <p:sldId id="536" r:id="rId41"/>
    <p:sldId id="541" r:id="rId42"/>
    <p:sldId id="544" r:id="rId43"/>
    <p:sldId id="545" r:id="rId44"/>
    <p:sldId id="546" r:id="rId45"/>
    <p:sldId id="547" r:id="rId46"/>
    <p:sldId id="548" r:id="rId47"/>
    <p:sldId id="549" r:id="rId48"/>
    <p:sldId id="550" r:id="rId49"/>
    <p:sldId id="551" r:id="rId50"/>
    <p:sldId id="542" r:id="rId51"/>
    <p:sldId id="543" r:id="rId52"/>
    <p:sldId id="501" r:id="rId53"/>
  </p:sldIdLst>
  <p:sldSz cx="12192000" cy="6858000"/>
  <p:notesSz cx="6858000" cy="9144000"/>
  <p:custDataLst>
    <p:tags r:id="rId5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388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82308E"/>
    <a:srgbClr val="00863A"/>
    <a:srgbClr val="FF00FF"/>
    <a:srgbClr val="262673"/>
    <a:srgbClr val="005825"/>
    <a:srgbClr val="D1D1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9" d="100"/>
          <a:sy n="89" d="100"/>
        </p:scale>
        <p:origin x="304" y="64"/>
      </p:cViewPr>
      <p:guideLst>
        <p:guide orient="horz" pos="2164"/>
        <p:guide pos="388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3752"/>
    </p:cViewPr>
  </p:sorterViewPr>
  <p:notesViewPr>
    <p:cSldViewPr snapToGrid="0">
      <p:cViewPr varScale="1">
        <p:scale>
          <a:sx n="50" d="100"/>
          <a:sy n="50" d="100"/>
        </p:scale>
        <p:origin x="2472" y="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E977C3-5D49-4AE3-94A3-4A850F718679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3FDB9-DDE0-4054-8528-4EF247FF79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0268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922EB3-8BB3-4D7C-920D-99B3A498A38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5631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37C1142-F811-4A5F-9F2B-FD8FFE6CA8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22160" y="1717964"/>
            <a:ext cx="4347422" cy="434742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2DB7E10-9DCA-46E6-AF35-0DEC12E9EC98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93325" y="137811"/>
            <a:ext cx="1701209" cy="54871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107B553-E0FC-09D8-D059-B7F87DA052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1544" y="869784"/>
            <a:ext cx="5028111" cy="5028111"/>
          </a:xfrm>
          <a:prstGeom prst="rect">
            <a:avLst/>
          </a:prstGeom>
        </p:spPr>
      </p:pic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8BA2A0A-9BC3-4B9E-93E4-A416F8D93E95}"/>
              </a:ext>
            </a:extLst>
          </p:cNvPr>
          <p:cNvSpPr txBox="1"/>
          <p:nvPr userDrawn="1"/>
        </p:nvSpPr>
        <p:spPr>
          <a:xfrm>
            <a:off x="109146" y="6433625"/>
            <a:ext cx="254608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自强不息，厚德载物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0BC47D6-6CDB-0EC7-BA7E-7BDE5C57F759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93325" y="137811"/>
            <a:ext cx="1701209" cy="548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455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706545C-F379-4254-89DB-67815911527C}"/>
              </a:ext>
            </a:extLst>
          </p:cNvPr>
          <p:cNvSpPr txBox="1"/>
          <p:nvPr userDrawn="1"/>
        </p:nvSpPr>
        <p:spPr>
          <a:xfrm>
            <a:off x="109146" y="6433625"/>
            <a:ext cx="254608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自强不息，厚德载物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34A283B-A7C5-23BE-ACA9-C971DA503B9D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93325" y="137811"/>
            <a:ext cx="1701209" cy="548714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11599363" y="6477007"/>
            <a:ext cx="558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35A5ECB-3606-4A97-BFD1-55C7127585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4" r:id="rId4"/>
    <p:sldLayoutId id="2147483655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5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1337" y="110465"/>
            <a:ext cx="11809309" cy="522678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91337" y="110465"/>
            <a:ext cx="11809309" cy="5226782"/>
          </a:xfrm>
          <a:prstGeom prst="rect">
            <a:avLst/>
          </a:prstGeom>
          <a:solidFill>
            <a:schemeClr val="accent2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平行四边形 9"/>
          <p:cNvSpPr/>
          <p:nvPr/>
        </p:nvSpPr>
        <p:spPr>
          <a:xfrm>
            <a:off x="4886156" y="4721323"/>
            <a:ext cx="2451398" cy="452970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平行四边形 10"/>
          <p:cNvSpPr/>
          <p:nvPr/>
        </p:nvSpPr>
        <p:spPr>
          <a:xfrm>
            <a:off x="2743200" y="5694633"/>
            <a:ext cx="3021054" cy="691606"/>
          </a:xfrm>
          <a:prstGeom prst="parallelogram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6427748" y="5694633"/>
            <a:ext cx="3020400" cy="691200"/>
          </a:xfrm>
          <a:prstGeom prst="parallelogram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占位符 30"/>
          <p:cNvSpPr txBox="1"/>
          <p:nvPr/>
        </p:nvSpPr>
        <p:spPr>
          <a:xfrm>
            <a:off x="2968031" y="5825643"/>
            <a:ext cx="2609850" cy="4866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谌卫军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占位符 31"/>
          <p:cNvSpPr txBox="1"/>
          <p:nvPr/>
        </p:nvSpPr>
        <p:spPr>
          <a:xfrm>
            <a:off x="6623172" y="5825643"/>
            <a:ext cx="2609850" cy="4866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计算机系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占位符 32"/>
          <p:cNvSpPr txBox="1"/>
          <p:nvPr/>
        </p:nvSpPr>
        <p:spPr>
          <a:xfrm>
            <a:off x="4791075" y="4778558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2025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年秋季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学期</a:t>
            </a:r>
          </a:p>
        </p:txBody>
      </p:sp>
      <p:sp>
        <p:nvSpPr>
          <p:cNvPr id="24" name="文本占位符 24"/>
          <p:cNvSpPr txBox="1"/>
          <p:nvPr/>
        </p:nvSpPr>
        <p:spPr>
          <a:xfrm>
            <a:off x="515378" y="2218964"/>
            <a:ext cx="11161239" cy="2133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25000"/>
              </a:lnSpc>
              <a:defRPr/>
            </a:pPr>
            <a:r>
              <a:rPr lang="zh-CN" altLang="en-US">
                <a:solidFill>
                  <a:sysClr val="window" lastClr="FFFFFF"/>
                </a:solidFill>
              </a:rPr>
              <a:t>计算机程序设计基础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文本占位符 27"/>
          <p:cNvSpPr txBox="1"/>
          <p:nvPr/>
        </p:nvSpPr>
        <p:spPr>
          <a:xfrm>
            <a:off x="1166827" y="3528421"/>
            <a:ext cx="9858345" cy="5909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800"/>
              <a:t>Introduction to Computer Programming</a:t>
            </a:r>
            <a:endParaRPr lang="en-US" altLang="zh-CN" sz="2800" dirty="0"/>
          </a:p>
        </p:txBody>
      </p:sp>
      <p:cxnSp>
        <p:nvCxnSpPr>
          <p:cNvPr id="31" name="直接连接符 30"/>
          <p:cNvCxnSpPr/>
          <p:nvPr/>
        </p:nvCxnSpPr>
        <p:spPr>
          <a:xfrm>
            <a:off x="2207568" y="4392452"/>
            <a:ext cx="763284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6158" y="792175"/>
            <a:ext cx="3664780" cy="118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881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3"/>
          <p:cNvSpPr txBox="1"/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36000">
                    <a:schemeClr val="accent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  <a:tileRect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66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作业讲评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/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chemeClr val="accent2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/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chemeClr val="accent2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6258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562644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本章结构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3" name="文本占位符 50"/>
          <p:cNvSpPr txBox="1"/>
          <p:nvPr/>
        </p:nvSpPr>
        <p:spPr>
          <a:xfrm>
            <a:off x="2036623" y="2352513"/>
            <a:ext cx="2157426" cy="689689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编程规范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占位符 50"/>
          <p:cNvSpPr txBox="1"/>
          <p:nvPr/>
        </p:nvSpPr>
        <p:spPr>
          <a:xfrm>
            <a:off x="4987642" y="4070431"/>
            <a:ext cx="2448070" cy="1000334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程序的调试</a:t>
            </a:r>
            <a:endParaRPr lang="zh-CN" altLang="en-US" sz="28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2020298" y="3265478"/>
            <a:ext cx="1819616" cy="1819616"/>
            <a:chOff x="1699695" y="2430291"/>
            <a:chExt cx="1819616" cy="1819616"/>
          </a:xfrm>
        </p:grpSpPr>
        <p:sp>
          <p:nvSpPr>
            <p:cNvPr id="19" name="椭圆 18"/>
            <p:cNvSpPr/>
            <p:nvPr/>
          </p:nvSpPr>
          <p:spPr>
            <a:xfrm>
              <a:off x="1870075" y="2600673"/>
              <a:ext cx="1478853" cy="1478853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zh-CN" sz="3600" kern="0" dirty="0">
                  <a:solidFill>
                    <a:srgbClr val="FFFFFF"/>
                  </a:solidFill>
                  <a:latin typeface="Segoe UI" panose="020B0502040204020203"/>
                  <a:ea typeface="微软雅黑 Light" panose="020B0502040204020203" charset="-122"/>
                </a:rPr>
                <a:t>01</a:t>
              </a:r>
              <a:endParaRPr lang="zh-CN" altLang="en-US" sz="3600" kern="0" dirty="0">
                <a:solidFill>
                  <a:srgbClr val="FFFFFF"/>
                </a:solidFill>
                <a:latin typeface="Segoe UI" panose="020B0502040204020203"/>
                <a:ea typeface="微软雅黑 Light" panose="020B0502040204020203" charset="-122"/>
              </a:endParaRPr>
            </a:p>
          </p:txBody>
        </p:sp>
        <p:sp>
          <p:nvSpPr>
            <p:cNvPr id="20" name="弧形 19"/>
            <p:cNvSpPr/>
            <p:nvPr/>
          </p:nvSpPr>
          <p:spPr>
            <a:xfrm rot="7941625">
              <a:off x="1699695" y="2430291"/>
              <a:ext cx="1819616" cy="1819616"/>
            </a:xfrm>
            <a:prstGeom prst="arc">
              <a:avLst>
                <a:gd name="adj1" fmla="val 14586031"/>
                <a:gd name="adj2" fmla="val 1762864"/>
              </a:avLst>
            </a:prstGeom>
            <a:noFill/>
            <a:ln w="19050" cap="flat" cmpd="sng" algn="ctr">
              <a:solidFill>
                <a:schemeClr val="accent2"/>
              </a:solidFill>
              <a:prstDash val="solid"/>
              <a:miter lim="800000"/>
              <a:headEnd type="stealth" w="lg" len="me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dirty="0">
                <a:solidFill>
                  <a:srgbClr val="EA5504"/>
                </a:solidFill>
                <a:latin typeface="Segoe UI Semilight" panose="020B0402040204020203"/>
                <a:ea typeface="微软雅黑 Light" panose="020B0502040204020203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898792" y="1980180"/>
            <a:ext cx="1819616" cy="1819616"/>
            <a:chOff x="1699695" y="2430291"/>
            <a:chExt cx="1819616" cy="1819616"/>
          </a:xfrm>
        </p:grpSpPr>
        <p:sp>
          <p:nvSpPr>
            <p:cNvPr id="25" name="椭圆 24"/>
            <p:cNvSpPr/>
            <p:nvPr/>
          </p:nvSpPr>
          <p:spPr>
            <a:xfrm>
              <a:off x="1870075" y="2600673"/>
              <a:ext cx="1478853" cy="1478853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/>
                  <a:ea typeface="微软雅黑 Light" panose="020B0502040204020203" charset="-122"/>
                </a:rPr>
                <a:t>02</a:t>
              </a:r>
              <a:endPara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/>
                <a:ea typeface="微软雅黑 Light" panose="020B0502040204020203" charset="-122"/>
              </a:endParaRPr>
            </a:p>
          </p:txBody>
        </p:sp>
        <p:sp>
          <p:nvSpPr>
            <p:cNvPr id="26" name="弧形 25"/>
            <p:cNvSpPr/>
            <p:nvPr/>
          </p:nvSpPr>
          <p:spPr>
            <a:xfrm rot="2784046" flipH="1">
              <a:off x="1699695" y="2430291"/>
              <a:ext cx="1819616" cy="1819616"/>
            </a:xfrm>
            <a:prstGeom prst="arc">
              <a:avLst>
                <a:gd name="adj1" fmla="val 14586031"/>
                <a:gd name="adj2" fmla="val 1762864"/>
              </a:avLst>
            </a:prstGeom>
            <a:noFill/>
            <a:ln w="1905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miter lim="800000"/>
              <a:headEnd type="stealth" w="lg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EA5504"/>
                </a:solidFill>
                <a:effectLst/>
                <a:uLnTx/>
                <a:uFillTx/>
                <a:latin typeface="Segoe UI" panose="020B0502040204020203"/>
                <a:ea typeface="微软雅黑 Light" panose="020B0502040204020203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7646346" y="3270441"/>
            <a:ext cx="1819616" cy="1819616"/>
            <a:chOff x="1699695" y="2430291"/>
            <a:chExt cx="1819616" cy="1819616"/>
          </a:xfrm>
        </p:grpSpPr>
        <p:sp>
          <p:nvSpPr>
            <p:cNvPr id="28" name="椭圆 27"/>
            <p:cNvSpPr/>
            <p:nvPr/>
          </p:nvSpPr>
          <p:spPr>
            <a:xfrm>
              <a:off x="1870075" y="2600673"/>
              <a:ext cx="1478853" cy="1478853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zh-CN" sz="3600" kern="0" dirty="0">
                  <a:solidFill>
                    <a:srgbClr val="FFFFFF"/>
                  </a:solidFill>
                  <a:latin typeface="Segoe UI" panose="020B0502040204020203"/>
                  <a:ea typeface="微软雅黑 Light" panose="020B0502040204020203" charset="-122"/>
                </a:rPr>
                <a:t>03</a:t>
              </a:r>
              <a:endParaRPr lang="zh-CN" altLang="en-US" sz="3600" kern="0" dirty="0">
                <a:solidFill>
                  <a:srgbClr val="FFFFFF"/>
                </a:solidFill>
                <a:latin typeface="Segoe UI" panose="020B0502040204020203"/>
                <a:ea typeface="微软雅黑 Light" panose="020B0502040204020203" charset="-122"/>
              </a:endParaRPr>
            </a:p>
          </p:txBody>
        </p:sp>
        <p:sp>
          <p:nvSpPr>
            <p:cNvPr id="29" name="弧形 28"/>
            <p:cNvSpPr/>
            <p:nvPr/>
          </p:nvSpPr>
          <p:spPr>
            <a:xfrm rot="7941625">
              <a:off x="1699695" y="2430291"/>
              <a:ext cx="1819616" cy="1819616"/>
            </a:xfrm>
            <a:prstGeom prst="arc">
              <a:avLst>
                <a:gd name="adj1" fmla="val 14586031"/>
                <a:gd name="adj2" fmla="val 1762864"/>
              </a:avLst>
            </a:prstGeom>
            <a:noFill/>
            <a:ln w="19050" cap="flat" cmpd="sng" algn="ctr">
              <a:solidFill>
                <a:schemeClr val="accent2"/>
              </a:solidFill>
              <a:prstDash val="solid"/>
              <a:miter lim="800000"/>
              <a:headEnd type="stealth" w="lg" len="me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dirty="0">
                <a:solidFill>
                  <a:srgbClr val="EA5504"/>
                </a:solidFill>
                <a:latin typeface="Segoe UI Semilight" panose="020B0402040204020203"/>
                <a:ea typeface="微软雅黑 Light" panose="020B0502040204020203" charset="-122"/>
              </a:endParaRPr>
            </a:p>
          </p:txBody>
        </p:sp>
      </p:grpSp>
      <p:sp>
        <p:nvSpPr>
          <p:cNvPr id="33" name="文本占位符 50"/>
          <p:cNvSpPr txBox="1"/>
          <p:nvPr/>
        </p:nvSpPr>
        <p:spPr>
          <a:xfrm>
            <a:off x="7433927" y="2352513"/>
            <a:ext cx="2333520" cy="717012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一些作业样例</a:t>
            </a:r>
            <a:endParaRPr lang="zh-CN" altLang="en-US" sz="2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22091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Why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编程规范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1571106" y="2046321"/>
            <a:ext cx="8952807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spcAft>
                <a:spcPct val="50000"/>
              </a:spcAft>
            </a:pPr>
            <a:r>
              <a:rPr lang="zh-CN" altLang="en-US" sz="4800" b="1">
                <a:solidFill>
                  <a:schemeClr val="tx2"/>
                </a:solidFill>
                <a:latin typeface="隶书" pitchFamily="49" charset="-122"/>
                <a:ea typeface="隶书" pitchFamily="49" charset="-122"/>
              </a:rPr>
              <a:t>假设要开发一个大规模的应用软件如</a:t>
            </a:r>
            <a:r>
              <a:rPr lang="en-US" altLang="zh-CN" sz="4800" b="1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Word</a:t>
            </a:r>
            <a:r>
              <a:rPr lang="zh-CN" altLang="en-US" sz="4800" b="1">
                <a:solidFill>
                  <a:schemeClr val="tx2"/>
                </a:solidFill>
                <a:latin typeface="隶书" pitchFamily="49" charset="-122"/>
                <a:ea typeface="隶书" pitchFamily="49" charset="-122"/>
              </a:rPr>
              <a:t>，如何组织管理？有哪些时间消耗？</a:t>
            </a:r>
          </a:p>
        </p:txBody>
      </p:sp>
    </p:spTree>
    <p:extLst>
      <p:ext uri="{BB962C8B-B14F-4D97-AF65-F5344CB8AC3E}">
        <p14:creationId xmlns:p14="http://schemas.microsoft.com/office/powerpoint/2010/main" val="31643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一个段子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内容占位符 2" descr="Rectangle: Click to edit Master text styles&#10;Second level&#10;Third level&#10;Fourth level&#10;Fifth level"/>
          <p:cNvSpPr txBox="1">
            <a:spLocks/>
          </p:cNvSpPr>
          <p:nvPr/>
        </p:nvSpPr>
        <p:spPr>
          <a:xfrm>
            <a:off x="1113926" y="1471356"/>
            <a:ext cx="9817331" cy="44196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0"/>
              </a:spcBef>
              <a:buSzPct val="80000"/>
              <a:buFont typeface="Wingdings" pitchFamily="2" charset="2"/>
              <a:buNone/>
            </a:pPr>
            <a:r>
              <a:rPr lang="zh-CN" altLang="en-US" sz="2800" b="1">
                <a:latin typeface="楷体" pitchFamily="49" charset="-122"/>
                <a:ea typeface="楷体" pitchFamily="49" charset="-122"/>
              </a:rPr>
              <a:t>    文艺程序员写代码追求让别人看懂，普通程序员追求让自己看懂，</a:t>
            </a:r>
            <a:r>
              <a:rPr lang="en-US" altLang="zh-CN" sz="2800" b="1">
                <a:latin typeface="楷体" pitchFamily="49" charset="-122"/>
                <a:ea typeface="楷体" pitchFamily="49" charset="-122"/>
              </a:rPr>
              <a:t>2B</a:t>
            </a:r>
            <a:r>
              <a:rPr lang="zh-CN" altLang="en-US" sz="2800" b="1">
                <a:latin typeface="楷体" pitchFamily="49" charset="-122"/>
                <a:ea typeface="楷体" pitchFamily="49" charset="-122"/>
              </a:rPr>
              <a:t>程序员则追求让编译器能看懂；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SzPct val="80000"/>
              <a:buFont typeface="Wingdings" pitchFamily="2" charset="2"/>
              <a:buNone/>
            </a:pPr>
            <a:r>
              <a:rPr lang="zh-CN" altLang="en-US" sz="2800" b="1">
                <a:latin typeface="楷体" pitchFamily="49" charset="-122"/>
                <a:ea typeface="楷体" pitchFamily="49" charset="-122"/>
              </a:rPr>
              <a:t>    半年后看自己当初写的代码，文艺程序员不知道这是自己写的但很容易看懂，普通程序员知道是自己写的但是不太容易看懂，</a:t>
            </a:r>
            <a:r>
              <a:rPr lang="en-US" altLang="zh-CN" sz="2800" b="1">
                <a:latin typeface="楷体" pitchFamily="49" charset="-122"/>
                <a:ea typeface="楷体" pitchFamily="49" charset="-122"/>
              </a:rPr>
              <a:t>2B</a:t>
            </a:r>
            <a:r>
              <a:rPr lang="zh-CN" altLang="en-US" sz="2800" b="1">
                <a:latin typeface="楷体" pitchFamily="49" charset="-122"/>
                <a:ea typeface="楷体" pitchFamily="49" charset="-122"/>
              </a:rPr>
              <a:t>程序员埋头看了半天后拍着桌子吼到：“这是哪个</a:t>
            </a:r>
            <a:r>
              <a:rPr lang="en-US" altLang="zh-CN" sz="2800" b="1">
                <a:latin typeface="楷体" pitchFamily="49" charset="-122"/>
                <a:ea typeface="楷体" pitchFamily="49" charset="-122"/>
              </a:rPr>
              <a:t>2B</a:t>
            </a:r>
            <a:r>
              <a:rPr lang="zh-CN" altLang="en-US" sz="2800" b="1">
                <a:latin typeface="楷体" pitchFamily="49" charset="-122"/>
                <a:ea typeface="楷体" pitchFamily="49" charset="-122"/>
              </a:rPr>
              <a:t>写的程序！”</a:t>
            </a:r>
          </a:p>
        </p:txBody>
      </p:sp>
    </p:spTree>
    <p:extLst>
      <p:ext uri="{BB962C8B-B14F-4D97-AF65-F5344CB8AC3E}">
        <p14:creationId xmlns:p14="http://schemas.microsoft.com/office/powerpoint/2010/main" val="1598493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5"/>
          <p:cNvSpPr txBox="1"/>
          <p:nvPr/>
        </p:nvSpPr>
        <p:spPr>
          <a:xfrm>
            <a:off x="1237563" y="98987"/>
            <a:ext cx="6709403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编程规范的主要内容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286110" y="2698251"/>
            <a:ext cx="2574720" cy="1163245"/>
            <a:chOff x="1493935" y="2885045"/>
            <a:chExt cx="2574720" cy="1163245"/>
          </a:xfrm>
        </p:grpSpPr>
        <p:sp>
          <p:nvSpPr>
            <p:cNvPr id="19" name="平行四边形 18"/>
            <p:cNvSpPr/>
            <p:nvPr/>
          </p:nvSpPr>
          <p:spPr>
            <a:xfrm>
              <a:off x="1493935" y="2885045"/>
              <a:ext cx="2574720" cy="1163245"/>
            </a:xfrm>
            <a:prstGeom prst="parallelogram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 panose="020E0502030303020204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20" name="文本框 13"/>
            <p:cNvSpPr txBox="1"/>
            <p:nvPr/>
          </p:nvSpPr>
          <p:spPr>
            <a:xfrm>
              <a:off x="1942725" y="3205057"/>
              <a:ext cx="18885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zh-CN" altLang="en-US" sz="2800" b="1" ker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命名规则</a:t>
              </a:r>
              <a:endParaRPr lang="zh-CN" altLang="en-US" sz="28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4787419" y="2698251"/>
            <a:ext cx="2574720" cy="1163245"/>
            <a:chOff x="4909498" y="2780282"/>
            <a:chExt cx="2574720" cy="1163245"/>
          </a:xfrm>
        </p:grpSpPr>
        <p:sp>
          <p:nvSpPr>
            <p:cNvPr id="22" name="平行四边形 21"/>
            <p:cNvSpPr/>
            <p:nvPr/>
          </p:nvSpPr>
          <p:spPr>
            <a:xfrm>
              <a:off x="4909498" y="2780282"/>
              <a:ext cx="2574720" cy="1163245"/>
            </a:xfrm>
            <a:prstGeom prst="parallelogram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 panose="020E0502030303020204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23" name="文本框 13"/>
            <p:cNvSpPr txBox="1"/>
            <p:nvPr/>
          </p:nvSpPr>
          <p:spPr>
            <a:xfrm>
              <a:off x="5358288" y="3100294"/>
              <a:ext cx="18885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zh-CN" altLang="en-US" sz="2800" b="1" ker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编码格式</a:t>
              </a:r>
              <a:endParaRPr lang="zh-CN" altLang="en-US" sz="28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8288728" y="2698251"/>
            <a:ext cx="2574720" cy="1163245"/>
            <a:chOff x="8637874" y="2623434"/>
            <a:chExt cx="2574720" cy="1163245"/>
          </a:xfrm>
        </p:grpSpPr>
        <p:sp>
          <p:nvSpPr>
            <p:cNvPr id="26" name="平行四边形 25"/>
            <p:cNvSpPr/>
            <p:nvPr/>
          </p:nvSpPr>
          <p:spPr>
            <a:xfrm>
              <a:off x="8637874" y="2623434"/>
              <a:ext cx="2574720" cy="1163245"/>
            </a:xfrm>
            <a:prstGeom prst="parallelogram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 panose="020E0502030303020204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27" name="文本框 13"/>
            <p:cNvSpPr txBox="1"/>
            <p:nvPr/>
          </p:nvSpPr>
          <p:spPr>
            <a:xfrm>
              <a:off x="9086664" y="2943446"/>
              <a:ext cx="18885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zh-CN" altLang="en-US" sz="2800" b="1" ker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注释书写</a:t>
              </a:r>
              <a:endParaRPr lang="zh-CN" altLang="en-US" sz="28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41438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1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、命名规则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1237564" y="1366043"/>
            <a:ext cx="76850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chemeClr val="tx1"/>
                </a:solidFill>
                <a:ea typeface="宋体" charset="-122"/>
              </a:rPr>
              <a:t>定义：给变量、符号常量、函数等命名的规则。</a:t>
            </a:r>
          </a:p>
        </p:txBody>
      </p:sp>
      <p:sp>
        <p:nvSpPr>
          <p:cNvPr id="11" name="Text Box 6" descr="再生纸"/>
          <p:cNvSpPr txBox="1">
            <a:spLocks noChangeArrowheads="1"/>
          </p:cNvSpPr>
          <p:nvPr/>
        </p:nvSpPr>
        <p:spPr bwMode="auto">
          <a:xfrm>
            <a:off x="1237564" y="2232818"/>
            <a:ext cx="27098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chemeClr val="tx1"/>
                </a:solidFill>
                <a:ea typeface="宋体" charset="-122"/>
              </a:rPr>
              <a:t>编译器的角度：</a:t>
            </a: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1675714" y="2823368"/>
            <a:ext cx="9247210" cy="1040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2800" b="1">
                <a:solidFill>
                  <a:schemeClr val="tx1"/>
                </a:solidFill>
                <a:ea typeface="宋体" charset="-122"/>
              </a:rPr>
              <a:t>一个合法的名字由字母、数字和下划线三种字符组成，且</a:t>
            </a:r>
            <a:endParaRPr lang="en-US" altLang="zh-CN" sz="2800" b="1">
              <a:solidFill>
                <a:schemeClr val="tx1"/>
              </a:solidFill>
              <a:ea typeface="宋体" charset="-122"/>
            </a:endParaRPr>
          </a:p>
          <a:p>
            <a:pPr eaLnBrk="1" hangingPunct="1">
              <a:spcBef>
                <a:spcPct val="20000"/>
              </a:spcBef>
            </a:pPr>
            <a:r>
              <a:rPr lang="zh-CN" altLang="en-US" sz="2800" b="1">
                <a:solidFill>
                  <a:schemeClr val="tx1"/>
                </a:solidFill>
                <a:ea typeface="宋体" charset="-122"/>
              </a:rPr>
              <a:t>第一个字符必须为字母或下划线。</a:t>
            </a:r>
          </a:p>
        </p:txBody>
      </p:sp>
      <p:sp>
        <p:nvSpPr>
          <p:cNvPr id="13" name="Text Box 8" descr="再生纸"/>
          <p:cNvSpPr txBox="1">
            <a:spLocks noChangeArrowheads="1"/>
          </p:cNvSpPr>
          <p:nvPr/>
        </p:nvSpPr>
        <p:spPr bwMode="auto">
          <a:xfrm>
            <a:off x="1237564" y="4169568"/>
            <a:ext cx="27098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chemeClr val="tx1"/>
                </a:solidFill>
                <a:ea typeface="宋体" charset="-122"/>
              </a:rPr>
              <a:t>程序员的角度：</a:t>
            </a: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3723589" y="4212431"/>
            <a:ext cx="5895975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chemeClr val="tx1"/>
                </a:solidFill>
                <a:ea typeface="宋体" charset="-122"/>
              </a:rPr>
              <a:t>一个好的名字：</a:t>
            </a:r>
            <a:br>
              <a:rPr lang="zh-CN" altLang="en-US" sz="2800" b="1">
                <a:solidFill>
                  <a:schemeClr val="tx1"/>
                </a:solidFill>
                <a:ea typeface="宋体" charset="-122"/>
              </a:rPr>
            </a:br>
            <a:r>
              <a:rPr lang="en-US" altLang="zh-CN" sz="2800" b="1">
                <a:solidFill>
                  <a:schemeClr val="tx1"/>
                </a:solidFill>
                <a:ea typeface="宋体" charset="-122"/>
              </a:rPr>
              <a:t>(1) </a:t>
            </a:r>
            <a:r>
              <a:rPr lang="zh-CN" altLang="en-US" sz="2800" b="1">
                <a:solidFill>
                  <a:schemeClr val="tx1"/>
                </a:solidFill>
                <a:ea typeface="宋体" charset="-122"/>
              </a:rPr>
              <a:t>合法；</a:t>
            </a:r>
            <a:br>
              <a:rPr lang="zh-CN" altLang="en-US" sz="2800" b="1">
                <a:solidFill>
                  <a:schemeClr val="tx1"/>
                </a:solidFill>
                <a:ea typeface="宋体" charset="-122"/>
              </a:rPr>
            </a:br>
            <a:r>
              <a:rPr lang="en-US" altLang="zh-CN" sz="2800" b="1">
                <a:solidFill>
                  <a:schemeClr val="tx1"/>
                </a:solidFill>
                <a:ea typeface="宋体" charset="-122"/>
              </a:rPr>
              <a:t>(2) </a:t>
            </a:r>
            <a:r>
              <a:rPr lang="zh-CN" altLang="en-US" sz="2800" b="1">
                <a:solidFill>
                  <a:schemeClr val="tx1"/>
                </a:solidFill>
                <a:ea typeface="宋体" charset="-122"/>
              </a:rPr>
              <a:t>载有足够的信息，“</a:t>
            </a:r>
            <a:r>
              <a:rPr lang="zh-CN" altLang="en-US" sz="2800" b="1">
                <a:solidFill>
                  <a:srgbClr val="0000FF"/>
                </a:solidFill>
                <a:ea typeface="宋体" charset="-122"/>
              </a:rPr>
              <a:t>见名知意</a:t>
            </a:r>
            <a:r>
              <a:rPr lang="zh-CN" altLang="en-US" sz="2800" b="1">
                <a:solidFill>
                  <a:schemeClr val="tx1"/>
                </a:solidFill>
                <a:ea typeface="宋体" charset="-122"/>
              </a:rPr>
              <a:t>”</a:t>
            </a:r>
            <a:br>
              <a:rPr lang="zh-CN" altLang="en-US" sz="2800" b="1">
                <a:solidFill>
                  <a:schemeClr val="tx1"/>
                </a:solidFill>
                <a:ea typeface="宋体" charset="-122"/>
              </a:rPr>
            </a:br>
            <a:r>
              <a:rPr lang="en-US" altLang="zh-CN" sz="2800" b="1">
                <a:solidFill>
                  <a:schemeClr val="tx1"/>
                </a:solidFill>
                <a:ea typeface="宋体" charset="-122"/>
              </a:rPr>
              <a:t>(3) </a:t>
            </a:r>
            <a:r>
              <a:rPr lang="zh-CN" altLang="en-US" sz="2800" b="1">
                <a:solidFill>
                  <a:schemeClr val="tx1"/>
                </a:solidFill>
                <a:ea typeface="宋体" charset="-122"/>
              </a:rPr>
              <a:t>尽可能简短。</a:t>
            </a:r>
          </a:p>
        </p:txBody>
      </p:sp>
    </p:spTree>
    <p:extLst>
      <p:ext uri="{BB962C8B-B14F-4D97-AF65-F5344CB8AC3E}">
        <p14:creationId xmlns:p14="http://schemas.microsoft.com/office/powerpoint/2010/main" val="310999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5"/>
          <p:cNvSpPr txBox="1"/>
          <p:nvPr/>
        </p:nvSpPr>
        <p:spPr>
          <a:xfrm>
            <a:off x="1237563" y="98987"/>
            <a:ext cx="6709403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指导方针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6" name="Text Box 3" descr="再生纸"/>
          <p:cNvSpPr txBox="1">
            <a:spLocks noChangeArrowheads="1"/>
          </p:cNvSpPr>
          <p:nvPr/>
        </p:nvSpPr>
        <p:spPr bwMode="auto">
          <a:xfrm>
            <a:off x="1516698" y="1544355"/>
            <a:ext cx="481734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buNone/>
            </a:pPr>
            <a:r>
              <a:rPr lang="zh-CN" altLang="en-US" sz="3600" b="1">
                <a:solidFill>
                  <a:schemeClr val="tx1"/>
                </a:solidFill>
                <a:ea typeface="宋体" charset="-122"/>
              </a:rPr>
              <a:t>命名的一些指导方针：</a:t>
            </a:r>
          </a:p>
        </p:txBody>
      </p:sp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1521676" y="2440955"/>
            <a:ext cx="9226680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ts val="1600"/>
              </a:spcBef>
              <a:buFont typeface="Wingdings" pitchFamily="2" charset="2"/>
              <a:buChar char="Ø"/>
            </a:pPr>
            <a:r>
              <a:rPr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变量名应该是描述性的（见名知意）、简洁的</a:t>
            </a:r>
            <a:endParaRPr lang="en-US" altLang="zh-CN" b="1">
              <a:solidFill>
                <a:schemeClr val="tx1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 eaLnBrk="1" hangingPunct="1">
              <a:spcBef>
                <a:spcPts val="1600"/>
              </a:spcBef>
              <a:buFont typeface="Wingdings" pitchFamily="2" charset="2"/>
              <a:buChar char="Ø"/>
            </a:pPr>
            <a:r>
              <a:rPr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可以是若干单词的组合，单词间用下划线隔开，</a:t>
            </a:r>
            <a:br>
              <a:rPr lang="en-US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</a:br>
            <a:r>
              <a:rPr lang="en-US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</a:t>
            </a:r>
            <a:r>
              <a:rPr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或者首字母大写</a:t>
            </a:r>
            <a:endParaRPr lang="en-US" altLang="zh-CN" b="1">
              <a:solidFill>
                <a:schemeClr val="tx1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 eaLnBrk="1" hangingPunct="1">
              <a:spcBef>
                <a:spcPts val="1600"/>
              </a:spcBef>
              <a:buFont typeface="Wingdings" pitchFamily="2" charset="2"/>
              <a:buChar char="Ø"/>
            </a:pPr>
            <a:r>
              <a:rPr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除了循环变量，一般不用单个字符作为变量名</a:t>
            </a:r>
            <a:endParaRPr lang="en-US" altLang="zh-CN" b="1">
              <a:solidFill>
                <a:schemeClr val="tx1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 eaLnBrk="1" hangingPunct="1">
              <a:spcBef>
                <a:spcPts val="1600"/>
              </a:spcBef>
              <a:buFont typeface="Wingdings" pitchFamily="2" charset="2"/>
              <a:buChar char="Ø"/>
            </a:pPr>
            <a:r>
              <a:rPr lang="en-US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不能使用</a:t>
            </a:r>
            <a:r>
              <a:rPr lang="en-US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Python</a:t>
            </a:r>
            <a:r>
              <a:rPr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关键字作为变量名</a:t>
            </a:r>
          </a:p>
        </p:txBody>
      </p:sp>
    </p:spTree>
    <p:extLst>
      <p:ext uri="{BB962C8B-B14F-4D97-AF65-F5344CB8AC3E}">
        <p14:creationId xmlns:p14="http://schemas.microsoft.com/office/powerpoint/2010/main" val="491719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5"/>
          <p:cNvSpPr txBox="1"/>
          <p:nvPr/>
        </p:nvSpPr>
        <p:spPr>
          <a:xfrm>
            <a:off x="1237563" y="98987"/>
            <a:ext cx="6709403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一些好的名字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268403" y="4513805"/>
            <a:ext cx="3048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buNone/>
            </a:pPr>
            <a:r>
              <a:rPr lang="en-US" altLang="zh-CN" b="1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int cwj;</a:t>
            </a:r>
            <a:endParaRPr lang="zh-CN" altLang="en-US" b="1">
              <a:solidFill>
                <a:srgbClr val="0000FF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1662553" y="2215347"/>
            <a:ext cx="991707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buNone/>
            </a:pPr>
            <a:r>
              <a:rPr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total  height_sum  age  average_weight</a:t>
            </a:r>
            <a:endParaRPr lang="zh-CN" altLang="en-US" b="1">
              <a:solidFill>
                <a:schemeClr val="tx1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1738755" y="1287087"/>
            <a:ext cx="1752600" cy="685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zh-CN" altLang="en-US" sz="3200"/>
              <a:t>变量名：</a:t>
            </a:r>
            <a:endParaRPr kumimoji="0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1738755" y="3322314"/>
            <a:ext cx="1752600" cy="685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zh-CN" altLang="en-US" sz="3200"/>
              <a:t>函数名：</a:t>
            </a:r>
            <a:endParaRPr kumimoji="0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1662554" y="4149435"/>
            <a:ext cx="6907867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buNone/>
            </a:pPr>
            <a:r>
              <a:rPr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read_image(filename)  compute_avg(x, y, z)</a:t>
            </a:r>
          </a:p>
          <a:p>
            <a:pPr eaLnBrk="1" hangingPunct="1">
              <a:buNone/>
            </a:pPr>
            <a:r>
              <a:rPr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max_neighbors(grid, i, j)</a:t>
            </a:r>
            <a:endParaRPr lang="zh-CN" altLang="en-US" b="1">
              <a:solidFill>
                <a:schemeClr val="tx1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1695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 animBg="1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5"/>
          <p:cNvSpPr txBox="1"/>
          <p:nvPr/>
        </p:nvSpPr>
        <p:spPr>
          <a:xfrm>
            <a:off x="1237563" y="98987"/>
            <a:ext cx="6709403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世上最糟糕的变量名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4" name="TextBox 3"/>
          <p:cNvSpPr txBox="1">
            <a:spLocks noChangeArrowheads="1"/>
          </p:cNvSpPr>
          <p:nvPr/>
        </p:nvSpPr>
        <p:spPr bwMode="auto">
          <a:xfrm>
            <a:off x="2048452" y="2197330"/>
            <a:ext cx="3048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buNone/>
            </a:pPr>
            <a:r>
              <a:rPr lang="en-US" altLang="zh-CN" sz="4800" b="1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data</a:t>
            </a:r>
            <a:endParaRPr lang="zh-CN" altLang="en-US" sz="4800" b="1">
              <a:solidFill>
                <a:srgbClr val="0000FF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</p:txBody>
      </p:sp>
      <p:pic>
        <p:nvPicPr>
          <p:cNvPr id="15" name="图片 4" descr="2005111415453381999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7627" y="1837112"/>
            <a:ext cx="4038600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7575027" y="3284912"/>
            <a:ext cx="14160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buNone/>
            </a:pPr>
            <a:r>
              <a:rPr lang="zh-CN" altLang="en-US" sz="4800" b="1">
                <a:solidFill>
                  <a:srgbClr val="7030A0"/>
                </a:solidFill>
                <a:latin typeface="隶书" pitchFamily="49" charset="-122"/>
                <a:ea typeface="隶书" pitchFamily="49" charset="-122"/>
              </a:rPr>
              <a:t>东西</a:t>
            </a:r>
          </a:p>
        </p:txBody>
      </p:sp>
    </p:spTree>
    <p:extLst>
      <p:ext uri="{BB962C8B-B14F-4D97-AF65-F5344CB8AC3E}">
        <p14:creationId xmlns:p14="http://schemas.microsoft.com/office/powerpoint/2010/main" val="601700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5"/>
          <p:cNvSpPr txBox="1"/>
          <p:nvPr/>
        </p:nvSpPr>
        <p:spPr>
          <a:xfrm>
            <a:off x="1237563" y="98987"/>
            <a:ext cx="6709403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匈牙利命名法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1043412" y="1231900"/>
            <a:ext cx="8212137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Charles Simonyi </a:t>
            </a:r>
            <a:r>
              <a:rPr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提出的一种变量命名方法，使用</a:t>
            </a:r>
            <a:br>
              <a:rPr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</a:br>
            <a:r>
              <a:rPr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各种前缀来表明变量的数据类型。</a:t>
            </a:r>
          </a:p>
        </p:txBody>
      </p:sp>
      <p:graphicFrame>
        <p:nvGraphicFramePr>
          <p:cNvPr id="11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24425"/>
              </p:ext>
            </p:extLst>
          </p:nvPr>
        </p:nvGraphicFramePr>
        <p:xfrm>
          <a:off x="1292649" y="2989263"/>
          <a:ext cx="6677025" cy="2803800"/>
        </p:xfrm>
        <a:graphic>
          <a:graphicData uri="http://schemas.openxmlformats.org/drawingml/2006/table">
            <a:tbl>
              <a:tblPr/>
              <a:tblGrid>
                <a:gridCol w="1728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8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0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数据类型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前缀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例子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0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int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iIndex, iCount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09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char</a:t>
                      </a:r>
                    </a:p>
                  </a:txBody>
                  <a:tcPr marT="45690" marB="4569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cInChar, cSerialOut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0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指针类型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pMsg, pServer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0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char *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sz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szName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0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FILE *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pf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pfInFile, pfOutFile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 Box 35"/>
          <p:cNvSpPr txBox="1">
            <a:spLocks noChangeArrowheads="1"/>
          </p:cNvSpPr>
          <p:nvPr/>
        </p:nvSpPr>
        <p:spPr bwMode="auto">
          <a:xfrm>
            <a:off x="3383387" y="2489200"/>
            <a:ext cx="3070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chemeClr val="tx1"/>
                </a:solidFill>
                <a:ea typeface="宋体" charset="-122"/>
              </a:rPr>
              <a:t>匈牙利命名法示例</a:t>
            </a:r>
          </a:p>
        </p:txBody>
      </p:sp>
      <p:sp>
        <p:nvSpPr>
          <p:cNvPr id="13" name="Text Box 36"/>
          <p:cNvSpPr txBox="1">
            <a:spLocks noChangeArrowheads="1"/>
          </p:cNvSpPr>
          <p:nvPr/>
        </p:nvSpPr>
        <p:spPr bwMode="auto">
          <a:xfrm>
            <a:off x="811637" y="5997575"/>
            <a:ext cx="88249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网址：</a:t>
            </a:r>
            <a:r>
              <a:rPr lang="en-US" altLang="zh-CN" sz="2400" b="1" u="sng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http://msdn.microsoft.com/library/techart/hunganotat.htm</a:t>
            </a:r>
          </a:p>
        </p:txBody>
      </p:sp>
      <p:pic>
        <p:nvPicPr>
          <p:cNvPr id="17" name="图片 16" descr="无标题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4102" y="1231900"/>
            <a:ext cx="222885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9234874" y="4348939"/>
            <a:ext cx="1987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3300"/>
                </a:solidFill>
                <a:latin typeface="楷体" pitchFamily="49" charset="-122"/>
                <a:ea typeface="楷体" pitchFamily="49" charset="-122"/>
              </a:rPr>
              <a:t>命名法示例</a:t>
            </a:r>
          </a:p>
        </p:txBody>
      </p:sp>
    </p:spTree>
    <p:extLst>
      <p:ext uri="{BB962C8B-B14F-4D97-AF65-F5344CB8AC3E}">
        <p14:creationId xmlns:p14="http://schemas.microsoft.com/office/powerpoint/2010/main" val="259101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2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、编码格式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5" name="Text Box 4" descr="再生纸"/>
          <p:cNvSpPr txBox="1">
            <a:spLocks noChangeArrowheads="1"/>
          </p:cNvSpPr>
          <p:nvPr/>
        </p:nvSpPr>
        <p:spPr bwMode="auto">
          <a:xfrm>
            <a:off x="1359419" y="1800399"/>
            <a:ext cx="618470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buNone/>
            </a:pPr>
            <a:r>
              <a:rPr lang="zh-CN" altLang="en-US" sz="3600" b="1">
                <a:solidFill>
                  <a:schemeClr val="tx1"/>
                </a:solidFill>
                <a:ea typeface="宋体" charset="-122"/>
              </a:rPr>
              <a:t>缩进（</a:t>
            </a:r>
            <a:r>
              <a:rPr lang="en-US" altLang="zh-CN" sz="36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Indentation</a:t>
            </a:r>
            <a:r>
              <a:rPr lang="zh-CN" altLang="en-US" sz="36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）规则</a:t>
            </a:r>
            <a:r>
              <a:rPr lang="zh-CN" altLang="en-US" sz="3600" b="1">
                <a:solidFill>
                  <a:schemeClr val="tx1"/>
                </a:solidFill>
                <a:ea typeface="宋体" charset="-122"/>
              </a:rPr>
              <a:t>：</a:t>
            </a:r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1475307" y="2737024"/>
            <a:ext cx="9364489" cy="2185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76250" indent="-4762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ts val="2400"/>
              </a:spcBef>
              <a:buFont typeface="Wingdings" pitchFamily="2" charset="2"/>
              <a:buChar char="Ø"/>
            </a:pPr>
            <a:r>
              <a:rPr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用空格而不是</a:t>
            </a:r>
            <a:r>
              <a:rPr lang="en-US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Tab</a:t>
            </a:r>
            <a:r>
              <a:rPr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字符来进行缩进</a:t>
            </a:r>
          </a:p>
          <a:p>
            <a:pPr eaLnBrk="1" hangingPunct="1">
              <a:spcBef>
                <a:spcPts val="2400"/>
              </a:spcBef>
              <a:buFont typeface="Wingdings" pitchFamily="2" charset="2"/>
              <a:buChar char="Ø"/>
            </a:pPr>
            <a:r>
              <a:rPr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一个缩进等级（</a:t>
            </a:r>
            <a:r>
              <a:rPr lang="en-US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Indentation Level</a:t>
            </a:r>
            <a:r>
              <a:rPr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）是</a:t>
            </a:r>
            <a:r>
              <a:rPr lang="en-US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4</a:t>
            </a:r>
            <a:r>
              <a:rPr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个空格</a:t>
            </a:r>
          </a:p>
          <a:p>
            <a:pPr eaLnBrk="1" hangingPunct="1">
              <a:spcBef>
                <a:spcPts val="2400"/>
              </a:spcBef>
              <a:buFont typeface="Wingdings" pitchFamily="2" charset="2"/>
              <a:buChar char="Ø"/>
            </a:pPr>
            <a:r>
              <a:rPr lang="en-US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Python</a:t>
            </a:r>
            <a:r>
              <a:rPr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的缩进是强制性的，用来标识语句块</a:t>
            </a:r>
          </a:p>
        </p:txBody>
      </p:sp>
    </p:spTree>
    <p:extLst>
      <p:ext uri="{BB962C8B-B14F-4D97-AF65-F5344CB8AC3E}">
        <p14:creationId xmlns:p14="http://schemas.microsoft.com/office/powerpoint/2010/main" val="604608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缩进错误举例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59" y="1795546"/>
            <a:ext cx="11258033" cy="3915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16768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非强制缩进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(1)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1252466" y="4089861"/>
            <a:ext cx="9761897" cy="21336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>
                <a:latin typeface="Times New Roman" pitchFamily="18" charset="0"/>
                <a:cs typeface="Times New Roman" pitchFamily="18" charset="0"/>
              </a:rPr>
              <a:t>用</a:t>
            </a:r>
            <a:r>
              <a:rPr lang="en-US" altLang="zh-CN" b="1">
                <a:latin typeface="Times New Roman" pitchFamily="18" charset="0"/>
                <a:cs typeface="Times New Roman" pitchFamily="18" charset="0"/>
              </a:rPr>
              <a:t>\</a:t>
            </a:r>
            <a:r>
              <a:rPr lang="zh-CN" altLang="en-US" b="1">
                <a:latin typeface="Times New Roman" pitchFamily="18" charset="0"/>
                <a:cs typeface="Times New Roman" pitchFamily="18" charset="0"/>
              </a:rPr>
              <a:t>字符可以把两个或多个物理行连接成一个逻辑行</a:t>
            </a:r>
            <a:endParaRPr lang="en-US" altLang="zh-CN" b="1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b="1">
                <a:latin typeface="Times New Roman" pitchFamily="18" charset="0"/>
                <a:cs typeface="Times New Roman" pitchFamily="18" charset="0"/>
              </a:rPr>
              <a:t>\</a:t>
            </a:r>
            <a:r>
              <a:rPr lang="zh-CN" altLang="en-US" b="1">
                <a:latin typeface="Times New Roman" pitchFamily="18" charset="0"/>
                <a:cs typeface="Times New Roman" pitchFamily="18" charset="0"/>
              </a:rPr>
              <a:t>字符后面不能加注释</a:t>
            </a:r>
            <a:endParaRPr lang="en-US" altLang="zh-CN" b="1">
              <a:latin typeface="Times New Roman" pitchFamily="18" charset="0"/>
              <a:cs typeface="Times New Roman" pitchFamily="18" charset="0"/>
            </a:endParaRPr>
          </a:p>
          <a:p>
            <a:r>
              <a:rPr lang="zh-CN" altLang="en-US" b="1">
                <a:latin typeface="Times New Roman" pitchFamily="18" charset="0"/>
                <a:cs typeface="Times New Roman" pitchFamily="18" charset="0"/>
              </a:rPr>
              <a:t>语法不要求，但最好缩进以便于阅读</a:t>
            </a:r>
            <a:endParaRPr lang="en-US" altLang="zh-CN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55980" y="1452204"/>
            <a:ext cx="10158136" cy="2277547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if 1900 &lt; year &lt; 2100 and 1 &lt;= month &lt;= 12 \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and 1 &lt;= day &lt;= 31 and 0 &lt;= hour &lt; 24 \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and 0 &lt;= minute &lt; 60 and 0 &lt;= second &lt; 60: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return 1</a:t>
            </a:r>
            <a:endParaRPr lang="en-US" altLang="zh-CN" sz="2800" b="1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437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非强制缩进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1194276" y="4215939"/>
            <a:ext cx="9645514" cy="184404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/>
              <a:t>小括号</a:t>
            </a:r>
            <a:r>
              <a:rPr lang="en-US" altLang="zh-CN" b="1"/>
              <a:t>()</a:t>
            </a:r>
            <a:r>
              <a:rPr lang="zh-CN" altLang="en-US" b="1"/>
              <a:t>、中括号</a:t>
            </a:r>
            <a:r>
              <a:rPr lang="en-US" altLang="zh-CN" b="1"/>
              <a:t>[]</a:t>
            </a:r>
            <a:r>
              <a:rPr lang="zh-CN" altLang="en-US" b="1"/>
              <a:t>和大括号</a:t>
            </a:r>
            <a:r>
              <a:rPr lang="en-US" altLang="zh-CN" b="1"/>
              <a:t>{}</a:t>
            </a:r>
            <a:r>
              <a:rPr lang="zh-CN" altLang="en-US" b="1"/>
              <a:t>中的表达式可分别放在多个物理行，且不需要使用</a:t>
            </a:r>
            <a:r>
              <a:rPr lang="en-US" altLang="zh-CN" b="1"/>
              <a:t>\</a:t>
            </a:r>
            <a:r>
              <a:rPr lang="zh-CN" altLang="en-US" b="1"/>
              <a:t>字符</a:t>
            </a:r>
            <a:endParaRPr lang="en-US" altLang="zh-CN" b="1"/>
          </a:p>
          <a:p>
            <a:r>
              <a:rPr lang="zh-CN" altLang="en-US" b="1"/>
              <a:t>语法不要求，但最好缩进以便于阅读</a:t>
            </a:r>
            <a:endParaRPr lang="en-US" altLang="zh-CN" b="1"/>
          </a:p>
        </p:txBody>
      </p:sp>
      <p:sp>
        <p:nvSpPr>
          <p:cNvPr id="12" name="TextBox 11"/>
          <p:cNvSpPr txBox="1"/>
          <p:nvPr/>
        </p:nvSpPr>
        <p:spPr>
          <a:xfrm>
            <a:off x="903335" y="1382679"/>
            <a:ext cx="10102715" cy="2523768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month_names = ['January',  'February',  'March',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                           'April',   'May',    'June',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                           'July',   'August',  'September',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                           'October',  'November',  'December']</a:t>
            </a:r>
            <a:endParaRPr lang="en-US" altLang="zh-CN" sz="3200" b="1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9306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空行的使用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(1)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83873" y="2369131"/>
            <a:ext cx="5932946" cy="4078039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altLang="zh-CN" sz="2800" b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# other code</a:t>
            </a:r>
          </a:p>
          <a:p>
            <a:pPr>
              <a:spcBef>
                <a:spcPts val="600"/>
              </a:spcBef>
              <a:buNone/>
            </a:pPr>
            <a:endParaRPr lang="en-US" altLang="zh-CN" sz="2800" b="1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600"/>
              </a:spcBef>
              <a:buNone/>
            </a:pPr>
            <a:endParaRPr lang="en-US" altLang="zh-CN" sz="2800" b="1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read_image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(filename):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# implementation code</a:t>
            </a:r>
          </a:p>
          <a:p>
            <a:pPr>
              <a:spcBef>
                <a:spcPts val="600"/>
              </a:spcBef>
              <a:buNone/>
            </a:pPr>
            <a:endParaRPr lang="en-US" altLang="zh-CN" sz="2800" b="1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600"/>
              </a:spcBef>
              <a:buNone/>
            </a:pPr>
            <a:endParaRPr lang="en-US" altLang="zh-CN" sz="2800" b="1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# other code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4273" y="1389610"/>
            <a:ext cx="79816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黑体" pitchFamily="49" charset="-122"/>
                <a:ea typeface="黑体" pitchFamily="49" charset="-122"/>
              </a:rPr>
              <a:t>在函数定义与其他代码之间用两个空行隔开</a:t>
            </a:r>
          </a:p>
        </p:txBody>
      </p:sp>
    </p:spTree>
    <p:extLst>
      <p:ext uri="{BB962C8B-B14F-4D97-AF65-F5344CB8AC3E}">
        <p14:creationId xmlns:p14="http://schemas.microsoft.com/office/powerpoint/2010/main" val="58055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空行的使用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98723" y="2349263"/>
            <a:ext cx="7315200" cy="3970318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 input the numbers of A, B, C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nA = int(input())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nB = int(input())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nC = int(input())</a:t>
            </a:r>
          </a:p>
          <a:p>
            <a:pPr>
              <a:spcBef>
                <a:spcPts val="0"/>
              </a:spcBef>
              <a:buNone/>
            </a:pPr>
            <a:endParaRPr lang="en-US" altLang="zh-CN" sz="2800" b="1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 compute the GPA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total_point = nA*4 + nB*3 + nC*2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num_courses = nA + nB + nC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gpa = total_point / num_courses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9542" y="1106507"/>
            <a:ext cx="92021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黑体" pitchFamily="49" charset="-122"/>
                <a:ea typeface="黑体" pitchFamily="49" charset="-122"/>
              </a:rPr>
              <a:t>把代码按逻辑功能分为若干段，每段之间用一个空行隔开</a:t>
            </a:r>
          </a:p>
        </p:txBody>
      </p:sp>
    </p:spTree>
    <p:extLst>
      <p:ext uri="{BB962C8B-B14F-4D97-AF65-F5344CB8AC3E}">
        <p14:creationId xmlns:p14="http://schemas.microsoft.com/office/powerpoint/2010/main" val="34629397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空格的使用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29542" y="1106507"/>
            <a:ext cx="92021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黑体" pitchFamily="49" charset="-122"/>
                <a:ea typeface="黑体" pitchFamily="49" charset="-122"/>
              </a:rPr>
              <a:t>在赋值、算术和关系等运算符与其他元素之间</a:t>
            </a:r>
          </a:p>
          <a:p>
            <a:pPr>
              <a:buNone/>
            </a:pPr>
            <a:r>
              <a:rPr lang="zh-CN" altLang="en-US" sz="3200" b="1">
                <a:latin typeface="黑体" pitchFamily="49" charset="-122"/>
                <a:ea typeface="黑体" pitchFamily="49" charset="-122"/>
              </a:rPr>
              <a:t>用空格隔开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7836" y="2450866"/>
            <a:ext cx="7534103" cy="4001095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x = y + 1</a:t>
            </a:r>
          </a:p>
          <a:p>
            <a:pPr>
              <a:spcBef>
                <a:spcPts val="600"/>
              </a:spcBef>
              <a:buNone/>
            </a:pPr>
            <a:endParaRPr lang="en-US" altLang="zh-CN" sz="3200" b="1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x + y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(sum ** 2) + 4 * val - 1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b + math.sqrt(4 * max_val)</a:t>
            </a:r>
          </a:p>
          <a:p>
            <a:pPr>
              <a:spcBef>
                <a:spcPts val="600"/>
              </a:spcBef>
              <a:buNone/>
            </a:pPr>
            <a:endParaRPr lang="en-US" altLang="zh-CN" sz="3200" b="1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if a == b:</a:t>
            </a:r>
          </a:p>
        </p:txBody>
      </p:sp>
    </p:spTree>
    <p:extLst>
      <p:ext uri="{BB962C8B-B14F-4D97-AF65-F5344CB8AC3E}">
        <p14:creationId xmlns:p14="http://schemas.microsoft.com/office/powerpoint/2010/main" val="25624114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3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、注释的书写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Text Box 4" descr="再生纸"/>
          <p:cNvSpPr txBox="1">
            <a:spLocks noChangeArrowheads="1"/>
          </p:cNvSpPr>
          <p:nvPr/>
        </p:nvSpPr>
        <p:spPr bwMode="auto">
          <a:xfrm>
            <a:off x="1458819" y="1645539"/>
            <a:ext cx="250100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buNone/>
            </a:pPr>
            <a:r>
              <a:rPr lang="zh-CN" altLang="en-US" sz="3600" b="1">
                <a:solidFill>
                  <a:schemeClr val="tx1"/>
                </a:solidFill>
                <a:ea typeface="宋体" charset="-122"/>
              </a:rPr>
              <a:t>典型内容：</a:t>
            </a: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1491957" y="2552001"/>
            <a:ext cx="8905002" cy="2939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76250" indent="-4762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ts val="1000"/>
              </a:spcBef>
              <a:buFont typeface="Wingdings" pitchFamily="2" charset="2"/>
              <a:buChar char="Ø"/>
            </a:pPr>
            <a:r>
              <a:rPr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概述函数的功能和必要条件</a:t>
            </a:r>
          </a:p>
          <a:p>
            <a:pPr eaLnBrk="1" hangingPunct="1">
              <a:spcBef>
                <a:spcPts val="1000"/>
              </a:spcBef>
              <a:buFont typeface="Wingdings" pitchFamily="2" charset="2"/>
              <a:buChar char="Ø"/>
            </a:pPr>
            <a:r>
              <a:rPr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设计过程中的决策，如数据结构和算法的选择</a:t>
            </a:r>
          </a:p>
          <a:p>
            <a:pPr eaLnBrk="1" hangingPunct="1">
              <a:spcBef>
                <a:spcPts val="1000"/>
              </a:spcBef>
              <a:buFont typeface="Wingdings" pitchFamily="2" charset="2"/>
              <a:buChar char="Ø"/>
            </a:pPr>
            <a:r>
              <a:rPr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错误处理，如错误情形下如何处理、程序做出</a:t>
            </a:r>
            <a:br>
              <a:rPr lang="en-US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</a:br>
            <a:r>
              <a:rPr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了何种假设，若违背了这些假设，后果如何</a:t>
            </a:r>
            <a:endParaRPr lang="en-US" altLang="zh-CN" b="1">
              <a:solidFill>
                <a:schemeClr val="tx1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 eaLnBrk="1" hangingPunct="1">
              <a:spcBef>
                <a:spcPts val="1000"/>
              </a:spcBef>
              <a:buFont typeface="Wingdings" pitchFamily="2" charset="2"/>
              <a:buChar char="Ø"/>
            </a:pPr>
            <a:r>
              <a:rPr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复杂代码的主要思想</a:t>
            </a:r>
          </a:p>
        </p:txBody>
      </p:sp>
    </p:spTree>
    <p:extLst>
      <p:ext uri="{BB962C8B-B14F-4D97-AF65-F5344CB8AC3E}">
        <p14:creationId xmlns:p14="http://schemas.microsoft.com/office/powerpoint/2010/main" val="2721447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注释举例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86629" y="1501816"/>
            <a:ext cx="9078884" cy="4585871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def abs(x):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""" 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Assumes x is an int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Returns x if x &gt;=0 and –x otherwise 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"""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if x &lt; 0: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return -x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else: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return x</a:t>
            </a:r>
          </a:p>
        </p:txBody>
      </p:sp>
    </p:spTree>
    <p:extLst>
      <p:ext uri="{BB962C8B-B14F-4D97-AF65-F5344CB8AC3E}">
        <p14:creationId xmlns:p14="http://schemas.microsoft.com/office/powerpoint/2010/main" val="23462291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编程规范很重要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9" name="图片 3" descr="AcademicExchange_issue01_articles01_img09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15" y="954597"/>
            <a:ext cx="5772150" cy="576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4"/>
          <p:cNvSpPr txBox="1">
            <a:spLocks noChangeArrowheads="1"/>
          </p:cNvSpPr>
          <p:nvPr/>
        </p:nvSpPr>
        <p:spPr bwMode="auto">
          <a:xfrm>
            <a:off x="685815" y="976480"/>
            <a:ext cx="2590800" cy="354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chemeClr val="tx1"/>
                </a:solidFill>
                <a:ea typeface="宋体" charset="-122"/>
              </a:rPr>
              <a:t>IOCCC</a:t>
            </a:r>
            <a:r>
              <a:rPr lang="zh-CN" altLang="en-US" sz="2800" b="1">
                <a:solidFill>
                  <a:schemeClr val="tx1"/>
                </a:solidFill>
                <a:ea typeface="宋体" charset="-122"/>
              </a:rPr>
              <a:t>（</a:t>
            </a:r>
            <a:r>
              <a:rPr lang="en-US" altLang="zh-CN" sz="2800" b="1">
                <a:solidFill>
                  <a:schemeClr val="tx1"/>
                </a:solidFill>
                <a:ea typeface="宋体" charset="-122"/>
              </a:rPr>
              <a:t>The International Obfuscated C Code Contest, </a:t>
            </a:r>
            <a:r>
              <a:rPr lang="zh-CN" altLang="en-US" sz="2800" b="1">
                <a:solidFill>
                  <a:schemeClr val="tx1"/>
                </a:solidFill>
                <a:ea typeface="宋体" charset="-122"/>
              </a:rPr>
              <a:t>国际</a:t>
            </a:r>
            <a:r>
              <a:rPr lang="en-US" altLang="zh-CN" sz="2800" b="1">
                <a:solidFill>
                  <a:schemeClr val="tx1"/>
                </a:solidFill>
                <a:ea typeface="宋体" charset="-122"/>
              </a:rPr>
              <a:t>C</a:t>
            </a:r>
            <a:r>
              <a:rPr lang="zh-CN" altLang="en-US" sz="2800" b="1">
                <a:solidFill>
                  <a:schemeClr val="tx1"/>
                </a:solidFill>
                <a:ea typeface="宋体" charset="-122"/>
              </a:rPr>
              <a:t>语言混乱代码大赛）获奖作品</a:t>
            </a:r>
            <a:r>
              <a:rPr lang="en-US" altLang="zh-CN" sz="2800" b="1">
                <a:solidFill>
                  <a:schemeClr val="tx1"/>
                </a:solidFill>
                <a:ea typeface="宋体" charset="-122"/>
              </a:rPr>
              <a:t>gavare.c </a:t>
            </a:r>
            <a:endParaRPr lang="zh-CN" altLang="en-US" sz="2800" b="1">
              <a:solidFill>
                <a:schemeClr val="tx1"/>
              </a:solidFill>
              <a:ea typeface="宋体" charset="-122"/>
            </a:endParaRPr>
          </a:p>
        </p:txBody>
      </p:sp>
      <p:pic>
        <p:nvPicPr>
          <p:cNvPr id="13" name="图片 12" descr="p7361945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9185" y="1507400"/>
            <a:ext cx="6629400" cy="497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567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562644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本章结构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3" name="文本占位符 50"/>
          <p:cNvSpPr txBox="1"/>
          <p:nvPr/>
        </p:nvSpPr>
        <p:spPr>
          <a:xfrm>
            <a:off x="2036623" y="2352513"/>
            <a:ext cx="2157426" cy="689689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编程规范</a:t>
            </a:r>
            <a:endParaRPr lang="zh-CN" altLang="en-US" sz="2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占位符 50"/>
          <p:cNvSpPr txBox="1"/>
          <p:nvPr/>
        </p:nvSpPr>
        <p:spPr>
          <a:xfrm>
            <a:off x="4987642" y="4070431"/>
            <a:ext cx="2448070" cy="1000334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程序的调试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2020298" y="3265478"/>
            <a:ext cx="1819616" cy="1819616"/>
            <a:chOff x="1699695" y="2430291"/>
            <a:chExt cx="1819616" cy="1819616"/>
          </a:xfrm>
        </p:grpSpPr>
        <p:sp>
          <p:nvSpPr>
            <p:cNvPr id="19" name="椭圆 18"/>
            <p:cNvSpPr/>
            <p:nvPr/>
          </p:nvSpPr>
          <p:spPr>
            <a:xfrm>
              <a:off x="1870075" y="2600673"/>
              <a:ext cx="1478853" cy="1478853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zh-CN" sz="3600" kern="0" dirty="0">
                  <a:solidFill>
                    <a:srgbClr val="FFFFFF"/>
                  </a:solidFill>
                  <a:latin typeface="Segoe UI" panose="020B0502040204020203"/>
                  <a:ea typeface="微软雅黑 Light" panose="020B0502040204020203" charset="-122"/>
                </a:rPr>
                <a:t>01</a:t>
              </a:r>
              <a:endParaRPr lang="zh-CN" altLang="en-US" sz="3600" kern="0" dirty="0">
                <a:solidFill>
                  <a:srgbClr val="FFFFFF"/>
                </a:solidFill>
                <a:latin typeface="Segoe UI" panose="020B0502040204020203"/>
                <a:ea typeface="微软雅黑 Light" panose="020B0502040204020203" charset="-122"/>
              </a:endParaRPr>
            </a:p>
          </p:txBody>
        </p:sp>
        <p:sp>
          <p:nvSpPr>
            <p:cNvPr id="20" name="弧形 19"/>
            <p:cNvSpPr/>
            <p:nvPr/>
          </p:nvSpPr>
          <p:spPr>
            <a:xfrm rot="7941625">
              <a:off x="1699695" y="2430291"/>
              <a:ext cx="1819616" cy="1819616"/>
            </a:xfrm>
            <a:prstGeom prst="arc">
              <a:avLst>
                <a:gd name="adj1" fmla="val 14586031"/>
                <a:gd name="adj2" fmla="val 1762864"/>
              </a:avLst>
            </a:prstGeom>
            <a:noFill/>
            <a:ln w="19050" cap="flat" cmpd="sng" algn="ctr">
              <a:solidFill>
                <a:schemeClr val="accent2"/>
              </a:solidFill>
              <a:prstDash val="solid"/>
              <a:miter lim="800000"/>
              <a:headEnd type="stealth" w="lg" len="me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dirty="0">
                <a:solidFill>
                  <a:srgbClr val="EA5504"/>
                </a:solidFill>
                <a:latin typeface="Segoe UI Semilight" panose="020B0402040204020203"/>
                <a:ea typeface="微软雅黑 Light" panose="020B0502040204020203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898792" y="1980180"/>
            <a:ext cx="1819616" cy="1819616"/>
            <a:chOff x="1699695" y="2430291"/>
            <a:chExt cx="1819616" cy="1819616"/>
          </a:xfrm>
        </p:grpSpPr>
        <p:sp>
          <p:nvSpPr>
            <p:cNvPr id="25" name="椭圆 24"/>
            <p:cNvSpPr/>
            <p:nvPr/>
          </p:nvSpPr>
          <p:spPr>
            <a:xfrm>
              <a:off x="1870075" y="2600673"/>
              <a:ext cx="1478853" cy="1478853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/>
                  <a:ea typeface="微软雅黑 Light" panose="020B0502040204020203" charset="-122"/>
                </a:rPr>
                <a:t>02</a:t>
              </a:r>
              <a:endPara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/>
                <a:ea typeface="微软雅黑 Light" panose="020B0502040204020203" charset="-122"/>
              </a:endParaRPr>
            </a:p>
          </p:txBody>
        </p:sp>
        <p:sp>
          <p:nvSpPr>
            <p:cNvPr id="26" name="弧形 25"/>
            <p:cNvSpPr/>
            <p:nvPr/>
          </p:nvSpPr>
          <p:spPr>
            <a:xfrm rot="2784046" flipH="1">
              <a:off x="1699695" y="2430291"/>
              <a:ext cx="1819616" cy="1819616"/>
            </a:xfrm>
            <a:prstGeom prst="arc">
              <a:avLst>
                <a:gd name="adj1" fmla="val 14586031"/>
                <a:gd name="adj2" fmla="val 1762864"/>
              </a:avLst>
            </a:prstGeom>
            <a:noFill/>
            <a:ln w="1905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miter lim="800000"/>
              <a:headEnd type="stealth" w="lg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EA5504"/>
                </a:solidFill>
                <a:effectLst/>
                <a:uLnTx/>
                <a:uFillTx/>
                <a:latin typeface="Segoe UI" panose="020B0502040204020203"/>
                <a:ea typeface="微软雅黑 Light" panose="020B0502040204020203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7646346" y="3270441"/>
            <a:ext cx="1819616" cy="1819616"/>
            <a:chOff x="1699695" y="2430291"/>
            <a:chExt cx="1819616" cy="1819616"/>
          </a:xfrm>
        </p:grpSpPr>
        <p:sp>
          <p:nvSpPr>
            <p:cNvPr id="28" name="椭圆 27"/>
            <p:cNvSpPr/>
            <p:nvPr/>
          </p:nvSpPr>
          <p:spPr>
            <a:xfrm>
              <a:off x="1870075" y="2600673"/>
              <a:ext cx="1478853" cy="1478853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zh-CN" sz="3600" kern="0" dirty="0">
                  <a:solidFill>
                    <a:srgbClr val="FFFFFF"/>
                  </a:solidFill>
                  <a:latin typeface="Segoe UI" panose="020B0502040204020203"/>
                  <a:ea typeface="微软雅黑 Light" panose="020B0502040204020203" charset="-122"/>
                </a:rPr>
                <a:t>03</a:t>
              </a:r>
              <a:endParaRPr lang="zh-CN" altLang="en-US" sz="3600" kern="0" dirty="0">
                <a:solidFill>
                  <a:srgbClr val="FFFFFF"/>
                </a:solidFill>
                <a:latin typeface="Segoe UI" panose="020B0502040204020203"/>
                <a:ea typeface="微软雅黑 Light" panose="020B0502040204020203" charset="-122"/>
              </a:endParaRPr>
            </a:p>
          </p:txBody>
        </p:sp>
        <p:sp>
          <p:nvSpPr>
            <p:cNvPr id="29" name="弧形 28"/>
            <p:cNvSpPr/>
            <p:nvPr/>
          </p:nvSpPr>
          <p:spPr>
            <a:xfrm rot="7941625">
              <a:off x="1699695" y="2430291"/>
              <a:ext cx="1819616" cy="1819616"/>
            </a:xfrm>
            <a:prstGeom prst="arc">
              <a:avLst>
                <a:gd name="adj1" fmla="val 14586031"/>
                <a:gd name="adj2" fmla="val 1762864"/>
              </a:avLst>
            </a:prstGeom>
            <a:noFill/>
            <a:ln w="19050" cap="flat" cmpd="sng" algn="ctr">
              <a:solidFill>
                <a:schemeClr val="accent2"/>
              </a:solidFill>
              <a:prstDash val="solid"/>
              <a:miter lim="800000"/>
              <a:headEnd type="stealth" w="lg" len="me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dirty="0">
                <a:solidFill>
                  <a:srgbClr val="EA5504"/>
                </a:solidFill>
                <a:latin typeface="Segoe UI Semilight" panose="020B0402040204020203"/>
                <a:ea typeface="微软雅黑 Light" panose="020B0502040204020203" charset="-122"/>
              </a:endParaRPr>
            </a:p>
          </p:txBody>
        </p:sp>
      </p:grpSp>
      <p:sp>
        <p:nvSpPr>
          <p:cNvPr id="33" name="文本占位符 50"/>
          <p:cNvSpPr txBox="1"/>
          <p:nvPr/>
        </p:nvSpPr>
        <p:spPr>
          <a:xfrm>
            <a:off x="7433927" y="2352513"/>
            <a:ext cx="2333520" cy="717012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一些作业样例</a:t>
            </a:r>
            <a:endParaRPr lang="zh-CN" altLang="en-US" sz="2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94363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为何要调试程序？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2" name="Text Box 4" descr="再生纸"/>
          <p:cNvSpPr txBox="1">
            <a:spLocks noChangeArrowheads="1"/>
          </p:cNvSpPr>
          <p:nvPr/>
        </p:nvSpPr>
        <p:spPr bwMode="auto">
          <a:xfrm>
            <a:off x="2120806" y="1676400"/>
            <a:ext cx="4884738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CN" altLang="en-US" sz="4400" b="1">
                <a:solidFill>
                  <a:srgbClr val="0000FF"/>
                </a:solidFill>
                <a:ea typeface="宋体" charset="-122"/>
              </a:rPr>
              <a:t>程序写完之后</a:t>
            </a:r>
            <a:r>
              <a:rPr lang="en-US" altLang="zh-CN" sz="4400" b="1">
                <a:solidFill>
                  <a:srgbClr val="0000FF"/>
                </a:solidFill>
                <a:ea typeface="宋体" charset="-122"/>
              </a:rPr>
              <a:t>…….</a:t>
            </a:r>
            <a:endParaRPr lang="zh-CN" altLang="en-US" sz="4400" b="1">
              <a:solidFill>
                <a:srgbClr val="0000FF"/>
              </a:solidFill>
              <a:ea typeface="宋体" charset="-122"/>
            </a:endParaRP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2184305" y="2667000"/>
            <a:ext cx="6086861" cy="269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76250" indent="-4762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ts val="1000"/>
              </a:spcBef>
              <a:buFont typeface="Wingdings" pitchFamily="2" charset="2"/>
              <a:buChar char="Ø"/>
            </a:pPr>
            <a:r>
              <a:rPr lang="zh-CN" altLang="en-US" sz="36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编译不通过</a:t>
            </a:r>
          </a:p>
          <a:p>
            <a:pPr eaLnBrk="1" hangingPunct="1">
              <a:spcBef>
                <a:spcPts val="1000"/>
              </a:spcBef>
              <a:buFont typeface="Wingdings" pitchFamily="2" charset="2"/>
              <a:buChar char="Ø"/>
            </a:pPr>
            <a:r>
              <a:rPr lang="zh-CN" altLang="en-US" sz="36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编译通过，无法运行</a:t>
            </a:r>
          </a:p>
          <a:p>
            <a:pPr eaLnBrk="1" hangingPunct="1">
              <a:spcBef>
                <a:spcPts val="1000"/>
              </a:spcBef>
              <a:buFont typeface="Wingdings" pitchFamily="2" charset="2"/>
              <a:buChar char="Ø"/>
            </a:pPr>
            <a:r>
              <a:rPr lang="zh-CN" altLang="en-US" sz="36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能运行，结果不对</a:t>
            </a:r>
          </a:p>
          <a:p>
            <a:pPr eaLnBrk="1" hangingPunct="1">
              <a:spcBef>
                <a:spcPts val="1000"/>
              </a:spcBef>
              <a:buFont typeface="Wingdings" pitchFamily="2" charset="2"/>
              <a:buChar char="Ø"/>
            </a:pPr>
            <a:r>
              <a:rPr lang="zh-CN" altLang="en-US" sz="36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有的结果对，有的不对</a:t>
            </a:r>
          </a:p>
        </p:txBody>
      </p:sp>
    </p:spTree>
    <p:extLst>
      <p:ext uri="{BB962C8B-B14F-4D97-AF65-F5344CB8AC3E}">
        <p14:creationId xmlns:p14="http://schemas.microsoft.com/office/powerpoint/2010/main" val="1024822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一个段子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内容占位符 2" descr="Rectangle: Click to edit Master text styles&#10;Second level&#10;Third level&#10;Fourth level&#10;Fifth level"/>
          <p:cNvSpPr txBox="1">
            <a:spLocks/>
          </p:cNvSpPr>
          <p:nvPr/>
        </p:nvSpPr>
        <p:spPr>
          <a:xfrm>
            <a:off x="1237563" y="1524000"/>
            <a:ext cx="9818363" cy="44196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0"/>
              </a:spcBef>
              <a:buSzPct val="80000"/>
              <a:buFont typeface="Wingdings" pitchFamily="2" charset="2"/>
              <a:buNone/>
            </a:pPr>
            <a:r>
              <a:rPr lang="zh-CN" altLang="en-US" b="1">
                <a:latin typeface="楷体" pitchFamily="49" charset="-122"/>
                <a:ea typeface="楷体" pitchFamily="49" charset="-122"/>
              </a:rPr>
              <a:t>从前有一个程序员，他得到了一盏神灯。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SzPct val="80000"/>
              <a:buFont typeface="Wingdings" pitchFamily="2" charset="2"/>
              <a:buNone/>
            </a:pPr>
            <a:r>
              <a:rPr lang="zh-CN" altLang="en-US" b="1">
                <a:latin typeface="楷体" pitchFamily="49" charset="-122"/>
                <a:ea typeface="楷体" pitchFamily="49" charset="-122"/>
              </a:rPr>
              <a:t>灯神答应实现他的一个愿望。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SzPct val="80000"/>
              <a:buFont typeface="Wingdings" pitchFamily="2" charset="2"/>
              <a:buNone/>
            </a:pPr>
            <a:r>
              <a:rPr lang="zh-CN" altLang="en-US" b="1">
                <a:latin typeface="楷体" pitchFamily="49" charset="-122"/>
                <a:ea typeface="楷体" pitchFamily="49" charset="-122"/>
              </a:rPr>
              <a:t>然后他向神灯许愿，希望在有生之年能写出一个完美的、没有任何缺陷的好项目。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SzPct val="80000"/>
              <a:buFont typeface="Wingdings" pitchFamily="2" charset="2"/>
              <a:buNone/>
            </a:pPr>
            <a:r>
              <a:rPr lang="zh-CN" altLang="en-US" b="1">
                <a:latin typeface="楷体" pitchFamily="49" charset="-122"/>
                <a:ea typeface="楷体" pitchFamily="49" charset="-122"/>
              </a:rPr>
              <a:t>后来</a:t>
            </a:r>
            <a:r>
              <a:rPr lang="en-US" altLang="zh-CN" b="1">
                <a:latin typeface="楷体" pitchFamily="49" charset="-122"/>
                <a:ea typeface="楷体" pitchFamily="49" charset="-122"/>
              </a:rPr>
              <a:t>…</a:t>
            </a:r>
            <a:r>
              <a:rPr lang="zh-CN" altLang="en-US" b="1">
                <a:latin typeface="楷体" pitchFamily="49" charset="-122"/>
                <a:ea typeface="楷体" pitchFamily="49" charset="-122"/>
              </a:rPr>
              <a:t>后来</a:t>
            </a:r>
            <a:r>
              <a:rPr lang="en-US" altLang="zh-CN" b="1">
                <a:latin typeface="楷体" pitchFamily="49" charset="-122"/>
                <a:ea typeface="楷体" pitchFamily="49" charset="-122"/>
              </a:rPr>
              <a:t>…</a:t>
            </a:r>
            <a:r>
              <a:rPr lang="zh-CN" altLang="en-US" b="1">
                <a:latin typeface="楷体" pitchFamily="49" charset="-122"/>
                <a:ea typeface="楷体" pitchFamily="49" charset="-122"/>
              </a:rPr>
              <a:t>他得到了永生。</a:t>
            </a:r>
          </a:p>
        </p:txBody>
      </p:sp>
    </p:spTree>
    <p:extLst>
      <p:ext uri="{BB962C8B-B14F-4D97-AF65-F5344CB8AC3E}">
        <p14:creationId xmlns:p14="http://schemas.microsoft.com/office/powerpoint/2010/main" val="2200725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另一个段子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内容占位符 2" descr="Rectangle: Click to edit Master text styles&#10;Second level&#10;Third level&#10;Fourth level&#10;Fifth level"/>
          <p:cNvSpPr txBox="1">
            <a:spLocks/>
          </p:cNvSpPr>
          <p:nvPr/>
        </p:nvSpPr>
        <p:spPr>
          <a:xfrm>
            <a:off x="1212625" y="1681942"/>
            <a:ext cx="10000211" cy="363820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0"/>
              </a:spcBef>
              <a:buSzPct val="80000"/>
              <a:buFont typeface="Wingdings" pitchFamily="2" charset="2"/>
              <a:buNone/>
            </a:pPr>
            <a:r>
              <a:rPr lang="zh-CN" altLang="en-US" b="1">
                <a:latin typeface="楷体" pitchFamily="49" charset="-122"/>
                <a:ea typeface="楷体" pitchFamily="49" charset="-122"/>
              </a:rPr>
              <a:t>妻子想让程序员丈夫懂一点生活情调，不要成天只知道写代码。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SzPct val="80000"/>
              <a:buFont typeface="Wingdings" pitchFamily="2" charset="2"/>
              <a:buNone/>
            </a:pPr>
            <a:r>
              <a:rPr lang="zh-CN" altLang="en-US" b="1">
                <a:latin typeface="楷体" pitchFamily="49" charset="-122"/>
                <a:ea typeface="楷体" pitchFamily="49" charset="-122"/>
              </a:rPr>
              <a:t>妻子：生活不仅仅只有敲代码。。。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SzPct val="80000"/>
              <a:buFont typeface="Wingdings" pitchFamily="2" charset="2"/>
              <a:buNone/>
            </a:pPr>
            <a:r>
              <a:rPr lang="zh-CN" altLang="en-US" b="1">
                <a:latin typeface="楷体" pitchFamily="49" charset="-122"/>
                <a:ea typeface="楷体" pitchFamily="49" charset="-122"/>
              </a:rPr>
              <a:t>丈夫：对，我知道，还有</a:t>
            </a:r>
            <a:r>
              <a:rPr lang="en-US" altLang="zh-CN" b="1">
                <a:latin typeface="楷体" pitchFamily="49" charset="-122"/>
                <a:ea typeface="楷体" pitchFamily="49" charset="-122"/>
              </a:rPr>
              <a:t>……</a:t>
            </a:r>
            <a:r>
              <a:rPr lang="zh-CN" altLang="en-US" b="1">
                <a:latin typeface="楷体" pitchFamily="49" charset="-122"/>
                <a:ea typeface="楷体" pitchFamily="49" charset="-122"/>
              </a:rPr>
              <a:t>调</a:t>
            </a:r>
            <a:r>
              <a:rPr lang="en-US" altLang="zh-CN" b="1">
                <a:latin typeface="楷体" pitchFamily="49" charset="-122"/>
                <a:ea typeface="楷体" pitchFamily="49" charset="-122"/>
              </a:rPr>
              <a:t>bug</a:t>
            </a:r>
            <a:r>
              <a:rPr lang="zh-CN" altLang="en-US" b="1">
                <a:latin typeface="楷体" pitchFamily="49" charset="-122"/>
                <a:ea typeface="楷体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934461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真实案例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542" y="1478280"/>
            <a:ext cx="8769585" cy="4523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93021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5"/>
          <p:cNvSpPr txBox="1"/>
          <p:nvPr/>
        </p:nvSpPr>
        <p:spPr>
          <a:xfrm>
            <a:off x="1237563" y="98987"/>
            <a:ext cx="6709403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程序调试的主要内容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16" name="图片占位符 7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922" y="1991468"/>
            <a:ext cx="2364622" cy="1954754"/>
          </a:xfrm>
          <a:custGeom>
            <a:avLst/>
            <a:gdLst>
              <a:gd name="connsiteX0" fmla="*/ 1073150 w 2146300"/>
              <a:gd name="connsiteY0" fmla="*/ 0 h 2146300"/>
              <a:gd name="connsiteX1" fmla="*/ 2146300 w 2146300"/>
              <a:gd name="connsiteY1" fmla="*/ 1073150 h 2146300"/>
              <a:gd name="connsiteX2" fmla="*/ 1073150 w 2146300"/>
              <a:gd name="connsiteY2" fmla="*/ 2146300 h 2146300"/>
              <a:gd name="connsiteX3" fmla="*/ 0 w 2146300"/>
              <a:gd name="connsiteY3" fmla="*/ 1073150 h 2146300"/>
              <a:gd name="connsiteX4" fmla="*/ 1073150 w 2146300"/>
              <a:gd name="connsiteY4" fmla="*/ 0 h 214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6300" h="2146300">
                <a:moveTo>
                  <a:pt x="1073150" y="0"/>
                </a:moveTo>
                <a:cubicBezTo>
                  <a:pt x="1665834" y="0"/>
                  <a:pt x="2146300" y="480466"/>
                  <a:pt x="2146300" y="1073150"/>
                </a:cubicBezTo>
                <a:cubicBezTo>
                  <a:pt x="2146300" y="1665834"/>
                  <a:pt x="1665834" y="2146300"/>
                  <a:pt x="1073150" y="2146300"/>
                </a:cubicBezTo>
                <a:cubicBezTo>
                  <a:pt x="480466" y="2146300"/>
                  <a:pt x="0" y="1665834"/>
                  <a:pt x="0" y="1073150"/>
                </a:cubicBezTo>
                <a:cubicBezTo>
                  <a:pt x="0" y="480466"/>
                  <a:pt x="480466" y="0"/>
                  <a:pt x="1073150" y="0"/>
                </a:cubicBezTo>
                <a:close/>
              </a:path>
            </a:pathLst>
          </a:custGeom>
        </p:spPr>
      </p:pic>
      <p:sp>
        <p:nvSpPr>
          <p:cNvPr id="17" name="文本占位符 14"/>
          <p:cNvSpPr txBox="1"/>
          <p:nvPr/>
        </p:nvSpPr>
        <p:spPr>
          <a:xfrm>
            <a:off x="2103122" y="4304183"/>
            <a:ext cx="1986742" cy="6003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错误类型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8" name="图片占位符 7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6416" y="1895727"/>
            <a:ext cx="2146236" cy="2146236"/>
          </a:xfrm>
          <a:custGeom>
            <a:avLst/>
            <a:gdLst>
              <a:gd name="connsiteX0" fmla="*/ 1073150 w 2146300"/>
              <a:gd name="connsiteY0" fmla="*/ 0 h 2146300"/>
              <a:gd name="connsiteX1" fmla="*/ 2146300 w 2146300"/>
              <a:gd name="connsiteY1" fmla="*/ 1073150 h 2146300"/>
              <a:gd name="connsiteX2" fmla="*/ 1073150 w 2146300"/>
              <a:gd name="connsiteY2" fmla="*/ 2146300 h 2146300"/>
              <a:gd name="connsiteX3" fmla="*/ 0 w 2146300"/>
              <a:gd name="connsiteY3" fmla="*/ 1073150 h 2146300"/>
              <a:gd name="connsiteX4" fmla="*/ 1073150 w 2146300"/>
              <a:gd name="connsiteY4" fmla="*/ 0 h 214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6300" h="2146300">
                <a:moveTo>
                  <a:pt x="1073150" y="0"/>
                </a:moveTo>
                <a:cubicBezTo>
                  <a:pt x="1665834" y="0"/>
                  <a:pt x="2146300" y="480466"/>
                  <a:pt x="2146300" y="1073150"/>
                </a:cubicBezTo>
                <a:cubicBezTo>
                  <a:pt x="2146300" y="1665834"/>
                  <a:pt x="1665834" y="2146300"/>
                  <a:pt x="1073150" y="2146300"/>
                </a:cubicBezTo>
                <a:cubicBezTo>
                  <a:pt x="480466" y="2146300"/>
                  <a:pt x="0" y="1665834"/>
                  <a:pt x="0" y="1073150"/>
                </a:cubicBezTo>
                <a:cubicBezTo>
                  <a:pt x="0" y="480466"/>
                  <a:pt x="480466" y="0"/>
                  <a:pt x="1073150" y="0"/>
                </a:cubicBezTo>
                <a:close/>
              </a:path>
            </a:pathLst>
          </a:custGeom>
        </p:spPr>
      </p:pic>
      <p:sp>
        <p:nvSpPr>
          <p:cNvPr id="21" name="文本占位符 22"/>
          <p:cNvSpPr txBox="1"/>
          <p:nvPr/>
        </p:nvSpPr>
        <p:spPr>
          <a:xfrm>
            <a:off x="4912822" y="4304183"/>
            <a:ext cx="2086494" cy="6003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静态调试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4" name="图片占位符 7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9021" y="1994982"/>
            <a:ext cx="2672335" cy="1947727"/>
          </a:xfrm>
          <a:custGeom>
            <a:avLst/>
            <a:gdLst>
              <a:gd name="connsiteX0" fmla="*/ 1073150 w 2146300"/>
              <a:gd name="connsiteY0" fmla="*/ 0 h 2146300"/>
              <a:gd name="connsiteX1" fmla="*/ 2146300 w 2146300"/>
              <a:gd name="connsiteY1" fmla="*/ 1073150 h 2146300"/>
              <a:gd name="connsiteX2" fmla="*/ 1073150 w 2146300"/>
              <a:gd name="connsiteY2" fmla="*/ 2146300 h 2146300"/>
              <a:gd name="connsiteX3" fmla="*/ 0 w 2146300"/>
              <a:gd name="connsiteY3" fmla="*/ 1073150 h 2146300"/>
              <a:gd name="connsiteX4" fmla="*/ 1073150 w 2146300"/>
              <a:gd name="connsiteY4" fmla="*/ 0 h 214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6300" h="2146300">
                <a:moveTo>
                  <a:pt x="1073150" y="0"/>
                </a:moveTo>
                <a:cubicBezTo>
                  <a:pt x="1665834" y="0"/>
                  <a:pt x="2146300" y="480466"/>
                  <a:pt x="2146300" y="1073150"/>
                </a:cubicBezTo>
                <a:cubicBezTo>
                  <a:pt x="2146300" y="1665834"/>
                  <a:pt x="1665834" y="2146300"/>
                  <a:pt x="1073150" y="2146300"/>
                </a:cubicBezTo>
                <a:cubicBezTo>
                  <a:pt x="480466" y="2146300"/>
                  <a:pt x="0" y="1665834"/>
                  <a:pt x="0" y="1073150"/>
                </a:cubicBezTo>
                <a:cubicBezTo>
                  <a:pt x="0" y="480466"/>
                  <a:pt x="480466" y="0"/>
                  <a:pt x="1073150" y="0"/>
                </a:cubicBezTo>
                <a:close/>
              </a:path>
            </a:pathLst>
          </a:custGeom>
        </p:spPr>
      </p:pic>
      <p:sp>
        <p:nvSpPr>
          <p:cNvPr id="25" name="文本占位符 26"/>
          <p:cNvSpPr txBox="1"/>
          <p:nvPr/>
        </p:nvSpPr>
        <p:spPr>
          <a:xfrm>
            <a:off x="7753151" y="4304183"/>
            <a:ext cx="2089127" cy="6003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动态调试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16025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1</a:t>
            </a: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、错误类型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994763" y="1190097"/>
            <a:ext cx="9878291" cy="49530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6400" indent="-446400">
              <a:buSzPct val="90000"/>
              <a:buFont typeface="Wingdings 2" pitchFamily="18" charset="2"/>
              <a:buChar char="ö"/>
            </a:pPr>
            <a:r>
              <a:rPr lang="en-US" altLang="zh-CN" sz="3600" b="1">
                <a:latin typeface="Times New Roman" pitchFamily="18" charset="0"/>
                <a:cs typeface="Times New Roman" pitchFamily="18" charset="0"/>
              </a:rPr>
              <a:t>IndexError</a:t>
            </a:r>
            <a:r>
              <a:rPr lang="zh-CN" altLang="en-US" sz="3600" b="1"/>
              <a:t>：在访问列表、字符串和元组等数据集合的某个元素时</a:t>
            </a:r>
            <a:r>
              <a:rPr lang="zh-CN" altLang="en-US" sz="3600" b="1">
                <a:solidFill>
                  <a:srgbClr val="FF0000"/>
                </a:solidFill>
              </a:rPr>
              <a:t>下标越界</a:t>
            </a:r>
            <a:endParaRPr lang="en-US" altLang="zh-CN" sz="3600" b="1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47571" y="2758857"/>
            <a:ext cx="8037022" cy="3108543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family = ['dad', 'mom',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  'peppa', 'george']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i = 1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N = len(family)</a:t>
            </a:r>
            <a:endParaRPr lang="en-US" altLang="zh-CN" sz="2800" b="1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while i &lt;= N 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print(str(i)+ ': ' + family[i])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i = i + 1</a:t>
            </a:r>
          </a:p>
        </p:txBody>
      </p:sp>
    </p:spTree>
    <p:extLst>
      <p:ext uri="{BB962C8B-B14F-4D97-AF65-F5344CB8AC3E}">
        <p14:creationId xmlns:p14="http://schemas.microsoft.com/office/powerpoint/2010/main" val="19683499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TypeError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994763" y="1190097"/>
            <a:ext cx="9878291" cy="49530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6400" indent="-446400">
              <a:buSzPct val="90000"/>
              <a:buFont typeface="Wingdings 2" pitchFamily="18" charset="2"/>
              <a:buChar char="ö"/>
            </a:pPr>
            <a:r>
              <a:rPr lang="zh-CN" altLang="en-US" sz="3600" b="1">
                <a:latin typeface="Times New Roman" pitchFamily="18" charset="0"/>
                <a:cs typeface="Times New Roman" pitchFamily="18" charset="0"/>
              </a:rPr>
              <a:t>试图对不合适的数据类型进行某个操作时会出现类型错误</a:t>
            </a:r>
            <a:endParaRPr lang="en-US" altLang="zh-CN" sz="3600" b="1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89115" y="2643874"/>
            <a:ext cx="7646324" cy="353943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32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print(i + ': ' + family[i])</a:t>
            </a:r>
          </a:p>
          <a:p>
            <a:pPr>
              <a:spcBef>
                <a:spcPts val="0"/>
              </a:spcBef>
              <a:buNone/>
            </a:pPr>
            <a:endParaRPr lang="en-US" altLang="zh-CN" sz="3200" b="1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'3' / 4   </a:t>
            </a:r>
            <a:r>
              <a:rPr lang="en-US" altLang="zh-CN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 '3' * 4?</a:t>
            </a:r>
          </a:p>
          <a:p>
            <a:pPr>
              <a:spcBef>
                <a:spcPts val="0"/>
              </a:spcBef>
              <a:buNone/>
            </a:pPr>
            <a:endParaRPr lang="en-US" altLang="zh-CN" sz="3200" b="1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int([10])</a:t>
            </a:r>
          </a:p>
          <a:p>
            <a:pPr>
              <a:spcBef>
                <a:spcPts val="0"/>
              </a:spcBef>
              <a:buNone/>
            </a:pPr>
            <a:endParaRPr lang="en-US" altLang="zh-CN" sz="3200" b="1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len(3.1415926)</a:t>
            </a:r>
          </a:p>
        </p:txBody>
      </p:sp>
    </p:spTree>
    <p:extLst>
      <p:ext uri="{BB962C8B-B14F-4D97-AF65-F5344CB8AC3E}">
        <p14:creationId xmlns:p14="http://schemas.microsoft.com/office/powerpoint/2010/main" val="35507956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 noProof="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其他常见错误类型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765058"/>
              </p:ext>
            </p:extLst>
          </p:nvPr>
        </p:nvGraphicFramePr>
        <p:xfrm>
          <a:off x="1237563" y="1465810"/>
          <a:ext cx="9336226" cy="4378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43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2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91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7849"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错误类型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原因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举例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246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NameError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访问了不存在的变量名（局部或全局变量）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bf = handsome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2547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SyntaxError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存在语法错误，如少了括号、引号等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N = len([1,</a:t>
                      </a:r>
                      <a:r>
                        <a:rPr lang="en-US" altLang="zh-CN" sz="2800" b="1" baseline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2]</a:t>
                      </a:r>
                    </a:p>
                    <a:p>
                      <a:r>
                        <a:rPr lang="en-US" altLang="zh-CN" sz="2800" b="1" baseline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print(N)</a:t>
                      </a:r>
                      <a:endParaRPr lang="zh-CN" altLang="en-US" sz="2800" b="1" dirty="0">
                        <a:solidFill>
                          <a:srgbClr val="FF0000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849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ValueError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值不正确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 = int('12a')</a:t>
                      </a:r>
                      <a:endParaRPr lang="zh-CN" altLang="en-US" sz="2800" b="1" dirty="0">
                        <a:solidFill>
                          <a:srgbClr val="FF0000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2547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IndentationError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不正确的缩进方式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def foo():</a:t>
                      </a:r>
                    </a:p>
                    <a:p>
                      <a:r>
                        <a:rPr lang="en-US" altLang="zh-CN" sz="2800" b="1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lang="en-US" altLang="zh-CN" sz="2800" b="1" baseline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= 1</a:t>
                      </a:r>
                      <a:endParaRPr lang="zh-CN" altLang="en-US" sz="2800" b="1" dirty="0">
                        <a:solidFill>
                          <a:srgbClr val="FF0000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1249701" y="6017704"/>
            <a:ext cx="88751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/>
              <a:t>异常</a:t>
            </a:r>
            <a:r>
              <a:rPr lang="en-US" altLang="zh-CN"/>
              <a:t>/</a:t>
            </a:r>
            <a:r>
              <a:rPr lang="zh-CN" altLang="en-US"/>
              <a:t>错误列表：</a:t>
            </a:r>
            <a:r>
              <a:rPr lang="en-US" altLang="zh-CN"/>
              <a:t>http://docs.python.org/3/library/exceptions.html#bltin-exceptions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0294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2</a:t>
            </a: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、静态调试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1004799" y="1379912"/>
            <a:ext cx="9959688" cy="453043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6400" indent="-446400">
              <a:buSzPct val="90000"/>
              <a:buFont typeface="Wingdings 2" pitchFamily="18" charset="2"/>
              <a:buChar char="ö"/>
            </a:pPr>
            <a:r>
              <a:rPr lang="zh-CN" altLang="en-US" sz="4000" b="1">
                <a:latin typeface="宋体" pitchFamily="2" charset="-122"/>
                <a:ea typeface="宋体" pitchFamily="2" charset="-122"/>
              </a:rPr>
              <a:t>什么是静态调试</a:t>
            </a:r>
            <a:endParaRPr lang="en-US" altLang="zh-CN" sz="4000" b="1">
              <a:latin typeface="宋体" pitchFamily="2" charset="-122"/>
              <a:ea typeface="宋体" pitchFamily="2" charset="-122"/>
            </a:endParaRPr>
          </a:p>
          <a:p>
            <a:pPr marL="903600" lvl="1" indent="-446400">
              <a:spcBef>
                <a:spcPts val="1800"/>
              </a:spcBef>
              <a:buSzPct val="90000"/>
              <a:buFont typeface="Wingdings" pitchFamily="2" charset="2"/>
              <a:buChar char="J"/>
            </a:pPr>
            <a:r>
              <a:rPr lang="zh-CN" altLang="en-US" sz="3600" b="1">
                <a:latin typeface="楷体" pitchFamily="49" charset="-122"/>
                <a:ea typeface="楷体" pitchFamily="49" charset="-122"/>
              </a:rPr>
              <a:t>如果程序的运行结果与预期不一致，说明存在</a:t>
            </a:r>
            <a:r>
              <a:rPr lang="en-US" altLang="zh-CN" sz="36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bug</a:t>
            </a:r>
            <a:r>
              <a:rPr lang="zh-CN" altLang="en-US" sz="3600" b="1">
                <a:latin typeface="楷体" pitchFamily="49" charset="-122"/>
                <a:ea typeface="楷体" pitchFamily="49" charset="-122"/>
              </a:rPr>
              <a:t>，因此需要调试（</a:t>
            </a:r>
            <a:r>
              <a:rPr lang="en-US" altLang="zh-CN" sz="3600" b="1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debug</a:t>
            </a:r>
            <a:r>
              <a:rPr lang="zh-CN" altLang="en-US" sz="3600" b="1">
                <a:latin typeface="楷体" pitchFamily="49" charset="-122"/>
                <a:ea typeface="楷体" pitchFamily="49" charset="-122"/>
              </a:rPr>
              <a:t>）</a:t>
            </a:r>
            <a:endParaRPr lang="en-US" altLang="zh-CN" sz="3600" b="1">
              <a:latin typeface="楷体" pitchFamily="49" charset="-122"/>
              <a:ea typeface="楷体" pitchFamily="49" charset="-122"/>
            </a:endParaRPr>
          </a:p>
          <a:p>
            <a:pPr marL="903600" lvl="1" indent="-446400">
              <a:spcBef>
                <a:spcPts val="1200"/>
              </a:spcBef>
              <a:buSzPct val="90000"/>
              <a:buFont typeface="Wingdings" pitchFamily="2" charset="2"/>
              <a:buChar char="J"/>
            </a:pPr>
            <a:r>
              <a:rPr lang="zh-CN" altLang="en-US" sz="3600" b="1">
                <a:latin typeface="楷体" pitchFamily="49" charset="-122"/>
                <a:ea typeface="楷体" pitchFamily="49" charset="-122"/>
              </a:rPr>
              <a:t>静态调试：在程序未运行的情况下，对代码的内容和结构进行分析，试图发现代码中的错误和潜在问题。可人工检查，也可以用软件工具进行。</a:t>
            </a:r>
            <a:endParaRPr lang="en-US" altLang="zh-CN" sz="3600" b="1"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446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 noProof="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学生来信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112511" y="1691330"/>
            <a:ext cx="9527772" cy="45243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s  =  input()</a:t>
            </a:r>
          </a:p>
          <a:p>
            <a:pPr>
              <a:buFont typeface="Wingdings" pitchFamily="2" charset="2"/>
              <a:buNone/>
            </a:pPr>
            <a:r>
              <a:rPr lang="en-US" altLang="zh-CN" sz="3200" b="1">
                <a:latin typeface="Times New Roman" pitchFamily="18" charset="0"/>
                <a:ea typeface="宋体" charset="-122"/>
                <a:cs typeface="Times New Roman" pitchFamily="18" charset="0"/>
              </a:rPr>
              <a:t>a  =  list(s)</a:t>
            </a:r>
            <a:endParaRPr lang="en-US" altLang="zh-CN" sz="3200" b="1">
              <a:solidFill>
                <a:schemeClr val="tx1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for i in range(len(a)):</a:t>
            </a:r>
          </a:p>
          <a:p>
            <a:pPr>
              <a:buFont typeface="Wingdings" pitchFamily="2" charset="2"/>
              <a:buNone/>
            </a:pPr>
            <a:r>
              <a:rPr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  if a[i] &gt;= 'A' and ord(a[i])-ord('A') &lt;= 25:</a:t>
            </a:r>
          </a:p>
          <a:p>
            <a:pPr>
              <a:buFont typeface="Wingdings" pitchFamily="2" charset="2"/>
              <a:buNone/>
            </a:pPr>
            <a:r>
              <a:rPr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          a[i] = chr(ord(a[i]) - ord('A') + ord('a'))</a:t>
            </a:r>
          </a:p>
          <a:p>
            <a:pPr>
              <a:buFont typeface="Wingdings" pitchFamily="2" charset="2"/>
              <a:buNone/>
            </a:pPr>
            <a:r>
              <a:rPr lang="en-US" altLang="zh-CN" sz="3200" b="1">
                <a:latin typeface="Times New Roman" pitchFamily="18" charset="0"/>
                <a:ea typeface="宋体" charset="-122"/>
                <a:cs typeface="Times New Roman" pitchFamily="18" charset="0"/>
              </a:rPr>
              <a:t>        if a[i] &gt;= 'a' and ord(a[i])-ord('a') &lt;= 25:</a:t>
            </a:r>
          </a:p>
          <a:p>
            <a:pPr>
              <a:buFont typeface="Wingdings" pitchFamily="2" charset="2"/>
              <a:buNone/>
            </a:pPr>
            <a:r>
              <a:rPr lang="en-US" altLang="zh-CN" sz="3200" b="1">
                <a:latin typeface="Times New Roman" pitchFamily="18" charset="0"/>
                <a:ea typeface="宋体" charset="-122"/>
                <a:cs typeface="Times New Roman" pitchFamily="18" charset="0"/>
              </a:rPr>
              <a:t>                a[i] = chr(ord(a[i]) - ord('a') + ord('A'))</a:t>
            </a:r>
            <a:endParaRPr lang="en-US" altLang="zh-CN" sz="3200" b="1">
              <a:solidFill>
                <a:schemeClr val="tx1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zh-CN" sz="3200" b="1">
                <a:latin typeface="Times New Roman" pitchFamily="18" charset="0"/>
                <a:ea typeface="宋体" charset="-122"/>
                <a:cs typeface="Times New Roman" pitchFamily="18" charset="0"/>
              </a:rPr>
              <a:t>s  =  ''.join(a)</a:t>
            </a:r>
          </a:p>
          <a:p>
            <a:pPr>
              <a:buFont typeface="Wingdings" pitchFamily="2" charset="2"/>
              <a:buNone/>
            </a:pPr>
            <a:r>
              <a:rPr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print(s)</a:t>
            </a:r>
          </a:p>
        </p:txBody>
      </p:sp>
      <p:sp>
        <p:nvSpPr>
          <p:cNvPr id="11" name="TextBox 4"/>
          <p:cNvSpPr txBox="1">
            <a:spLocks noChangeArrowheads="1"/>
          </p:cNvSpPr>
          <p:nvPr/>
        </p:nvSpPr>
        <p:spPr bwMode="auto">
          <a:xfrm>
            <a:off x="6942272" y="790362"/>
            <a:ext cx="4716356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chemeClr val="tx1"/>
                </a:solidFill>
                <a:ea typeface="宋体" charset="-122"/>
              </a:rPr>
              <a:t>From: </a:t>
            </a:r>
            <a:r>
              <a:rPr lang="zh-CN" altLang="en-US" sz="2400" b="1">
                <a:solidFill>
                  <a:schemeClr val="tx1"/>
                </a:solidFill>
                <a:ea typeface="宋体" charset="-122"/>
              </a:rPr>
              <a:t>洲哥</a:t>
            </a:r>
            <a:endParaRPr lang="en-US" altLang="zh-CN" sz="2400" b="1">
              <a:solidFill>
                <a:schemeClr val="tx1"/>
              </a:solidFill>
              <a:ea typeface="宋体" charset="-122"/>
            </a:endParaRPr>
          </a:p>
          <a:p>
            <a:pPr eaLnBrk="1" hangingPunct="1"/>
            <a:r>
              <a:rPr lang="en-US" altLang="zh-CN" sz="2400" b="1">
                <a:solidFill>
                  <a:schemeClr val="tx1"/>
                </a:solidFill>
                <a:ea typeface="宋体" charset="-122"/>
              </a:rPr>
              <a:t>Question</a:t>
            </a:r>
            <a:r>
              <a:rPr lang="zh-CN" altLang="en-US" sz="2400" b="1">
                <a:solidFill>
                  <a:schemeClr val="tx1"/>
                </a:solidFill>
                <a:ea typeface="宋体" charset="-122"/>
              </a:rPr>
              <a:t>：</a:t>
            </a:r>
            <a:endParaRPr lang="en-US" altLang="zh-CN" sz="2400" b="1">
              <a:solidFill>
                <a:schemeClr val="tx1"/>
              </a:solidFill>
              <a:ea typeface="宋体" charset="-122"/>
            </a:endParaRPr>
          </a:p>
          <a:p>
            <a:pPr eaLnBrk="1" hangingPunct="1"/>
            <a:r>
              <a:rPr lang="zh-CN" altLang="en-US" sz="2400" b="1">
                <a:solidFill>
                  <a:schemeClr val="tx1"/>
                </a:solidFill>
                <a:ea typeface="宋体" charset="-122"/>
              </a:rPr>
              <a:t>在“大小写变换”一题中，运行</a:t>
            </a:r>
            <a:endParaRPr lang="en-US" altLang="zh-CN" sz="2400" b="1">
              <a:solidFill>
                <a:schemeClr val="tx1"/>
              </a:solidFill>
              <a:ea typeface="宋体" charset="-122"/>
            </a:endParaRPr>
          </a:p>
          <a:p>
            <a:pPr eaLnBrk="1" hangingPunct="1"/>
            <a:r>
              <a:rPr lang="zh-CN" altLang="en-US" sz="2400" b="1">
                <a:solidFill>
                  <a:schemeClr val="tx1"/>
                </a:solidFill>
                <a:ea typeface="宋体" charset="-122"/>
              </a:rPr>
              <a:t>后只把小写变成了大写</a:t>
            </a:r>
            <a:r>
              <a:rPr lang="en-US" altLang="zh-CN" sz="2400" b="1">
                <a:solidFill>
                  <a:schemeClr val="tx1"/>
                </a:solidFill>
                <a:ea typeface="宋体" charset="-122"/>
              </a:rPr>
              <a:t>, </a:t>
            </a:r>
            <a:r>
              <a:rPr lang="zh-CN" altLang="en-US" sz="2400" b="1">
                <a:solidFill>
                  <a:schemeClr val="tx1"/>
                </a:solidFill>
                <a:ea typeface="宋体" charset="-122"/>
              </a:rPr>
              <a:t>但是在</a:t>
            </a:r>
            <a:endParaRPr lang="en-US" altLang="zh-CN" sz="2400" b="1">
              <a:solidFill>
                <a:schemeClr val="tx1"/>
              </a:solidFill>
              <a:ea typeface="宋体" charset="-122"/>
            </a:endParaRPr>
          </a:p>
          <a:p>
            <a:pPr eaLnBrk="1" hangingPunct="1"/>
            <a:r>
              <a:rPr lang="zh-CN" altLang="en-US" sz="2400" b="1">
                <a:solidFill>
                  <a:schemeClr val="tx1"/>
                </a:solidFill>
                <a:ea typeface="宋体" charset="-122"/>
              </a:rPr>
              <a:t>第二个</a:t>
            </a:r>
            <a:r>
              <a:rPr lang="en-US" altLang="zh-CN" sz="2400" b="1">
                <a:solidFill>
                  <a:schemeClr val="tx1"/>
                </a:solidFill>
                <a:ea typeface="宋体" charset="-122"/>
              </a:rPr>
              <a:t>“if”</a:t>
            </a:r>
            <a:r>
              <a:rPr lang="zh-CN" altLang="en-US" sz="2400" b="1">
                <a:solidFill>
                  <a:schemeClr val="tx1"/>
                </a:solidFill>
                <a:ea typeface="宋体" charset="-122"/>
              </a:rPr>
              <a:t>后加“</a:t>
            </a:r>
            <a:r>
              <a:rPr lang="en-US" altLang="zh-CN" sz="2400" b="1">
                <a:solidFill>
                  <a:schemeClr val="tx1"/>
                </a:solidFill>
                <a:ea typeface="宋体" charset="-122"/>
              </a:rPr>
              <a:t>else</a:t>
            </a:r>
            <a:r>
              <a:rPr lang="zh-CN" altLang="en-US" sz="2400" b="1">
                <a:solidFill>
                  <a:schemeClr val="tx1"/>
                </a:solidFill>
                <a:ea typeface="宋体" charset="-122"/>
              </a:rPr>
              <a:t>”就对了，</a:t>
            </a:r>
            <a:endParaRPr lang="en-US" altLang="zh-CN" sz="2400" b="1">
              <a:solidFill>
                <a:schemeClr val="tx1"/>
              </a:solidFill>
              <a:ea typeface="宋体" charset="-122"/>
            </a:endParaRPr>
          </a:p>
          <a:p>
            <a:pPr eaLnBrk="1" hangingPunct="1"/>
            <a:r>
              <a:rPr lang="zh-CN" altLang="en-US" sz="2400" b="1">
                <a:solidFill>
                  <a:schemeClr val="tx1"/>
                </a:solidFill>
                <a:ea typeface="宋体" charset="-122"/>
              </a:rPr>
              <a:t>为什么</a:t>
            </a:r>
            <a:r>
              <a:rPr lang="zh-CN" altLang="en-US" sz="2400" b="1">
                <a:solidFill>
                  <a:srgbClr val="FF0000"/>
                </a:solidFill>
                <a:ea typeface="宋体" charset="-122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7712056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静态调试的局限性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1412137" y="1804122"/>
            <a:ext cx="4038600" cy="35394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nn-NO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def  main( ):</a:t>
            </a:r>
          </a:p>
          <a:p>
            <a:pPr eaLnBrk="1" hangingPunct="1"/>
            <a:r>
              <a:rPr lang="nn-NO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  c  =  1</a:t>
            </a:r>
          </a:p>
          <a:p>
            <a:pPr eaLnBrk="1" hangingPunct="1"/>
            <a:r>
              <a:rPr lang="nn-NO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  i  =  1</a:t>
            </a:r>
          </a:p>
          <a:p>
            <a:pPr eaLnBrk="1" hangingPunct="1"/>
            <a:r>
              <a:rPr lang="nn-NO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  while i  &lt;=  5:</a:t>
            </a:r>
          </a:p>
          <a:p>
            <a:pPr eaLnBrk="1" hangingPunct="1"/>
            <a:r>
              <a:rPr lang="nn-NO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          a[i]  =  0</a:t>
            </a:r>
          </a:p>
          <a:p>
            <a:pPr eaLnBrk="1" hangingPunct="1"/>
            <a:r>
              <a:rPr lang="nn-NO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          i  =  i + 1</a:t>
            </a:r>
          </a:p>
          <a:p>
            <a:pPr eaLnBrk="1" hangingPunct="1"/>
            <a:r>
              <a:rPr lang="nn-NO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  print(c)</a:t>
            </a: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6248770" y="1780309"/>
            <a:ext cx="4038600" cy="35394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nn-NO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def  main( ):</a:t>
            </a:r>
          </a:p>
          <a:p>
            <a:pPr eaLnBrk="1" hangingPunct="1"/>
            <a:r>
              <a:rPr lang="nn-NO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  c  =  1</a:t>
            </a:r>
          </a:p>
          <a:p>
            <a:pPr eaLnBrk="1" hangingPunct="1"/>
            <a:r>
              <a:rPr lang="nn-NO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  i  =  1</a:t>
            </a:r>
          </a:p>
          <a:p>
            <a:pPr eaLnBrk="1" hangingPunct="1"/>
            <a:r>
              <a:rPr lang="nn-NO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  while  j  &lt;=  5:</a:t>
            </a:r>
          </a:p>
          <a:p>
            <a:pPr eaLnBrk="1" hangingPunct="1"/>
            <a:r>
              <a:rPr lang="nn-NO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          a[i]  =  0</a:t>
            </a:r>
          </a:p>
          <a:p>
            <a:pPr eaLnBrk="1" hangingPunct="1"/>
            <a:r>
              <a:rPr lang="nn-NO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           i  =  i + 1</a:t>
            </a:r>
          </a:p>
          <a:p>
            <a:pPr eaLnBrk="1" hangingPunct="1"/>
            <a:r>
              <a:rPr lang="nn-NO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  print(c)</a:t>
            </a:r>
          </a:p>
        </p:txBody>
      </p:sp>
    </p:spTree>
    <p:extLst>
      <p:ext uri="{BB962C8B-B14F-4D97-AF65-F5344CB8AC3E}">
        <p14:creationId xmlns:p14="http://schemas.microsoft.com/office/powerpoint/2010/main" val="20315950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3</a:t>
            </a: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、动态调试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1004799" y="1379913"/>
            <a:ext cx="9959688" cy="342484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6400" indent="-446400">
              <a:buSzPct val="90000"/>
              <a:buFont typeface="Wingdings 2" pitchFamily="18" charset="2"/>
              <a:buChar char="ö"/>
            </a:pPr>
            <a:r>
              <a:rPr lang="zh-CN" altLang="en-US" sz="4000" b="1">
                <a:latin typeface="宋体" pitchFamily="2" charset="-122"/>
                <a:ea typeface="宋体" pitchFamily="2" charset="-122"/>
              </a:rPr>
              <a:t>什么是动态调试</a:t>
            </a:r>
            <a:endParaRPr lang="en-US" altLang="zh-CN" sz="4000" b="1">
              <a:latin typeface="宋体" pitchFamily="2" charset="-122"/>
              <a:ea typeface="宋体" pitchFamily="2" charset="-122"/>
            </a:endParaRPr>
          </a:p>
          <a:p>
            <a:pPr marL="903600" lvl="1" indent="-446400">
              <a:spcBef>
                <a:spcPts val="1800"/>
              </a:spcBef>
              <a:buSzPct val="90000"/>
              <a:buFont typeface="Wingdings" pitchFamily="2" charset="2"/>
              <a:buChar char="J"/>
            </a:pPr>
            <a:r>
              <a:rPr lang="zh-CN" altLang="en-US" sz="3600" b="1">
                <a:latin typeface="楷体" pitchFamily="49" charset="-122"/>
                <a:ea typeface="楷体" pitchFamily="49" charset="-122"/>
              </a:rPr>
              <a:t>在程序运行过程中，通过设置断点、单步运行等方式，观察程序运行时的状态和行为，从而分析程序的逻辑并查找漏洞</a:t>
            </a:r>
            <a:endParaRPr lang="en-US" altLang="zh-CN" sz="3600" b="1"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1091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调试工具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AutoShape 4"/>
          <p:cNvSpPr>
            <a:spLocks noChangeArrowheads="1"/>
          </p:cNvSpPr>
          <p:nvPr/>
        </p:nvSpPr>
        <p:spPr bwMode="auto">
          <a:xfrm>
            <a:off x="3749040" y="1752600"/>
            <a:ext cx="3733799" cy="1066800"/>
          </a:xfrm>
          <a:prstGeom prst="roundRect">
            <a:avLst>
              <a:gd name="adj" fmla="val 16667"/>
            </a:avLst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buNone/>
            </a:pPr>
            <a:r>
              <a:rPr lang="en-US" altLang="zh-CN" sz="3200">
                <a:latin typeface="Verdana" pitchFamily="34" charset="0"/>
              </a:rPr>
              <a:t>IDE</a:t>
            </a:r>
            <a:r>
              <a:rPr lang="zh-CN" altLang="en-US" sz="3200">
                <a:latin typeface="黑体" pitchFamily="49" charset="-122"/>
                <a:ea typeface="黑体" pitchFamily="49" charset="-122"/>
              </a:rPr>
              <a:t>内置调试工具</a:t>
            </a:r>
            <a:endParaRPr lang="zh-CN" altLang="zh-CN" sz="320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1" name="AutoShape 4"/>
          <p:cNvSpPr>
            <a:spLocks noChangeArrowheads="1"/>
          </p:cNvSpPr>
          <p:nvPr/>
        </p:nvSpPr>
        <p:spPr bwMode="auto">
          <a:xfrm>
            <a:off x="3749040" y="3086100"/>
            <a:ext cx="3733799" cy="1066800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buNone/>
            </a:pPr>
            <a:r>
              <a:rPr lang="en-US" altLang="zh-CN" sz="3200">
                <a:latin typeface="Verdana" pitchFamily="34" charset="0"/>
              </a:rPr>
              <a:t>Python Tutor</a:t>
            </a:r>
            <a:endParaRPr lang="zh-CN" altLang="zh-CN" sz="3200">
              <a:latin typeface="Verdana" pitchFamily="34" charset="0"/>
            </a:endParaRPr>
          </a:p>
        </p:txBody>
      </p:sp>
      <p:sp>
        <p:nvSpPr>
          <p:cNvPr id="12" name="AutoShape 4"/>
          <p:cNvSpPr>
            <a:spLocks noChangeArrowheads="1"/>
          </p:cNvSpPr>
          <p:nvPr/>
        </p:nvSpPr>
        <p:spPr bwMode="auto">
          <a:xfrm>
            <a:off x="3749040" y="4419600"/>
            <a:ext cx="3733799" cy="1066800"/>
          </a:xfrm>
          <a:prstGeom prst="roundRect">
            <a:avLst>
              <a:gd name="adj" fmla="val 16667"/>
            </a:avLst>
          </a:prstGeom>
          <a:solidFill>
            <a:srgbClr val="DD93DB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buNone/>
            </a:pPr>
            <a:r>
              <a:rPr lang="en-US" altLang="zh-CN" sz="3200">
                <a:latin typeface="Verdana" pitchFamily="34" charset="0"/>
              </a:rPr>
              <a:t>Print</a:t>
            </a:r>
            <a:r>
              <a:rPr lang="zh-CN" altLang="en-US" sz="3200">
                <a:latin typeface="黑体" pitchFamily="49" charset="-122"/>
                <a:ea typeface="黑体" pitchFamily="49" charset="-122"/>
              </a:rPr>
              <a:t>语句</a:t>
            </a:r>
            <a:endParaRPr lang="zh-CN" altLang="zh-CN" sz="3200"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623666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IDLE</a:t>
            </a: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调试工具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209" y="1049047"/>
            <a:ext cx="6016943" cy="3949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907" y="1049047"/>
            <a:ext cx="4794250" cy="521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315" y="4326202"/>
            <a:ext cx="6675121" cy="2259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54446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例题：阿尔法乘积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965234" y="1239981"/>
            <a:ext cx="10007566" cy="4795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defTabSz="850900" eaLnBrk="1" hangingPunct="1">
              <a:spcBef>
                <a:spcPct val="50000"/>
              </a:spcBef>
              <a:buClr>
                <a:srgbClr val="FFFF66"/>
              </a:buClr>
              <a:buFont typeface="Wingdings" pitchFamily="2" charset="2"/>
              <a:buNone/>
            </a:pPr>
            <a:r>
              <a:rPr kumimoji="1" lang="zh-CN" altLang="en-US" sz="3600" b="1">
                <a:solidFill>
                  <a:schemeClr val="tx1"/>
                </a:solidFill>
                <a:ea typeface="黑体" pitchFamily="49" charset="-122"/>
              </a:rPr>
              <a:t>问题描述</a:t>
            </a:r>
          </a:p>
          <a:p>
            <a:pPr defTabSz="850900" eaLnBrk="1" hangingPunct="1">
              <a:spcBef>
                <a:spcPct val="80000"/>
              </a:spcBef>
              <a:buClr>
                <a:srgbClr val="FFFF66"/>
              </a:buClr>
              <a:buNone/>
            </a:pPr>
            <a:r>
              <a:rPr kumimoji="1" lang="zh-CN" altLang="en-US" sz="3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	</a:t>
            </a:r>
            <a:r>
              <a:rPr kumimoji="1" lang="zh-CN" altLang="en-US" sz="3200" b="1">
                <a:latin typeface="宋体" pitchFamily="2" charset="-122"/>
                <a:ea typeface="宋体" pitchFamily="2" charset="-122"/>
              </a:rPr>
              <a:t>一个整数的阿尔法乘积是这样计算的：如果它是个位数，那么它的阿尔法乘积就是它本身；否则，它的阿尔法乘积就等于它的各位非</a:t>
            </a:r>
            <a:r>
              <a:rPr kumimoji="1" lang="en-US" altLang="zh-CN" sz="3200" b="1">
                <a:latin typeface="宋体" pitchFamily="2" charset="-122"/>
                <a:ea typeface="宋体" pitchFamily="2" charset="-122"/>
              </a:rPr>
              <a:t>0</a:t>
            </a:r>
            <a:r>
              <a:rPr kumimoji="1" lang="zh-CN" altLang="en-US" sz="3200" b="1">
                <a:latin typeface="宋体" pitchFamily="2" charset="-122"/>
                <a:ea typeface="宋体" pitchFamily="2" charset="-122"/>
              </a:rPr>
              <a:t>数字相乘所得到的那个整数的阿尔法乘积。如：</a:t>
            </a:r>
            <a:r>
              <a:rPr kumimoji="1" lang="en-US" altLang="zh-CN" sz="3200" b="1">
                <a:latin typeface="宋体" pitchFamily="2" charset="-122"/>
                <a:ea typeface="宋体" pitchFamily="2" charset="-122"/>
              </a:rPr>
              <a:t>4018224312</a:t>
            </a:r>
            <a:r>
              <a:rPr kumimoji="1" lang="zh-CN" altLang="en-US" sz="3200" b="1">
                <a:latin typeface="宋体" pitchFamily="2" charset="-122"/>
                <a:ea typeface="宋体" pitchFamily="2" charset="-122"/>
              </a:rPr>
              <a:t>的阿尔法乘积为</a:t>
            </a:r>
            <a:r>
              <a:rPr kumimoji="1" lang="en-US" altLang="zh-CN" sz="3200" b="1">
                <a:latin typeface="宋体" pitchFamily="2" charset="-122"/>
                <a:ea typeface="宋体" pitchFamily="2" charset="-122"/>
              </a:rPr>
              <a:t>8</a:t>
            </a:r>
          </a:p>
          <a:p>
            <a:pPr defTabSz="850900" eaLnBrk="1" hangingPunct="1">
              <a:spcBef>
                <a:spcPts val="1200"/>
              </a:spcBef>
              <a:buClr>
                <a:srgbClr val="FFFF66"/>
              </a:buClr>
              <a:buNone/>
            </a:pPr>
            <a:r>
              <a:rPr kumimoji="1" lang="en-US" altLang="zh-CN" sz="3200" b="1">
                <a:latin typeface="宋体" pitchFamily="2" charset="-122"/>
                <a:ea typeface="宋体" pitchFamily="2" charset="-122"/>
              </a:rPr>
              <a:t>4018224312 → 4*1*8*2*2*4*3*1*2 → 3072</a:t>
            </a:r>
          </a:p>
          <a:p>
            <a:pPr defTabSz="850900">
              <a:spcBef>
                <a:spcPts val="600"/>
              </a:spcBef>
              <a:buClr>
                <a:srgbClr val="FFFF66"/>
              </a:buClr>
            </a:pPr>
            <a:r>
              <a:rPr kumimoji="1" lang="en-US" altLang="zh-CN" sz="3200" b="1">
                <a:latin typeface="宋体" pitchFamily="2" charset="-122"/>
                <a:ea typeface="宋体" pitchFamily="2" charset="-122"/>
              </a:rPr>
              <a:t>3072 → 3*7*2 → 42 </a:t>
            </a:r>
          </a:p>
          <a:p>
            <a:pPr defTabSz="850900">
              <a:spcBef>
                <a:spcPts val="600"/>
              </a:spcBef>
              <a:buClr>
                <a:srgbClr val="FFFF66"/>
              </a:buClr>
            </a:pPr>
            <a:r>
              <a:rPr kumimoji="1" lang="en-US" altLang="zh-CN" sz="3200" b="1">
                <a:latin typeface="宋体" pitchFamily="2" charset="-122"/>
                <a:ea typeface="宋体" pitchFamily="2" charset="-122"/>
              </a:rPr>
              <a:t>42 → 4*2 → 8</a:t>
            </a:r>
            <a:r>
              <a:rPr kumimoji="1" lang="zh-CN" altLang="en-US" sz="3200" b="1">
                <a:latin typeface="宋体" pitchFamily="2" charset="-122"/>
                <a:ea typeface="宋体" pitchFamily="2" charset="-122"/>
              </a:rPr>
              <a:t>。</a:t>
            </a:r>
            <a:endParaRPr kumimoji="1" lang="zh-CN" altLang="en-US" sz="3200" b="1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309485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学生来信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1" name="TextBox 4"/>
          <p:cNvSpPr txBox="1">
            <a:spLocks noChangeArrowheads="1"/>
          </p:cNvSpPr>
          <p:nvPr/>
        </p:nvSpPr>
        <p:spPr bwMode="auto">
          <a:xfrm>
            <a:off x="1528156" y="1752600"/>
            <a:ext cx="8920942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chemeClr val="tx1"/>
                </a:solidFill>
                <a:ea typeface="宋体" charset="-122"/>
              </a:rPr>
              <a:t>From: XXX</a:t>
            </a:r>
          </a:p>
          <a:p>
            <a:pPr eaLnBrk="1" hangingPunct="1"/>
            <a:r>
              <a:rPr lang="en-US" altLang="zh-CN" sz="2800" b="1">
                <a:solidFill>
                  <a:schemeClr val="tx1"/>
                </a:solidFill>
                <a:ea typeface="宋体" charset="-122"/>
              </a:rPr>
              <a:t>Question</a:t>
            </a:r>
            <a:r>
              <a:rPr lang="zh-CN" altLang="en-US" sz="2800" b="1">
                <a:solidFill>
                  <a:schemeClr val="tx1"/>
                </a:solidFill>
                <a:ea typeface="宋体" charset="-122"/>
              </a:rPr>
              <a:t>：</a:t>
            </a:r>
            <a:endParaRPr lang="en-US" altLang="zh-CN" sz="2800" b="1">
              <a:solidFill>
                <a:schemeClr val="tx1"/>
              </a:solidFill>
              <a:ea typeface="宋体" charset="-122"/>
            </a:endParaRPr>
          </a:p>
          <a:p>
            <a:pPr eaLnBrk="1" hangingPunct="1"/>
            <a:r>
              <a:rPr lang="en-US" altLang="zh-CN" sz="2800" b="1">
                <a:solidFill>
                  <a:schemeClr val="tx1"/>
                </a:solidFill>
                <a:ea typeface="宋体" charset="-122"/>
              </a:rPr>
              <a:t>s = 1 x = int(input())q = x // 10 if q != 0:while q != 0: while x != 0: r = x % 10 x = x // 10 if r != 0: s = s * r q = s // 10 x = s x = s print(x)</a:t>
            </a:r>
          </a:p>
          <a:p>
            <a:pPr eaLnBrk="1" hangingPunct="1"/>
            <a:r>
              <a:rPr lang="zh-CN" altLang="en-US" sz="2800" b="1">
                <a:solidFill>
                  <a:schemeClr val="tx1"/>
                </a:solidFill>
                <a:ea typeface="宋体" charset="-122"/>
              </a:rPr>
              <a:t>阿尔法乘法：一计算</a:t>
            </a:r>
            <a:r>
              <a:rPr lang="en-US" altLang="zh-CN" sz="2800" b="1">
                <a:solidFill>
                  <a:schemeClr val="tx1"/>
                </a:solidFill>
                <a:ea typeface="宋体" charset="-122"/>
              </a:rPr>
              <a:t>27</a:t>
            </a:r>
            <a:r>
              <a:rPr lang="zh-CN" altLang="en-US" sz="2800" b="1">
                <a:solidFill>
                  <a:schemeClr val="tx1"/>
                </a:solidFill>
                <a:ea typeface="宋体" charset="-122"/>
              </a:rPr>
              <a:t>之类的要反复分离计算的就会变</a:t>
            </a:r>
            <a:r>
              <a:rPr lang="en-US" altLang="zh-CN" sz="2800" b="1">
                <a:solidFill>
                  <a:schemeClr val="tx1"/>
                </a:solidFill>
                <a:ea typeface="宋体" charset="-122"/>
              </a:rPr>
              <a:t>0 </a:t>
            </a:r>
            <a:r>
              <a:rPr lang="zh-CN" altLang="en-US" sz="2800" b="1">
                <a:solidFill>
                  <a:schemeClr val="tx1"/>
                </a:solidFill>
                <a:ea typeface="宋体" charset="-122"/>
              </a:rPr>
              <a:t>我自己笔算好几次没有发现错误的。我要崩溃了，</a:t>
            </a:r>
            <a:r>
              <a:rPr lang="en-US" altLang="zh-CN" sz="2800" b="1">
                <a:solidFill>
                  <a:schemeClr val="tx1"/>
                </a:solidFill>
                <a:ea typeface="宋体" charset="-122"/>
              </a:rPr>
              <a:t>help</a:t>
            </a:r>
            <a:endParaRPr lang="zh-CN" altLang="en-US" sz="2800" b="1">
              <a:solidFill>
                <a:schemeClr val="tx1"/>
              </a:solidFill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2510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学生代码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69184" y="949102"/>
            <a:ext cx="7086600" cy="5681684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s = 1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x = int(input())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q = x // 10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if q != 0: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while q != 0: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while x != 0: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    r = x % 10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    x = x // 10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    if r != 0: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        s = s * r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q = s // 10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x = s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x = s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print(x)</a:t>
            </a:r>
          </a:p>
        </p:txBody>
      </p:sp>
    </p:spTree>
    <p:extLst>
      <p:ext uri="{BB962C8B-B14F-4D97-AF65-F5344CB8AC3E}">
        <p14:creationId xmlns:p14="http://schemas.microsoft.com/office/powerpoint/2010/main" val="40328661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提交作业的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bug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9" name="图片 2" descr="无标题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941" y="1215045"/>
            <a:ext cx="8760143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0" descr="无标题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264" y="3872349"/>
            <a:ext cx="8703925" cy="2171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7728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562644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本章结构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3" name="文本占位符 50"/>
          <p:cNvSpPr txBox="1"/>
          <p:nvPr/>
        </p:nvSpPr>
        <p:spPr>
          <a:xfrm>
            <a:off x="2036623" y="2352513"/>
            <a:ext cx="2157426" cy="689689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编程规范</a:t>
            </a:r>
            <a:endParaRPr lang="zh-CN" altLang="en-US" sz="2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占位符 50"/>
          <p:cNvSpPr txBox="1"/>
          <p:nvPr/>
        </p:nvSpPr>
        <p:spPr>
          <a:xfrm>
            <a:off x="4987642" y="4070431"/>
            <a:ext cx="2448070" cy="1000334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程序的调试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2020298" y="3265478"/>
            <a:ext cx="1819616" cy="1819616"/>
            <a:chOff x="1699695" y="2430291"/>
            <a:chExt cx="1819616" cy="1819616"/>
          </a:xfrm>
        </p:grpSpPr>
        <p:sp>
          <p:nvSpPr>
            <p:cNvPr id="19" name="椭圆 18"/>
            <p:cNvSpPr/>
            <p:nvPr/>
          </p:nvSpPr>
          <p:spPr>
            <a:xfrm>
              <a:off x="1870075" y="2600673"/>
              <a:ext cx="1478853" cy="1478853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zh-CN" sz="3600" kern="0" dirty="0">
                  <a:solidFill>
                    <a:srgbClr val="FFFFFF"/>
                  </a:solidFill>
                  <a:latin typeface="Segoe UI" panose="020B0502040204020203"/>
                  <a:ea typeface="微软雅黑 Light" panose="020B0502040204020203" charset="-122"/>
                </a:rPr>
                <a:t>01</a:t>
              </a:r>
              <a:endParaRPr lang="zh-CN" altLang="en-US" sz="3600" kern="0" dirty="0">
                <a:solidFill>
                  <a:srgbClr val="FFFFFF"/>
                </a:solidFill>
                <a:latin typeface="Segoe UI" panose="020B0502040204020203"/>
                <a:ea typeface="微软雅黑 Light" panose="020B0502040204020203" charset="-122"/>
              </a:endParaRPr>
            </a:p>
          </p:txBody>
        </p:sp>
        <p:sp>
          <p:nvSpPr>
            <p:cNvPr id="20" name="弧形 19"/>
            <p:cNvSpPr/>
            <p:nvPr/>
          </p:nvSpPr>
          <p:spPr>
            <a:xfrm rot="7941625">
              <a:off x="1699695" y="2430291"/>
              <a:ext cx="1819616" cy="1819616"/>
            </a:xfrm>
            <a:prstGeom prst="arc">
              <a:avLst>
                <a:gd name="adj1" fmla="val 14586031"/>
                <a:gd name="adj2" fmla="val 1762864"/>
              </a:avLst>
            </a:prstGeom>
            <a:noFill/>
            <a:ln w="19050" cap="flat" cmpd="sng" algn="ctr">
              <a:solidFill>
                <a:schemeClr val="accent2"/>
              </a:solidFill>
              <a:prstDash val="solid"/>
              <a:miter lim="800000"/>
              <a:headEnd type="stealth" w="lg" len="me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dirty="0">
                <a:solidFill>
                  <a:srgbClr val="EA5504"/>
                </a:solidFill>
                <a:latin typeface="Segoe UI Semilight" panose="020B0402040204020203"/>
                <a:ea typeface="微软雅黑 Light" panose="020B0502040204020203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898792" y="1980180"/>
            <a:ext cx="1819616" cy="1819616"/>
            <a:chOff x="1699695" y="2430291"/>
            <a:chExt cx="1819616" cy="1819616"/>
          </a:xfrm>
        </p:grpSpPr>
        <p:sp>
          <p:nvSpPr>
            <p:cNvPr id="25" name="椭圆 24"/>
            <p:cNvSpPr/>
            <p:nvPr/>
          </p:nvSpPr>
          <p:spPr>
            <a:xfrm>
              <a:off x="1870075" y="2600673"/>
              <a:ext cx="1478853" cy="1478853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/>
                  <a:ea typeface="微软雅黑 Light" panose="020B0502040204020203" charset="-122"/>
                </a:rPr>
                <a:t>02</a:t>
              </a:r>
              <a:endPara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/>
                <a:ea typeface="微软雅黑 Light" panose="020B0502040204020203" charset="-122"/>
              </a:endParaRPr>
            </a:p>
          </p:txBody>
        </p:sp>
        <p:sp>
          <p:nvSpPr>
            <p:cNvPr id="26" name="弧形 25"/>
            <p:cNvSpPr/>
            <p:nvPr/>
          </p:nvSpPr>
          <p:spPr>
            <a:xfrm rot="2784046" flipH="1">
              <a:off x="1699695" y="2430291"/>
              <a:ext cx="1819616" cy="1819616"/>
            </a:xfrm>
            <a:prstGeom prst="arc">
              <a:avLst>
                <a:gd name="adj1" fmla="val 14586031"/>
                <a:gd name="adj2" fmla="val 1762864"/>
              </a:avLst>
            </a:prstGeom>
            <a:noFill/>
            <a:ln w="1905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miter lim="800000"/>
              <a:headEnd type="stealth" w="lg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EA5504"/>
                </a:solidFill>
                <a:effectLst/>
                <a:uLnTx/>
                <a:uFillTx/>
                <a:latin typeface="Segoe UI" panose="020B0502040204020203"/>
                <a:ea typeface="微软雅黑 Light" panose="020B0502040204020203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7646346" y="3270441"/>
            <a:ext cx="1819616" cy="1819616"/>
            <a:chOff x="1699695" y="2430291"/>
            <a:chExt cx="1819616" cy="1819616"/>
          </a:xfrm>
        </p:grpSpPr>
        <p:sp>
          <p:nvSpPr>
            <p:cNvPr id="28" name="椭圆 27"/>
            <p:cNvSpPr/>
            <p:nvPr/>
          </p:nvSpPr>
          <p:spPr>
            <a:xfrm>
              <a:off x="1870075" y="2600673"/>
              <a:ext cx="1478853" cy="1478853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zh-CN" sz="3600" kern="0" dirty="0">
                  <a:solidFill>
                    <a:srgbClr val="FFFFFF"/>
                  </a:solidFill>
                  <a:latin typeface="Segoe UI" panose="020B0502040204020203"/>
                  <a:ea typeface="微软雅黑 Light" panose="020B0502040204020203" charset="-122"/>
                </a:rPr>
                <a:t>03</a:t>
              </a:r>
              <a:endParaRPr lang="zh-CN" altLang="en-US" sz="3600" kern="0" dirty="0">
                <a:solidFill>
                  <a:srgbClr val="FFFFFF"/>
                </a:solidFill>
                <a:latin typeface="Segoe UI" panose="020B0502040204020203"/>
                <a:ea typeface="微软雅黑 Light" panose="020B0502040204020203" charset="-122"/>
              </a:endParaRPr>
            </a:p>
          </p:txBody>
        </p:sp>
        <p:sp>
          <p:nvSpPr>
            <p:cNvPr id="29" name="弧形 28"/>
            <p:cNvSpPr/>
            <p:nvPr/>
          </p:nvSpPr>
          <p:spPr>
            <a:xfrm rot="7941625">
              <a:off x="1699695" y="2430291"/>
              <a:ext cx="1819616" cy="1819616"/>
            </a:xfrm>
            <a:prstGeom prst="arc">
              <a:avLst>
                <a:gd name="adj1" fmla="val 14586031"/>
                <a:gd name="adj2" fmla="val 1762864"/>
              </a:avLst>
            </a:prstGeom>
            <a:noFill/>
            <a:ln w="19050" cap="flat" cmpd="sng" algn="ctr">
              <a:solidFill>
                <a:schemeClr val="accent2"/>
              </a:solidFill>
              <a:prstDash val="solid"/>
              <a:miter lim="800000"/>
              <a:headEnd type="stealth" w="lg" len="me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dirty="0">
                <a:solidFill>
                  <a:srgbClr val="EA5504"/>
                </a:solidFill>
                <a:latin typeface="Segoe UI Semilight" panose="020B0402040204020203"/>
                <a:ea typeface="微软雅黑 Light" panose="020B0502040204020203" charset="-122"/>
              </a:endParaRPr>
            </a:p>
          </p:txBody>
        </p:sp>
      </p:grpSp>
      <p:sp>
        <p:nvSpPr>
          <p:cNvPr id="33" name="文本占位符 50"/>
          <p:cNvSpPr txBox="1"/>
          <p:nvPr/>
        </p:nvSpPr>
        <p:spPr>
          <a:xfrm>
            <a:off x="7433927" y="2352513"/>
            <a:ext cx="2333520" cy="717012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一些作业样例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662146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温度转换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63783" y="2744651"/>
            <a:ext cx="9534698" cy="2062103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c=float(input(</a:t>
            </a:r>
            <a:r>
              <a:rPr lang="en-US" altLang="zh-CN" sz="36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zh-CN" altLang="en-US" sz="36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请输入摄氏度</a:t>
            </a:r>
            <a:r>
              <a:rPr lang="en-US" altLang="zh-CN" sz="36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))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f=(c*9/5)+32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print(f"</a:t>
            </a:r>
            <a:r>
              <a:rPr lang="zh-CN" altLang="en-US" sz="36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华氏度为</a:t>
            </a:r>
            <a:r>
              <a:rPr lang="en-US" altLang="zh-CN" sz="36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:</a:t>
            </a: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{f:.1f}")</a:t>
            </a:r>
          </a:p>
        </p:txBody>
      </p:sp>
      <p:sp>
        <p:nvSpPr>
          <p:cNvPr id="9" name="TextBox 4"/>
          <p:cNvSpPr txBox="1">
            <a:spLocks noChangeArrowheads="1"/>
          </p:cNvSpPr>
          <p:nvPr/>
        </p:nvSpPr>
        <p:spPr bwMode="auto">
          <a:xfrm>
            <a:off x="1163781" y="1451817"/>
            <a:ext cx="931025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CN" altLang="en-US" sz="36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输入一个摄氏温度，输出相应的华氏温度。</a:t>
            </a:r>
          </a:p>
        </p:txBody>
      </p:sp>
    </p:spTree>
    <p:extLst>
      <p:ext uri="{BB962C8B-B14F-4D97-AF65-F5344CB8AC3E}">
        <p14:creationId xmlns:p14="http://schemas.microsoft.com/office/powerpoint/2010/main" val="21198904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三人平均分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55470" y="2935840"/>
            <a:ext cx="9534698" cy="353943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input_str=input()</a:t>
            </a: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nums=input_str.split(' ')</a:t>
            </a: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a=int(nums[0])</a:t>
            </a: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b=int(nums[1])</a:t>
            </a: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c=int(nums[2])</a:t>
            </a: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aver=(a+b+c)/3</a:t>
            </a: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print(int(aver))</a:t>
            </a:r>
          </a:p>
        </p:txBody>
      </p:sp>
      <p:sp>
        <p:nvSpPr>
          <p:cNvPr id="9" name="TextBox 4"/>
          <p:cNvSpPr txBox="1">
            <a:spLocks noChangeArrowheads="1"/>
          </p:cNvSpPr>
          <p:nvPr/>
        </p:nvSpPr>
        <p:spPr bwMode="auto">
          <a:xfrm>
            <a:off x="965233" y="1044480"/>
            <a:ext cx="10074069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CN" altLang="en-US" sz="36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输入三位同学的考试成绩，然后计算他们的平均分。在输出时，采用四舍五入的方式，只输出整数分数，不要保留小数。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083364" y="3981796"/>
            <a:ext cx="260680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0 12 17   -&gt; 9</a:t>
            </a:r>
          </a:p>
          <a:p>
            <a:r>
              <a:rPr lang="en-US" altLang="zh-CN" sz="3200" b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70 70 75 -&gt; 71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4443" y="5065252"/>
            <a:ext cx="2811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(a+b+c)/3 + 0.5</a:t>
            </a:r>
          </a:p>
        </p:txBody>
      </p:sp>
    </p:spTree>
    <p:extLst>
      <p:ext uri="{BB962C8B-B14F-4D97-AF65-F5344CB8AC3E}">
        <p14:creationId xmlns:p14="http://schemas.microsoft.com/office/powerpoint/2010/main" val="3368293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质数之和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9446" y="1929164"/>
            <a:ext cx="4111432" cy="1815882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8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=int(input())</a:t>
            </a:r>
          </a:p>
          <a:p>
            <a:pPr>
              <a:buNone/>
            </a:pPr>
            <a:r>
              <a:rPr lang="en-US" altLang="zh-CN" sz="28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=1</a:t>
            </a:r>
          </a:p>
          <a:p>
            <a:pPr>
              <a:buNone/>
            </a:pPr>
            <a:r>
              <a:rPr lang="en-US" altLang="zh-CN" sz="28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=0</a:t>
            </a:r>
          </a:p>
          <a:p>
            <a:pPr>
              <a:buNone/>
            </a:pPr>
            <a:r>
              <a:rPr lang="en-US" altLang="zh-CN" sz="28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=0</a:t>
            </a:r>
          </a:p>
        </p:txBody>
      </p:sp>
      <p:sp>
        <p:nvSpPr>
          <p:cNvPr id="9" name="TextBox 4"/>
          <p:cNvSpPr txBox="1">
            <a:spLocks noChangeArrowheads="1"/>
          </p:cNvSpPr>
          <p:nvPr/>
        </p:nvSpPr>
        <p:spPr bwMode="auto">
          <a:xfrm>
            <a:off x="965233" y="861594"/>
            <a:ext cx="1007406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CN" altLang="en-US" sz="36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输入一个整数</a:t>
            </a:r>
            <a:r>
              <a:rPr lang="en-US" altLang="zh-CN" sz="36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N</a:t>
            </a:r>
            <a:r>
              <a:rPr lang="zh-CN" altLang="en-US" sz="36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，然后计算出前</a:t>
            </a:r>
            <a:r>
              <a:rPr lang="en-US" altLang="zh-CN" sz="36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N</a:t>
            </a:r>
            <a:r>
              <a:rPr lang="zh-CN" altLang="en-US" sz="36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个质数的和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01206" y="1471951"/>
            <a:ext cx="5962802" cy="5262979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while b&lt;a:</a:t>
            </a:r>
          </a:p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d=0</a:t>
            </a:r>
          </a:p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for i in range(1,c+1)</a:t>
            </a:r>
            <a:r>
              <a:rPr lang="en-US" altLang="zh-CN" sz="28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:</a:t>
            </a:r>
          </a:p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if c%i==0:</a:t>
            </a:r>
          </a:p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    d=d+i</a:t>
            </a:r>
          </a:p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if d==c+1:</a:t>
            </a:r>
          </a:p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e=e+c</a:t>
            </a:r>
          </a:p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b=b+1</a:t>
            </a:r>
          </a:p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altLang="zh-CN" sz="28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c=c+1</a:t>
            </a:r>
          </a:p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elif d!=c+1:</a:t>
            </a:r>
          </a:p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altLang="zh-CN" sz="28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c=c+1</a:t>
            </a:r>
          </a:p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print(e)</a:t>
            </a:r>
          </a:p>
        </p:txBody>
      </p:sp>
    </p:spTree>
    <p:extLst>
      <p:ext uri="{BB962C8B-B14F-4D97-AF65-F5344CB8AC3E}">
        <p14:creationId xmlns:p14="http://schemas.microsoft.com/office/powerpoint/2010/main" val="8852551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黑色星期五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TextBox 4"/>
          <p:cNvSpPr txBox="1">
            <a:spLocks noChangeArrowheads="1"/>
          </p:cNvSpPr>
          <p:nvPr/>
        </p:nvSpPr>
        <p:spPr bwMode="auto">
          <a:xfrm>
            <a:off x="823916" y="861594"/>
            <a:ext cx="10074069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输入一个特定的年份，然后统计该年份中，出现了多少次既是</a:t>
            </a:r>
            <a:r>
              <a:rPr lang="en-US" altLang="zh-CN"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13</a:t>
            </a:r>
            <a:r>
              <a:rPr lang="zh-CN" altLang="en-US"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号又是星期五的情形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9197" y="1848953"/>
            <a:ext cx="9784080" cy="4401205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8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x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=int(input())</a:t>
            </a:r>
          </a:p>
          <a:p>
            <a:pPr>
              <a:buNone/>
            </a:pPr>
            <a:r>
              <a:rPr lang="en-US" altLang="zh-CN" sz="28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y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=1998</a:t>
            </a:r>
          </a:p>
          <a:p>
            <a:pPr>
              <a:buNone/>
            </a:pPr>
            <a:r>
              <a:rPr lang="en-US" altLang="zh-CN" sz="28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z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=0</a:t>
            </a:r>
          </a:p>
          <a:p>
            <a:pPr>
              <a:buNone/>
            </a:pPr>
            <a:r>
              <a:rPr lang="en-US" altLang="zh-CN" sz="28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m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=0</a:t>
            </a:r>
          </a:p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while y&lt;x:</a:t>
            </a:r>
          </a:p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if((y%4==0 and y%100!=0)or(y%400==0)):</a:t>
            </a:r>
          </a:p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z=z+366</a:t>
            </a:r>
          </a:p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else:</a:t>
            </a:r>
          </a:p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z=z+365</a:t>
            </a:r>
          </a:p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y=y+1</a:t>
            </a:r>
          </a:p>
        </p:txBody>
      </p:sp>
    </p:spTree>
    <p:extLst>
      <p:ext uri="{BB962C8B-B14F-4D97-AF65-F5344CB8AC3E}">
        <p14:creationId xmlns:p14="http://schemas.microsoft.com/office/powerpoint/2010/main" val="36913686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黑色星期五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(cont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.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5233" y="868050"/>
            <a:ext cx="9784080" cy="5863144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if((x%4==0 and x%100!=0)or(x%400==0)):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if (z+12)%7==1: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m=m+1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if (z+12+31)%7==1: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m=m+1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if (z+12+31+29)%7==1: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m=m+1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if (z+12+31+29+31)%7==1: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m=m+1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if (z+12+31+29+31+30)%7==1: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m=m+1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if (z+12+31+29+31+31+30)%7==1: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m=m+1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if (z+12+31+29+31+31+30+30)%7==1: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m=m+1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if (z+12+31+29+31+31+30+30+31)%7==1: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m=m+1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if (z+12+31+29+31+31+30+30+31+31)%7==1: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m=m+1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if (z+12+31+29+31+31+30+30+31+31+30)%7==1: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m=m+1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if (z+12+31+29+31+31+30+30+31+31+31+30)%7==1: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m=m+1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if (z+12+31+29+31+31+30+30+31+31+31+30+30)%7==1: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m=m+1</a:t>
            </a:r>
          </a:p>
        </p:txBody>
      </p:sp>
    </p:spTree>
    <p:extLst>
      <p:ext uri="{BB962C8B-B14F-4D97-AF65-F5344CB8AC3E}">
        <p14:creationId xmlns:p14="http://schemas.microsoft.com/office/powerpoint/2010/main" val="2259629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黑色星期五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(cont.)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5233" y="693477"/>
            <a:ext cx="9784080" cy="6093976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else: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if (z+12)%7==1: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m=m+1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if (z+12+31)%7==1: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m=m+1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if (z+12+31+28)%7==1: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m=m+1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if (z+12+31+28+31)%7==1: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m=m+1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if (z+12+31+28+31+30)%7==1: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m=m+1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if (z+12+31+28+31+31+30)%7==1: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m=m+1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if (z+12+31+28+31+31+30+30)%7==1: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m=m+1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if (z+12+31+28+31+31+30+30+31)%7==1: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m=m+1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if (z+12+31+28+31+31+30+30+31+31)%7==1: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m=m+1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if (z+12+31+28+31+31+30+30+31+31+30)%7==1: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m=m+1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if (z+12+31+28+31+31+30+30+31+31+31+30)%7==1: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m=m+1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if (z+12+31+28+31+31+30+30+31+31+31+30+30)%7==1: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m=m+1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print(m)</a:t>
            </a:r>
          </a:p>
        </p:txBody>
      </p:sp>
    </p:spTree>
    <p:extLst>
      <p:ext uri="{BB962C8B-B14F-4D97-AF65-F5344CB8AC3E}">
        <p14:creationId xmlns:p14="http://schemas.microsoft.com/office/powerpoint/2010/main" val="33574986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出现次数统计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TextBox 4"/>
          <p:cNvSpPr txBox="1">
            <a:spLocks noChangeArrowheads="1"/>
          </p:cNvSpPr>
          <p:nvPr/>
        </p:nvSpPr>
        <p:spPr bwMode="auto">
          <a:xfrm>
            <a:off x="908385" y="1568166"/>
            <a:ext cx="10581146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CN" altLang="en-US" sz="36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问题描述</a:t>
            </a:r>
            <a:endParaRPr lang="en-US" altLang="zh-CN" sz="3600" b="1">
              <a:solidFill>
                <a:schemeClr val="tx1"/>
              </a:solidFill>
              <a:latin typeface="隶书" pitchFamily="49" charset="-122"/>
              <a:ea typeface="隶书" pitchFamily="49" charset="-122"/>
            </a:endParaRPr>
          </a:p>
          <a:p>
            <a:pPr eaLnBrk="1" hangingPunct="1"/>
            <a:r>
              <a:rPr lang="zh-CN" altLang="en-US" sz="36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读入一组整数，这组整数是按照从小到大的顺序排列的，它们的个数</a:t>
            </a:r>
            <a:r>
              <a:rPr lang="en-US" altLang="zh-CN" sz="36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N</a:t>
            </a:r>
            <a:r>
              <a:rPr lang="zh-CN" altLang="en-US" sz="36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也是由用户输入的，最多不会超过</a:t>
            </a:r>
            <a:r>
              <a:rPr lang="en-US" altLang="zh-CN" sz="36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20</a:t>
            </a:r>
            <a:r>
              <a:rPr lang="zh-CN" altLang="en-US" sz="36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。然后程序将对这个数组进行统计，把出现次数最多的那个数组元素值打印出来。如果有两个元素值出现的次数相同，即并列第一，那么只打印比较小的那个值。</a:t>
            </a:r>
          </a:p>
        </p:txBody>
      </p:sp>
    </p:spTree>
    <p:extLst>
      <p:ext uri="{BB962C8B-B14F-4D97-AF65-F5344CB8AC3E}">
        <p14:creationId xmlns:p14="http://schemas.microsoft.com/office/powerpoint/2010/main" val="42170259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学生代码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7280" y="732964"/>
            <a:ext cx="10424160" cy="6063839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N =int(input())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list=[0]*21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for i in range(N):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list[i]=int(input())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count=1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maximum=0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for i in range (1,N):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if(list[i]==list[i-1]):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count+=1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if(count&gt;maximum):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    maximum=count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    result=list[i]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else</a:t>
            </a:r>
            <a:r>
              <a:rPr lang="en-US" altLang="zh-CN" sz="2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    count=1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print(result)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3277" y="3225338"/>
            <a:ext cx="595035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4</a:t>
            </a:r>
          </a:p>
          <a:p>
            <a:r>
              <a:rPr lang="en-US" altLang="zh-CN" sz="3200" b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10</a:t>
            </a:r>
          </a:p>
          <a:p>
            <a:r>
              <a:rPr lang="en-US" altLang="zh-CN" sz="3200" b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10</a:t>
            </a:r>
          </a:p>
          <a:p>
            <a:r>
              <a:rPr lang="en-US" altLang="zh-CN" sz="3200" b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20</a:t>
            </a:r>
          </a:p>
          <a:p>
            <a:r>
              <a:rPr lang="en-US" altLang="zh-CN" sz="3200" b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62742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小偷是谁？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965234" y="1065408"/>
            <a:ext cx="10165508" cy="5549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defTabSz="850900" eaLnBrk="1" hangingPunct="1">
              <a:spcBef>
                <a:spcPct val="50000"/>
              </a:spcBef>
              <a:buClr>
                <a:srgbClr val="FFFF66"/>
              </a:buClr>
              <a:buFont typeface="Wingdings" pitchFamily="2" charset="2"/>
              <a:buNone/>
            </a:pPr>
            <a:r>
              <a:rPr kumimoji="1" lang="zh-CN" altLang="en-US" sz="3600" b="1">
                <a:solidFill>
                  <a:schemeClr val="tx1"/>
                </a:solidFill>
                <a:ea typeface="黑体" pitchFamily="49" charset="-122"/>
              </a:rPr>
              <a:t>问题描述</a:t>
            </a:r>
          </a:p>
          <a:p>
            <a:pPr defTabSz="850900">
              <a:spcBef>
                <a:spcPts val="1800"/>
              </a:spcBef>
              <a:buClr>
                <a:srgbClr val="FFFF66"/>
              </a:buClr>
            </a:pPr>
            <a:r>
              <a:rPr kumimoji="1" lang="zh-CN" altLang="en-US" sz="3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	</a:t>
            </a:r>
            <a:r>
              <a:rPr kumimoji="1" lang="zh-CN" altLang="en-US" sz="3200" b="1">
                <a:latin typeface="宋体" pitchFamily="2" charset="-122"/>
                <a:ea typeface="宋体" pitchFamily="2" charset="-122"/>
              </a:rPr>
              <a:t>公安人员审问甲、乙、丙、丁四个嫌疑犯，已确知，这四个人当中仅有一人是偷窃者，还知道这四个人的答话，要么完全诚实，要么完全说谎。在回答公安人员的问话中：</a:t>
            </a:r>
          </a:p>
          <a:p>
            <a:pPr defTabSz="850900">
              <a:buClr>
                <a:srgbClr val="FFFF66"/>
              </a:buClr>
            </a:pPr>
            <a:r>
              <a:rPr kumimoji="1" lang="zh-CN" altLang="en-US" sz="3200" b="1">
                <a:latin typeface="宋体" pitchFamily="2" charset="-122"/>
                <a:ea typeface="宋体" pitchFamily="2" charset="-122"/>
              </a:rPr>
              <a:t>甲说：“乙没有偷，是丁偷的。”</a:t>
            </a:r>
          </a:p>
          <a:p>
            <a:pPr defTabSz="850900">
              <a:buClr>
                <a:srgbClr val="FFFF66"/>
              </a:buClr>
            </a:pPr>
            <a:r>
              <a:rPr kumimoji="1" lang="zh-CN" altLang="en-US" sz="3200" b="1">
                <a:latin typeface="宋体" pitchFamily="2" charset="-122"/>
                <a:ea typeface="宋体" pitchFamily="2" charset="-122"/>
              </a:rPr>
              <a:t>乙说：“我没有偷，是丙偷的。”</a:t>
            </a:r>
          </a:p>
          <a:p>
            <a:pPr defTabSz="850900">
              <a:spcBef>
                <a:spcPts val="600"/>
              </a:spcBef>
              <a:buClr>
                <a:srgbClr val="FFFF66"/>
              </a:buClr>
            </a:pPr>
            <a:r>
              <a:rPr kumimoji="1" lang="zh-CN" altLang="en-US" sz="3200" b="1">
                <a:latin typeface="宋体" pitchFamily="2" charset="-122"/>
                <a:ea typeface="宋体" pitchFamily="2" charset="-122"/>
              </a:rPr>
              <a:t>丙说：“甲没有偷，是乙偷的。”</a:t>
            </a:r>
          </a:p>
          <a:p>
            <a:pPr defTabSz="850900">
              <a:buClr>
                <a:srgbClr val="FFFF66"/>
              </a:buClr>
            </a:pPr>
            <a:r>
              <a:rPr kumimoji="1" lang="zh-CN" altLang="en-US" sz="3200" b="1">
                <a:latin typeface="宋体" pitchFamily="2" charset="-122"/>
                <a:ea typeface="宋体" pitchFamily="2" charset="-122"/>
              </a:rPr>
              <a:t>丁说：“我没有偷，我用的那东西是我家里的。”</a:t>
            </a:r>
          </a:p>
          <a:p>
            <a:pPr defTabSz="850900">
              <a:buClr>
                <a:srgbClr val="FFFF66"/>
              </a:buClr>
            </a:pPr>
            <a:r>
              <a:rPr kumimoji="1" lang="zh-CN" altLang="en-US" sz="3200" b="1">
                <a:latin typeface="宋体" pitchFamily="2" charset="-122"/>
                <a:ea typeface="宋体" pitchFamily="2" charset="-122"/>
              </a:rPr>
              <a:t>请根据上述四人答话，判断谁是偷窃者。</a:t>
            </a:r>
            <a:endParaRPr kumimoji="1" lang="en-US" altLang="zh-CN" sz="3200" b="1">
              <a:latin typeface="宋体" pitchFamily="2" charset="-122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11808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学生代码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7280" y="949102"/>
            <a:ext cx="10424160" cy="5657959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a = b = c = [0,0,0]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x = 'A'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while x&lt;='A':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a[1]= x==4 or x!=2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a[2]= x==4 and x!=2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b[1]= x==3 or x!=2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b[2]= x==3 and x!=2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c[1]= x==2 or x!=1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c[2]= x==2 and x!=1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d = x!=4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if a[1]==a[2] and b[1]==b[2] and c[1]==c[2]: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e = x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x = chr(ord(x) + 1)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print(x)</a:t>
            </a:r>
          </a:p>
        </p:txBody>
      </p:sp>
    </p:spTree>
    <p:extLst>
      <p:ext uri="{BB962C8B-B14F-4D97-AF65-F5344CB8AC3E}">
        <p14:creationId xmlns:p14="http://schemas.microsoft.com/office/powerpoint/2010/main" val="32219733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54190" y="49109"/>
            <a:ext cx="5994422" cy="6127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1802" y="694938"/>
            <a:ext cx="7999095" cy="5681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3434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f2660095-1412-4de3-82c3-8cc48b93c150"/>
  <p:tag name="COMMONDATA" val="eyJoZGlkIjoiNWRkODIxNmNlMWQwOGQ5ZWM2NDdjYjliN2MxOTE4YT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主题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A550DE"/>
      </a:accent1>
      <a:accent2>
        <a:srgbClr val="81308C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A550DE"/>
    </a:accent1>
    <a:accent2>
      <a:srgbClr val="81308C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6780</TotalTime>
  <Words>3192</Words>
  <Application>Microsoft Office PowerPoint</Application>
  <PresentationFormat>宽屏</PresentationFormat>
  <Paragraphs>427</Paragraphs>
  <Slides>52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72" baseType="lpstr">
      <vt:lpstr>等线</vt:lpstr>
      <vt:lpstr>方正舒体</vt:lpstr>
      <vt:lpstr>黑体</vt:lpstr>
      <vt:lpstr>楷体</vt:lpstr>
      <vt:lpstr>隶书</vt:lpstr>
      <vt:lpstr>宋体</vt:lpstr>
      <vt:lpstr>微软雅黑</vt:lpstr>
      <vt:lpstr>Arial</vt:lpstr>
      <vt:lpstr>Arial Black</vt:lpstr>
      <vt:lpstr>Calibri</vt:lpstr>
      <vt:lpstr>Candara</vt:lpstr>
      <vt:lpstr>Courier New</vt:lpstr>
      <vt:lpstr>Segoe UI</vt:lpstr>
      <vt:lpstr>Segoe UI Semilight</vt:lpstr>
      <vt:lpstr>Tahoma</vt:lpstr>
      <vt:lpstr>Times New Roman</vt:lpstr>
      <vt:lpstr>Verdana</vt:lpstr>
      <vt:lpstr>Wingdings</vt:lpstr>
      <vt:lpstr>Wingdings 2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CWJ</cp:lastModifiedBy>
  <cp:revision>730</cp:revision>
  <dcterms:created xsi:type="dcterms:W3CDTF">2020-07-27T01:08:00Z</dcterms:created>
  <dcterms:modified xsi:type="dcterms:W3CDTF">2025-09-16T05:02:52Z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F2ED8728BD3849908EBCAD75A285C632_13</vt:lpwstr>
  </property>
  <property fmtid="{D5CDD505-2E9C-101B-9397-08002B2CF9AE}" pid="3" name="KSOProductBuildVer">
    <vt:lpwstr>2052-11.1.0.14309</vt:lpwstr>
  </property>
</Properties>
</file>