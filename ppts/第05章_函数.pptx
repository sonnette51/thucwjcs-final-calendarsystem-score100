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3"/>
  </p:notesMasterIdLst>
  <p:handoutMasterIdLst>
    <p:handoutMasterId r:id="rId64"/>
  </p:handoutMasterIdLst>
  <p:sldIdLst>
    <p:sldId id="398" r:id="rId2"/>
    <p:sldId id="409" r:id="rId3"/>
    <p:sldId id="517" r:id="rId4"/>
    <p:sldId id="500" r:id="rId5"/>
    <p:sldId id="518" r:id="rId6"/>
    <p:sldId id="519" r:id="rId7"/>
    <p:sldId id="520" r:id="rId8"/>
    <p:sldId id="521" r:id="rId9"/>
    <p:sldId id="522" r:id="rId10"/>
    <p:sldId id="523" r:id="rId11"/>
    <p:sldId id="524" r:id="rId12"/>
    <p:sldId id="525" r:id="rId13"/>
    <p:sldId id="526" r:id="rId14"/>
    <p:sldId id="527" r:id="rId15"/>
    <p:sldId id="528" r:id="rId16"/>
    <p:sldId id="529" r:id="rId17"/>
    <p:sldId id="530" r:id="rId18"/>
    <p:sldId id="531" r:id="rId19"/>
    <p:sldId id="532" r:id="rId20"/>
    <p:sldId id="533" r:id="rId21"/>
    <p:sldId id="534" r:id="rId22"/>
    <p:sldId id="535" r:id="rId23"/>
    <p:sldId id="536" r:id="rId24"/>
    <p:sldId id="537" r:id="rId25"/>
    <p:sldId id="538" r:id="rId26"/>
    <p:sldId id="539" r:id="rId27"/>
    <p:sldId id="540" r:id="rId28"/>
    <p:sldId id="541" r:id="rId29"/>
    <p:sldId id="543" r:id="rId30"/>
    <p:sldId id="544" r:id="rId31"/>
    <p:sldId id="545" r:id="rId32"/>
    <p:sldId id="542" r:id="rId33"/>
    <p:sldId id="546" r:id="rId34"/>
    <p:sldId id="547" r:id="rId35"/>
    <p:sldId id="548" r:id="rId36"/>
    <p:sldId id="549" r:id="rId37"/>
    <p:sldId id="550" r:id="rId38"/>
    <p:sldId id="551" r:id="rId39"/>
    <p:sldId id="552" r:id="rId40"/>
    <p:sldId id="553" r:id="rId41"/>
    <p:sldId id="554" r:id="rId42"/>
    <p:sldId id="555" r:id="rId43"/>
    <p:sldId id="556" r:id="rId44"/>
    <p:sldId id="557" r:id="rId45"/>
    <p:sldId id="558" r:id="rId46"/>
    <p:sldId id="559" r:id="rId47"/>
    <p:sldId id="560" r:id="rId48"/>
    <p:sldId id="561" r:id="rId49"/>
    <p:sldId id="562" r:id="rId50"/>
    <p:sldId id="563" r:id="rId51"/>
    <p:sldId id="564" r:id="rId52"/>
    <p:sldId id="565" r:id="rId53"/>
    <p:sldId id="566" r:id="rId54"/>
    <p:sldId id="567" r:id="rId55"/>
    <p:sldId id="568" r:id="rId56"/>
    <p:sldId id="569" r:id="rId57"/>
    <p:sldId id="570" r:id="rId58"/>
    <p:sldId id="571" r:id="rId59"/>
    <p:sldId id="572" r:id="rId60"/>
    <p:sldId id="573" r:id="rId61"/>
    <p:sldId id="501" r:id="rId62"/>
  </p:sldIdLst>
  <p:sldSz cx="12192000" cy="6858000"/>
  <p:notesSz cx="6858000" cy="9144000"/>
  <p:custDataLst>
    <p:tags r:id="rId6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4" userDrawn="1">
          <p15:clr>
            <a:srgbClr val="A4A3A4"/>
          </p15:clr>
        </p15:guide>
        <p15:guide id="2" pos="388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863A"/>
    <a:srgbClr val="0000FF"/>
    <a:srgbClr val="005825"/>
    <a:srgbClr val="D1D1F0"/>
    <a:srgbClr val="8230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89" d="100"/>
          <a:sy n="89" d="100"/>
        </p:scale>
        <p:origin x="304" y="64"/>
      </p:cViewPr>
      <p:guideLst>
        <p:guide orient="horz" pos="2164"/>
        <p:guide pos="388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13752"/>
    </p:cViewPr>
  </p:sorterViewPr>
  <p:notesViewPr>
    <p:cSldViewPr snapToGrid="0">
      <p:cViewPr varScale="1">
        <p:scale>
          <a:sx n="50" d="100"/>
          <a:sy n="50" d="100"/>
        </p:scale>
        <p:origin x="2472" y="2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notesMaster" Target="notesMasters/notesMaster1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handoutMaster" Target="handoutMasters/handoutMaster1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E977C3-5D49-4AE3-94A3-4A850F718679}" type="datetimeFigureOut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D3FDB9-DDE0-4054-8528-4EF247FF79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0268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8922EB3-8BB3-4D7C-920D-99B3A498A38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56319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37C1142-F811-4A5F-9F2B-FD8FFE6CA83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22160" y="1717964"/>
            <a:ext cx="4347422" cy="434742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2DB7E10-9DCA-46E6-AF35-0DEC12E9EC98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93325" y="137811"/>
            <a:ext cx="1701209" cy="54871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A107B553-E0FC-09D8-D059-B7F87DA052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51544" y="869784"/>
            <a:ext cx="5028111" cy="5028111"/>
          </a:xfrm>
          <a:prstGeom prst="rect">
            <a:avLst/>
          </a:prstGeom>
        </p:spPr>
      </p:pic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8BA2A0A-9BC3-4B9E-93E4-A416F8D93E95}"/>
              </a:ext>
            </a:extLst>
          </p:cNvPr>
          <p:cNvSpPr txBox="1"/>
          <p:nvPr userDrawn="1"/>
        </p:nvSpPr>
        <p:spPr>
          <a:xfrm>
            <a:off x="109146" y="6433625"/>
            <a:ext cx="254608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accent2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自强不息，厚德载物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0BC47D6-6CDB-0EC7-BA7E-7BDE5C57F759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93325" y="137811"/>
            <a:ext cx="1701209" cy="548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455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8706545C-F379-4254-89DB-67815911527C}"/>
              </a:ext>
            </a:extLst>
          </p:cNvPr>
          <p:cNvSpPr txBox="1"/>
          <p:nvPr userDrawn="1"/>
        </p:nvSpPr>
        <p:spPr>
          <a:xfrm>
            <a:off x="109146" y="6433625"/>
            <a:ext cx="254608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accent2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自强不息，厚德载物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34A283B-A7C5-23BE-ACA9-C971DA503B9D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93325" y="137811"/>
            <a:ext cx="1701209" cy="548714"/>
          </a:xfrm>
          <a:prstGeom prst="rect">
            <a:avLst/>
          </a:prstGeom>
        </p:spPr>
      </p:pic>
      <p:sp>
        <p:nvSpPr>
          <p:cNvPr id="3" name="TextBox 2"/>
          <p:cNvSpPr txBox="1"/>
          <p:nvPr userDrawn="1"/>
        </p:nvSpPr>
        <p:spPr>
          <a:xfrm>
            <a:off x="11599363" y="6477007"/>
            <a:ext cx="558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A35A5ECB-3606-4A97-BFD1-55C7127585F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4" r:id="rId4"/>
    <p:sldLayoutId id="2147483655" r:id="rId5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5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8.emf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1337" y="110465"/>
            <a:ext cx="11809309" cy="5226782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91337" y="110465"/>
            <a:ext cx="11809309" cy="5226782"/>
          </a:xfrm>
          <a:prstGeom prst="rect">
            <a:avLst/>
          </a:prstGeom>
          <a:solidFill>
            <a:schemeClr val="accent2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平行四边形 9"/>
          <p:cNvSpPr/>
          <p:nvPr/>
        </p:nvSpPr>
        <p:spPr>
          <a:xfrm>
            <a:off x="4886156" y="4721323"/>
            <a:ext cx="2451398" cy="452970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平行四边形 10"/>
          <p:cNvSpPr/>
          <p:nvPr/>
        </p:nvSpPr>
        <p:spPr>
          <a:xfrm>
            <a:off x="2743200" y="5694633"/>
            <a:ext cx="3021054" cy="691606"/>
          </a:xfrm>
          <a:prstGeom prst="parallelogram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平行四边形 11"/>
          <p:cNvSpPr/>
          <p:nvPr/>
        </p:nvSpPr>
        <p:spPr>
          <a:xfrm>
            <a:off x="6427748" y="5694633"/>
            <a:ext cx="3020400" cy="691200"/>
          </a:xfrm>
          <a:prstGeom prst="parallelogram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文本占位符 30"/>
          <p:cNvSpPr txBox="1"/>
          <p:nvPr/>
        </p:nvSpPr>
        <p:spPr>
          <a:xfrm>
            <a:off x="2968031" y="5825643"/>
            <a:ext cx="2609850" cy="4866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谌卫军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文本占位符 31"/>
          <p:cNvSpPr txBox="1"/>
          <p:nvPr/>
        </p:nvSpPr>
        <p:spPr>
          <a:xfrm>
            <a:off x="6623172" y="5825643"/>
            <a:ext cx="2609850" cy="4866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计算机系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文本占位符 32"/>
          <p:cNvSpPr txBox="1"/>
          <p:nvPr/>
        </p:nvSpPr>
        <p:spPr>
          <a:xfrm>
            <a:off x="4791075" y="4778558"/>
            <a:ext cx="2609850" cy="2965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2025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年秋季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学期</a:t>
            </a:r>
          </a:p>
        </p:txBody>
      </p:sp>
      <p:sp>
        <p:nvSpPr>
          <p:cNvPr id="24" name="文本占位符 24"/>
          <p:cNvSpPr txBox="1"/>
          <p:nvPr/>
        </p:nvSpPr>
        <p:spPr>
          <a:xfrm>
            <a:off x="515378" y="2218964"/>
            <a:ext cx="11161239" cy="21337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25000"/>
              </a:lnSpc>
              <a:defRPr/>
            </a:pPr>
            <a:r>
              <a:rPr lang="zh-CN" altLang="en-US">
                <a:solidFill>
                  <a:sysClr val="window" lastClr="FFFFFF"/>
                </a:solidFill>
              </a:rPr>
              <a:t>计算机程序设计基础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5" name="文本占位符 27"/>
          <p:cNvSpPr txBox="1"/>
          <p:nvPr/>
        </p:nvSpPr>
        <p:spPr>
          <a:xfrm>
            <a:off x="1166827" y="3528421"/>
            <a:ext cx="9858345" cy="5909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2800"/>
              <a:t>Introduction to Computer Programming</a:t>
            </a:r>
            <a:endParaRPr lang="en-US" altLang="zh-CN" sz="2800" dirty="0"/>
          </a:p>
        </p:txBody>
      </p:sp>
      <p:cxnSp>
        <p:nvCxnSpPr>
          <p:cNvPr id="31" name="直接连接符 30"/>
          <p:cNvCxnSpPr/>
          <p:nvPr/>
        </p:nvCxnSpPr>
        <p:spPr>
          <a:xfrm>
            <a:off x="2207568" y="4392452"/>
            <a:ext cx="763284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图片 1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36158" y="792175"/>
            <a:ext cx="3664780" cy="1182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881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3"/>
          <p:cNvSpPr txBox="1"/>
          <p:nvPr/>
        </p:nvSpPr>
        <p:spPr>
          <a:xfrm>
            <a:off x="6436079" y="779207"/>
            <a:ext cx="4256684" cy="16129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000" b="1" kern="1200"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9900" b="1" i="0" u="none" strike="noStrike" kern="1200" cap="none" spc="0" normalizeH="0" baseline="0" noProof="0">
                <a:ln>
                  <a:noFill/>
                </a:ln>
                <a:gradFill flip="none" rotWithShape="1">
                  <a:gsLst>
                    <a:gs pos="36000">
                      <a:schemeClr val="accent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  <a:tileRect/>
                </a:gradFill>
                <a:effectLst/>
                <a:uLnTx/>
                <a:uFillTx/>
                <a:latin typeface="Arial Black" panose="020B0A04020102020204" pitchFamily="34" charset="0"/>
                <a:ea typeface="微软雅黑" panose="020B0503020204020204" pitchFamily="34" charset="-122"/>
                <a:cs typeface="+mn-cs"/>
              </a:rPr>
              <a:t>05</a:t>
            </a:r>
            <a:endParaRPr kumimoji="0" lang="zh-CN" altLang="en-US" sz="199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36000">
                    <a:schemeClr val="accent2"/>
                  </a:gs>
                  <a:gs pos="100000">
                    <a:srgbClr val="2764A7">
                      <a:lumMod val="15000"/>
                      <a:lumOff val="85000"/>
                      <a:alpha val="27000"/>
                    </a:srgbClr>
                  </a:gs>
                </a:gsLst>
                <a:lin ang="5400000" scaled="0"/>
                <a:tileRect/>
              </a:gradFill>
              <a:effectLst/>
              <a:uLnTx/>
              <a:uFillTx/>
              <a:latin typeface="Arial Black" panose="020B0A040201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占位符 4"/>
          <p:cNvSpPr txBox="1"/>
          <p:nvPr/>
        </p:nvSpPr>
        <p:spPr>
          <a:xfrm>
            <a:off x="1853072" y="3246898"/>
            <a:ext cx="7302822" cy="660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66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函数</a:t>
            </a:r>
            <a:endParaRPr kumimoji="0" lang="zh-CN" altLang="en-US" sz="66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-3049556" y="-2033814"/>
            <a:ext cx="7489372" cy="4795157"/>
            <a:chOff x="-3802743" y="-2148114"/>
            <a:chExt cx="7489372" cy="4795157"/>
          </a:xfrm>
        </p:grpSpPr>
        <p:sp>
          <p:nvSpPr>
            <p:cNvPr id="5" name="平行四边形 4"/>
            <p:cNvSpPr/>
            <p:nvPr/>
          </p:nvSpPr>
          <p:spPr>
            <a:xfrm>
              <a:off x="-3802743" y="-2148114"/>
              <a:ext cx="7489372" cy="4795157"/>
            </a:xfrm>
            <a:prstGeom prst="parallelogram">
              <a:avLst/>
            </a:prstGeom>
            <a:solidFill>
              <a:schemeClr val="accent2">
                <a:alpha val="3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 flipH="1" flipV="1">
            <a:off x="7824192" y="4149080"/>
            <a:ext cx="7489372" cy="4651141"/>
            <a:chOff x="-3802743" y="-2004098"/>
            <a:chExt cx="7489372" cy="4651141"/>
          </a:xfrm>
        </p:grpSpPr>
        <p:sp>
          <p:nvSpPr>
            <p:cNvPr id="8" name="平行四边形 7"/>
            <p:cNvSpPr/>
            <p:nvPr/>
          </p:nvSpPr>
          <p:spPr>
            <a:xfrm>
              <a:off x="-3802743" y="-2004098"/>
              <a:ext cx="7489372" cy="4651141"/>
            </a:xfrm>
            <a:prstGeom prst="parallelogram">
              <a:avLst/>
            </a:prstGeom>
            <a:solidFill>
              <a:schemeClr val="accent2">
                <a:alpha val="3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平行四边形 8"/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6" name="直接连接符 15"/>
          <p:cNvCxnSpPr/>
          <p:nvPr/>
        </p:nvCxnSpPr>
        <p:spPr>
          <a:xfrm>
            <a:off x="2156111" y="4293096"/>
            <a:ext cx="6696744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6258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5626444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本章结构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3" name="文本占位符 50"/>
          <p:cNvSpPr txBox="1"/>
          <p:nvPr/>
        </p:nvSpPr>
        <p:spPr>
          <a:xfrm>
            <a:off x="1484073" y="2445387"/>
            <a:ext cx="1862050" cy="689689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函数概述</a:t>
            </a:r>
            <a:endParaRPr lang="zh-CN" altLang="en-US" sz="2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占位符 50"/>
          <p:cNvSpPr txBox="1"/>
          <p:nvPr/>
        </p:nvSpPr>
        <p:spPr>
          <a:xfrm>
            <a:off x="4119070" y="4028866"/>
            <a:ext cx="2302456" cy="54176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函数的使用</a:t>
            </a:r>
            <a:endParaRPr lang="zh-CN" altLang="en-US" sz="28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1322006" y="3265478"/>
            <a:ext cx="1819616" cy="1819616"/>
            <a:chOff x="1699695" y="2430291"/>
            <a:chExt cx="1819616" cy="1819616"/>
          </a:xfrm>
        </p:grpSpPr>
        <p:sp>
          <p:nvSpPr>
            <p:cNvPr id="19" name="椭圆 18"/>
            <p:cNvSpPr/>
            <p:nvPr/>
          </p:nvSpPr>
          <p:spPr>
            <a:xfrm>
              <a:off x="1870075" y="2600673"/>
              <a:ext cx="1478853" cy="1478853"/>
            </a:xfrm>
            <a:prstGeom prst="ellipse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r>
                <a:rPr lang="en-US" altLang="zh-CN" sz="3600" kern="0" dirty="0">
                  <a:solidFill>
                    <a:srgbClr val="FFFFFF"/>
                  </a:solidFill>
                  <a:latin typeface="Segoe UI" panose="020B0502040204020203"/>
                  <a:ea typeface="微软雅黑 Light" panose="020B0502040204020203" charset="-122"/>
                </a:rPr>
                <a:t>01</a:t>
              </a:r>
              <a:endParaRPr lang="zh-CN" altLang="en-US" sz="3600" kern="0" dirty="0">
                <a:solidFill>
                  <a:srgbClr val="FFFFFF"/>
                </a:solidFill>
                <a:latin typeface="Segoe UI" panose="020B0502040204020203"/>
                <a:ea typeface="微软雅黑 Light" panose="020B0502040204020203" charset="-122"/>
              </a:endParaRPr>
            </a:p>
          </p:txBody>
        </p:sp>
        <p:sp>
          <p:nvSpPr>
            <p:cNvPr id="20" name="弧形 19"/>
            <p:cNvSpPr/>
            <p:nvPr/>
          </p:nvSpPr>
          <p:spPr>
            <a:xfrm rot="7941625">
              <a:off x="1699695" y="2430291"/>
              <a:ext cx="1819616" cy="1819616"/>
            </a:xfrm>
            <a:prstGeom prst="arc">
              <a:avLst>
                <a:gd name="adj1" fmla="val 14586031"/>
                <a:gd name="adj2" fmla="val 1762864"/>
              </a:avLst>
            </a:prstGeom>
            <a:noFill/>
            <a:ln w="19050" cap="flat" cmpd="sng" algn="ctr">
              <a:solidFill>
                <a:schemeClr val="accent2"/>
              </a:solidFill>
              <a:prstDash val="solid"/>
              <a:miter lim="800000"/>
              <a:headEnd type="stealth" w="lg" len="me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kern="0" dirty="0">
                <a:solidFill>
                  <a:srgbClr val="EA5504"/>
                </a:solidFill>
                <a:latin typeface="Segoe UI Semilight" panose="020B0402040204020203"/>
                <a:ea typeface="微软雅黑 Light" panose="020B0502040204020203" charset="-122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4059179" y="1980180"/>
            <a:ext cx="1819616" cy="1819616"/>
            <a:chOff x="1699695" y="2430291"/>
            <a:chExt cx="1819616" cy="1819616"/>
          </a:xfrm>
        </p:grpSpPr>
        <p:sp>
          <p:nvSpPr>
            <p:cNvPr id="25" name="椭圆 24"/>
            <p:cNvSpPr/>
            <p:nvPr/>
          </p:nvSpPr>
          <p:spPr>
            <a:xfrm>
              <a:off x="1870075" y="2600673"/>
              <a:ext cx="1478853" cy="1478853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 panose="020B0502040204020203"/>
                  <a:ea typeface="微软雅黑 Light" panose="020B0502040204020203" charset="-122"/>
                </a:rPr>
                <a:t>02</a:t>
              </a:r>
              <a:endPara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/>
                <a:ea typeface="微软雅黑 Light" panose="020B0502040204020203" charset="-122"/>
              </a:endParaRPr>
            </a:p>
          </p:txBody>
        </p:sp>
        <p:sp>
          <p:nvSpPr>
            <p:cNvPr id="26" name="弧形 25"/>
            <p:cNvSpPr/>
            <p:nvPr/>
          </p:nvSpPr>
          <p:spPr>
            <a:xfrm rot="2784046" flipH="1">
              <a:off x="1699695" y="2430291"/>
              <a:ext cx="1819616" cy="1819616"/>
            </a:xfrm>
            <a:prstGeom prst="arc">
              <a:avLst>
                <a:gd name="adj1" fmla="val 14586031"/>
                <a:gd name="adj2" fmla="val 1762864"/>
              </a:avLst>
            </a:prstGeom>
            <a:noFill/>
            <a:ln w="19050" cap="flat" cmpd="sng" algn="ctr">
              <a:solidFill>
                <a:sysClr val="windowText" lastClr="000000">
                  <a:lumMod val="65000"/>
                  <a:lumOff val="35000"/>
                </a:sysClr>
              </a:solidFill>
              <a:prstDash val="solid"/>
              <a:miter lim="800000"/>
              <a:headEnd type="stealth" w="lg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EA5504"/>
                </a:solidFill>
                <a:effectLst/>
                <a:uLnTx/>
                <a:uFillTx/>
                <a:latin typeface="Segoe UI" panose="020B0502040204020203"/>
                <a:ea typeface="微软雅黑 Light" panose="020B0502040204020203" charset="-122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6549030" y="3095868"/>
            <a:ext cx="1819616" cy="1819616"/>
            <a:chOff x="1699695" y="2430291"/>
            <a:chExt cx="1819616" cy="1819616"/>
          </a:xfrm>
        </p:grpSpPr>
        <p:sp>
          <p:nvSpPr>
            <p:cNvPr id="28" name="椭圆 27"/>
            <p:cNvSpPr/>
            <p:nvPr/>
          </p:nvSpPr>
          <p:spPr>
            <a:xfrm>
              <a:off x="1870075" y="2600673"/>
              <a:ext cx="1478853" cy="1478853"/>
            </a:xfrm>
            <a:prstGeom prst="ellipse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r>
                <a:rPr lang="en-US" altLang="zh-CN" sz="3600" kern="0" dirty="0">
                  <a:solidFill>
                    <a:srgbClr val="FFFFFF"/>
                  </a:solidFill>
                  <a:latin typeface="Segoe UI" panose="020B0502040204020203"/>
                  <a:ea typeface="微软雅黑 Light" panose="020B0502040204020203" charset="-122"/>
                </a:rPr>
                <a:t>03</a:t>
              </a:r>
              <a:endParaRPr lang="zh-CN" altLang="en-US" sz="3600" kern="0" dirty="0">
                <a:solidFill>
                  <a:srgbClr val="FFFFFF"/>
                </a:solidFill>
                <a:latin typeface="Segoe UI" panose="020B0502040204020203"/>
                <a:ea typeface="微软雅黑 Light" panose="020B0502040204020203" charset="-122"/>
              </a:endParaRPr>
            </a:p>
          </p:txBody>
        </p:sp>
        <p:sp>
          <p:nvSpPr>
            <p:cNvPr id="29" name="弧形 28"/>
            <p:cNvSpPr/>
            <p:nvPr/>
          </p:nvSpPr>
          <p:spPr>
            <a:xfrm rot="7941625">
              <a:off x="1699695" y="2430291"/>
              <a:ext cx="1819616" cy="1819616"/>
            </a:xfrm>
            <a:prstGeom prst="arc">
              <a:avLst>
                <a:gd name="adj1" fmla="val 14586031"/>
                <a:gd name="adj2" fmla="val 1762864"/>
              </a:avLst>
            </a:prstGeom>
            <a:noFill/>
            <a:ln w="19050" cap="flat" cmpd="sng" algn="ctr">
              <a:solidFill>
                <a:schemeClr val="accent2"/>
              </a:solidFill>
              <a:prstDash val="solid"/>
              <a:miter lim="800000"/>
              <a:headEnd type="stealth" w="lg" len="me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kern="0" dirty="0">
                <a:solidFill>
                  <a:srgbClr val="EA5504"/>
                </a:solidFill>
                <a:latin typeface="Segoe UI Semilight" panose="020B0402040204020203"/>
                <a:ea typeface="微软雅黑 Light" panose="020B0502040204020203" charset="-122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9133212" y="1957678"/>
            <a:ext cx="1819616" cy="1819616"/>
            <a:chOff x="1699695" y="2430291"/>
            <a:chExt cx="1819616" cy="1819616"/>
          </a:xfrm>
        </p:grpSpPr>
        <p:sp>
          <p:nvSpPr>
            <p:cNvPr id="31" name="椭圆 30"/>
            <p:cNvSpPr/>
            <p:nvPr/>
          </p:nvSpPr>
          <p:spPr>
            <a:xfrm>
              <a:off x="1870075" y="2600673"/>
              <a:ext cx="1478853" cy="1478853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 panose="020B0502040204020203"/>
                  <a:ea typeface="微软雅黑 Light" panose="020B0502040204020203" charset="-122"/>
                </a:rPr>
                <a:t>04</a:t>
              </a:r>
              <a:endPara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/>
                <a:ea typeface="微软雅黑 Light" panose="020B0502040204020203" charset="-122"/>
              </a:endParaRPr>
            </a:p>
          </p:txBody>
        </p:sp>
        <p:sp>
          <p:nvSpPr>
            <p:cNvPr id="32" name="弧形 31"/>
            <p:cNvSpPr/>
            <p:nvPr/>
          </p:nvSpPr>
          <p:spPr>
            <a:xfrm rot="2810902" flipH="1">
              <a:off x="1699695" y="2430291"/>
              <a:ext cx="1819616" cy="1819616"/>
            </a:xfrm>
            <a:prstGeom prst="arc">
              <a:avLst>
                <a:gd name="adj1" fmla="val 14586031"/>
                <a:gd name="adj2" fmla="val 1762864"/>
              </a:avLst>
            </a:prstGeom>
            <a:noFill/>
            <a:ln w="19050" cap="flat" cmpd="sng" algn="ctr">
              <a:solidFill>
                <a:sysClr val="windowText" lastClr="000000">
                  <a:lumMod val="65000"/>
                  <a:lumOff val="35000"/>
                </a:sysClr>
              </a:solidFill>
              <a:prstDash val="solid"/>
              <a:miter lim="800000"/>
              <a:headEnd type="stealth" w="lg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EA5504"/>
                </a:solidFill>
                <a:effectLst/>
                <a:uLnTx/>
                <a:uFillTx/>
                <a:latin typeface="Segoe UI Semilight" panose="020B0402040204020203"/>
                <a:ea typeface="微软雅黑 Light" panose="020B0502040204020203" charset="-122"/>
              </a:endParaRPr>
            </a:p>
          </p:txBody>
        </p:sp>
      </p:grpSp>
      <p:sp>
        <p:nvSpPr>
          <p:cNvPr id="33" name="文本占位符 50"/>
          <p:cNvSpPr txBox="1"/>
          <p:nvPr/>
        </p:nvSpPr>
        <p:spPr>
          <a:xfrm>
            <a:off x="6536123" y="2111435"/>
            <a:ext cx="1967795" cy="997524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函数调用的实现过程</a:t>
            </a:r>
            <a:endParaRPr lang="zh-CN" altLang="en-US" sz="2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占位符 50"/>
          <p:cNvSpPr txBox="1"/>
          <p:nvPr/>
        </p:nvSpPr>
        <p:spPr>
          <a:xfrm>
            <a:off x="9286966" y="4028866"/>
            <a:ext cx="2302456" cy="54176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函数与设计</a:t>
            </a:r>
            <a:endParaRPr lang="zh-CN" altLang="en-US" sz="28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07989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5.1 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函数概述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8" name="Picture 17" descr="1a1db251c586d5a48d54300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460" y="1600185"/>
            <a:ext cx="1752600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18"/>
          <p:cNvSpPr txBox="1">
            <a:spLocks noChangeArrowheads="1"/>
          </p:cNvSpPr>
          <p:nvPr/>
        </p:nvSpPr>
        <p:spPr bwMode="auto">
          <a:xfrm>
            <a:off x="1502935" y="2971785"/>
            <a:ext cx="1177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顺序</a:t>
            </a:r>
          </a:p>
        </p:txBody>
      </p:sp>
      <p:grpSp>
        <p:nvGrpSpPr>
          <p:cNvPr id="11" name="Group 19"/>
          <p:cNvGrpSpPr>
            <a:grpSpLocks/>
          </p:cNvGrpSpPr>
          <p:nvPr/>
        </p:nvGrpSpPr>
        <p:grpSpPr bwMode="auto">
          <a:xfrm>
            <a:off x="3466431" y="1600185"/>
            <a:ext cx="2057400" cy="1828800"/>
            <a:chOff x="1584" y="2496"/>
            <a:chExt cx="1296" cy="1152"/>
          </a:xfrm>
        </p:grpSpPr>
        <p:pic>
          <p:nvPicPr>
            <p:cNvPr id="12" name="Picture 20" descr="200651983531229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84" y="2496"/>
              <a:ext cx="1296" cy="8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" name="Text Box 21"/>
            <p:cNvSpPr txBox="1">
              <a:spLocks noChangeArrowheads="1"/>
            </p:cNvSpPr>
            <p:nvPr/>
          </p:nvSpPr>
          <p:spPr bwMode="auto">
            <a:xfrm>
              <a:off x="1968" y="3360"/>
              <a:ext cx="72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1pPr>
              <a:lvl2pPr marL="742950" indent="-28575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2pPr>
              <a:lvl3pPr marL="1143000" indent="-22860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3pPr>
              <a:lvl4pPr marL="1600200" indent="-22860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4pPr>
              <a:lvl5pPr marL="2057400" indent="-22860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zh-CN" altLang="en-US" sz="24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rPr>
                <a:t>选择</a:t>
              </a: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6252594" y="1646223"/>
            <a:ext cx="1419225" cy="1782762"/>
            <a:chOff x="3120" y="1200"/>
            <a:chExt cx="1710" cy="2906"/>
          </a:xfrm>
        </p:grpSpPr>
        <p:pic>
          <p:nvPicPr>
            <p:cNvPr id="15" name="Picture 23" descr="2007052319095446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20" y="1200"/>
              <a:ext cx="1710" cy="21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" name="Text Box 24"/>
            <p:cNvSpPr txBox="1">
              <a:spLocks noChangeArrowheads="1"/>
            </p:cNvSpPr>
            <p:nvPr/>
          </p:nvSpPr>
          <p:spPr bwMode="auto">
            <a:xfrm>
              <a:off x="3770" y="3360"/>
              <a:ext cx="1029" cy="7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1pPr>
              <a:lvl2pPr marL="742950" indent="-28575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2pPr>
              <a:lvl3pPr marL="1143000" indent="-22860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3pPr>
              <a:lvl4pPr marL="1600200" indent="-22860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4pPr>
              <a:lvl5pPr marL="2057400" indent="-22860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zh-CN" altLang="en-US" sz="24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rPr>
                <a:t>循环 </a:t>
              </a:r>
            </a:p>
          </p:txBody>
        </p:sp>
      </p:grpSp>
      <p:sp>
        <p:nvSpPr>
          <p:cNvPr id="17" name="Text Box 25"/>
          <p:cNvSpPr txBox="1">
            <a:spLocks noChangeArrowheads="1"/>
          </p:cNvSpPr>
          <p:nvPr/>
        </p:nvSpPr>
        <p:spPr bwMode="auto">
          <a:xfrm>
            <a:off x="8336331" y="1891125"/>
            <a:ext cx="2209800" cy="154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 sz="2800" b="1">
                <a:solidFill>
                  <a:schemeClr val="tx1"/>
                </a:solidFill>
                <a:ea typeface="宋体" pitchFamily="2" charset="-122"/>
              </a:rPr>
              <a:t>两个特点？</a:t>
            </a:r>
          </a:p>
          <a:p>
            <a:pPr eaLnBrk="1" hangingPunct="1">
              <a:spcBef>
                <a:spcPct val="20000"/>
              </a:spcBef>
              <a:buFontTx/>
              <a:buAutoNum type="arabicPeriod"/>
            </a:pPr>
            <a:r>
              <a:rPr lang="zh-CN" altLang="en-US" sz="2800" b="1">
                <a:solidFill>
                  <a:schemeClr val="tx1"/>
                </a:solidFill>
                <a:ea typeface="宋体" pitchFamily="2" charset="-122"/>
              </a:rPr>
              <a:t>重复执行</a:t>
            </a:r>
          </a:p>
          <a:p>
            <a:pPr eaLnBrk="1" hangingPunct="1">
              <a:spcBef>
                <a:spcPct val="20000"/>
              </a:spcBef>
              <a:buFontTx/>
              <a:buAutoNum type="arabicPeriod"/>
            </a:pPr>
            <a:r>
              <a:rPr lang="zh-CN" altLang="en-US" sz="2800" b="1">
                <a:solidFill>
                  <a:schemeClr val="tx1"/>
                </a:solidFill>
                <a:ea typeface="宋体" pitchFamily="2" charset="-122"/>
              </a:rPr>
              <a:t>连续执行</a:t>
            </a:r>
          </a:p>
        </p:txBody>
      </p:sp>
      <p:grpSp>
        <p:nvGrpSpPr>
          <p:cNvPr id="18" name="Group 26"/>
          <p:cNvGrpSpPr>
            <a:grpSpLocks/>
          </p:cNvGrpSpPr>
          <p:nvPr/>
        </p:nvGrpSpPr>
        <p:grpSpPr bwMode="auto">
          <a:xfrm>
            <a:off x="1233060" y="3819510"/>
            <a:ext cx="1397000" cy="1666875"/>
            <a:chOff x="357" y="1726"/>
            <a:chExt cx="1045" cy="1622"/>
          </a:xfrm>
        </p:grpSpPr>
        <p:sp>
          <p:nvSpPr>
            <p:cNvPr id="19" name="Rectangle 27"/>
            <p:cNvSpPr>
              <a:spLocks noChangeArrowheads="1"/>
            </p:cNvSpPr>
            <p:nvPr/>
          </p:nvSpPr>
          <p:spPr bwMode="auto">
            <a:xfrm>
              <a:off x="360" y="1726"/>
              <a:ext cx="1042" cy="320"/>
            </a:xfrm>
            <a:prstGeom prst="rect">
              <a:avLst/>
            </a:prstGeom>
            <a:solidFill>
              <a:schemeClr val="hlink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kumimoji="1" lang="zh-CN" altLang="en-US" sz="2800" b="1">
                <a:solidFill>
                  <a:srgbClr val="FFFFFF"/>
                </a:solidFill>
                <a:ea typeface="宋体" pitchFamily="2" charset="-122"/>
              </a:endParaRPr>
            </a:p>
          </p:txBody>
        </p:sp>
        <p:sp>
          <p:nvSpPr>
            <p:cNvPr id="20" name="Line 28"/>
            <p:cNvSpPr>
              <a:spLocks noChangeShapeType="1"/>
            </p:cNvSpPr>
            <p:nvPr/>
          </p:nvSpPr>
          <p:spPr bwMode="auto">
            <a:xfrm>
              <a:off x="863" y="2046"/>
              <a:ext cx="0" cy="29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1" name="Rectangle 29"/>
            <p:cNvSpPr>
              <a:spLocks noChangeArrowheads="1"/>
            </p:cNvSpPr>
            <p:nvPr/>
          </p:nvSpPr>
          <p:spPr bwMode="auto">
            <a:xfrm>
              <a:off x="357" y="2352"/>
              <a:ext cx="1045" cy="367"/>
            </a:xfrm>
            <a:prstGeom prst="rect">
              <a:avLst/>
            </a:prstGeom>
            <a:solidFill>
              <a:srgbClr val="000000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kumimoji="1" lang="zh-CN" altLang="en-US" sz="2400" b="1">
                <a:solidFill>
                  <a:srgbClr val="FFFFFF"/>
                </a:solidFill>
                <a:ea typeface="宋体" pitchFamily="2" charset="-122"/>
              </a:endParaRPr>
            </a:p>
          </p:txBody>
        </p:sp>
        <p:sp>
          <p:nvSpPr>
            <p:cNvPr id="22" name="Rectangle 30"/>
            <p:cNvSpPr>
              <a:spLocks noChangeArrowheads="1"/>
            </p:cNvSpPr>
            <p:nvPr/>
          </p:nvSpPr>
          <p:spPr bwMode="auto">
            <a:xfrm>
              <a:off x="357" y="3028"/>
              <a:ext cx="1042" cy="320"/>
            </a:xfrm>
            <a:prstGeom prst="rect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kumimoji="1" lang="zh-CN" altLang="en-US" sz="2800" b="1">
                <a:solidFill>
                  <a:srgbClr val="FFFFFF"/>
                </a:solidFill>
                <a:ea typeface="宋体" pitchFamily="2" charset="-122"/>
              </a:endParaRPr>
            </a:p>
          </p:txBody>
        </p:sp>
        <p:sp>
          <p:nvSpPr>
            <p:cNvPr id="23" name="Line 31"/>
            <p:cNvSpPr>
              <a:spLocks noChangeShapeType="1"/>
            </p:cNvSpPr>
            <p:nvPr/>
          </p:nvSpPr>
          <p:spPr bwMode="auto">
            <a:xfrm>
              <a:off x="860" y="2718"/>
              <a:ext cx="0" cy="29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4" name="Group 32"/>
          <p:cNvGrpSpPr>
            <a:grpSpLocks/>
          </p:cNvGrpSpPr>
          <p:nvPr/>
        </p:nvGrpSpPr>
        <p:grpSpPr bwMode="auto">
          <a:xfrm>
            <a:off x="3618831" y="3809985"/>
            <a:ext cx="1828800" cy="1600200"/>
            <a:chOff x="1704" y="1723"/>
            <a:chExt cx="1709" cy="1622"/>
          </a:xfrm>
        </p:grpSpPr>
        <p:sp>
          <p:nvSpPr>
            <p:cNvPr id="25" name="Rectangle 33"/>
            <p:cNvSpPr>
              <a:spLocks noChangeArrowheads="1"/>
            </p:cNvSpPr>
            <p:nvPr/>
          </p:nvSpPr>
          <p:spPr bwMode="auto">
            <a:xfrm>
              <a:off x="1968" y="1723"/>
              <a:ext cx="1042" cy="320"/>
            </a:xfrm>
            <a:prstGeom prst="rect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kumimoji="1" lang="zh-CN" altLang="en-US" sz="2800" b="1">
                <a:solidFill>
                  <a:srgbClr val="FFFFFF"/>
                </a:solidFill>
                <a:ea typeface="宋体" pitchFamily="2" charset="-122"/>
              </a:endParaRPr>
            </a:p>
          </p:txBody>
        </p:sp>
        <p:sp>
          <p:nvSpPr>
            <p:cNvPr id="26" name="Line 34"/>
            <p:cNvSpPr>
              <a:spLocks noChangeShapeType="1"/>
            </p:cNvSpPr>
            <p:nvPr/>
          </p:nvSpPr>
          <p:spPr bwMode="auto">
            <a:xfrm flipH="1">
              <a:off x="1968" y="2043"/>
              <a:ext cx="503" cy="29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7" name="Rectangle 35"/>
            <p:cNvSpPr>
              <a:spLocks noChangeArrowheads="1"/>
            </p:cNvSpPr>
            <p:nvPr/>
          </p:nvSpPr>
          <p:spPr bwMode="auto">
            <a:xfrm>
              <a:off x="1704" y="2349"/>
              <a:ext cx="641" cy="367"/>
            </a:xfrm>
            <a:prstGeom prst="rect">
              <a:avLst/>
            </a:prstGeom>
            <a:solidFill>
              <a:srgbClr val="FF0000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kumimoji="1" lang="zh-CN" altLang="en-US" sz="2400" b="1">
                <a:solidFill>
                  <a:srgbClr val="FFFFFF"/>
                </a:solidFill>
                <a:ea typeface="宋体" pitchFamily="2" charset="-122"/>
              </a:endParaRPr>
            </a:p>
          </p:txBody>
        </p:sp>
        <p:sp>
          <p:nvSpPr>
            <p:cNvPr id="28" name="Rectangle 36"/>
            <p:cNvSpPr>
              <a:spLocks noChangeArrowheads="1"/>
            </p:cNvSpPr>
            <p:nvPr/>
          </p:nvSpPr>
          <p:spPr bwMode="auto">
            <a:xfrm>
              <a:off x="1965" y="3025"/>
              <a:ext cx="1042" cy="320"/>
            </a:xfrm>
            <a:prstGeom prst="rect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kumimoji="1" lang="zh-CN" altLang="en-US" sz="2800" b="1">
                <a:solidFill>
                  <a:srgbClr val="FFFFFF"/>
                </a:solidFill>
                <a:ea typeface="宋体" pitchFamily="2" charset="-122"/>
              </a:endParaRPr>
            </a:p>
          </p:txBody>
        </p:sp>
        <p:sp>
          <p:nvSpPr>
            <p:cNvPr id="29" name="Line 37"/>
            <p:cNvSpPr>
              <a:spLocks noChangeShapeType="1"/>
            </p:cNvSpPr>
            <p:nvPr/>
          </p:nvSpPr>
          <p:spPr bwMode="auto">
            <a:xfrm>
              <a:off x="2009" y="2715"/>
              <a:ext cx="462" cy="30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0" name="Rectangle 38"/>
            <p:cNvSpPr>
              <a:spLocks noChangeArrowheads="1"/>
            </p:cNvSpPr>
            <p:nvPr/>
          </p:nvSpPr>
          <p:spPr bwMode="auto">
            <a:xfrm>
              <a:off x="2772" y="2337"/>
              <a:ext cx="641" cy="367"/>
            </a:xfrm>
            <a:prstGeom prst="rect">
              <a:avLst/>
            </a:prstGeom>
            <a:solidFill>
              <a:srgbClr val="008000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kumimoji="1" lang="zh-CN" altLang="en-US" sz="2400" b="1">
                <a:solidFill>
                  <a:srgbClr val="FFFFFF"/>
                </a:solidFill>
                <a:ea typeface="宋体" pitchFamily="2" charset="-122"/>
              </a:endParaRPr>
            </a:p>
          </p:txBody>
        </p:sp>
        <p:sp>
          <p:nvSpPr>
            <p:cNvPr id="31" name="Line 39"/>
            <p:cNvSpPr>
              <a:spLocks noChangeShapeType="1"/>
            </p:cNvSpPr>
            <p:nvPr/>
          </p:nvSpPr>
          <p:spPr bwMode="auto">
            <a:xfrm>
              <a:off x="2504" y="2049"/>
              <a:ext cx="632" cy="27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2" name="Line 40"/>
            <p:cNvSpPr>
              <a:spLocks noChangeShapeType="1"/>
            </p:cNvSpPr>
            <p:nvPr/>
          </p:nvSpPr>
          <p:spPr bwMode="auto">
            <a:xfrm flipH="1">
              <a:off x="2504" y="2703"/>
              <a:ext cx="591" cy="32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3" name="Group 41"/>
          <p:cNvGrpSpPr>
            <a:grpSpLocks/>
          </p:cNvGrpSpPr>
          <p:nvPr/>
        </p:nvGrpSpPr>
        <p:grpSpPr bwMode="auto">
          <a:xfrm>
            <a:off x="6404994" y="3719498"/>
            <a:ext cx="1762125" cy="1690687"/>
            <a:chOff x="3826" y="1366"/>
            <a:chExt cx="1859" cy="2261"/>
          </a:xfrm>
        </p:grpSpPr>
        <p:sp>
          <p:nvSpPr>
            <p:cNvPr id="34" name="Rectangle 42"/>
            <p:cNvSpPr>
              <a:spLocks noChangeArrowheads="1"/>
            </p:cNvSpPr>
            <p:nvPr/>
          </p:nvSpPr>
          <p:spPr bwMode="auto">
            <a:xfrm>
              <a:off x="3979" y="1366"/>
              <a:ext cx="1042" cy="320"/>
            </a:xfrm>
            <a:prstGeom prst="rect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kumimoji="1" lang="zh-CN" altLang="en-US" sz="2800" b="1">
                <a:solidFill>
                  <a:srgbClr val="FFFFFF"/>
                </a:solidFill>
                <a:ea typeface="宋体" pitchFamily="2" charset="-122"/>
              </a:endParaRPr>
            </a:p>
          </p:txBody>
        </p:sp>
        <p:sp>
          <p:nvSpPr>
            <p:cNvPr id="35" name="Line 43"/>
            <p:cNvSpPr>
              <a:spLocks noChangeShapeType="1"/>
            </p:cNvSpPr>
            <p:nvPr/>
          </p:nvSpPr>
          <p:spPr bwMode="auto">
            <a:xfrm>
              <a:off x="4482" y="1686"/>
              <a:ext cx="0" cy="29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6" name="Rectangle 44"/>
            <p:cNvSpPr>
              <a:spLocks noChangeArrowheads="1"/>
            </p:cNvSpPr>
            <p:nvPr/>
          </p:nvSpPr>
          <p:spPr bwMode="auto">
            <a:xfrm>
              <a:off x="3826" y="1992"/>
              <a:ext cx="1408" cy="1024"/>
            </a:xfrm>
            <a:prstGeom prst="rect">
              <a:avLst/>
            </a:prstGeom>
            <a:solidFill>
              <a:srgbClr val="339966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kumimoji="1" lang="zh-CN" altLang="en-US" sz="2800" b="1">
                <a:solidFill>
                  <a:srgbClr val="FFFFFF"/>
                </a:solidFill>
                <a:ea typeface="宋体" pitchFamily="2" charset="-122"/>
              </a:endParaRPr>
            </a:p>
          </p:txBody>
        </p:sp>
        <p:sp>
          <p:nvSpPr>
            <p:cNvPr id="37" name="Rectangle 45"/>
            <p:cNvSpPr>
              <a:spLocks noChangeArrowheads="1"/>
            </p:cNvSpPr>
            <p:nvPr/>
          </p:nvSpPr>
          <p:spPr bwMode="auto">
            <a:xfrm>
              <a:off x="3976" y="3307"/>
              <a:ext cx="1042" cy="320"/>
            </a:xfrm>
            <a:prstGeom prst="rect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kumimoji="1" lang="zh-CN" altLang="en-US" sz="2800" b="1">
                <a:solidFill>
                  <a:srgbClr val="FFFFFF"/>
                </a:solidFill>
                <a:ea typeface="宋体" pitchFamily="2" charset="-122"/>
              </a:endParaRPr>
            </a:p>
          </p:txBody>
        </p:sp>
        <p:sp>
          <p:nvSpPr>
            <p:cNvPr id="38" name="Line 46"/>
            <p:cNvSpPr>
              <a:spLocks noChangeShapeType="1"/>
            </p:cNvSpPr>
            <p:nvPr/>
          </p:nvSpPr>
          <p:spPr bwMode="auto">
            <a:xfrm>
              <a:off x="4479" y="3015"/>
              <a:ext cx="0" cy="29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9" name="Freeform 47"/>
            <p:cNvSpPr>
              <a:spLocks/>
            </p:cNvSpPr>
            <p:nvPr/>
          </p:nvSpPr>
          <p:spPr bwMode="auto">
            <a:xfrm rot="-300000">
              <a:off x="4508" y="1734"/>
              <a:ext cx="1177" cy="1457"/>
            </a:xfrm>
            <a:custGeom>
              <a:avLst/>
              <a:gdLst>
                <a:gd name="T0" fmla="*/ 0 w 1178"/>
                <a:gd name="T1" fmla="*/ 921 h 1496"/>
                <a:gd name="T2" fmla="*/ 366 w 1178"/>
                <a:gd name="T3" fmla="*/ 992 h 1496"/>
                <a:gd name="T4" fmla="*/ 652 w 1178"/>
                <a:gd name="T5" fmla="*/ 992 h 1496"/>
                <a:gd name="T6" fmla="*/ 899 w 1178"/>
                <a:gd name="T7" fmla="*/ 933 h 1496"/>
                <a:gd name="T8" fmla="*/ 991 w 1178"/>
                <a:gd name="T9" fmla="*/ 798 h 1496"/>
                <a:gd name="T10" fmla="*/ 1000 w 1178"/>
                <a:gd name="T11" fmla="*/ 127 h 1496"/>
                <a:gd name="T12" fmla="*/ 27 w 1178"/>
                <a:gd name="T13" fmla="*/ 37 h 149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178"/>
                <a:gd name="T22" fmla="*/ 0 h 1496"/>
                <a:gd name="T23" fmla="*/ 1178 w 1178"/>
                <a:gd name="T24" fmla="*/ 1496 h 149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178" h="1496">
                  <a:moveTo>
                    <a:pt x="0" y="1369"/>
                  </a:moveTo>
                  <a:cubicBezTo>
                    <a:pt x="127" y="1414"/>
                    <a:pt x="255" y="1460"/>
                    <a:pt x="366" y="1478"/>
                  </a:cubicBezTo>
                  <a:cubicBezTo>
                    <a:pt x="477" y="1496"/>
                    <a:pt x="576" y="1493"/>
                    <a:pt x="667" y="1478"/>
                  </a:cubicBezTo>
                  <a:cubicBezTo>
                    <a:pt x="758" y="1463"/>
                    <a:pt x="857" y="1436"/>
                    <a:pt x="914" y="1387"/>
                  </a:cubicBezTo>
                  <a:cubicBezTo>
                    <a:pt x="971" y="1338"/>
                    <a:pt x="989" y="1386"/>
                    <a:pt x="1006" y="1186"/>
                  </a:cubicBezTo>
                  <a:cubicBezTo>
                    <a:pt x="1023" y="986"/>
                    <a:pt x="1178" y="378"/>
                    <a:pt x="1015" y="189"/>
                  </a:cubicBezTo>
                  <a:cubicBezTo>
                    <a:pt x="852" y="0"/>
                    <a:pt x="439" y="26"/>
                    <a:pt x="27" y="52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1643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大学生小明的一周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1" name="Text Box 3"/>
          <p:cNvSpPr txBox="1">
            <a:spLocks noChangeArrowheads="1"/>
          </p:cNvSpPr>
          <p:nvPr/>
        </p:nvSpPr>
        <p:spPr bwMode="auto">
          <a:xfrm>
            <a:off x="1959629" y="1486592"/>
            <a:ext cx="7931150" cy="4592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3600" b="1">
                <a:solidFill>
                  <a:schemeClr val="tx1"/>
                </a:solidFill>
                <a:ea typeface="宋体" pitchFamily="2" charset="-122"/>
              </a:rPr>
              <a:t>小明一周的学习</a:t>
            </a:r>
            <a:r>
              <a:rPr kumimoji="1" lang="en-US" altLang="zh-CN" sz="3600" b="1">
                <a:solidFill>
                  <a:schemeClr val="tx1"/>
                </a:solidFill>
                <a:ea typeface="宋体" pitchFamily="2" charset="-122"/>
              </a:rPr>
              <a:t>/</a:t>
            </a:r>
            <a:r>
              <a:rPr kumimoji="1" lang="zh-CN" altLang="en-US" sz="3600" b="1">
                <a:solidFill>
                  <a:schemeClr val="tx1"/>
                </a:solidFill>
                <a:ea typeface="宋体" pitchFamily="2" charset="-122"/>
              </a:rPr>
              <a:t>生活总结：</a:t>
            </a:r>
          </a:p>
          <a:p>
            <a:pPr eaLnBrk="1" hangingPunct="1">
              <a:spcBef>
                <a:spcPct val="50000"/>
              </a:spcBef>
              <a:buFontTx/>
              <a:buAutoNum type="arabicPeriod"/>
            </a:pPr>
            <a:r>
              <a:rPr kumimoji="1" lang="zh-CN" altLang="en-US" b="1" u="sng">
                <a:solidFill>
                  <a:schemeClr val="tx1"/>
                </a:solidFill>
                <a:ea typeface="宋体" pitchFamily="2" charset="-122"/>
              </a:rPr>
              <a:t>睡觉</a:t>
            </a:r>
            <a:r>
              <a:rPr kumimoji="1" lang="en-US" altLang="zh-CN" b="1">
                <a:solidFill>
                  <a:schemeClr val="tx1"/>
                </a:solidFill>
                <a:ea typeface="宋体" pitchFamily="2" charset="-122"/>
              </a:rPr>
              <a:t>7</a:t>
            </a:r>
            <a:r>
              <a:rPr kumimoji="1" lang="zh-CN" altLang="en-US" b="1">
                <a:solidFill>
                  <a:schemeClr val="tx1"/>
                </a:solidFill>
                <a:ea typeface="宋体" pitchFamily="2" charset="-122"/>
              </a:rPr>
              <a:t>次；</a:t>
            </a:r>
          </a:p>
          <a:p>
            <a:pPr eaLnBrk="1" hangingPunct="1">
              <a:spcBef>
                <a:spcPct val="10000"/>
              </a:spcBef>
              <a:buFontTx/>
              <a:buAutoNum type="arabicPeriod"/>
            </a:pPr>
            <a:r>
              <a:rPr kumimoji="1" lang="zh-CN" altLang="en-US" b="1">
                <a:solidFill>
                  <a:schemeClr val="tx1"/>
                </a:solidFill>
                <a:ea typeface="宋体" pitchFamily="2" charset="-122"/>
              </a:rPr>
              <a:t>去食堂</a:t>
            </a:r>
            <a:r>
              <a:rPr kumimoji="1" lang="zh-CN" altLang="en-US" b="1" u="sng">
                <a:solidFill>
                  <a:schemeClr val="tx1"/>
                </a:solidFill>
                <a:ea typeface="宋体" pitchFamily="2" charset="-122"/>
              </a:rPr>
              <a:t>吃饭</a:t>
            </a:r>
            <a:r>
              <a:rPr kumimoji="1" lang="en-US" altLang="zh-CN" b="1">
                <a:solidFill>
                  <a:schemeClr val="tx1"/>
                </a:solidFill>
                <a:ea typeface="宋体" pitchFamily="2" charset="-122"/>
              </a:rPr>
              <a:t>21</a:t>
            </a:r>
            <a:r>
              <a:rPr kumimoji="1" lang="zh-CN" altLang="en-US" b="1">
                <a:solidFill>
                  <a:schemeClr val="tx1"/>
                </a:solidFill>
                <a:ea typeface="宋体" pitchFamily="2" charset="-122"/>
              </a:rPr>
              <a:t>次（或</a:t>
            </a:r>
            <a:r>
              <a:rPr kumimoji="1" lang="en-US" altLang="zh-CN" b="1">
                <a:solidFill>
                  <a:schemeClr val="tx1"/>
                </a:solidFill>
                <a:ea typeface="宋体" pitchFamily="2" charset="-122"/>
              </a:rPr>
              <a:t>14</a:t>
            </a:r>
            <a:r>
              <a:rPr kumimoji="1" lang="zh-CN" altLang="en-US" b="1">
                <a:solidFill>
                  <a:schemeClr val="tx1"/>
                </a:solidFill>
                <a:ea typeface="宋体" pitchFamily="2" charset="-122"/>
              </a:rPr>
              <a:t>次）；</a:t>
            </a:r>
          </a:p>
          <a:p>
            <a:pPr eaLnBrk="1" hangingPunct="1">
              <a:spcBef>
                <a:spcPct val="10000"/>
              </a:spcBef>
              <a:buFontTx/>
              <a:buAutoNum type="arabicPeriod"/>
            </a:pPr>
            <a:r>
              <a:rPr kumimoji="1" lang="zh-CN" altLang="en-US" b="1">
                <a:solidFill>
                  <a:schemeClr val="tx1"/>
                </a:solidFill>
                <a:ea typeface="宋体" pitchFamily="2" charset="-122"/>
              </a:rPr>
              <a:t>上课</a:t>
            </a:r>
            <a:r>
              <a:rPr kumimoji="1" lang="en-US" altLang="zh-CN" b="1">
                <a:solidFill>
                  <a:schemeClr val="tx1"/>
                </a:solidFill>
                <a:ea typeface="宋体" pitchFamily="2" charset="-122"/>
              </a:rPr>
              <a:t>11</a:t>
            </a:r>
            <a:r>
              <a:rPr kumimoji="1" lang="zh-CN" altLang="en-US" b="1">
                <a:solidFill>
                  <a:schemeClr val="tx1"/>
                </a:solidFill>
                <a:ea typeface="宋体" pitchFamily="2" charset="-122"/>
              </a:rPr>
              <a:t>次；</a:t>
            </a:r>
          </a:p>
          <a:p>
            <a:pPr eaLnBrk="1" hangingPunct="1">
              <a:spcBef>
                <a:spcPct val="10000"/>
              </a:spcBef>
              <a:buFontTx/>
              <a:buAutoNum type="arabicPeriod"/>
            </a:pPr>
            <a:r>
              <a:rPr kumimoji="1" lang="zh-CN" altLang="en-US" b="1">
                <a:solidFill>
                  <a:schemeClr val="tx1"/>
                </a:solidFill>
                <a:ea typeface="宋体" pitchFamily="2" charset="-122"/>
              </a:rPr>
              <a:t>去教室上自习</a:t>
            </a:r>
            <a:r>
              <a:rPr kumimoji="1" lang="en-US" altLang="zh-CN" b="1">
                <a:solidFill>
                  <a:schemeClr val="tx1"/>
                </a:solidFill>
                <a:ea typeface="宋体" pitchFamily="2" charset="-122"/>
              </a:rPr>
              <a:t>6</a:t>
            </a:r>
            <a:r>
              <a:rPr kumimoji="1" lang="zh-CN" altLang="en-US" b="1">
                <a:solidFill>
                  <a:schemeClr val="tx1"/>
                </a:solidFill>
                <a:ea typeface="宋体" pitchFamily="2" charset="-122"/>
              </a:rPr>
              <a:t>次；</a:t>
            </a:r>
          </a:p>
          <a:p>
            <a:pPr eaLnBrk="1" hangingPunct="1">
              <a:spcBef>
                <a:spcPct val="10000"/>
              </a:spcBef>
              <a:buFontTx/>
              <a:buAutoNum type="arabicPeriod"/>
            </a:pPr>
            <a:r>
              <a:rPr kumimoji="1" lang="zh-CN" altLang="en-US" b="1">
                <a:solidFill>
                  <a:schemeClr val="tx1"/>
                </a:solidFill>
                <a:ea typeface="宋体" pitchFamily="2" charset="-122"/>
              </a:rPr>
              <a:t>参加拔河比赛</a:t>
            </a:r>
            <a:r>
              <a:rPr kumimoji="1" lang="en-US" altLang="zh-CN" b="1">
                <a:solidFill>
                  <a:schemeClr val="tx1"/>
                </a:solidFill>
                <a:ea typeface="宋体" pitchFamily="2" charset="-122"/>
              </a:rPr>
              <a:t>1</a:t>
            </a:r>
            <a:r>
              <a:rPr kumimoji="1" lang="zh-CN" altLang="en-US" b="1">
                <a:solidFill>
                  <a:schemeClr val="tx1"/>
                </a:solidFill>
                <a:ea typeface="宋体" pitchFamily="2" charset="-122"/>
              </a:rPr>
              <a:t>次；</a:t>
            </a:r>
          </a:p>
          <a:p>
            <a:pPr eaLnBrk="1" hangingPunct="1">
              <a:spcBef>
                <a:spcPct val="10000"/>
              </a:spcBef>
              <a:buFontTx/>
              <a:buAutoNum type="arabicPeriod"/>
            </a:pPr>
            <a:r>
              <a:rPr kumimoji="1" lang="zh-CN" altLang="en-US" b="1">
                <a:solidFill>
                  <a:schemeClr val="tx1"/>
                </a:solidFill>
                <a:ea typeface="宋体" pitchFamily="2" charset="-122"/>
              </a:rPr>
              <a:t>去大礼堂看电影</a:t>
            </a:r>
            <a:r>
              <a:rPr kumimoji="1" lang="en-US" altLang="zh-CN" b="1">
                <a:solidFill>
                  <a:schemeClr val="tx1"/>
                </a:solidFill>
                <a:ea typeface="宋体" pitchFamily="2" charset="-122"/>
              </a:rPr>
              <a:t>1</a:t>
            </a:r>
            <a:r>
              <a:rPr kumimoji="1" lang="zh-CN" altLang="en-US" b="1">
                <a:solidFill>
                  <a:schemeClr val="tx1"/>
                </a:solidFill>
                <a:ea typeface="宋体" pitchFamily="2" charset="-122"/>
              </a:rPr>
              <a:t>次；</a:t>
            </a:r>
          </a:p>
          <a:p>
            <a:pPr eaLnBrk="1" hangingPunct="1">
              <a:spcBef>
                <a:spcPct val="10000"/>
              </a:spcBef>
              <a:buFontTx/>
              <a:buAutoNum type="arabicPeriod"/>
            </a:pPr>
            <a:r>
              <a:rPr kumimoji="1" lang="en-US" altLang="zh-CN" b="1">
                <a:solidFill>
                  <a:schemeClr val="tx1"/>
                </a:solidFill>
                <a:ea typeface="宋体" pitchFamily="2" charset="-122"/>
              </a:rPr>
              <a:t>……</a:t>
            </a:r>
          </a:p>
        </p:txBody>
      </p:sp>
      <p:sp>
        <p:nvSpPr>
          <p:cNvPr id="42" name="Text Box 5"/>
          <p:cNvSpPr txBox="1">
            <a:spLocks noChangeArrowheads="1"/>
          </p:cNvSpPr>
          <p:nvPr/>
        </p:nvSpPr>
        <p:spPr bwMode="auto">
          <a:xfrm>
            <a:off x="8305800" y="3626643"/>
            <a:ext cx="2514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 sz="2800" b="1">
                <a:solidFill>
                  <a:srgbClr val="C00000"/>
                </a:solidFill>
                <a:ea typeface="宋体" pitchFamily="2" charset="-122"/>
              </a:rPr>
              <a:t>重复不连续！</a:t>
            </a:r>
          </a:p>
        </p:txBody>
      </p:sp>
    </p:spTree>
    <p:extLst>
      <p:ext uri="{BB962C8B-B14F-4D97-AF65-F5344CB8AC3E}">
        <p14:creationId xmlns:p14="http://schemas.microsoft.com/office/powerpoint/2010/main" val="862120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build="p"/>
      <p:bldP spid="42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参考代码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1392405" y="1524000"/>
            <a:ext cx="2673350" cy="4364038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457200" indent="-457200"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AutoNum type="arabicPeriod"/>
            </a:pPr>
            <a:r>
              <a:rPr kumimoji="1" lang="zh-CN" altLang="en-US" b="1">
                <a:solidFill>
                  <a:schemeClr val="tx1"/>
                </a:solidFill>
                <a:ea typeface="宋体" pitchFamily="2" charset="-122"/>
              </a:rPr>
              <a:t>睡觉</a:t>
            </a:r>
          </a:p>
          <a:p>
            <a:pPr eaLnBrk="1" hangingPunct="1">
              <a:spcBef>
                <a:spcPct val="10000"/>
              </a:spcBef>
              <a:buFontTx/>
              <a:buAutoNum type="arabicPeriod"/>
            </a:pPr>
            <a:r>
              <a:rPr kumimoji="1" lang="zh-CN" altLang="en-US" b="1">
                <a:solidFill>
                  <a:schemeClr val="tx1"/>
                </a:solidFill>
                <a:ea typeface="宋体" pitchFamily="2" charset="-122"/>
              </a:rPr>
              <a:t>吃饭</a:t>
            </a:r>
          </a:p>
          <a:p>
            <a:pPr eaLnBrk="1" hangingPunct="1">
              <a:spcBef>
                <a:spcPct val="10000"/>
              </a:spcBef>
              <a:buFontTx/>
              <a:buAutoNum type="arabicPeriod"/>
            </a:pPr>
            <a:r>
              <a:rPr kumimoji="1" lang="zh-CN" altLang="en-US" b="1">
                <a:solidFill>
                  <a:schemeClr val="tx1"/>
                </a:solidFill>
                <a:ea typeface="宋体" pitchFamily="2" charset="-122"/>
              </a:rPr>
              <a:t>上课</a:t>
            </a:r>
          </a:p>
          <a:p>
            <a:pPr eaLnBrk="1" hangingPunct="1">
              <a:spcBef>
                <a:spcPct val="10000"/>
              </a:spcBef>
              <a:buFontTx/>
              <a:buAutoNum type="arabicPeriod"/>
            </a:pPr>
            <a:r>
              <a:rPr kumimoji="1" lang="zh-CN" altLang="en-US" b="1">
                <a:solidFill>
                  <a:schemeClr val="tx1"/>
                </a:solidFill>
                <a:ea typeface="宋体" pitchFamily="2" charset="-122"/>
              </a:rPr>
              <a:t>上自习</a:t>
            </a:r>
          </a:p>
          <a:p>
            <a:pPr eaLnBrk="1" hangingPunct="1">
              <a:spcBef>
                <a:spcPct val="10000"/>
              </a:spcBef>
              <a:buFontTx/>
              <a:buAutoNum type="arabicPeriod"/>
            </a:pPr>
            <a:r>
              <a:rPr kumimoji="1" lang="zh-CN" altLang="en-US" b="1">
                <a:solidFill>
                  <a:schemeClr val="tx1"/>
                </a:solidFill>
                <a:ea typeface="宋体" pitchFamily="2" charset="-122"/>
              </a:rPr>
              <a:t>睡觉</a:t>
            </a:r>
          </a:p>
          <a:p>
            <a:pPr eaLnBrk="1" hangingPunct="1">
              <a:spcBef>
                <a:spcPct val="10000"/>
              </a:spcBef>
              <a:buFontTx/>
              <a:buAutoNum type="arabicPeriod"/>
            </a:pPr>
            <a:r>
              <a:rPr kumimoji="1" lang="zh-CN" altLang="en-US" b="1">
                <a:solidFill>
                  <a:schemeClr val="tx1"/>
                </a:solidFill>
                <a:ea typeface="宋体" pitchFamily="2" charset="-122"/>
              </a:rPr>
              <a:t>吃饭</a:t>
            </a:r>
          </a:p>
          <a:p>
            <a:pPr eaLnBrk="1" hangingPunct="1">
              <a:spcBef>
                <a:spcPct val="10000"/>
              </a:spcBef>
              <a:buFontTx/>
              <a:buAutoNum type="arabicPeriod"/>
            </a:pPr>
            <a:r>
              <a:rPr kumimoji="1" lang="zh-CN" altLang="en-US" b="1">
                <a:solidFill>
                  <a:schemeClr val="tx1"/>
                </a:solidFill>
                <a:ea typeface="宋体" pitchFamily="2" charset="-122"/>
              </a:rPr>
              <a:t>上课</a:t>
            </a:r>
          </a:p>
          <a:p>
            <a:pPr eaLnBrk="1" hangingPunct="1">
              <a:spcBef>
                <a:spcPct val="10000"/>
              </a:spcBef>
              <a:buFontTx/>
              <a:buAutoNum type="arabicPeriod"/>
            </a:pPr>
            <a:r>
              <a:rPr kumimoji="1" lang="en-US" altLang="zh-CN" b="1">
                <a:solidFill>
                  <a:schemeClr val="tx1"/>
                </a:solidFill>
                <a:ea typeface="宋体" pitchFamily="2" charset="-122"/>
              </a:rPr>
              <a:t>......</a:t>
            </a:r>
          </a:p>
        </p:txBody>
      </p:sp>
      <p:sp>
        <p:nvSpPr>
          <p:cNvPr id="11" name="Text Box 6"/>
          <p:cNvSpPr txBox="1">
            <a:spLocks noChangeArrowheads="1"/>
          </p:cNvSpPr>
          <p:nvPr/>
        </p:nvSpPr>
        <p:spPr bwMode="auto">
          <a:xfrm>
            <a:off x="5117906" y="1709667"/>
            <a:ext cx="5813329" cy="3816429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marL="457200" indent="-457200"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ts val="1200"/>
              </a:spcBef>
            </a:pPr>
            <a:r>
              <a:rPr kumimoji="1" lang="en-US" altLang="zh-CN" b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for i in range(7):</a:t>
            </a:r>
          </a:p>
          <a:p>
            <a:pPr eaLnBrk="1" hangingPunct="1">
              <a:spcBef>
                <a:spcPts val="1200"/>
              </a:spcBef>
            </a:pPr>
            <a:r>
              <a:rPr kumimoji="1" lang="zh-CN" altLang="en-US" b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  睡觉</a:t>
            </a:r>
          </a:p>
          <a:p>
            <a:pPr eaLnBrk="1" hangingPunct="1">
              <a:spcBef>
                <a:spcPts val="1200"/>
              </a:spcBef>
            </a:pPr>
            <a:r>
              <a:rPr kumimoji="1" lang="en-US" altLang="zh-CN" b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for i in range(21):</a:t>
            </a:r>
          </a:p>
          <a:p>
            <a:pPr eaLnBrk="1" hangingPunct="1">
              <a:spcBef>
                <a:spcPts val="1200"/>
              </a:spcBef>
            </a:pPr>
            <a:r>
              <a:rPr kumimoji="1" lang="en-US" altLang="zh-CN" b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  </a:t>
            </a:r>
            <a:r>
              <a:rPr kumimoji="1" lang="zh-CN" altLang="en-US" b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吃饭</a:t>
            </a:r>
            <a:endParaRPr kumimoji="1" lang="en-US" altLang="zh-CN" b="1">
              <a:solidFill>
                <a:schemeClr val="tx1"/>
              </a:solidFill>
              <a:latin typeface="Courier New" pitchFamily="49" charset="0"/>
              <a:ea typeface="宋体" pitchFamily="2" charset="-122"/>
            </a:endParaRPr>
          </a:p>
          <a:p>
            <a:pPr eaLnBrk="1" hangingPunct="1">
              <a:spcBef>
                <a:spcPts val="1200"/>
              </a:spcBef>
            </a:pPr>
            <a:r>
              <a:rPr kumimoji="1" lang="en-US" altLang="zh-CN" b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for i in range(11):</a:t>
            </a:r>
          </a:p>
          <a:p>
            <a:pPr eaLnBrk="1" hangingPunct="1">
              <a:spcBef>
                <a:spcPts val="1200"/>
              </a:spcBef>
            </a:pPr>
            <a:r>
              <a:rPr kumimoji="1" lang="en-US" altLang="zh-CN" b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  </a:t>
            </a:r>
            <a:r>
              <a:rPr kumimoji="1" lang="zh-CN" altLang="en-US" b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上课</a:t>
            </a:r>
          </a:p>
        </p:txBody>
      </p:sp>
    </p:spTree>
    <p:extLst>
      <p:ext uri="{BB962C8B-B14F-4D97-AF65-F5344CB8AC3E}">
        <p14:creationId xmlns:p14="http://schemas.microsoft.com/office/powerpoint/2010/main" val="2967261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怎么办</a:t>
            </a:r>
            <a:r>
              <a:rPr lang="en-US" altLang="zh-CN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1444364" y="2270125"/>
            <a:ext cx="9112799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defTabSz="850900" eaLnBrk="1" hangingPunct="1">
              <a:spcBef>
                <a:spcPct val="50000"/>
              </a:spcBef>
              <a:buClr>
                <a:srgbClr val="FFFF66"/>
              </a:buClr>
              <a:buFont typeface="Wingdings" pitchFamily="2" charset="2"/>
              <a:buNone/>
            </a:pPr>
            <a:r>
              <a:rPr kumimoji="1" lang="zh-CN" altLang="en-US" sz="4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rPr>
              <a:t>如何处理“重复但不连续”的操作？</a:t>
            </a:r>
          </a:p>
        </p:txBody>
      </p: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6112240" y="3705572"/>
            <a:ext cx="3886200" cy="8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 sz="4800" b="1">
                <a:ea typeface="宋体" pitchFamily="2" charset="-122"/>
              </a:rPr>
              <a:t>–––– </a:t>
            </a:r>
            <a:r>
              <a:rPr lang="zh-CN" altLang="en-US" sz="4800" b="1">
                <a:latin typeface="隶书" pitchFamily="49" charset="-122"/>
                <a:ea typeface="隶书" pitchFamily="49" charset="-122"/>
              </a:rPr>
              <a:t>函数</a:t>
            </a:r>
          </a:p>
        </p:txBody>
      </p:sp>
    </p:spTree>
    <p:extLst>
      <p:ext uri="{BB962C8B-B14F-4D97-AF65-F5344CB8AC3E}">
        <p14:creationId xmlns:p14="http://schemas.microsoft.com/office/powerpoint/2010/main" val="3816722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什么是函数？</a:t>
            </a:r>
            <a:r>
              <a:rPr lang="en-US" altLang="zh-CN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1122218" y="1577659"/>
            <a:ext cx="9642764" cy="36379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457200" indent="-457200" eaLnBrk="1" hangingPunct="1">
              <a:spcBef>
                <a:spcPct val="60000"/>
              </a:spcBef>
              <a:buClr>
                <a:schemeClr val="tx1"/>
              </a:buClr>
              <a:buFont typeface="Wingdings" pitchFamily="2" charset="2"/>
              <a:buChar char="Ø"/>
            </a:pPr>
            <a:r>
              <a:rPr kumimoji="1" lang="zh-CN" altLang="en-US" sz="3200" b="1">
                <a:solidFill>
                  <a:schemeClr val="tx1"/>
                </a:solidFill>
                <a:ea typeface="宋体" pitchFamily="2" charset="-122"/>
              </a:rPr>
              <a:t>数学里面的函数：正弦函数、余弦函数、指数函数等</a:t>
            </a:r>
          </a:p>
          <a:p>
            <a:pPr marL="457200" indent="-457200" eaLnBrk="1" hangingPunct="1">
              <a:spcBef>
                <a:spcPct val="60000"/>
              </a:spcBef>
              <a:buClr>
                <a:schemeClr val="tx1"/>
              </a:buClr>
              <a:buFont typeface="Wingdings" pitchFamily="2" charset="2"/>
              <a:buChar char="Ø"/>
            </a:pPr>
            <a:r>
              <a:rPr kumimoji="1" lang="zh-CN" altLang="en-US" sz="3200" b="1">
                <a:solidFill>
                  <a:schemeClr val="tx1"/>
                </a:solidFill>
                <a:ea typeface="宋体" pitchFamily="2" charset="-122"/>
              </a:rPr>
              <a:t>编程语言里面的函数：也称为子程序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(subroutine)</a:t>
            </a:r>
            <a:r>
              <a:rPr kumimoji="1" lang="zh-CN" altLang="en-US" sz="3200" b="1">
                <a:solidFill>
                  <a:schemeClr val="tx1"/>
                </a:solidFill>
                <a:ea typeface="宋体" pitchFamily="2" charset="-122"/>
              </a:rPr>
              <a:t>，它是一组程序代码（包括数据和指令），用来完成某个特定的功能</a:t>
            </a:r>
          </a:p>
          <a:p>
            <a:pPr marL="457200" indent="-457200" eaLnBrk="1" hangingPunct="1">
              <a:spcBef>
                <a:spcPct val="60000"/>
              </a:spcBef>
              <a:buClr>
                <a:schemeClr val="tx1"/>
              </a:buClr>
              <a:buFont typeface="Wingdings" pitchFamily="2" charset="2"/>
              <a:buChar char="Ø"/>
            </a:pPr>
            <a:r>
              <a:rPr kumimoji="1" lang="zh-CN" altLang="en-US" sz="3200" b="1">
                <a:solidFill>
                  <a:schemeClr val="tx1"/>
                </a:solidFill>
                <a:ea typeface="宋体" pitchFamily="2" charset="-122"/>
              </a:rPr>
              <a:t>函数既可以有</a:t>
            </a:r>
            <a:r>
              <a:rPr kumimoji="1" lang="zh-CN" altLang="en-US" sz="3200" b="1">
                <a:solidFill>
                  <a:srgbClr val="FF0000"/>
                </a:solidFill>
                <a:ea typeface="宋体" pitchFamily="2" charset="-122"/>
              </a:rPr>
              <a:t>返回值</a:t>
            </a:r>
            <a:r>
              <a:rPr kumimoji="1" lang="zh-CN" altLang="en-US" sz="3200" b="1">
                <a:solidFill>
                  <a:schemeClr val="tx1"/>
                </a:solidFill>
                <a:ea typeface="宋体" pitchFamily="2" charset="-122"/>
              </a:rPr>
              <a:t>，也可以无返回值</a:t>
            </a:r>
          </a:p>
        </p:txBody>
      </p:sp>
    </p:spTree>
    <p:extLst>
      <p:ext uri="{BB962C8B-B14F-4D97-AF65-F5344CB8AC3E}">
        <p14:creationId xmlns:p14="http://schemas.microsoft.com/office/powerpoint/2010/main" val="3315833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Why</a:t>
            </a: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函数？</a:t>
            </a:r>
            <a:r>
              <a:rPr lang="en-US" altLang="zh-CN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562130" y="2270125"/>
            <a:ext cx="81915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defTabSz="850900" eaLnBrk="1" hangingPunct="1">
              <a:spcBef>
                <a:spcPct val="50000"/>
              </a:spcBef>
              <a:buClr>
                <a:srgbClr val="FFFF66"/>
              </a:buClr>
              <a:buFont typeface="Wingdings" pitchFamily="2" charset="2"/>
              <a:buNone/>
            </a:pPr>
            <a:r>
              <a:rPr kumimoji="1" lang="zh-CN" altLang="en-US" sz="4000" b="1">
                <a:ea typeface="楷体_GB2312" pitchFamily="49" charset="-122"/>
              </a:rPr>
              <a:t>为了</a:t>
            </a:r>
            <a:r>
              <a:rPr kumimoji="1" lang="zh-CN" altLang="en-US" sz="4000" b="1">
                <a:solidFill>
                  <a:schemeClr val="tx1"/>
                </a:solidFill>
                <a:ea typeface="楷体_GB2312" pitchFamily="49" charset="-122"/>
              </a:rPr>
              <a:t>提高工作效率，减少重复劳动！</a:t>
            </a: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3767082" y="3886200"/>
            <a:ext cx="44958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defTabSz="850900" eaLnBrk="1" hangingPunct="1">
              <a:spcBef>
                <a:spcPct val="50000"/>
              </a:spcBef>
              <a:buClr>
                <a:srgbClr val="FFFF66"/>
              </a:buClr>
              <a:buFont typeface="Wingdings" pitchFamily="2" charset="2"/>
              <a:buNone/>
            </a:pPr>
            <a:r>
              <a:rPr kumimoji="1" lang="zh-CN" altLang="en-US" sz="3600" b="1">
                <a:solidFill>
                  <a:schemeClr val="tx1"/>
                </a:solidFill>
                <a:ea typeface="楷体_GB2312" pitchFamily="49" charset="-122"/>
              </a:rPr>
              <a:t>生活中亦如此</a:t>
            </a:r>
            <a:r>
              <a:rPr kumimoji="1" lang="en-US" altLang="zh-CN" sz="3600" b="1">
                <a:solidFill>
                  <a:schemeClr val="tx1"/>
                </a:solidFill>
                <a:ea typeface="楷体_GB2312" pitchFamily="49" charset="-122"/>
              </a:rPr>
              <a:t>... </a:t>
            </a:r>
          </a:p>
        </p:txBody>
      </p:sp>
    </p:spTree>
    <p:extLst>
      <p:ext uri="{BB962C8B-B14F-4D97-AF65-F5344CB8AC3E}">
        <p14:creationId xmlns:p14="http://schemas.microsoft.com/office/powerpoint/2010/main" val="29878474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生活中的例子</a:t>
            </a:r>
            <a:r>
              <a:rPr lang="en-US" altLang="zh-CN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9" name="Picture 3" descr="Untitle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264" y="1723508"/>
            <a:ext cx="4887406" cy="3546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5" descr="Untitle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9738" y="1723508"/>
            <a:ext cx="5294023" cy="3546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39695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在编程时</a:t>
            </a:r>
            <a:r>
              <a:rPr lang="en-US" altLang="zh-CN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1" name="Rectangle 26"/>
          <p:cNvSpPr>
            <a:spLocks noChangeArrowheads="1"/>
          </p:cNvSpPr>
          <p:nvPr/>
        </p:nvSpPr>
        <p:spPr bwMode="auto">
          <a:xfrm>
            <a:off x="1318782" y="2144783"/>
            <a:ext cx="5487987" cy="277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solidFill>
                  <a:srgbClr val="005825"/>
                </a:solidFill>
                <a:ea typeface="宋体" pitchFamily="2" charset="-122"/>
              </a:rPr>
              <a:t>我想从</a:t>
            </a:r>
            <a:r>
              <a:rPr lang="zh-CN" altLang="en-US" sz="3200" b="1" u="sng">
                <a:solidFill>
                  <a:srgbClr val="005825"/>
                </a:solidFill>
                <a:ea typeface="宋体" pitchFamily="2" charset="-122"/>
              </a:rPr>
              <a:t>键盘</a:t>
            </a:r>
            <a:r>
              <a:rPr lang="zh-CN" altLang="en-US" sz="3200" b="1">
                <a:solidFill>
                  <a:srgbClr val="005825"/>
                </a:solidFill>
                <a:ea typeface="宋体" pitchFamily="2" charset="-122"/>
              </a:rPr>
              <a:t>读入一个数据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solidFill>
                  <a:srgbClr val="005825"/>
                </a:solidFill>
                <a:ea typeface="宋体" pitchFamily="2" charset="-122"/>
              </a:rPr>
              <a:t>我想生成一个随机数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solidFill>
                  <a:srgbClr val="005825"/>
                </a:solidFill>
                <a:ea typeface="宋体" pitchFamily="2" charset="-122"/>
              </a:rPr>
              <a:t>我想计算一个字符串的长度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solidFill>
                  <a:srgbClr val="005825"/>
                </a:solidFill>
                <a:ea typeface="宋体" pitchFamily="2" charset="-122"/>
              </a:rPr>
              <a:t>我想知道一个人的星座和属相</a:t>
            </a:r>
          </a:p>
        </p:txBody>
      </p:sp>
      <p:sp>
        <p:nvSpPr>
          <p:cNvPr id="13" name="Rectangle 27"/>
          <p:cNvSpPr>
            <a:spLocks noChangeArrowheads="1"/>
          </p:cNvSpPr>
          <p:nvPr/>
        </p:nvSpPr>
        <p:spPr bwMode="auto">
          <a:xfrm>
            <a:off x="7356810" y="2176533"/>
            <a:ext cx="3070071" cy="2800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solidFill>
                  <a:srgbClr val="C80495"/>
                </a:solidFill>
                <a:ea typeface="宋体" pitchFamily="2" charset="-122"/>
              </a:rPr>
              <a:t>用</a:t>
            </a:r>
            <a:r>
              <a:rPr lang="en-US" altLang="zh-CN" sz="3200" b="1">
                <a:solidFill>
                  <a:srgbClr val="C80495"/>
                </a:solidFill>
                <a:ea typeface="宋体" pitchFamily="2" charset="-122"/>
              </a:rPr>
              <a:t>input</a:t>
            </a:r>
            <a:r>
              <a:rPr lang="zh-CN" altLang="en-US" sz="3200" b="1">
                <a:solidFill>
                  <a:srgbClr val="C80495"/>
                </a:solidFill>
                <a:ea typeface="宋体" pitchFamily="2" charset="-122"/>
              </a:rPr>
              <a:t>函数！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solidFill>
                  <a:srgbClr val="C80495"/>
                </a:solidFill>
                <a:ea typeface="宋体" pitchFamily="2" charset="-122"/>
              </a:rPr>
              <a:t>用</a:t>
            </a:r>
            <a:r>
              <a:rPr lang="en-US" altLang="zh-CN" sz="3200" b="1">
                <a:solidFill>
                  <a:srgbClr val="C80495"/>
                </a:solidFill>
                <a:ea typeface="宋体" pitchFamily="2" charset="-122"/>
              </a:rPr>
              <a:t>randint</a:t>
            </a:r>
            <a:r>
              <a:rPr lang="zh-CN" altLang="en-US" sz="3200" b="1">
                <a:solidFill>
                  <a:srgbClr val="C80495"/>
                </a:solidFill>
                <a:ea typeface="宋体" pitchFamily="2" charset="-122"/>
              </a:rPr>
              <a:t>函数！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solidFill>
                  <a:srgbClr val="C80495"/>
                </a:solidFill>
                <a:ea typeface="宋体" pitchFamily="2" charset="-122"/>
              </a:rPr>
              <a:t>用</a:t>
            </a:r>
            <a:r>
              <a:rPr lang="en-US" altLang="zh-CN" sz="3200" b="1">
                <a:solidFill>
                  <a:srgbClr val="C80495"/>
                </a:solidFill>
                <a:ea typeface="宋体" pitchFamily="2" charset="-122"/>
              </a:rPr>
              <a:t>len</a:t>
            </a:r>
            <a:r>
              <a:rPr lang="zh-CN" altLang="en-US" sz="3200" b="1">
                <a:solidFill>
                  <a:srgbClr val="C80495"/>
                </a:solidFill>
                <a:ea typeface="宋体" pitchFamily="2" charset="-122"/>
              </a:rPr>
              <a:t>函数！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solidFill>
                  <a:srgbClr val="C80495"/>
                </a:solidFill>
                <a:ea typeface="宋体" pitchFamily="2" charset="-122"/>
              </a:rPr>
              <a:t>自己编写函数！</a:t>
            </a:r>
          </a:p>
        </p:txBody>
      </p:sp>
    </p:spTree>
    <p:extLst>
      <p:ext uri="{BB962C8B-B14F-4D97-AF65-F5344CB8AC3E}">
        <p14:creationId xmlns:p14="http://schemas.microsoft.com/office/powerpoint/2010/main" val="226860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  <p:bldP spid="1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四个方向找数</a:t>
            </a:r>
            <a:r>
              <a:rPr lang="en-US" altLang="zh-CN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229941" y="1397937"/>
            <a:ext cx="5830026" cy="474591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eaLnBrk="1" hangingPunct="1"/>
            <a:r>
              <a:rPr kumimoji="1" lang="en-US" altLang="zh-CN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for i in range(N):</a:t>
            </a:r>
          </a:p>
          <a:p>
            <a:pPr eaLnBrk="1" hangingPunct="1"/>
            <a:r>
              <a:rPr kumimoji="1" lang="en-US" altLang="zh-CN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for j in range(N):</a:t>
            </a:r>
          </a:p>
          <a:p>
            <a:pPr eaLnBrk="1" hangingPunct="1"/>
            <a:r>
              <a:rPr kumimoji="1" lang="en-US" altLang="zh-CN" sz="2400" b="1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temp = 0</a:t>
            </a:r>
          </a:p>
          <a:p>
            <a:pPr eaLnBrk="1" hangingPunct="1"/>
            <a:r>
              <a:rPr kumimoji="1" lang="en-US" altLang="zh-CN" sz="2400" b="1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for k in range(M):</a:t>
            </a:r>
          </a:p>
          <a:p>
            <a:pPr eaLnBrk="1" hangingPunct="1"/>
            <a:r>
              <a:rPr kumimoji="1" lang="en-US" altLang="zh-CN" sz="2400" b="1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    temp = temp*10 + a[i][(j+k)%N]</a:t>
            </a:r>
          </a:p>
          <a:p>
            <a:pPr eaLnBrk="1" hangingPunct="1">
              <a:spcAft>
                <a:spcPct val="20000"/>
              </a:spcAft>
            </a:pPr>
            <a:r>
              <a:rPr kumimoji="1" lang="en-US" altLang="zh-CN" sz="2400" b="1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if temp == value:</a:t>
            </a:r>
          </a:p>
          <a:p>
            <a:pPr eaLnBrk="1" hangingPunct="1">
              <a:spcAft>
                <a:spcPct val="20000"/>
              </a:spcAft>
            </a:pPr>
            <a:r>
              <a:rPr kumimoji="1" lang="en-US" altLang="zh-CN" sz="2400" b="1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    print(i+1, j+1, "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右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")</a:t>
            </a:r>
          </a:p>
          <a:p>
            <a:pPr eaLnBrk="1" hangingPunct="1"/>
            <a:r>
              <a:rPr kumimoji="1" lang="en-US" altLang="zh-CN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temp = 0</a:t>
            </a:r>
          </a:p>
          <a:p>
            <a:pPr eaLnBrk="1" hangingPunct="1"/>
            <a:r>
              <a:rPr kumimoji="1" lang="en-US" altLang="zh-CN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for k in range(M):</a:t>
            </a:r>
          </a:p>
          <a:p>
            <a:pPr eaLnBrk="1" hangingPunct="1"/>
            <a:r>
              <a:rPr kumimoji="1" lang="en-US" altLang="zh-CN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    temp = temp*10 + a[i][(j-k+N)%N]</a:t>
            </a:r>
          </a:p>
          <a:p>
            <a:pPr eaLnBrk="1" hangingPunct="1">
              <a:spcAft>
                <a:spcPct val="20000"/>
              </a:spcAft>
            </a:pPr>
            <a:r>
              <a:rPr kumimoji="1" lang="en-US" altLang="zh-CN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if temp == value:</a:t>
            </a:r>
          </a:p>
          <a:p>
            <a:pPr eaLnBrk="1" hangingPunct="1">
              <a:spcAft>
                <a:spcPct val="20000"/>
              </a:spcAft>
            </a:pPr>
            <a:r>
              <a:rPr kumimoji="1" lang="en-US" altLang="zh-CN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    print(i+1, j+1, "</a:t>
            </a:r>
            <a:r>
              <a:rPr kumimoji="1" lang="zh-CN" altLang="en-US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左</a:t>
            </a:r>
            <a:r>
              <a:rPr kumimoji="1" lang="en-US" altLang="zh-CN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")</a:t>
            </a:r>
          </a:p>
        </p:txBody>
      </p:sp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6168036" y="1396865"/>
            <a:ext cx="5735634" cy="3933384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eaLnBrk="1" hangingPunct="1"/>
            <a:r>
              <a:rPr kumimoji="1" lang="en-US" altLang="zh-CN" sz="2400" b="1">
                <a:solidFill>
                  <a:srgbClr val="00CC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temp = 0;</a:t>
            </a:r>
          </a:p>
          <a:p>
            <a:pPr eaLnBrk="1" hangingPunct="1"/>
            <a:r>
              <a:rPr kumimoji="1" lang="en-US" altLang="zh-CN" sz="2400" b="1">
                <a:solidFill>
                  <a:srgbClr val="00CC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for k in range(M):</a:t>
            </a:r>
          </a:p>
          <a:p>
            <a:pPr eaLnBrk="1" hangingPunct="1"/>
            <a:r>
              <a:rPr kumimoji="1" lang="en-US" altLang="zh-CN" sz="2400" b="1">
                <a:solidFill>
                  <a:srgbClr val="00CC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    temp = temp*10 + a[(i-k+N)%N][j]</a:t>
            </a:r>
          </a:p>
          <a:p>
            <a:pPr eaLnBrk="1" hangingPunct="1">
              <a:spcAft>
                <a:spcPct val="20000"/>
              </a:spcAft>
            </a:pPr>
            <a:r>
              <a:rPr kumimoji="1" lang="en-US" altLang="zh-CN" sz="2400" b="1">
                <a:solidFill>
                  <a:srgbClr val="00CC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    if temp == value:</a:t>
            </a:r>
          </a:p>
          <a:p>
            <a:pPr eaLnBrk="1" hangingPunct="1">
              <a:spcAft>
                <a:spcPct val="20000"/>
              </a:spcAft>
            </a:pPr>
            <a:r>
              <a:rPr kumimoji="1" lang="en-US" altLang="zh-CN" sz="2400" b="1">
                <a:solidFill>
                  <a:srgbClr val="00CC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        printf(i+1, j+1, "</a:t>
            </a:r>
            <a:r>
              <a:rPr kumimoji="1" lang="zh-CN" altLang="en-US" sz="2400" b="1">
                <a:solidFill>
                  <a:srgbClr val="00CC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上</a:t>
            </a:r>
            <a:r>
              <a:rPr kumimoji="1" lang="en-US" altLang="zh-CN" sz="2400" b="1">
                <a:solidFill>
                  <a:srgbClr val="00CC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")</a:t>
            </a:r>
          </a:p>
          <a:p>
            <a:pPr eaLnBrk="1" hangingPunct="1"/>
            <a:r>
              <a:rPr kumimoji="1" lang="en-US" altLang="zh-CN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temp = 0;</a:t>
            </a:r>
          </a:p>
          <a:p>
            <a:pPr eaLnBrk="1" hangingPunct="1"/>
            <a:r>
              <a:rPr kumimoji="1" lang="en-US" altLang="zh-CN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for k in range(M): </a:t>
            </a:r>
          </a:p>
          <a:p>
            <a:pPr eaLnBrk="1" hangingPunct="1"/>
            <a:r>
              <a:rPr kumimoji="1" lang="en-US" altLang="zh-CN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    temp = temp*10 + a[(i+k)%N][j]</a:t>
            </a:r>
          </a:p>
          <a:p>
            <a:pPr eaLnBrk="1" hangingPunct="1"/>
            <a:r>
              <a:rPr kumimoji="1" lang="en-US" altLang="zh-CN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    if temp == value:</a:t>
            </a:r>
          </a:p>
          <a:p>
            <a:pPr eaLnBrk="1" hangingPunct="1"/>
            <a:r>
              <a:rPr kumimoji="1" lang="en-US" altLang="zh-CN" sz="24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</a:t>
            </a:r>
            <a:r>
              <a:rPr kumimoji="1" lang="en-US" altLang="zh-CN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    printf(i+1, j+1, "</a:t>
            </a:r>
            <a:r>
              <a:rPr kumimoji="1" lang="zh-CN" altLang="en-US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下</a:t>
            </a:r>
            <a:r>
              <a:rPr kumimoji="1" lang="en-US" altLang="zh-CN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")</a:t>
            </a:r>
          </a:p>
        </p:txBody>
      </p:sp>
    </p:spTree>
    <p:extLst>
      <p:ext uri="{BB962C8B-B14F-4D97-AF65-F5344CB8AC3E}">
        <p14:creationId xmlns:p14="http://schemas.microsoft.com/office/powerpoint/2010/main" val="37332757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559774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程序员如何摧毁地球？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1" name="内容占位符 2" descr="Rectangle: Click to edit Master text styles&#10;Second level&#10;Third level&#10;Fourth level&#10;Fifth level"/>
          <p:cNvSpPr txBox="1">
            <a:spLocks/>
          </p:cNvSpPr>
          <p:nvPr/>
        </p:nvSpPr>
        <p:spPr>
          <a:xfrm>
            <a:off x="1237563" y="1694411"/>
            <a:ext cx="9336225" cy="396655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ct val="0"/>
              </a:spcBef>
              <a:buSzPct val="80000"/>
              <a:buFont typeface="Wingdings" pitchFamily="2" charset="2"/>
              <a:buNone/>
            </a:pPr>
            <a:r>
              <a:rPr lang="zh-CN" altLang="en-US" sz="3600" b="1">
                <a:latin typeface="楷体" pitchFamily="49" charset="-122"/>
                <a:ea typeface="楷体" pitchFamily="49" charset="-122"/>
              </a:rPr>
              <a:t>    一名合格的程序员是不会直接写出诸如“摧毁地球”这样的代码的，他们会先定义一个函数叫做“摧毁行星”，然后调用该函数，并将“地球”作为一个参数传进去。</a:t>
            </a:r>
          </a:p>
        </p:txBody>
      </p:sp>
    </p:spTree>
    <p:extLst>
      <p:ext uri="{BB962C8B-B14F-4D97-AF65-F5344CB8AC3E}">
        <p14:creationId xmlns:p14="http://schemas.microsoft.com/office/powerpoint/2010/main" val="3497364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5.2 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函数的使用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0" name="Rectangle 34"/>
          <p:cNvSpPr>
            <a:spLocks noChangeArrowheads="1"/>
          </p:cNvSpPr>
          <p:nvPr/>
        </p:nvSpPr>
        <p:spPr bwMode="auto">
          <a:xfrm>
            <a:off x="1723497" y="1612748"/>
            <a:ext cx="3322638" cy="3139321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>
              <a:spcBef>
                <a:spcPct val="30000"/>
              </a:spcBef>
            </a:pPr>
            <a:r>
              <a:rPr kumimoji="1" lang="en-US" altLang="zh-CN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def main ( ):</a:t>
            </a:r>
            <a:br>
              <a:rPr kumimoji="1" lang="en-US" altLang="zh-CN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</a:br>
            <a:r>
              <a:rPr kumimoji="1" lang="en-US" altLang="zh-CN" sz="3600" b="1">
                <a:solidFill>
                  <a:schemeClr val="tx1"/>
                </a:solidFill>
                <a:ea typeface="宋体" pitchFamily="2" charset="-122"/>
              </a:rPr>
              <a:t>        ……</a:t>
            </a:r>
            <a:br>
              <a:rPr kumimoji="1" lang="en-US" altLang="zh-CN" sz="3600" b="1">
                <a:solidFill>
                  <a:schemeClr val="tx1"/>
                </a:solidFill>
                <a:ea typeface="宋体" pitchFamily="2" charset="-122"/>
              </a:rPr>
            </a:br>
            <a:r>
              <a:rPr kumimoji="1" lang="en-US" altLang="zh-CN" sz="3600" b="1">
                <a:ea typeface="宋体" pitchFamily="2" charset="-122"/>
              </a:rPr>
              <a:t>        ……       </a:t>
            </a:r>
            <a:br>
              <a:rPr kumimoji="1" lang="zh-CN" altLang="en-US" sz="3600" b="1">
                <a:solidFill>
                  <a:schemeClr val="tx1"/>
                </a:solidFill>
                <a:ea typeface="宋体" pitchFamily="2" charset="-122"/>
              </a:rPr>
            </a:br>
            <a:r>
              <a:rPr kumimoji="1" lang="zh-CN" altLang="en-US" sz="3600" b="1">
                <a:solidFill>
                  <a:schemeClr val="tx1"/>
                </a:solidFill>
                <a:ea typeface="宋体" pitchFamily="2" charset="-122"/>
              </a:rPr>
              <a:t>        </a:t>
            </a:r>
            <a:r>
              <a:rPr kumimoji="1" lang="en-US" altLang="zh-CN" sz="3600" b="1">
                <a:solidFill>
                  <a:schemeClr val="tx1"/>
                </a:solidFill>
                <a:ea typeface="宋体" pitchFamily="2" charset="-122"/>
              </a:rPr>
              <a:t>……</a:t>
            </a: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main()</a:t>
            </a:r>
            <a:endParaRPr kumimoji="1" lang="zh-CN" altLang="en-US" sz="3600" b="1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41" name="Rectangle 35"/>
          <p:cNvSpPr>
            <a:spLocks noChangeArrowheads="1"/>
          </p:cNvSpPr>
          <p:nvPr/>
        </p:nvSpPr>
        <p:spPr bwMode="auto">
          <a:xfrm>
            <a:off x="1676065" y="5282682"/>
            <a:ext cx="966001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32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rPr>
              <a:t>函数的使用模式：</a:t>
            </a:r>
            <a:r>
              <a:rPr kumimoji="1" lang="zh-CN" altLang="en-US" sz="3200" b="1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先定义后使用</a:t>
            </a:r>
            <a:r>
              <a:rPr kumimoji="1" lang="zh-CN" altLang="en-US" sz="32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rPr>
              <a:t>（函数内调用除外）</a:t>
            </a:r>
          </a:p>
        </p:txBody>
      </p:sp>
      <p:sp>
        <p:nvSpPr>
          <p:cNvPr id="44" name="Line 38"/>
          <p:cNvSpPr>
            <a:spLocks noChangeShapeType="1"/>
          </p:cNvSpPr>
          <p:nvPr/>
        </p:nvSpPr>
        <p:spPr bwMode="auto">
          <a:xfrm>
            <a:off x="4346047" y="1997904"/>
            <a:ext cx="18573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45" name="Text Box 39"/>
          <p:cNvSpPr txBox="1">
            <a:spLocks noChangeArrowheads="1"/>
          </p:cNvSpPr>
          <p:nvPr/>
        </p:nvSpPr>
        <p:spPr bwMode="auto">
          <a:xfrm>
            <a:off x="6171672" y="1683579"/>
            <a:ext cx="41520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chemeClr val="tx1"/>
                </a:solidFill>
                <a:ea typeface="宋体" pitchFamily="2" charset="-122"/>
              </a:rPr>
              <a:t>函数定义：实现一个函数</a:t>
            </a:r>
          </a:p>
        </p:txBody>
      </p:sp>
      <p:sp>
        <p:nvSpPr>
          <p:cNvPr id="46" name="Line 40"/>
          <p:cNvSpPr>
            <a:spLocks noChangeShapeType="1"/>
          </p:cNvSpPr>
          <p:nvPr/>
        </p:nvSpPr>
        <p:spPr bwMode="auto">
          <a:xfrm>
            <a:off x="4314297" y="4444640"/>
            <a:ext cx="18573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47" name="Text Box 41"/>
          <p:cNvSpPr txBox="1">
            <a:spLocks noChangeArrowheads="1"/>
          </p:cNvSpPr>
          <p:nvPr/>
        </p:nvSpPr>
        <p:spPr bwMode="auto">
          <a:xfrm>
            <a:off x="6120872" y="4187465"/>
            <a:ext cx="379142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chemeClr val="tx1"/>
                </a:solidFill>
                <a:ea typeface="宋体" pitchFamily="2" charset="-122"/>
              </a:rPr>
              <a:t>函数调用：使用该函数</a:t>
            </a:r>
          </a:p>
        </p:txBody>
      </p:sp>
    </p:spTree>
    <p:extLst>
      <p:ext uri="{BB962C8B-B14F-4D97-AF65-F5344CB8AC3E}">
        <p14:creationId xmlns:p14="http://schemas.microsoft.com/office/powerpoint/2010/main" val="42877265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1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、函数的定义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3" name="Text Box 6"/>
          <p:cNvSpPr txBox="1">
            <a:spLocks noChangeArrowheads="1"/>
          </p:cNvSpPr>
          <p:nvPr/>
        </p:nvSpPr>
        <p:spPr bwMode="auto">
          <a:xfrm>
            <a:off x="2417964" y="2491191"/>
            <a:ext cx="7215188" cy="3231654"/>
          </a:xfrm>
          <a:prstGeom prst="rect">
            <a:avLst/>
          </a:prstGeom>
          <a:noFill/>
          <a:ln w="31750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ts val="1200"/>
              </a:spcBef>
            </a:pPr>
            <a:r>
              <a:rPr kumimoji="1" lang="en-US" altLang="zh-CN" sz="3600" b="1">
                <a:solidFill>
                  <a:srgbClr val="FF00FF"/>
                </a:solidFill>
                <a:ea typeface="黑体" pitchFamily="49" charset="-122"/>
              </a:rPr>
              <a:t>def</a:t>
            </a:r>
            <a:r>
              <a:rPr kumimoji="1" lang="en-US" altLang="zh-CN" b="1">
                <a:solidFill>
                  <a:schemeClr val="tx1"/>
                </a:solidFill>
                <a:ea typeface="黑体" pitchFamily="49" charset="-122"/>
              </a:rPr>
              <a:t>   &lt;</a:t>
            </a:r>
            <a:r>
              <a:rPr kumimoji="1" lang="zh-CN" altLang="en-US" b="1">
                <a:solidFill>
                  <a:schemeClr val="tx1"/>
                </a:solidFill>
                <a:ea typeface="黑体" pitchFamily="49" charset="-122"/>
              </a:rPr>
              <a:t>函数名</a:t>
            </a:r>
            <a:r>
              <a:rPr kumimoji="1" lang="en-US" altLang="zh-CN" b="1">
                <a:solidFill>
                  <a:schemeClr val="tx1"/>
                </a:solidFill>
                <a:ea typeface="黑体" pitchFamily="49" charset="-122"/>
              </a:rPr>
              <a:t>&gt;   (&lt;</a:t>
            </a:r>
            <a:r>
              <a:rPr kumimoji="1" lang="zh-CN" altLang="en-US" b="1">
                <a:solidFill>
                  <a:schemeClr val="tx1"/>
                </a:solidFill>
                <a:ea typeface="黑体" pitchFamily="49" charset="-122"/>
              </a:rPr>
              <a:t>参数列表</a:t>
            </a:r>
            <a:r>
              <a:rPr kumimoji="1" lang="en-US" altLang="zh-CN" b="1">
                <a:solidFill>
                  <a:schemeClr val="tx1"/>
                </a:solidFill>
                <a:ea typeface="黑体" pitchFamily="49" charset="-122"/>
              </a:rPr>
              <a:t>&gt;):</a:t>
            </a:r>
          </a:p>
          <a:p>
            <a:pPr eaLnBrk="1" hangingPunct="1">
              <a:spcBef>
                <a:spcPts val="1200"/>
              </a:spcBef>
            </a:pPr>
            <a:r>
              <a:rPr kumimoji="1" lang="en-US" altLang="zh-CN" b="1">
                <a:solidFill>
                  <a:schemeClr val="tx1"/>
                </a:solidFill>
                <a:ea typeface="黑体" pitchFamily="49" charset="-122"/>
              </a:rPr>
              <a:t>		&lt;</a:t>
            </a:r>
            <a:r>
              <a:rPr kumimoji="1" lang="zh-CN" altLang="en-US" b="1">
                <a:solidFill>
                  <a:schemeClr val="tx1"/>
                </a:solidFill>
                <a:ea typeface="黑体" pitchFamily="49" charset="-122"/>
              </a:rPr>
              <a:t>执行语句</a:t>
            </a:r>
            <a:r>
              <a:rPr kumimoji="1" lang="en-US" altLang="zh-CN" b="1">
                <a:solidFill>
                  <a:schemeClr val="tx1"/>
                </a:solidFill>
                <a:ea typeface="黑体" pitchFamily="49" charset="-122"/>
              </a:rPr>
              <a:t>1&gt;</a:t>
            </a:r>
          </a:p>
          <a:p>
            <a:pPr eaLnBrk="1" hangingPunct="1">
              <a:spcBef>
                <a:spcPts val="1200"/>
              </a:spcBef>
            </a:pPr>
            <a:r>
              <a:rPr kumimoji="1" lang="en-US" altLang="zh-CN" b="1">
                <a:solidFill>
                  <a:schemeClr val="tx1"/>
                </a:solidFill>
                <a:ea typeface="黑体" pitchFamily="49" charset="-122"/>
              </a:rPr>
              <a:t>		&lt;</a:t>
            </a:r>
            <a:r>
              <a:rPr kumimoji="1" lang="zh-CN" altLang="en-US" b="1">
                <a:solidFill>
                  <a:schemeClr val="tx1"/>
                </a:solidFill>
                <a:ea typeface="黑体" pitchFamily="49" charset="-122"/>
              </a:rPr>
              <a:t>执行语句</a:t>
            </a:r>
            <a:r>
              <a:rPr kumimoji="1" lang="en-US" altLang="zh-CN" b="1">
                <a:solidFill>
                  <a:schemeClr val="tx1"/>
                </a:solidFill>
                <a:ea typeface="黑体" pitchFamily="49" charset="-122"/>
              </a:rPr>
              <a:t>2&gt;</a:t>
            </a:r>
          </a:p>
          <a:p>
            <a:pPr eaLnBrk="1" hangingPunct="1">
              <a:spcBef>
                <a:spcPts val="1200"/>
              </a:spcBef>
            </a:pPr>
            <a:r>
              <a:rPr kumimoji="1" lang="en-US" altLang="zh-CN" b="1">
                <a:solidFill>
                  <a:schemeClr val="tx1"/>
                </a:solidFill>
                <a:ea typeface="黑体" pitchFamily="49" charset="-122"/>
              </a:rPr>
              <a:t>         ……</a:t>
            </a:r>
          </a:p>
          <a:p>
            <a:pPr eaLnBrk="1" hangingPunct="1">
              <a:spcBef>
                <a:spcPts val="1200"/>
              </a:spcBef>
            </a:pPr>
            <a:r>
              <a:rPr kumimoji="1" lang="en-US" altLang="zh-CN" b="1">
                <a:solidFill>
                  <a:schemeClr val="tx1"/>
                </a:solidFill>
                <a:ea typeface="黑体" pitchFamily="49" charset="-122"/>
              </a:rPr>
              <a:t>         return()</a:t>
            </a:r>
          </a:p>
        </p:txBody>
      </p:sp>
      <p:sp>
        <p:nvSpPr>
          <p:cNvPr id="14" name="Text Box 7"/>
          <p:cNvSpPr txBox="1">
            <a:spLocks noChangeArrowheads="1"/>
          </p:cNvSpPr>
          <p:nvPr/>
        </p:nvSpPr>
        <p:spPr bwMode="auto">
          <a:xfrm>
            <a:off x="965233" y="1476041"/>
            <a:ext cx="479901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zh-CN" altLang="en-US" b="1">
                <a:solidFill>
                  <a:schemeClr val="tx1"/>
                </a:solidFill>
                <a:ea typeface="宋体" pitchFamily="2" charset="-122"/>
              </a:rPr>
              <a:t>函数定义的一般形式：</a:t>
            </a:r>
          </a:p>
        </p:txBody>
      </p:sp>
    </p:spTree>
    <p:extLst>
      <p:ext uri="{BB962C8B-B14F-4D97-AF65-F5344CB8AC3E}">
        <p14:creationId xmlns:p14="http://schemas.microsoft.com/office/powerpoint/2010/main" val="6987305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函数定义</a:t>
            </a: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举例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853458" y="1255218"/>
            <a:ext cx="7251451" cy="49244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ts val="600"/>
              </a:spcBef>
            </a:pPr>
            <a:r>
              <a:rPr kumimoji="1" lang="en-US" altLang="zh-CN" sz="2400" b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def </a:t>
            </a:r>
            <a:r>
              <a:rPr kumimoji="1" lang="en-US" altLang="zh-CN" sz="2400" b="1">
                <a:solidFill>
                  <a:srgbClr val="C80495"/>
                </a:solidFill>
                <a:latin typeface="Courier New" pitchFamily="49" charset="0"/>
                <a:ea typeface="宋体" pitchFamily="2" charset="-122"/>
              </a:rPr>
              <a:t>WhoWin</a:t>
            </a:r>
            <a:r>
              <a:rPr kumimoji="1" lang="en-US" altLang="zh-CN" sz="2400" b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(</a:t>
            </a:r>
            <a:r>
              <a:rPr kumimoji="1" lang="en-US" altLang="zh-CN" sz="2400" b="1">
                <a:solidFill>
                  <a:srgbClr val="C80495"/>
                </a:solidFill>
                <a:latin typeface="Courier New" pitchFamily="49" charset="0"/>
                <a:ea typeface="宋体" pitchFamily="2" charset="-122"/>
              </a:rPr>
              <a:t>child1</a:t>
            </a:r>
            <a:r>
              <a:rPr kumimoji="1" lang="en-US" altLang="zh-CN" sz="2400" b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, </a:t>
            </a:r>
            <a:r>
              <a:rPr kumimoji="1" lang="en-US" altLang="zh-CN" sz="2400" b="1">
                <a:solidFill>
                  <a:srgbClr val="C80495"/>
                </a:solidFill>
                <a:latin typeface="Courier New" pitchFamily="49" charset="0"/>
                <a:ea typeface="宋体" pitchFamily="2" charset="-122"/>
              </a:rPr>
              <a:t>child2</a:t>
            </a:r>
            <a:r>
              <a:rPr kumimoji="1" lang="en-US" altLang="zh-CN" sz="2400" b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):</a:t>
            </a:r>
          </a:p>
          <a:p>
            <a:pPr eaLnBrk="1" hangingPunct="1">
              <a:spcBef>
                <a:spcPts val="600"/>
              </a:spcBef>
            </a:pPr>
            <a:r>
              <a:rPr kumimoji="1" lang="en-US" altLang="zh-CN" sz="2400" b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  if child1 == child2:</a:t>
            </a:r>
          </a:p>
          <a:p>
            <a:pPr eaLnBrk="1" hangingPunct="1">
              <a:spcBef>
                <a:spcPts val="600"/>
              </a:spcBef>
            </a:pPr>
            <a:r>
              <a:rPr kumimoji="1" lang="en-US" altLang="zh-CN" sz="2400" b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      result = 0   </a:t>
            </a:r>
          </a:p>
          <a:p>
            <a:pPr eaLnBrk="1" hangingPunct="1">
              <a:spcBef>
                <a:spcPts val="600"/>
              </a:spcBef>
            </a:pPr>
            <a:r>
              <a:rPr kumimoji="1" lang="en-US" altLang="zh-CN" sz="2400" b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  elif child1=='S' and child2=='J':</a:t>
            </a:r>
          </a:p>
          <a:p>
            <a:pPr eaLnBrk="1" hangingPunct="1">
              <a:spcBef>
                <a:spcPts val="600"/>
              </a:spcBef>
            </a:pPr>
            <a:r>
              <a:rPr kumimoji="1" lang="en-US" altLang="zh-CN" sz="2400" b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      result = 1</a:t>
            </a:r>
          </a:p>
          <a:p>
            <a:pPr eaLnBrk="1" hangingPunct="1">
              <a:spcBef>
                <a:spcPts val="600"/>
              </a:spcBef>
            </a:pPr>
            <a:r>
              <a:rPr kumimoji="1" lang="en-US" altLang="zh-CN" sz="2400" b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  elif child1=='S' and child2=='B':</a:t>
            </a:r>
          </a:p>
          <a:p>
            <a:pPr eaLnBrk="1" hangingPunct="1">
              <a:spcBef>
                <a:spcPts val="600"/>
              </a:spcBef>
            </a:pPr>
            <a:r>
              <a:rPr kumimoji="1" lang="en-US" altLang="zh-CN" sz="2400" b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      result = -1</a:t>
            </a:r>
          </a:p>
          <a:p>
            <a:pPr eaLnBrk="1" hangingPunct="1">
              <a:spcBef>
                <a:spcPts val="600"/>
              </a:spcBef>
            </a:pPr>
            <a:r>
              <a:rPr kumimoji="1" lang="en-US" altLang="zh-CN" sz="2400" b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  elif child1=='J' and child2=='B':</a:t>
            </a:r>
          </a:p>
          <a:p>
            <a:pPr eaLnBrk="1" hangingPunct="1">
              <a:spcBef>
                <a:spcPts val="600"/>
              </a:spcBef>
            </a:pPr>
            <a:r>
              <a:rPr kumimoji="1" lang="en-US" altLang="zh-CN" sz="2400" b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      result = 1</a:t>
            </a:r>
          </a:p>
          <a:p>
            <a:pPr eaLnBrk="1" hangingPunct="1">
              <a:spcBef>
                <a:spcPts val="600"/>
              </a:spcBef>
            </a:pPr>
            <a:r>
              <a:rPr kumimoji="1" lang="en-US" altLang="zh-CN" sz="2400" b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  ....</a:t>
            </a:r>
          </a:p>
          <a:p>
            <a:pPr eaLnBrk="1" hangingPunct="1">
              <a:spcBef>
                <a:spcPts val="600"/>
              </a:spcBef>
            </a:pPr>
            <a:r>
              <a:rPr kumimoji="1" lang="en-US" altLang="zh-CN" sz="2400" b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  </a:t>
            </a:r>
            <a:r>
              <a:rPr kumimoji="1" lang="en-US" altLang="zh-CN" sz="2400" b="1">
                <a:solidFill>
                  <a:srgbClr val="FF0000"/>
                </a:solidFill>
                <a:latin typeface="Courier New" pitchFamily="49" charset="0"/>
                <a:ea typeface="宋体" pitchFamily="2" charset="-122"/>
              </a:rPr>
              <a:t>return</a:t>
            </a:r>
            <a:r>
              <a:rPr kumimoji="1" lang="en-US" altLang="zh-CN" sz="2400" b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(</a:t>
            </a:r>
            <a:r>
              <a:rPr kumimoji="1" lang="en-US" altLang="zh-CN" sz="2400" b="1">
                <a:solidFill>
                  <a:srgbClr val="0000FF"/>
                </a:solidFill>
                <a:latin typeface="Courier New" pitchFamily="49" charset="0"/>
                <a:ea typeface="宋体" pitchFamily="2" charset="-122"/>
              </a:rPr>
              <a:t>result</a:t>
            </a:r>
            <a:r>
              <a:rPr kumimoji="1" lang="en-US" altLang="zh-CN" sz="2400" b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)</a:t>
            </a:r>
          </a:p>
        </p:txBody>
      </p:sp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6685368" y="4885916"/>
            <a:ext cx="5013325" cy="126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10000"/>
              </a:spcBef>
            </a:pPr>
            <a:r>
              <a:rPr kumimoji="1" lang="zh-CN" altLang="en-US" sz="2400" b="1">
                <a:solidFill>
                  <a:srgbClr val="C80495"/>
                </a:solidFill>
                <a:ea typeface="宋体" pitchFamily="2" charset="-122"/>
              </a:rPr>
              <a:t>函数无返回值时能否用</a:t>
            </a:r>
            <a:r>
              <a:rPr kumimoji="1" lang="en-US" altLang="zh-CN" sz="2400" b="1">
                <a:solidFill>
                  <a:srgbClr val="C80495"/>
                </a:solidFill>
                <a:ea typeface="宋体" pitchFamily="2" charset="-122"/>
              </a:rPr>
              <a:t>return</a:t>
            </a:r>
            <a:r>
              <a:rPr kumimoji="1" lang="zh-CN" altLang="en-US" sz="2400" b="1">
                <a:solidFill>
                  <a:srgbClr val="C80495"/>
                </a:solidFill>
                <a:ea typeface="宋体" pitchFamily="2" charset="-122"/>
              </a:rPr>
              <a:t>语句？</a:t>
            </a:r>
          </a:p>
          <a:p>
            <a:pPr eaLnBrk="1" hangingPunct="1">
              <a:spcBef>
                <a:spcPct val="10000"/>
              </a:spcBef>
            </a:pPr>
            <a:r>
              <a:rPr kumimoji="1" lang="en-US" altLang="zh-CN" sz="2400" b="1">
                <a:solidFill>
                  <a:srgbClr val="C80495"/>
                </a:solidFill>
                <a:ea typeface="宋体" pitchFamily="2" charset="-122"/>
              </a:rPr>
              <a:t>return</a:t>
            </a:r>
            <a:r>
              <a:rPr kumimoji="1" lang="zh-CN" altLang="en-US" sz="2400" b="1">
                <a:solidFill>
                  <a:srgbClr val="C80495"/>
                </a:solidFill>
                <a:ea typeface="宋体" pitchFamily="2" charset="-122"/>
              </a:rPr>
              <a:t>语句是否必须在函数末尾？</a:t>
            </a:r>
          </a:p>
          <a:p>
            <a:pPr eaLnBrk="1" hangingPunct="1">
              <a:spcBef>
                <a:spcPct val="10000"/>
              </a:spcBef>
            </a:pPr>
            <a:r>
              <a:rPr kumimoji="1" lang="zh-CN" altLang="en-US" sz="2400" b="1">
                <a:solidFill>
                  <a:srgbClr val="C80495"/>
                </a:solidFill>
                <a:ea typeface="宋体" pitchFamily="2" charset="-122"/>
              </a:rPr>
              <a:t>在函数中能否出现多个</a:t>
            </a:r>
            <a:r>
              <a:rPr kumimoji="1" lang="en-US" altLang="zh-CN" sz="2400" b="1">
                <a:solidFill>
                  <a:srgbClr val="C80495"/>
                </a:solidFill>
                <a:ea typeface="宋体" pitchFamily="2" charset="-122"/>
              </a:rPr>
              <a:t>return</a:t>
            </a:r>
            <a:r>
              <a:rPr kumimoji="1" lang="zh-CN" altLang="en-US" sz="2400" b="1">
                <a:solidFill>
                  <a:srgbClr val="C80495"/>
                </a:solidFill>
                <a:ea typeface="宋体" pitchFamily="2" charset="-122"/>
              </a:rPr>
              <a:t>语句？</a:t>
            </a:r>
          </a:p>
        </p:txBody>
      </p:sp>
    </p:spTree>
    <p:extLst>
      <p:ext uri="{BB962C8B-B14F-4D97-AF65-F5344CB8AC3E}">
        <p14:creationId xmlns:p14="http://schemas.microsoft.com/office/powerpoint/2010/main" val="2154970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2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、函数的</a:t>
            </a: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调用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2238894" y="2636044"/>
            <a:ext cx="786106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3600" b="1">
                <a:solidFill>
                  <a:schemeClr val="tx1"/>
                </a:solidFill>
                <a:ea typeface="黑体" pitchFamily="49" charset="-122"/>
              </a:rPr>
              <a:t>函数名  </a:t>
            </a:r>
            <a:r>
              <a:rPr kumimoji="1" lang="en-US" altLang="zh-CN" sz="3600" b="1">
                <a:solidFill>
                  <a:schemeClr val="tx1"/>
                </a:solidFill>
                <a:ea typeface="黑体" pitchFamily="49" charset="-122"/>
              </a:rPr>
              <a:t>(</a:t>
            </a:r>
            <a:r>
              <a:rPr kumimoji="1" lang="zh-CN" altLang="en-US" sz="3600" b="1">
                <a:solidFill>
                  <a:schemeClr val="tx1"/>
                </a:solidFill>
                <a:ea typeface="黑体" pitchFamily="49" charset="-122"/>
              </a:rPr>
              <a:t>参数</a:t>
            </a:r>
            <a:r>
              <a:rPr kumimoji="1" lang="en-US" altLang="zh-CN" sz="3600" b="1">
                <a:solidFill>
                  <a:schemeClr val="tx1"/>
                </a:solidFill>
                <a:ea typeface="黑体" pitchFamily="49" charset="-122"/>
              </a:rPr>
              <a:t>1</a:t>
            </a:r>
            <a:r>
              <a:rPr kumimoji="1" lang="zh-CN" altLang="en-US" sz="3600" b="1">
                <a:solidFill>
                  <a:schemeClr val="tx1"/>
                </a:solidFill>
                <a:ea typeface="黑体" pitchFamily="49" charset="-122"/>
              </a:rPr>
              <a:t>，参数</a:t>
            </a:r>
            <a:r>
              <a:rPr kumimoji="1" lang="en-US" altLang="zh-CN" sz="3600" b="1">
                <a:solidFill>
                  <a:schemeClr val="tx1"/>
                </a:solidFill>
                <a:ea typeface="黑体" pitchFamily="49" charset="-122"/>
              </a:rPr>
              <a:t>2</a:t>
            </a:r>
            <a:r>
              <a:rPr kumimoji="1" lang="zh-CN" altLang="en-US" sz="3600" b="1">
                <a:solidFill>
                  <a:schemeClr val="tx1"/>
                </a:solidFill>
                <a:ea typeface="黑体" pitchFamily="49" charset="-122"/>
              </a:rPr>
              <a:t>，</a:t>
            </a:r>
            <a:r>
              <a:rPr kumimoji="1" lang="en-US" altLang="zh-CN" sz="3600" b="1">
                <a:solidFill>
                  <a:schemeClr val="tx1"/>
                </a:solidFill>
                <a:ea typeface="黑体" pitchFamily="49" charset="-122"/>
              </a:rPr>
              <a:t>…</a:t>
            </a:r>
            <a:r>
              <a:rPr kumimoji="1" lang="zh-CN" altLang="en-US" sz="3600" b="1">
                <a:solidFill>
                  <a:schemeClr val="tx1"/>
                </a:solidFill>
                <a:ea typeface="黑体" pitchFamily="49" charset="-122"/>
              </a:rPr>
              <a:t>，参数</a:t>
            </a:r>
            <a:r>
              <a:rPr kumimoji="1" lang="en-US" altLang="zh-CN" sz="3600" b="1">
                <a:solidFill>
                  <a:schemeClr val="tx1"/>
                </a:solidFill>
                <a:ea typeface="黑体" pitchFamily="49" charset="-122"/>
              </a:rPr>
              <a:t>n)</a:t>
            </a:r>
            <a:endParaRPr kumimoji="1" lang="zh-CN" altLang="en-US" sz="3600" b="1">
              <a:solidFill>
                <a:schemeClr val="tx1"/>
              </a:solidFill>
              <a:ea typeface="黑体" pitchFamily="49" charset="-122"/>
            </a:endParaRP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2256904" y="3662985"/>
            <a:ext cx="4378122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3600" b="1">
                <a:solidFill>
                  <a:schemeClr val="tx1"/>
                </a:solidFill>
                <a:ea typeface="宋体" pitchFamily="2" charset="-122"/>
              </a:rPr>
              <a:t>例如：</a:t>
            </a: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3600" b="1">
                <a:solidFill>
                  <a:schemeClr val="tx1"/>
                </a:solidFill>
                <a:ea typeface="宋体" pitchFamily="2" charset="-122"/>
              </a:rPr>
              <a:t>y = sqrt(x)</a:t>
            </a: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3600" b="1">
                <a:solidFill>
                  <a:schemeClr val="tx1"/>
                </a:solidFill>
                <a:ea typeface="宋体" pitchFamily="2" charset="-122"/>
              </a:rPr>
              <a:t>print("hello world!")</a:t>
            </a:r>
          </a:p>
        </p:txBody>
      </p:sp>
      <p:sp>
        <p:nvSpPr>
          <p:cNvPr id="12" name="Freeform 9"/>
          <p:cNvSpPr>
            <a:spLocks noChangeArrowheads="1"/>
          </p:cNvSpPr>
          <p:nvPr/>
        </p:nvSpPr>
        <p:spPr bwMode="auto">
          <a:xfrm>
            <a:off x="3250276" y="1420667"/>
            <a:ext cx="5569527" cy="720725"/>
          </a:xfrm>
          <a:custGeom>
            <a:avLst/>
            <a:gdLst>
              <a:gd name="T0" fmla="*/ 0 w 8752"/>
              <a:gd name="T1" fmla="*/ 0 h 1134"/>
              <a:gd name="T2" fmla="*/ 0 w 8752"/>
              <a:gd name="T3" fmla="*/ 0 h 1134"/>
              <a:gd name="T4" fmla="*/ 1 w 8752"/>
              <a:gd name="T5" fmla="*/ 0 h 1134"/>
              <a:gd name="T6" fmla="*/ 1 w 8752"/>
              <a:gd name="T7" fmla="*/ 0 h 1134"/>
              <a:gd name="T8" fmla="*/ 1 w 8752"/>
              <a:gd name="T9" fmla="*/ 0 h 1134"/>
              <a:gd name="T10" fmla="*/ 1 w 8752"/>
              <a:gd name="T11" fmla="*/ 0 h 1134"/>
              <a:gd name="T12" fmla="*/ 0 w 8752"/>
              <a:gd name="T13" fmla="*/ 0 h 1134"/>
              <a:gd name="T14" fmla="*/ 0 w 8752"/>
              <a:gd name="T15" fmla="*/ 0 h 1134"/>
              <a:gd name="T16" fmla="*/ 0 w 8752"/>
              <a:gd name="T17" fmla="*/ 0 h 1134"/>
              <a:gd name="T18" fmla="*/ 0 w 8752"/>
              <a:gd name="T19" fmla="*/ 0 h 1134"/>
              <a:gd name="T20" fmla="*/ 0 w 8752"/>
              <a:gd name="T21" fmla="*/ 0 h 1134"/>
              <a:gd name="T22" fmla="*/ 0 w 8752"/>
              <a:gd name="T23" fmla="*/ 0 h 1134"/>
              <a:gd name="T24" fmla="*/ 0 w 8752"/>
              <a:gd name="T25" fmla="*/ 0 h 1134"/>
              <a:gd name="T26" fmla="*/ 0 w 8752"/>
              <a:gd name="T27" fmla="*/ 0 h 1134"/>
              <a:gd name="T28" fmla="*/ 0 w 8752"/>
              <a:gd name="T29" fmla="*/ 0 h 1134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8752"/>
              <a:gd name="T46" fmla="*/ 0 h 1134"/>
              <a:gd name="T47" fmla="*/ 8752 w 8752"/>
              <a:gd name="T48" fmla="*/ 1134 h 1134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8752" h="1134">
                <a:moveTo>
                  <a:pt x="0" y="188"/>
                </a:moveTo>
                <a:cubicBezTo>
                  <a:pt x="0" y="84"/>
                  <a:pt x="84" y="0"/>
                  <a:pt x="192" y="0"/>
                </a:cubicBezTo>
                <a:lnTo>
                  <a:pt x="8558" y="0"/>
                </a:lnTo>
                <a:cubicBezTo>
                  <a:pt x="8665" y="0"/>
                  <a:pt x="8752" y="84"/>
                  <a:pt x="8752" y="188"/>
                </a:cubicBezTo>
                <a:lnTo>
                  <a:pt x="8752" y="945"/>
                </a:lnTo>
                <a:cubicBezTo>
                  <a:pt x="8752" y="1050"/>
                  <a:pt x="8665" y="1134"/>
                  <a:pt x="8558" y="1134"/>
                </a:cubicBezTo>
                <a:lnTo>
                  <a:pt x="192" y="1134"/>
                </a:lnTo>
                <a:cubicBezTo>
                  <a:pt x="84" y="1134"/>
                  <a:pt x="0" y="1050"/>
                  <a:pt x="0" y="945"/>
                </a:cubicBezTo>
                <a:lnTo>
                  <a:pt x="0" y="188"/>
                </a:lnTo>
                <a:close/>
              </a:path>
            </a:pathLst>
          </a:custGeom>
          <a:solidFill>
            <a:srgbClr val="0070C0"/>
          </a:solidFill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41828" tIns="141828" rIns="141828" bIns="141828" anchor="ctr"/>
          <a:lstStyle/>
          <a:p>
            <a:pPr algn="ctr" defTabSz="1244600" eaLnBrk="1" hangingPunct="1">
              <a:lnSpc>
                <a:spcPct val="90000"/>
              </a:lnSpc>
              <a:spcAft>
                <a:spcPct val="35000"/>
              </a:spcAft>
              <a:buSzPct val="100000"/>
              <a:buFont typeface="Times New Roman" pitchFamily="18" charset="0"/>
              <a:buNone/>
            </a:pPr>
            <a:r>
              <a:rPr lang="zh-CN" altLang="en-US" sz="40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等线" pitchFamily="2" charset="-122"/>
              </a:rPr>
              <a:t>函数调用的一般形式</a:t>
            </a:r>
            <a:endParaRPr lang="zh-CN" altLang="zh-CN" sz="4000">
              <a:solidFill>
                <a:srgbClr val="FFFFFF"/>
              </a:solidFill>
              <a:latin typeface="微软雅黑" pitchFamily="34" charset="-122"/>
              <a:ea typeface="微软雅黑" pitchFamily="34" charset="-122"/>
              <a:cs typeface="等线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89502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3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、实参与形参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3" name="Rectangle 3"/>
          <p:cNvSpPr>
            <a:spLocks noChangeArrowheads="1"/>
          </p:cNvSpPr>
          <p:nvPr/>
        </p:nvSpPr>
        <p:spPr bwMode="auto">
          <a:xfrm>
            <a:off x="908386" y="1351196"/>
            <a:ext cx="10172480" cy="1928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42913" indent="-442913">
              <a:spcBef>
                <a:spcPct val="30000"/>
              </a:spcBef>
              <a:buFont typeface="Times New Roman" pitchFamily="18" charset="0"/>
              <a:buChar char="☺"/>
            </a:pPr>
            <a:r>
              <a:rPr kumimoji="1" lang="zh-CN" altLang="en-US" sz="2800" b="1">
                <a:solidFill>
                  <a:schemeClr val="tx1"/>
                </a:solidFill>
                <a:ea typeface="黑体" pitchFamily="49" charset="-122"/>
              </a:rPr>
              <a:t>实参：在调用一个函数时，所指定的参数称为“实际参数”，可以是常量、变量或表达式；</a:t>
            </a:r>
          </a:p>
          <a:p>
            <a:pPr marL="442913" indent="-442913">
              <a:spcBef>
                <a:spcPct val="30000"/>
              </a:spcBef>
              <a:buFont typeface="Times New Roman" pitchFamily="18" charset="0"/>
              <a:buChar char="☺"/>
            </a:pPr>
            <a:r>
              <a:rPr kumimoji="1" lang="zh-CN" altLang="en-US" sz="2800" b="1">
                <a:solidFill>
                  <a:schemeClr val="tx1"/>
                </a:solidFill>
                <a:ea typeface="黑体" pitchFamily="49" charset="-122"/>
              </a:rPr>
              <a:t>形参：在定义一个函数时，所指定的参数称为“形式参数”，必须是一个变量。</a:t>
            </a:r>
            <a:endParaRPr kumimoji="1" lang="en-US" altLang="zh-CN" sz="2800" b="1">
              <a:solidFill>
                <a:schemeClr val="tx1"/>
              </a:solidFill>
              <a:ea typeface="黑体" pitchFamily="49" charset="-122"/>
            </a:endParaRPr>
          </a:p>
        </p:txBody>
      </p:sp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581676" y="4094396"/>
            <a:ext cx="1905000" cy="13716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508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>
              <a:buNone/>
            </a:pPr>
            <a:r>
              <a:rPr lang="zh-CN" altLang="en-US" sz="3200" b="1">
                <a:ea typeface="宋体" charset="-122"/>
              </a:rPr>
              <a:t>调用者</a:t>
            </a:r>
          </a:p>
        </p:txBody>
      </p:sp>
      <p:sp>
        <p:nvSpPr>
          <p:cNvPr id="15" name="Rectangle 7"/>
          <p:cNvSpPr>
            <a:spLocks noChangeArrowheads="1"/>
          </p:cNvSpPr>
          <p:nvPr/>
        </p:nvSpPr>
        <p:spPr bwMode="auto">
          <a:xfrm>
            <a:off x="4620276" y="4094396"/>
            <a:ext cx="1905000" cy="13716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508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>
              <a:buNone/>
            </a:pPr>
            <a:r>
              <a:rPr lang="zh-CN" altLang="en-US" sz="3200" b="1">
                <a:ea typeface="宋体" charset="-122"/>
              </a:rPr>
              <a:t>函数</a:t>
            </a:r>
          </a:p>
        </p:txBody>
      </p:sp>
      <p:sp>
        <p:nvSpPr>
          <p:cNvPr id="16" name="Line 8"/>
          <p:cNvSpPr>
            <a:spLocks noChangeShapeType="1"/>
          </p:cNvSpPr>
          <p:nvPr/>
        </p:nvSpPr>
        <p:spPr bwMode="auto">
          <a:xfrm>
            <a:off x="2486676" y="4399196"/>
            <a:ext cx="21336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triangle" w="lg" len="med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7" name="Line 9"/>
          <p:cNvSpPr>
            <a:spLocks noChangeShapeType="1"/>
          </p:cNvSpPr>
          <p:nvPr/>
        </p:nvSpPr>
        <p:spPr bwMode="auto">
          <a:xfrm flipH="1">
            <a:off x="2486676" y="5084996"/>
            <a:ext cx="21336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triangle" w="lg" len="med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8" name="Text Box 10"/>
          <p:cNvSpPr txBox="1">
            <a:spLocks noChangeArrowheads="1"/>
          </p:cNvSpPr>
          <p:nvPr/>
        </p:nvSpPr>
        <p:spPr bwMode="auto">
          <a:xfrm>
            <a:off x="2105676" y="3579005"/>
            <a:ext cx="906017" cy="523220"/>
          </a:xfrm>
          <a:prstGeom prst="rect">
            <a:avLst/>
          </a:prstGeom>
          <a:noFill/>
          <a:ln w="508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buNone/>
            </a:pPr>
            <a:r>
              <a:rPr lang="zh-CN" altLang="en-US" sz="2800" b="1">
                <a:solidFill>
                  <a:schemeClr val="tx1"/>
                </a:solidFill>
                <a:ea typeface="宋体" charset="-122"/>
              </a:rPr>
              <a:t>实参</a:t>
            </a:r>
          </a:p>
        </p:txBody>
      </p:sp>
      <p:sp>
        <p:nvSpPr>
          <p:cNvPr id="19" name="Text Box 11"/>
          <p:cNvSpPr txBox="1">
            <a:spLocks noChangeArrowheads="1"/>
          </p:cNvSpPr>
          <p:nvPr/>
        </p:nvSpPr>
        <p:spPr bwMode="auto">
          <a:xfrm>
            <a:off x="4055126" y="3603944"/>
            <a:ext cx="906017" cy="523220"/>
          </a:xfrm>
          <a:prstGeom prst="rect">
            <a:avLst/>
          </a:prstGeom>
          <a:noFill/>
          <a:ln w="508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buNone/>
            </a:pPr>
            <a:r>
              <a:rPr lang="zh-CN" altLang="en-US" sz="2800" b="1">
                <a:solidFill>
                  <a:schemeClr val="tx1"/>
                </a:solidFill>
                <a:ea typeface="宋体" charset="-122"/>
              </a:rPr>
              <a:t>形参</a:t>
            </a:r>
          </a:p>
        </p:txBody>
      </p:sp>
      <p:sp>
        <p:nvSpPr>
          <p:cNvPr id="20" name="Text Box 12"/>
          <p:cNvSpPr txBox="1">
            <a:spLocks noChangeArrowheads="1"/>
          </p:cNvSpPr>
          <p:nvPr/>
        </p:nvSpPr>
        <p:spPr bwMode="auto">
          <a:xfrm>
            <a:off x="4055126" y="5465996"/>
            <a:ext cx="1266693" cy="523220"/>
          </a:xfrm>
          <a:prstGeom prst="rect">
            <a:avLst/>
          </a:prstGeom>
          <a:noFill/>
          <a:ln w="508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buNone/>
            </a:pPr>
            <a:r>
              <a:rPr lang="zh-CN" altLang="en-US" sz="2800" b="1">
                <a:solidFill>
                  <a:schemeClr val="tx1"/>
                </a:solidFill>
                <a:ea typeface="宋体" charset="-122"/>
              </a:rPr>
              <a:t>返回值</a:t>
            </a:r>
          </a:p>
        </p:txBody>
      </p:sp>
      <p:sp>
        <p:nvSpPr>
          <p:cNvPr id="21" name="Text Box 13"/>
          <p:cNvSpPr txBox="1">
            <a:spLocks noChangeArrowheads="1"/>
          </p:cNvSpPr>
          <p:nvPr/>
        </p:nvSpPr>
        <p:spPr bwMode="auto">
          <a:xfrm>
            <a:off x="1670634" y="5465996"/>
            <a:ext cx="1627369" cy="523220"/>
          </a:xfrm>
          <a:prstGeom prst="rect">
            <a:avLst/>
          </a:prstGeom>
          <a:noFill/>
          <a:ln w="508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buNone/>
            </a:pPr>
            <a:r>
              <a:rPr lang="zh-CN" altLang="en-US" sz="2800" b="1">
                <a:solidFill>
                  <a:schemeClr val="tx1"/>
                </a:solidFill>
                <a:ea typeface="宋体" charset="-122"/>
              </a:rPr>
              <a:t>接收变量</a:t>
            </a:r>
          </a:p>
        </p:txBody>
      </p:sp>
      <p:sp>
        <p:nvSpPr>
          <p:cNvPr id="22" name="Text Box 14"/>
          <p:cNvSpPr txBox="1">
            <a:spLocks noChangeArrowheads="1"/>
          </p:cNvSpPr>
          <p:nvPr/>
        </p:nvSpPr>
        <p:spPr bwMode="auto">
          <a:xfrm>
            <a:off x="9986142" y="4087430"/>
            <a:ext cx="1676400" cy="904875"/>
          </a:xfrm>
          <a:prstGeom prst="rect">
            <a:avLst/>
          </a:prstGeom>
          <a:noFill/>
          <a:ln w="508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358775" indent="-358775">
              <a:spcBef>
                <a:spcPct val="20000"/>
              </a:spcBef>
              <a:buFontTx/>
              <a:buAutoNum type="arabicPeriod"/>
            </a:pPr>
            <a:r>
              <a:rPr lang="zh-CN" altLang="en-US" sz="2400" b="1">
                <a:solidFill>
                  <a:srgbClr val="0000FF"/>
                </a:solidFill>
                <a:ea typeface="宋体" charset="-122"/>
              </a:rPr>
              <a:t>个数？</a:t>
            </a:r>
          </a:p>
          <a:p>
            <a:pPr marL="358775" indent="-358775">
              <a:spcBef>
                <a:spcPct val="20000"/>
              </a:spcBef>
              <a:buFontTx/>
              <a:buAutoNum type="arabicPeriod"/>
            </a:pPr>
            <a:r>
              <a:rPr lang="zh-CN" altLang="en-US" sz="2400" b="1">
                <a:solidFill>
                  <a:srgbClr val="0000FF"/>
                </a:solidFill>
                <a:ea typeface="宋体" charset="-122"/>
              </a:rPr>
              <a:t>方向？</a:t>
            </a:r>
          </a:p>
        </p:txBody>
      </p:sp>
      <p:grpSp>
        <p:nvGrpSpPr>
          <p:cNvPr id="23" name="组合 14"/>
          <p:cNvGrpSpPr>
            <a:grpSpLocks/>
          </p:cNvGrpSpPr>
          <p:nvPr/>
        </p:nvGrpSpPr>
        <p:grpSpPr bwMode="auto">
          <a:xfrm>
            <a:off x="6967044" y="4058705"/>
            <a:ext cx="2790825" cy="1647825"/>
            <a:chOff x="6246292" y="4781550"/>
            <a:chExt cx="2790916" cy="1647969"/>
          </a:xfrm>
        </p:grpSpPr>
        <p:pic>
          <p:nvPicPr>
            <p:cNvPr id="24" name="图片 12" descr="untitled.jpg"/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6246292" y="4781550"/>
              <a:ext cx="1373708" cy="1619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5" name="图片 13" descr="untitled.jpg"/>
            <p:cNvPicPr>
              <a:picLocks noChangeAspect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7772400" y="4800600"/>
              <a:ext cx="1264808" cy="16289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1636123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21" grpId="0"/>
      <p:bldP spid="22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实参与形参举例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26" name="Text Box 6"/>
          <p:cNvSpPr txBox="1">
            <a:spLocks noChangeArrowheads="1"/>
          </p:cNvSpPr>
          <p:nvPr/>
        </p:nvSpPr>
        <p:spPr bwMode="auto">
          <a:xfrm>
            <a:off x="1547565" y="1205131"/>
            <a:ext cx="8976361" cy="5139869"/>
          </a:xfrm>
          <a:prstGeom prst="rect">
            <a:avLst/>
          </a:prstGeom>
          <a:noFill/>
          <a:ln w="15875" cap="sq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ts val="120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def main():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salary = 6000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nCars = 0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nHouses = 0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</a:t>
            </a:r>
            <a:r>
              <a:rPr kumimoji="1" lang="en-US" altLang="zh-CN" sz="28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DayDreaming</a:t>
            </a: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(</a:t>
            </a:r>
            <a:r>
              <a:rPr kumimoji="1" lang="en-US" altLang="zh-CN" sz="2800" b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salary</a:t>
            </a: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, </a:t>
            </a:r>
            <a:r>
              <a:rPr kumimoji="1" lang="en-US" altLang="zh-CN" sz="2800" b="1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nCars</a:t>
            </a: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, </a:t>
            </a:r>
            <a:r>
              <a:rPr kumimoji="1" lang="en-US" altLang="zh-CN" sz="2800" b="1">
                <a:solidFill>
                  <a:srgbClr val="00863A"/>
                </a:solidFill>
                <a:latin typeface="Courier New" pitchFamily="49" charset="0"/>
                <a:cs typeface="Courier New" pitchFamily="49" charset="0"/>
              </a:rPr>
              <a:t>nHouses</a:t>
            </a: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)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print(salary, nCars, nHouses)</a:t>
            </a:r>
          </a:p>
          <a:p>
            <a:pPr marL="342900" indent="-342900">
              <a:spcBef>
                <a:spcPts val="120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def </a:t>
            </a:r>
            <a:r>
              <a:rPr kumimoji="1" lang="en-US" altLang="zh-CN" sz="28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DayDreaming</a:t>
            </a: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(</a:t>
            </a:r>
            <a:r>
              <a:rPr kumimoji="1" lang="en-US" altLang="zh-CN" sz="2800" b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salary</a:t>
            </a: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, </a:t>
            </a:r>
            <a:r>
              <a:rPr kumimoji="1" lang="en-US" altLang="zh-CN" sz="2800" b="1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cars</a:t>
            </a: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, </a:t>
            </a:r>
            <a:r>
              <a:rPr kumimoji="1" lang="en-US" altLang="zh-CN" sz="2800" b="1">
                <a:solidFill>
                  <a:srgbClr val="00863A"/>
                </a:solidFill>
                <a:latin typeface="Courier New" pitchFamily="49" charset="0"/>
                <a:cs typeface="Courier New" pitchFamily="49" charset="0"/>
              </a:rPr>
              <a:t>houses</a:t>
            </a: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):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salary = salary * 3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cars += 2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houses += 1</a:t>
            </a:r>
          </a:p>
          <a:p>
            <a:pPr marL="342900" indent="-342900">
              <a:spcBef>
                <a:spcPts val="120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main()</a:t>
            </a:r>
          </a:p>
        </p:txBody>
      </p:sp>
    </p:spTree>
    <p:extLst>
      <p:ext uri="{BB962C8B-B14F-4D97-AF65-F5344CB8AC3E}">
        <p14:creationId xmlns:p14="http://schemas.microsoft.com/office/powerpoint/2010/main" val="10422073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4</a:t>
            </a: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、系统提供的函数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961512" y="1456113"/>
            <a:ext cx="9903226" cy="458724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6400" indent="-446400">
              <a:spcAft>
                <a:spcPts val="600"/>
              </a:spcAft>
              <a:buSzPct val="90000"/>
              <a:buFont typeface="Wingdings 2" pitchFamily="18" charset="2"/>
              <a:buChar char="ö"/>
            </a:pPr>
            <a:r>
              <a:rPr lang="en-US" altLang="zh-CN" b="1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zh-CN" altLang="en-US" b="1">
                <a:latin typeface="Times New Roman" pitchFamily="18" charset="0"/>
                <a:cs typeface="Times New Roman" pitchFamily="18" charset="0"/>
              </a:rPr>
              <a:t>提供</a:t>
            </a:r>
            <a:r>
              <a:rPr lang="zh-CN" altLang="en-US" b="1"/>
              <a:t>内置函数，可直接调用</a:t>
            </a:r>
            <a:endParaRPr lang="en-US" altLang="zh-CN" b="1"/>
          </a:p>
          <a:p>
            <a:pPr marL="903600" lvl="1" indent="-4464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J"/>
            </a:pPr>
            <a:r>
              <a:rPr lang="zh-CN" altLang="en-US" sz="32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部分数学函数：</a:t>
            </a:r>
            <a:r>
              <a:rPr lang="en-US" altLang="zh-CN" sz="32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round(), max(), pow() </a:t>
            </a:r>
          </a:p>
          <a:p>
            <a:pPr marL="903600" lvl="1" indent="-4464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J"/>
            </a:pPr>
            <a:r>
              <a:rPr lang="zh-CN" altLang="en-US" sz="32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强制类型转换：</a:t>
            </a:r>
            <a:r>
              <a:rPr lang="en-US" altLang="zh-CN" sz="32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int(), float(), bool()</a:t>
            </a:r>
          </a:p>
          <a:p>
            <a:pPr marL="903600" lvl="1" indent="-4464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J"/>
            </a:pPr>
            <a:r>
              <a:rPr lang="zh-CN" altLang="en-US" sz="32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输入输出函数：</a:t>
            </a:r>
            <a:r>
              <a:rPr lang="en-US" altLang="zh-CN" sz="32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input(), print()</a:t>
            </a:r>
          </a:p>
          <a:p>
            <a:pPr marL="446400" indent="-446400">
              <a:spcBef>
                <a:spcPts val="1800"/>
              </a:spcBef>
              <a:buSzPct val="90000"/>
              <a:buFont typeface="Wingdings 2" pitchFamily="18" charset="2"/>
              <a:buChar char="ö"/>
            </a:pPr>
            <a:r>
              <a:rPr lang="zh-CN" altLang="en-US" b="1">
                <a:latin typeface="宋体" pitchFamily="2" charset="-122"/>
                <a:ea typeface="宋体" pitchFamily="2" charset="-122"/>
              </a:rPr>
              <a:t>完整的内置函数列表</a:t>
            </a:r>
            <a:endParaRPr lang="en-US" altLang="zh-CN" b="1">
              <a:latin typeface="宋体" pitchFamily="2" charset="-122"/>
              <a:ea typeface="宋体" pitchFamily="2" charset="-122"/>
            </a:endParaRPr>
          </a:p>
          <a:p>
            <a:pPr marL="903600" lvl="1" indent="-446400">
              <a:spcBef>
                <a:spcPts val="1200"/>
              </a:spcBef>
              <a:buSzPct val="90000"/>
              <a:buFont typeface="Wingdings" pitchFamily="2" charset="2"/>
              <a:buChar char="J"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https://docs.python.org/3/library/functions.html</a:t>
            </a:r>
            <a:endParaRPr lang="en-US" altLang="zh-CN" sz="32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288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模块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9" name="内容占位符 2"/>
          <p:cNvSpPr txBox="1">
            <a:spLocks/>
          </p:cNvSpPr>
          <p:nvPr/>
        </p:nvSpPr>
        <p:spPr>
          <a:xfrm>
            <a:off x="961512" y="1456113"/>
            <a:ext cx="10202481" cy="458724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6400" indent="-446400">
              <a:spcAft>
                <a:spcPts val="600"/>
              </a:spcAft>
              <a:buSzPct val="90000"/>
              <a:buFont typeface="Wingdings 2" pitchFamily="18" charset="2"/>
              <a:buChar char="ö"/>
            </a:pPr>
            <a:r>
              <a:rPr lang="zh-CN" altLang="en-US" b="1">
                <a:latin typeface="Times New Roman" pitchFamily="18" charset="0"/>
                <a:cs typeface="Times New Roman" pitchFamily="18" charset="0"/>
              </a:rPr>
              <a:t>内置函数数量太少，缺少很多常用函数</a:t>
            </a:r>
            <a:endParaRPr lang="en-US" altLang="zh-CN" b="1"/>
          </a:p>
          <a:p>
            <a:pPr marL="903600" lvl="1" indent="-4464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J"/>
            </a:pPr>
            <a:r>
              <a:rPr lang="zh-CN" altLang="en-US" sz="32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如缺少数学函数：</a:t>
            </a:r>
            <a:r>
              <a:rPr lang="en-US" altLang="zh-CN" sz="32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cos(), sqrt()</a:t>
            </a:r>
          </a:p>
          <a:p>
            <a:pPr marL="446400" indent="-446400">
              <a:spcBef>
                <a:spcPts val="1800"/>
              </a:spcBef>
              <a:buSzPct val="90000"/>
              <a:buFont typeface="Wingdings 2" pitchFamily="18" charset="2"/>
              <a:buChar char="ö"/>
            </a:pPr>
            <a:r>
              <a:rPr lang="zh-CN" altLang="en-US" b="1">
                <a:latin typeface="宋体" pitchFamily="2" charset="-122"/>
                <a:ea typeface="宋体" pitchFamily="2" charset="-122"/>
              </a:rPr>
              <a:t>模块（</a:t>
            </a:r>
            <a:r>
              <a:rPr lang="en-US" altLang="zh-CN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module</a:t>
            </a:r>
            <a:r>
              <a:rPr lang="zh-CN" altLang="en-US" b="1">
                <a:latin typeface="宋体" pitchFamily="2" charset="-122"/>
                <a:ea typeface="宋体" pitchFamily="2" charset="-122"/>
              </a:rPr>
              <a:t>）：包含源代码的文件</a:t>
            </a:r>
            <a:endParaRPr lang="en-US" altLang="zh-CN" b="1">
              <a:latin typeface="宋体" pitchFamily="2" charset="-122"/>
              <a:ea typeface="宋体" pitchFamily="2" charset="-122"/>
            </a:endParaRPr>
          </a:p>
          <a:p>
            <a:pPr marL="903600" lvl="1" indent="-446400">
              <a:spcBef>
                <a:spcPts val="1200"/>
              </a:spcBef>
              <a:buSzPct val="90000"/>
              <a:buFont typeface="Wingdings" pitchFamily="2" charset="2"/>
              <a:buChar char="J"/>
            </a:pPr>
            <a:r>
              <a:rPr lang="zh-CN" altLang="en-US" sz="32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包括</a:t>
            </a:r>
            <a:r>
              <a:rPr lang="en-US" altLang="zh-CN" sz="32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math, OS, random</a:t>
            </a:r>
            <a:r>
              <a:rPr lang="zh-CN" altLang="en-US" sz="32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等，通过此方式，</a:t>
            </a:r>
            <a:r>
              <a:rPr lang="en-US" altLang="zh-CN" sz="32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Python</a:t>
            </a:r>
            <a:r>
              <a:rPr lang="zh-CN" altLang="en-US" sz="32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可以提供更多的函数</a:t>
            </a:r>
            <a:endParaRPr lang="en-US" altLang="zh-CN" sz="3200" b="1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marL="903600" lvl="1" indent="-446400">
              <a:spcBef>
                <a:spcPts val="600"/>
              </a:spcBef>
              <a:buSzPct val="90000"/>
              <a:buFont typeface="Wingdings" pitchFamily="2" charset="2"/>
              <a:buChar char="J"/>
            </a:pPr>
            <a:r>
              <a:rPr lang="zh-CN" altLang="en-US" sz="3200" b="1">
                <a:latin typeface="楷体" pitchFamily="49" charset="-122"/>
                <a:ea typeface="楷体" pitchFamily="49" charset="-122"/>
                <a:cs typeface="Times New Roman" pitchFamily="18" charset="0"/>
              </a:rPr>
              <a:t>若要访问某个模块，可用</a:t>
            </a:r>
            <a:r>
              <a:rPr lang="en-US" altLang="zh-CN" sz="32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import</a:t>
            </a:r>
            <a:r>
              <a:rPr lang="zh-CN" altLang="en-US" sz="3200" b="1">
                <a:latin typeface="楷体" pitchFamily="49" charset="-122"/>
                <a:ea typeface="楷体" pitchFamily="49" charset="-122"/>
                <a:cs typeface="Times New Roman" pitchFamily="18" charset="0"/>
              </a:rPr>
              <a:t>命令</a:t>
            </a:r>
            <a:endParaRPr lang="en-US" altLang="zh-CN" sz="3200" b="1"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  <a:p>
            <a:pPr marL="903600" lvl="1" indent="-446400">
              <a:spcBef>
                <a:spcPts val="600"/>
              </a:spcBef>
              <a:buSzPct val="90000"/>
              <a:buFont typeface="Wingdings" pitchFamily="2" charset="2"/>
              <a:buChar char="J"/>
            </a:pPr>
            <a:r>
              <a:rPr lang="zh-CN" altLang="en-US" sz="3200" b="1">
                <a:latin typeface="楷体" pitchFamily="49" charset="-122"/>
                <a:ea typeface="楷体" pitchFamily="49" charset="-122"/>
                <a:cs typeface="Times New Roman" pitchFamily="18" charset="0"/>
              </a:rPr>
              <a:t>在调用相关函数时，用模块名作前缀</a:t>
            </a:r>
            <a:endParaRPr lang="en-US" altLang="zh-CN" sz="3200" b="1" dirty="0"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7871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一个例子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7421" y="1526766"/>
            <a:ext cx="4191000" cy="4200524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8549" y="1526766"/>
            <a:ext cx="4152174" cy="4223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1726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使用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random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模块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621872" y="1458228"/>
            <a:ext cx="10916193" cy="403187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eaLnBrk="1" hangingPunct="1">
              <a:buNone/>
            </a:pPr>
            <a:r>
              <a:rPr kumimoji="1" lang="en-US" altLang="zh-CN" sz="3200" b="1">
                <a:solidFill>
                  <a:srgbClr val="FF00FF"/>
                </a:solidFill>
                <a:latin typeface="Courier New" pitchFamily="49" charset="0"/>
                <a:ea typeface="宋体" charset="-122"/>
              </a:rPr>
              <a:t>import random</a:t>
            </a:r>
          </a:p>
          <a:p>
            <a:pPr eaLnBrk="1" hangingPunct="1">
              <a:buNone/>
            </a:pPr>
            <a:r>
              <a:rPr kumimoji="1" lang="en-US" altLang="zh-CN" sz="3200" b="1">
                <a:latin typeface="Courier New" pitchFamily="49" charset="0"/>
                <a:ea typeface="宋体" charset="-122"/>
              </a:rPr>
              <a:t>def talk_to_wife():</a:t>
            </a:r>
          </a:p>
          <a:p>
            <a:pPr eaLnBrk="1" hangingPunct="1">
              <a:buNone/>
            </a:pPr>
            <a:r>
              <a:rPr kumimoji="1" lang="en-US" altLang="zh-CN" sz="3200" b="1">
                <a:latin typeface="Courier New" pitchFamily="49" charset="0"/>
                <a:ea typeface="宋体" charset="-122"/>
              </a:rPr>
              <a:t>    words = ["</a:t>
            </a:r>
            <a:r>
              <a:rPr kumimoji="1" lang="zh-CN" altLang="en-US" sz="3200" b="1">
                <a:latin typeface="Courier New" pitchFamily="49" charset="0"/>
                <a:ea typeface="宋体" charset="-122"/>
              </a:rPr>
              <a:t>恩</a:t>
            </a:r>
            <a:r>
              <a:rPr kumimoji="1" lang="en-US" altLang="zh-CN" sz="3200" b="1">
                <a:latin typeface="Courier New" pitchFamily="49" charset="0"/>
                <a:ea typeface="宋体" charset="-122"/>
              </a:rPr>
              <a:t>!","</a:t>
            </a:r>
            <a:r>
              <a:rPr kumimoji="1" lang="zh-CN" altLang="en-US" sz="3200" b="1">
                <a:latin typeface="Courier New" pitchFamily="49" charset="0"/>
                <a:ea typeface="宋体" charset="-122"/>
              </a:rPr>
              <a:t>好的</a:t>
            </a:r>
            <a:r>
              <a:rPr kumimoji="1" lang="en-US" altLang="zh-CN" sz="3200" b="1">
                <a:latin typeface="Courier New" pitchFamily="49" charset="0"/>
                <a:ea typeface="宋体" charset="-122"/>
              </a:rPr>
              <a:t>!","</a:t>
            </a:r>
            <a:r>
              <a:rPr kumimoji="1" lang="zh-CN" altLang="en-US" sz="3200" b="1">
                <a:latin typeface="Courier New" pitchFamily="49" charset="0"/>
                <a:ea typeface="宋体" charset="-122"/>
              </a:rPr>
              <a:t>然后呢</a:t>
            </a:r>
            <a:r>
              <a:rPr kumimoji="1" lang="en-US" altLang="zh-CN" sz="3200" b="1">
                <a:latin typeface="Courier New" pitchFamily="49" charset="0"/>
                <a:ea typeface="宋体" charset="-122"/>
              </a:rPr>
              <a:t>?","</a:t>
            </a:r>
            <a:r>
              <a:rPr kumimoji="1" lang="zh-CN" altLang="en-US" sz="3200" b="1">
                <a:latin typeface="Courier New" pitchFamily="49" charset="0"/>
                <a:ea typeface="宋体" charset="-122"/>
              </a:rPr>
              <a:t>有道理</a:t>
            </a:r>
            <a:r>
              <a:rPr kumimoji="1" lang="en-US" altLang="zh-CN" sz="3200" b="1">
                <a:latin typeface="Courier New" pitchFamily="49" charset="0"/>
                <a:ea typeface="宋体" charset="-122"/>
              </a:rPr>
              <a:t>"]</a:t>
            </a:r>
          </a:p>
          <a:p>
            <a:pPr eaLnBrk="1" hangingPunct="1">
              <a:buNone/>
            </a:pPr>
            <a:r>
              <a:rPr kumimoji="1" lang="en-US" altLang="zh-CN" sz="3200" b="1">
                <a:latin typeface="Courier New" pitchFamily="49" charset="0"/>
                <a:ea typeface="宋体" charset="-122"/>
              </a:rPr>
              <a:t>    for times in range(10):</a:t>
            </a:r>
          </a:p>
          <a:p>
            <a:pPr eaLnBrk="1" hangingPunct="1">
              <a:buNone/>
            </a:pPr>
            <a:r>
              <a:rPr kumimoji="1" lang="en-US" altLang="zh-CN" sz="3200" b="1">
                <a:latin typeface="Courier New" pitchFamily="49" charset="0"/>
                <a:ea typeface="宋体" charset="-122"/>
              </a:rPr>
              <a:t>        i = </a:t>
            </a:r>
            <a:r>
              <a:rPr kumimoji="1" lang="en-US" altLang="zh-CN" sz="3200" b="1">
                <a:solidFill>
                  <a:srgbClr val="FF00FF"/>
                </a:solidFill>
                <a:latin typeface="Courier New" pitchFamily="49" charset="0"/>
                <a:ea typeface="宋体" charset="-122"/>
              </a:rPr>
              <a:t>random.randint(0,3) </a:t>
            </a:r>
            <a:r>
              <a:rPr kumimoji="1" lang="en-US" altLang="zh-CN" sz="3200" b="1">
                <a:solidFill>
                  <a:srgbClr val="00B050"/>
                </a:solidFill>
                <a:latin typeface="Courier New" pitchFamily="49" charset="0"/>
                <a:ea typeface="宋体" charset="-122"/>
              </a:rPr>
              <a:t>#0~3</a:t>
            </a:r>
          </a:p>
          <a:p>
            <a:pPr eaLnBrk="1" hangingPunct="1">
              <a:buNone/>
            </a:pPr>
            <a:r>
              <a:rPr kumimoji="1" lang="en-US" altLang="zh-CN" sz="3200" b="1">
                <a:latin typeface="Courier New" pitchFamily="49" charset="0"/>
                <a:ea typeface="宋体" charset="-122"/>
              </a:rPr>
              <a:t>        print(words[i])</a:t>
            </a:r>
          </a:p>
          <a:p>
            <a:pPr eaLnBrk="1" hangingPunct="1">
              <a:buNone/>
            </a:pPr>
            <a:endParaRPr kumimoji="1" lang="en-US" altLang="zh-CN" sz="3200" b="1">
              <a:latin typeface="Courier New" pitchFamily="49" charset="0"/>
              <a:ea typeface="宋体" charset="-122"/>
            </a:endParaRPr>
          </a:p>
          <a:p>
            <a:pPr eaLnBrk="1" hangingPunct="1">
              <a:buNone/>
            </a:pPr>
            <a:r>
              <a:rPr kumimoji="1" lang="en-US" altLang="zh-CN" sz="3200" b="1">
                <a:latin typeface="Courier New" pitchFamily="49" charset="0"/>
                <a:ea typeface="宋体" charset="-122"/>
              </a:rPr>
              <a:t>talk_to_wife()</a:t>
            </a:r>
          </a:p>
        </p:txBody>
      </p:sp>
    </p:spTree>
    <p:extLst>
      <p:ext uri="{BB962C8B-B14F-4D97-AF65-F5344CB8AC3E}">
        <p14:creationId xmlns:p14="http://schemas.microsoft.com/office/powerpoint/2010/main" val="15481924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5</a:t>
            </a: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、变量的作用范围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1163777" y="1436708"/>
            <a:ext cx="9759142" cy="32932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20000"/>
              </a:spcBef>
            </a:pPr>
            <a:r>
              <a:rPr kumimoji="1" lang="zh-CN" altLang="en-US" sz="3200" b="1">
                <a:solidFill>
                  <a:schemeClr val="tx1"/>
                </a:solidFill>
                <a:ea typeface="宋体" pitchFamily="2" charset="-122"/>
              </a:rPr>
              <a:t>        变量的作用范围：也称为变量的作用域，指程序中的一段代码范围，在此范围内，这个变量是有效的，可以被访问。而在此范围之外，该变量是无效的，不能被访问。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3200" b="1">
                <a:solidFill>
                  <a:schemeClr val="tx1"/>
                </a:solidFill>
                <a:ea typeface="宋体" pitchFamily="2" charset="-122"/>
              </a:rPr>
              <a:t>        一个变量在它的作用域以内是“可见”的，在它的作用域以外是“不可见”的。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2536995" y="5128769"/>
            <a:ext cx="2498818" cy="779295"/>
            <a:chOff x="827467" y="3115218"/>
            <a:chExt cx="1915595" cy="597408"/>
          </a:xfrm>
          <a:solidFill>
            <a:srgbClr val="0675A0"/>
          </a:solidFill>
        </p:grpSpPr>
        <p:sp>
          <p:nvSpPr>
            <p:cNvPr id="12" name="矩形 11"/>
            <p:cNvSpPr/>
            <p:nvPr/>
          </p:nvSpPr>
          <p:spPr>
            <a:xfrm>
              <a:off x="827467" y="3115218"/>
              <a:ext cx="1915595" cy="597408"/>
            </a:xfrm>
            <a:prstGeom prst="rect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文本框 4"/>
            <p:cNvSpPr txBox="1"/>
            <p:nvPr/>
          </p:nvSpPr>
          <p:spPr>
            <a:xfrm>
              <a:off x="1138501" y="3235070"/>
              <a:ext cx="1233897" cy="4011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zh-CN" altLang="en-US" sz="2800" b="1" kern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局部变量</a:t>
              </a:r>
              <a:endParaRPr lang="zh-CN" altLang="en-US" sz="28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6729513" y="5131535"/>
            <a:ext cx="2498818" cy="779295"/>
            <a:chOff x="827467" y="3115218"/>
            <a:chExt cx="1915595" cy="597408"/>
          </a:xfrm>
          <a:solidFill>
            <a:srgbClr val="0675A0"/>
          </a:solidFill>
        </p:grpSpPr>
        <p:sp>
          <p:nvSpPr>
            <p:cNvPr id="15" name="矩形 14"/>
            <p:cNvSpPr/>
            <p:nvPr/>
          </p:nvSpPr>
          <p:spPr>
            <a:xfrm>
              <a:off x="827467" y="3115218"/>
              <a:ext cx="1915595" cy="597408"/>
            </a:xfrm>
            <a:prstGeom prst="rect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文本框 4"/>
            <p:cNvSpPr txBox="1"/>
            <p:nvPr/>
          </p:nvSpPr>
          <p:spPr>
            <a:xfrm>
              <a:off x="1138501" y="3209580"/>
              <a:ext cx="1233897" cy="4011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zh-CN" altLang="en-US" sz="2800" b="1" kern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全局变量</a:t>
              </a:r>
              <a:endParaRPr lang="zh-CN" altLang="en-US" sz="28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01158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局部变量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7" name="Rectangle 3"/>
          <p:cNvSpPr>
            <a:spLocks noChangeArrowheads="1"/>
          </p:cNvSpPr>
          <p:nvPr/>
        </p:nvSpPr>
        <p:spPr bwMode="auto">
          <a:xfrm>
            <a:off x="1034675" y="1525386"/>
            <a:ext cx="9780183" cy="4062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Aft>
                <a:spcPct val="50000"/>
              </a:spcAft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kumimoji="1" lang="zh-CN" altLang="en-US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 </a:t>
            </a:r>
            <a:r>
              <a:rPr kumimoji="1" lang="zh-CN" altLang="en-US"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局部变量：在一个函数内部定义的变量</a:t>
            </a:r>
          </a:p>
          <a:p>
            <a:pPr marL="630238" lvl="1" indent="-450850" eaLnBrk="1" hangingPunct="1">
              <a:spcAft>
                <a:spcPct val="50000"/>
              </a:spcAft>
              <a:buClr>
                <a:schemeClr val="tx1"/>
              </a:buClr>
              <a:buFont typeface="Wingdings 2" pitchFamily="18" charset="2"/>
              <a:buChar char="ö"/>
            </a:pPr>
            <a:r>
              <a:rPr kumimoji="1" lang="zh-CN" altLang="en-US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局部变量只在本函数范围内有效；</a:t>
            </a:r>
          </a:p>
          <a:p>
            <a:pPr marL="630238" lvl="1" indent="-450850" eaLnBrk="1" hangingPunct="1">
              <a:spcAft>
                <a:spcPct val="50000"/>
              </a:spcAft>
              <a:buClr>
                <a:schemeClr val="tx1"/>
              </a:buClr>
              <a:buFont typeface="Wingdings 2" pitchFamily="18" charset="2"/>
              <a:buChar char="ö"/>
            </a:pPr>
            <a:r>
              <a:rPr kumimoji="1" lang="zh-CN" altLang="en-US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在不同函数中可使用</a:t>
            </a:r>
            <a:r>
              <a:rPr kumimoji="1" lang="zh-CN" altLang="en-US" sz="2800" b="1" u="sng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相同</a:t>
            </a:r>
            <a:r>
              <a:rPr kumimoji="1" lang="zh-CN" altLang="en-US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名字的局部变量；</a:t>
            </a:r>
          </a:p>
          <a:p>
            <a:pPr marL="630238" lvl="1" indent="-450850" eaLnBrk="1" hangingPunct="1">
              <a:spcAft>
                <a:spcPct val="50000"/>
              </a:spcAft>
              <a:buClr>
                <a:schemeClr val="tx1"/>
              </a:buClr>
              <a:buFont typeface="Wingdings 2" pitchFamily="18" charset="2"/>
              <a:buChar char="ö"/>
            </a:pPr>
            <a:r>
              <a:rPr kumimoji="1" lang="zh-CN" altLang="en-US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形参也是局部变量，也只能在本函数中使用；</a:t>
            </a:r>
          </a:p>
          <a:p>
            <a:pPr marL="630238" lvl="1" indent="-450850" eaLnBrk="1" hangingPunct="1">
              <a:spcAft>
                <a:spcPct val="50000"/>
              </a:spcAft>
              <a:buClr>
                <a:schemeClr val="tx1"/>
              </a:buClr>
              <a:buFont typeface="Wingdings 2" pitchFamily="18" charset="2"/>
              <a:buChar char="ö"/>
            </a:pPr>
            <a:r>
              <a:rPr kumimoji="1" lang="zh-CN" altLang="en-US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局部变量的生存期：当函数被</a:t>
            </a:r>
            <a:r>
              <a:rPr kumimoji="1" lang="zh-CN" altLang="en-US" sz="2800" b="1" u="sng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调用</a:t>
            </a:r>
            <a:r>
              <a:rPr kumimoji="1" lang="zh-CN" altLang="en-US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时，其局部变量才被创建，并分配相应内存空间；当函数调用结束后，局部变量即消亡，其空间被释放。</a:t>
            </a:r>
          </a:p>
        </p:txBody>
      </p:sp>
    </p:spTree>
    <p:extLst>
      <p:ext uri="{BB962C8B-B14F-4D97-AF65-F5344CB8AC3E}">
        <p14:creationId xmlns:p14="http://schemas.microsoft.com/office/powerpoint/2010/main" val="3698067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局部变量举例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903637" y="1391946"/>
            <a:ext cx="8321009" cy="457971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eaLnBrk="1" hangingPunct="1"/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def  foo(</a:t>
            </a:r>
            <a:r>
              <a:rPr kumimoji="1" lang="en-US" altLang="zh-CN" sz="3200" b="1">
                <a:solidFill>
                  <a:srgbClr val="FF00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)</a:t>
            </a:r>
          </a:p>
          <a:p>
            <a:pPr eaLnBrk="1" hangingPunct="1">
              <a:spcBef>
                <a:spcPts val="1200"/>
              </a:spcBef>
            </a:pP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</a:t>
            </a:r>
            <a:r>
              <a:rPr kumimoji="1" lang="en-US" altLang="zh-CN" sz="3200" b="1">
                <a:solidFill>
                  <a:srgbClr val="FF00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b = 0</a:t>
            </a:r>
          </a:p>
          <a:p>
            <a:pPr eaLnBrk="1" hangingPunct="1"/>
            <a:r>
              <a:rPr kumimoji="1" lang="en-US" altLang="zh-CN" sz="3200" b="1">
                <a:solidFill>
                  <a:srgbClr val="FF00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c = 0</a:t>
            </a:r>
          </a:p>
          <a:p>
            <a:pPr eaLnBrk="1" hangingPunct="1"/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…</a:t>
            </a: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def  bar(</a:t>
            </a:r>
            <a:r>
              <a:rPr kumimoji="1" lang="en-US" altLang="zh-CN" sz="3200" b="1">
                <a:solidFill>
                  <a:srgbClr val="FF00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x, y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)</a:t>
            </a:r>
          </a:p>
          <a:p>
            <a:pPr eaLnBrk="1" hangingPunct="1">
              <a:spcBef>
                <a:spcPts val="1200"/>
              </a:spcBef>
            </a:pP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</a:t>
            </a:r>
            <a:r>
              <a:rPr kumimoji="1" lang="en-US" altLang="zh-CN" sz="3200" b="1">
                <a:solidFill>
                  <a:srgbClr val="FF00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i = 1</a:t>
            </a:r>
          </a:p>
          <a:p>
            <a:pPr eaLnBrk="1" hangingPunct="1"/>
            <a:r>
              <a:rPr kumimoji="1" lang="en-US" altLang="zh-CN" sz="3200" b="1">
                <a:solidFill>
                  <a:srgbClr val="FF00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j = 1</a:t>
            </a:r>
          </a:p>
          <a:p>
            <a:pPr eaLnBrk="1" hangingPunct="1"/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…</a:t>
            </a:r>
          </a:p>
        </p:txBody>
      </p:sp>
      <p:grpSp>
        <p:nvGrpSpPr>
          <p:cNvPr id="9" name="Group 4"/>
          <p:cNvGrpSpPr>
            <a:grpSpLocks/>
          </p:cNvGrpSpPr>
          <p:nvPr/>
        </p:nvGrpSpPr>
        <p:grpSpPr bwMode="auto">
          <a:xfrm>
            <a:off x="5156059" y="2073662"/>
            <a:ext cx="2592388" cy="1393825"/>
            <a:chOff x="2450" y="526"/>
            <a:chExt cx="1633" cy="878"/>
          </a:xfrm>
        </p:grpSpPr>
        <p:sp>
          <p:nvSpPr>
            <p:cNvPr id="11" name="AutoShape 5"/>
            <p:cNvSpPr>
              <a:spLocks/>
            </p:cNvSpPr>
            <p:nvPr/>
          </p:nvSpPr>
          <p:spPr bwMode="auto">
            <a:xfrm>
              <a:off x="2450" y="526"/>
              <a:ext cx="183" cy="878"/>
            </a:xfrm>
            <a:prstGeom prst="rightBrace">
              <a:avLst>
                <a:gd name="adj1" fmla="val 39982"/>
                <a:gd name="adj2" fmla="val 50000"/>
              </a:avLst>
            </a:prstGeom>
            <a:noFill/>
            <a:ln w="254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2" name="Text Box 6"/>
            <p:cNvSpPr txBox="1">
              <a:spLocks noChangeArrowheads="1"/>
            </p:cNvSpPr>
            <p:nvPr/>
          </p:nvSpPr>
          <p:spPr bwMode="auto">
            <a:xfrm>
              <a:off x="2731" y="769"/>
              <a:ext cx="135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1pPr>
              <a:lvl2pPr marL="742950" indent="-28575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2pPr>
              <a:lvl3pPr marL="1143000" indent="-22860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3pPr>
              <a:lvl4pPr marL="1600200" indent="-22860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4pPr>
              <a:lvl5pPr marL="2057400" indent="-22860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800" b="1">
                  <a:solidFill>
                    <a:srgbClr val="FF00FF"/>
                  </a:solidFill>
                  <a:ea typeface="宋体" pitchFamily="2" charset="-122"/>
                </a:rPr>
                <a:t>a</a:t>
              </a:r>
              <a:r>
                <a:rPr kumimoji="1" lang="zh-CN" altLang="en-US" sz="2800" b="1">
                  <a:solidFill>
                    <a:srgbClr val="FF00FF"/>
                  </a:solidFill>
                  <a:ea typeface="宋体" pitchFamily="2" charset="-122"/>
                </a:rPr>
                <a:t>、</a:t>
              </a:r>
              <a:r>
                <a:rPr kumimoji="1" lang="en-US" altLang="zh-CN" sz="2800" b="1">
                  <a:solidFill>
                    <a:srgbClr val="FF00FF"/>
                  </a:solidFill>
                  <a:ea typeface="宋体" pitchFamily="2" charset="-122"/>
                </a:rPr>
                <a:t>b</a:t>
              </a:r>
              <a:r>
                <a:rPr kumimoji="1" lang="zh-CN" altLang="en-US" sz="2800" b="1">
                  <a:solidFill>
                    <a:srgbClr val="FF00FF"/>
                  </a:solidFill>
                  <a:ea typeface="宋体" pitchFamily="2" charset="-122"/>
                </a:rPr>
                <a:t>、</a:t>
              </a:r>
              <a:r>
                <a:rPr kumimoji="1" lang="en-US" altLang="zh-CN" sz="2800" b="1">
                  <a:solidFill>
                    <a:srgbClr val="FF00FF"/>
                  </a:solidFill>
                  <a:ea typeface="宋体" pitchFamily="2" charset="-122"/>
                </a:rPr>
                <a:t>c</a:t>
              </a:r>
              <a:r>
                <a:rPr kumimoji="1" lang="zh-CN" altLang="en-US" sz="2800" b="1">
                  <a:solidFill>
                    <a:srgbClr val="FF00FF"/>
                  </a:solidFill>
                  <a:ea typeface="宋体" pitchFamily="2" charset="-122"/>
                </a:rPr>
                <a:t>有效</a:t>
              </a:r>
            </a:p>
          </p:txBody>
        </p:sp>
      </p:grpSp>
      <p:grpSp>
        <p:nvGrpSpPr>
          <p:cNvPr id="13" name="Group 7"/>
          <p:cNvGrpSpPr>
            <a:grpSpLocks/>
          </p:cNvGrpSpPr>
          <p:nvPr/>
        </p:nvGrpSpPr>
        <p:grpSpPr bwMode="auto">
          <a:xfrm>
            <a:off x="5217801" y="4408157"/>
            <a:ext cx="2989262" cy="1393825"/>
            <a:chOff x="2450" y="526"/>
            <a:chExt cx="1883" cy="878"/>
          </a:xfrm>
        </p:grpSpPr>
        <p:sp>
          <p:nvSpPr>
            <p:cNvPr id="14" name="AutoShape 8"/>
            <p:cNvSpPr>
              <a:spLocks/>
            </p:cNvSpPr>
            <p:nvPr/>
          </p:nvSpPr>
          <p:spPr bwMode="auto">
            <a:xfrm>
              <a:off x="2450" y="526"/>
              <a:ext cx="183" cy="878"/>
            </a:xfrm>
            <a:prstGeom prst="rightBrace">
              <a:avLst>
                <a:gd name="adj1" fmla="val 39982"/>
                <a:gd name="adj2" fmla="val 50000"/>
              </a:avLst>
            </a:prstGeom>
            <a:noFill/>
            <a:ln w="254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5" name="Text Box 9"/>
            <p:cNvSpPr txBox="1">
              <a:spLocks noChangeArrowheads="1"/>
            </p:cNvSpPr>
            <p:nvPr/>
          </p:nvSpPr>
          <p:spPr bwMode="auto">
            <a:xfrm>
              <a:off x="2731" y="769"/>
              <a:ext cx="160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1pPr>
              <a:lvl2pPr marL="742950" indent="-28575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2pPr>
              <a:lvl3pPr marL="1143000" indent="-22860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3pPr>
              <a:lvl4pPr marL="1600200" indent="-22860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4pPr>
              <a:lvl5pPr marL="2057400" indent="-22860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800" b="1">
                  <a:solidFill>
                    <a:srgbClr val="FF00FF"/>
                  </a:solidFill>
                  <a:ea typeface="宋体" pitchFamily="2" charset="-122"/>
                </a:rPr>
                <a:t>x</a:t>
              </a:r>
              <a:r>
                <a:rPr kumimoji="1" lang="zh-CN" altLang="en-US" sz="2800" b="1">
                  <a:solidFill>
                    <a:srgbClr val="FF00FF"/>
                  </a:solidFill>
                  <a:ea typeface="宋体" pitchFamily="2" charset="-122"/>
                </a:rPr>
                <a:t>、</a:t>
              </a:r>
              <a:r>
                <a:rPr kumimoji="1" lang="en-US" altLang="zh-CN" sz="2800" b="1">
                  <a:solidFill>
                    <a:srgbClr val="FF00FF"/>
                  </a:solidFill>
                  <a:ea typeface="宋体" pitchFamily="2" charset="-122"/>
                </a:rPr>
                <a:t>y</a:t>
              </a:r>
              <a:r>
                <a:rPr kumimoji="1" lang="zh-CN" altLang="en-US" sz="2800" b="1">
                  <a:solidFill>
                    <a:srgbClr val="FF00FF"/>
                  </a:solidFill>
                  <a:ea typeface="宋体" pitchFamily="2" charset="-122"/>
                </a:rPr>
                <a:t>、</a:t>
              </a:r>
              <a:r>
                <a:rPr kumimoji="1" lang="en-US" altLang="zh-CN" sz="2800" b="1">
                  <a:solidFill>
                    <a:srgbClr val="FF00FF"/>
                  </a:solidFill>
                  <a:ea typeface="宋体" pitchFamily="2" charset="-122"/>
                </a:rPr>
                <a:t>i</a:t>
              </a:r>
              <a:r>
                <a:rPr kumimoji="1" lang="zh-CN" altLang="en-US" sz="2800" b="1">
                  <a:solidFill>
                    <a:srgbClr val="FF00FF"/>
                  </a:solidFill>
                  <a:ea typeface="宋体" pitchFamily="2" charset="-122"/>
                </a:rPr>
                <a:t>、</a:t>
              </a:r>
              <a:r>
                <a:rPr kumimoji="1" lang="en-US" altLang="zh-CN" sz="2800" b="1">
                  <a:solidFill>
                    <a:srgbClr val="FF00FF"/>
                  </a:solidFill>
                  <a:ea typeface="宋体" pitchFamily="2" charset="-122"/>
                </a:rPr>
                <a:t>j</a:t>
              </a:r>
              <a:r>
                <a:rPr kumimoji="1" lang="zh-CN" altLang="en-US" sz="2800" b="1">
                  <a:solidFill>
                    <a:srgbClr val="FF00FF"/>
                  </a:solidFill>
                  <a:ea typeface="宋体" pitchFamily="2" charset="-122"/>
                </a:rPr>
                <a:t>有效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604582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全局变量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225889" y="1806969"/>
            <a:ext cx="9580656" cy="3154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Aft>
                <a:spcPct val="50000"/>
              </a:spcAft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kumimoji="1" lang="zh-CN" altLang="en-US"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 全局变量：在所有函数之外定义的变量</a:t>
            </a:r>
          </a:p>
          <a:p>
            <a:pPr marL="630238" lvl="1" indent="-450850" eaLnBrk="1" hangingPunct="1">
              <a:spcBef>
                <a:spcPts val="1200"/>
              </a:spcBef>
              <a:buClr>
                <a:schemeClr val="tx1"/>
              </a:buClr>
              <a:buFont typeface="Wingdings 2" pitchFamily="18" charset="2"/>
              <a:buChar char="ö"/>
            </a:pPr>
            <a:r>
              <a:rPr kumimoji="1" lang="zh-CN" altLang="en-US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全局变量可以为本文件中的其他函数所共用；</a:t>
            </a:r>
          </a:p>
          <a:p>
            <a:pPr marL="630238" lvl="1" indent="-450850" eaLnBrk="1" hangingPunct="1">
              <a:spcBef>
                <a:spcPts val="1800"/>
              </a:spcBef>
              <a:spcAft>
                <a:spcPct val="50000"/>
              </a:spcAft>
              <a:buClr>
                <a:schemeClr val="tx1"/>
              </a:buClr>
              <a:buFont typeface="Wingdings 2" pitchFamily="18" charset="2"/>
              <a:buChar char="ö"/>
            </a:pPr>
            <a:r>
              <a:rPr kumimoji="1" lang="zh-CN" altLang="en-US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其有效范围为从定义该变量的位置开始，到本源文件结束为止。</a:t>
            </a:r>
            <a:endParaRPr kumimoji="1" lang="en-US" altLang="zh-CN" sz="2800" b="1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630238" lvl="1" indent="-450850" eaLnBrk="1" hangingPunct="1">
              <a:spcAft>
                <a:spcPct val="50000"/>
              </a:spcAft>
              <a:buClr>
                <a:schemeClr val="tx1"/>
              </a:buClr>
              <a:buFont typeface="Wingdings 2" pitchFamily="18" charset="2"/>
              <a:buChar char="ö"/>
            </a:pPr>
            <a:r>
              <a:rPr kumimoji="1" lang="zh-CN" altLang="en-US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生存期：程序运行过程中始终存在。</a:t>
            </a:r>
          </a:p>
        </p:txBody>
      </p:sp>
    </p:spTree>
    <p:extLst>
      <p:ext uri="{BB962C8B-B14F-4D97-AF65-F5344CB8AC3E}">
        <p14:creationId xmlns:p14="http://schemas.microsoft.com/office/powerpoint/2010/main" val="2435906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全局变量举例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2020019" y="984609"/>
            <a:ext cx="8321009" cy="5570756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eaLnBrk="1" hangingPunct="1"/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p = xx</a:t>
            </a:r>
          </a:p>
          <a:p>
            <a:pPr eaLnBrk="1" hangingPunct="1"/>
            <a:r>
              <a:rPr kumimoji="1" lang="en-US" altLang="zh-CN" sz="32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q = xx</a:t>
            </a:r>
            <a:endParaRPr kumimoji="1" lang="en-US" altLang="zh-CN" sz="3200" b="1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eaLnBrk="1" hangingPunct="1"/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def  foo(</a:t>
            </a:r>
            <a:r>
              <a:rPr kumimoji="1" lang="en-US" altLang="zh-CN" sz="32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)</a:t>
            </a:r>
          </a:p>
          <a:p>
            <a:pPr eaLnBrk="1" hangingPunct="1">
              <a:spcBef>
                <a:spcPts val="1200"/>
              </a:spcBef>
            </a:pP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</a:t>
            </a:r>
            <a:r>
              <a:rPr kumimoji="1" lang="en-US" altLang="zh-CN" sz="32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 = 0</a:t>
            </a:r>
          </a:p>
          <a:p>
            <a:pPr eaLnBrk="1" hangingPunct="1"/>
            <a:r>
              <a:rPr kumimoji="1" lang="en-US" altLang="zh-CN" sz="3200" b="1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</a:t>
            </a:r>
            <a:r>
              <a:rPr kumimoji="1" lang="en-US" altLang="zh-CN" sz="32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 = 0</a:t>
            </a:r>
          </a:p>
          <a:p>
            <a:pPr eaLnBrk="1" hangingPunct="1"/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…</a:t>
            </a: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def  bar(</a:t>
            </a:r>
            <a:r>
              <a:rPr kumimoji="1" lang="en-US" altLang="zh-CN" sz="32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x, y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)</a:t>
            </a:r>
          </a:p>
          <a:p>
            <a:pPr eaLnBrk="1" hangingPunct="1">
              <a:spcBef>
                <a:spcPts val="1200"/>
              </a:spcBef>
            </a:pP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</a:t>
            </a:r>
            <a:r>
              <a:rPr kumimoji="1" lang="en-US" altLang="zh-CN" sz="32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i = 1</a:t>
            </a:r>
          </a:p>
          <a:p>
            <a:pPr eaLnBrk="1" hangingPunct="1"/>
            <a:r>
              <a:rPr kumimoji="1" lang="en-US" altLang="zh-CN" sz="3200" b="1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</a:t>
            </a:r>
            <a:r>
              <a:rPr kumimoji="1" lang="en-US" altLang="zh-CN" sz="32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j = 1</a:t>
            </a:r>
          </a:p>
          <a:p>
            <a:pPr eaLnBrk="1" hangingPunct="1"/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…</a:t>
            </a:r>
          </a:p>
        </p:txBody>
      </p:sp>
      <p:grpSp>
        <p:nvGrpSpPr>
          <p:cNvPr id="16" name="Group 4"/>
          <p:cNvGrpSpPr>
            <a:grpSpLocks/>
          </p:cNvGrpSpPr>
          <p:nvPr/>
        </p:nvGrpSpPr>
        <p:grpSpPr bwMode="auto">
          <a:xfrm>
            <a:off x="5428831" y="2369866"/>
            <a:ext cx="2025650" cy="3892550"/>
            <a:chOff x="2053" y="1718"/>
            <a:chExt cx="1276" cy="2452"/>
          </a:xfrm>
        </p:grpSpPr>
        <p:sp>
          <p:nvSpPr>
            <p:cNvPr id="17" name="AutoShape 5"/>
            <p:cNvSpPr>
              <a:spLocks/>
            </p:cNvSpPr>
            <p:nvPr/>
          </p:nvSpPr>
          <p:spPr bwMode="auto">
            <a:xfrm>
              <a:off x="2053" y="1718"/>
              <a:ext cx="211" cy="2452"/>
            </a:xfrm>
            <a:prstGeom prst="rightBracket">
              <a:avLst>
                <a:gd name="adj" fmla="val 96840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8" name="Text Box 6"/>
            <p:cNvSpPr txBox="1">
              <a:spLocks noChangeArrowheads="1"/>
            </p:cNvSpPr>
            <p:nvPr/>
          </p:nvSpPr>
          <p:spPr bwMode="auto">
            <a:xfrm>
              <a:off x="2313" y="2236"/>
              <a:ext cx="1016" cy="1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1pPr>
              <a:lvl2pPr marL="742950" indent="-28575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2pPr>
              <a:lvl3pPr marL="1143000" indent="-22860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3pPr>
              <a:lvl4pPr marL="1600200" indent="-22860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4pPr>
              <a:lvl5pPr marL="2057400" indent="-22860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800" b="1">
                  <a:solidFill>
                    <a:schemeClr val="tx1"/>
                  </a:solidFill>
                  <a:ea typeface="宋体" pitchFamily="2" charset="-122"/>
                </a:rPr>
                <a:t>全局变量</a:t>
              </a:r>
            </a:p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800" b="1">
                  <a:solidFill>
                    <a:schemeClr val="tx1"/>
                  </a:solidFill>
                  <a:ea typeface="宋体" pitchFamily="2" charset="-122"/>
                </a:rPr>
                <a:t>p</a:t>
              </a:r>
              <a:r>
                <a:rPr kumimoji="1" lang="zh-CN" altLang="en-US" sz="2800" b="1">
                  <a:solidFill>
                    <a:schemeClr val="tx1"/>
                  </a:solidFill>
                  <a:ea typeface="宋体" pitchFamily="2" charset="-122"/>
                </a:rPr>
                <a:t>、</a:t>
              </a:r>
              <a:r>
                <a:rPr kumimoji="1" lang="en-US" altLang="zh-CN" sz="2800" b="1">
                  <a:solidFill>
                    <a:schemeClr val="tx1"/>
                  </a:solidFill>
                  <a:ea typeface="宋体" pitchFamily="2" charset="-122"/>
                </a:rPr>
                <a:t>q</a:t>
              </a:r>
              <a:r>
                <a:rPr kumimoji="1" lang="zh-CN" altLang="en-US" sz="2800" b="1">
                  <a:solidFill>
                    <a:schemeClr val="tx1"/>
                  </a:solidFill>
                  <a:ea typeface="宋体" pitchFamily="2" charset="-122"/>
                </a:rPr>
                <a:t>的</a:t>
              </a:r>
            </a:p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800" b="1">
                  <a:solidFill>
                    <a:schemeClr val="tx1"/>
                  </a:solidFill>
                  <a:ea typeface="宋体" pitchFamily="2" charset="-122"/>
                </a:rPr>
                <a:t>作用范围</a:t>
              </a:r>
            </a:p>
          </p:txBody>
        </p:sp>
      </p:grpSp>
      <p:sp>
        <p:nvSpPr>
          <p:cNvPr id="19" name="Text Box 3"/>
          <p:cNvSpPr txBox="1">
            <a:spLocks noChangeArrowheads="1"/>
          </p:cNvSpPr>
          <p:nvPr/>
        </p:nvSpPr>
        <p:spPr bwMode="auto">
          <a:xfrm>
            <a:off x="7354725" y="5268299"/>
            <a:ext cx="29690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10000"/>
              </a:spcBef>
            </a:pPr>
            <a:r>
              <a:rPr kumimoji="1" lang="zh-CN" altLang="en-US" sz="2400" b="1">
                <a:solidFill>
                  <a:srgbClr val="FF0000"/>
                </a:solidFill>
                <a:ea typeface="宋体" pitchFamily="2" charset="-122"/>
              </a:rPr>
              <a:t>重要的是执行顺序！</a:t>
            </a:r>
          </a:p>
        </p:txBody>
      </p:sp>
    </p:spTree>
    <p:extLst>
      <p:ext uri="{BB962C8B-B14F-4D97-AF65-F5344CB8AC3E}">
        <p14:creationId xmlns:p14="http://schemas.microsoft.com/office/powerpoint/2010/main" val="970313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在函数中访问全局变量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2" name="内容占位符 2"/>
          <p:cNvSpPr txBox="1">
            <a:spLocks/>
          </p:cNvSpPr>
          <p:nvPr/>
        </p:nvSpPr>
        <p:spPr>
          <a:xfrm>
            <a:off x="1144397" y="1661157"/>
            <a:ext cx="10011296" cy="37338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6400" indent="-446400">
              <a:buFont typeface="Wingdings" pitchFamily="2" charset="2"/>
              <a:buChar char="J"/>
            </a:pPr>
            <a:r>
              <a:rPr lang="zh-CN" altLang="en-US" sz="3600" b="1"/>
              <a:t>在函数中可以访问全局变量</a:t>
            </a:r>
            <a:endParaRPr lang="en-US" altLang="zh-CN" sz="3600" b="1"/>
          </a:p>
          <a:p>
            <a:pPr marL="446400" indent="-446400">
              <a:spcBef>
                <a:spcPts val="1800"/>
              </a:spcBef>
              <a:buFont typeface="Wingdings" pitchFamily="2" charset="2"/>
              <a:buChar char="J"/>
            </a:pPr>
            <a:r>
              <a:rPr lang="zh-CN" altLang="en-US" sz="3600" b="1"/>
              <a:t>只能读（使用）不能修改（赋值）</a:t>
            </a:r>
            <a:endParaRPr lang="en-US" altLang="zh-CN" sz="3600" b="1"/>
          </a:p>
          <a:p>
            <a:pPr marL="446400" indent="-446400">
              <a:spcBef>
                <a:spcPts val="1800"/>
              </a:spcBef>
              <a:buFont typeface="Wingdings" pitchFamily="2" charset="2"/>
              <a:buChar char="J"/>
            </a:pPr>
            <a:r>
              <a:rPr lang="zh-CN" altLang="en-US" sz="3600" b="1"/>
              <a:t>如果进行“修改”，则相当于创建了一个新的局部变量</a:t>
            </a:r>
            <a:endParaRPr lang="en-US" altLang="zh-CN" sz="3600" b="1"/>
          </a:p>
          <a:p>
            <a:pPr marL="446400" indent="-446400">
              <a:spcBef>
                <a:spcPts val="1800"/>
              </a:spcBef>
              <a:buFont typeface="Wingdings" pitchFamily="2" charset="2"/>
              <a:buChar char="J"/>
            </a:pPr>
            <a:r>
              <a:rPr lang="zh-CN" altLang="en-US" sz="3600" b="1"/>
              <a:t>如果确实要修改，可以用</a:t>
            </a:r>
            <a:r>
              <a:rPr lang="en-US" altLang="zh-CN" sz="3600" b="1"/>
              <a:t>global</a:t>
            </a:r>
            <a:r>
              <a:rPr lang="zh-CN" altLang="en-US" sz="3600" b="1"/>
              <a:t>声明</a:t>
            </a:r>
            <a:endParaRPr lang="en-US" altLang="zh-CN" sz="3600" b="1" dirty="0"/>
          </a:p>
        </p:txBody>
      </p:sp>
    </p:spTree>
    <p:extLst>
      <p:ext uri="{BB962C8B-B14F-4D97-AF65-F5344CB8AC3E}">
        <p14:creationId xmlns:p14="http://schemas.microsoft.com/office/powerpoint/2010/main" val="14356860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美梦成真？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26" name="Text Box 6"/>
          <p:cNvSpPr txBox="1">
            <a:spLocks noChangeArrowheads="1"/>
          </p:cNvSpPr>
          <p:nvPr/>
        </p:nvSpPr>
        <p:spPr bwMode="auto">
          <a:xfrm>
            <a:off x="1547565" y="1055497"/>
            <a:ext cx="8976361" cy="5139869"/>
          </a:xfrm>
          <a:prstGeom prst="rect">
            <a:avLst/>
          </a:prstGeom>
          <a:noFill/>
          <a:ln w="15875" cap="sq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ts val="120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def main():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DayDreaming()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print(salary, nCars, nHouses)</a:t>
            </a:r>
          </a:p>
          <a:p>
            <a:pPr marL="342900" indent="-342900">
              <a:spcBef>
                <a:spcPts val="120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def DayDreaming():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</a:t>
            </a:r>
            <a:r>
              <a:rPr kumimoji="1" lang="en-US" altLang="zh-CN" sz="28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salary</a:t>
            </a: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= salary * 3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</a:t>
            </a:r>
            <a:r>
              <a:rPr kumimoji="1" lang="en-US" altLang="zh-CN" sz="28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nCars</a:t>
            </a: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+= 2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</a:t>
            </a:r>
            <a:r>
              <a:rPr kumimoji="1" lang="en-US" altLang="zh-CN" sz="28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nHouses</a:t>
            </a: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+= 1</a:t>
            </a:r>
          </a:p>
          <a:p>
            <a:pPr marL="342900" indent="-342900">
              <a:spcBef>
                <a:spcPts val="120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salary = 6000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nCars = 0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nHouses = 0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main()</a:t>
            </a:r>
          </a:p>
        </p:txBody>
      </p:sp>
    </p:spTree>
    <p:extLst>
      <p:ext uri="{BB962C8B-B14F-4D97-AF65-F5344CB8AC3E}">
        <p14:creationId xmlns:p14="http://schemas.microsoft.com/office/powerpoint/2010/main" val="22714830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美梦成真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!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26" name="Text Box 6"/>
          <p:cNvSpPr txBox="1">
            <a:spLocks noChangeArrowheads="1"/>
          </p:cNvSpPr>
          <p:nvPr/>
        </p:nvSpPr>
        <p:spPr bwMode="auto">
          <a:xfrm>
            <a:off x="1547565" y="1055497"/>
            <a:ext cx="8976361" cy="5724644"/>
          </a:xfrm>
          <a:prstGeom prst="rect">
            <a:avLst/>
          </a:prstGeom>
          <a:noFill/>
          <a:ln w="15875" cap="sq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ts val="120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def main():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DayDreaming()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print(salary, nCars, nHouses)</a:t>
            </a:r>
          </a:p>
          <a:p>
            <a:pPr marL="342900" indent="-342900">
              <a:spcBef>
                <a:spcPts val="120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def DayDreaming():</a:t>
            </a:r>
          </a:p>
          <a:p>
            <a:pPr marL="342900" indent="-342900"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</a:t>
            </a:r>
            <a:r>
              <a:rPr kumimoji="1" lang="en-US" altLang="zh-CN" sz="2800" b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global</a:t>
            </a: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</a:t>
            </a:r>
            <a:r>
              <a:rPr kumimoji="1" lang="en-US" altLang="zh-CN" sz="2800" b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salary, nCars, nHouses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salary = salary * 3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nCars += 2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nHouses += 1</a:t>
            </a:r>
          </a:p>
          <a:p>
            <a:pPr marL="342900" indent="-342900">
              <a:spcBef>
                <a:spcPts val="120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salary = 6000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nCars = 0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nHouses = 0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main()</a:t>
            </a:r>
          </a:p>
        </p:txBody>
      </p:sp>
    </p:spTree>
    <p:extLst>
      <p:ext uri="{BB962C8B-B14F-4D97-AF65-F5344CB8AC3E}">
        <p14:creationId xmlns:p14="http://schemas.microsoft.com/office/powerpoint/2010/main" val="35757014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722479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5.3 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函数调用的实现过程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2861" y="2400709"/>
            <a:ext cx="4953000" cy="376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1237564" y="2642076"/>
            <a:ext cx="3351061" cy="2800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85738" indent="-185738"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kumimoji="1" lang="zh-CN" altLang="en-US" b="1">
                <a:solidFill>
                  <a:schemeClr val="tx1"/>
                </a:solidFill>
                <a:ea typeface="楷体_GB2312" pitchFamily="49" charset="-122"/>
              </a:rPr>
              <a:t>存储程序原理，</a:t>
            </a:r>
            <a:r>
              <a:rPr kumimoji="1" lang="en-US" altLang="zh-CN" b="1">
                <a:solidFill>
                  <a:schemeClr val="tx1"/>
                </a:solidFill>
                <a:ea typeface="楷体_GB2312" pitchFamily="49" charset="-122"/>
              </a:rPr>
              <a:t>1945</a:t>
            </a:r>
            <a:r>
              <a:rPr kumimoji="1" lang="zh-CN" altLang="en-US" b="1">
                <a:solidFill>
                  <a:schemeClr val="tx1"/>
                </a:solidFill>
                <a:ea typeface="楷体_GB2312" pitchFamily="49" charset="-122"/>
              </a:rPr>
              <a:t>，</a:t>
            </a:r>
            <a:r>
              <a:rPr kumimoji="1" lang="en-US" altLang="zh-CN" b="1">
                <a:solidFill>
                  <a:schemeClr val="tx1"/>
                </a:solidFill>
                <a:ea typeface="楷体_GB2312" pitchFamily="49" charset="-122"/>
              </a:rPr>
              <a:t>John von Neumann</a:t>
            </a:r>
            <a:endParaRPr kumimoji="1" lang="zh-CN" altLang="en-US" b="1">
              <a:solidFill>
                <a:schemeClr val="tx1"/>
              </a:solidFill>
              <a:ea typeface="楷体_GB2312" pitchFamily="49" charset="-122"/>
            </a:endParaRP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kumimoji="1" lang="zh-CN" altLang="en-US" b="1">
                <a:solidFill>
                  <a:schemeClr val="tx1"/>
                </a:solidFill>
                <a:ea typeface="楷体_GB2312" pitchFamily="49" charset="-122"/>
              </a:rPr>
              <a:t>把代码和数据都存放在内存中</a:t>
            </a:r>
          </a:p>
        </p:txBody>
      </p:sp>
      <p:sp>
        <p:nvSpPr>
          <p:cNvPr id="15" name="Freeform 9"/>
          <p:cNvSpPr>
            <a:spLocks noChangeArrowheads="1"/>
          </p:cNvSpPr>
          <p:nvPr/>
        </p:nvSpPr>
        <p:spPr bwMode="auto">
          <a:xfrm>
            <a:off x="3616048" y="1312598"/>
            <a:ext cx="4322619" cy="720725"/>
          </a:xfrm>
          <a:custGeom>
            <a:avLst/>
            <a:gdLst>
              <a:gd name="T0" fmla="*/ 0 w 8752"/>
              <a:gd name="T1" fmla="*/ 0 h 1134"/>
              <a:gd name="T2" fmla="*/ 0 w 8752"/>
              <a:gd name="T3" fmla="*/ 0 h 1134"/>
              <a:gd name="T4" fmla="*/ 1 w 8752"/>
              <a:gd name="T5" fmla="*/ 0 h 1134"/>
              <a:gd name="T6" fmla="*/ 1 w 8752"/>
              <a:gd name="T7" fmla="*/ 0 h 1134"/>
              <a:gd name="T8" fmla="*/ 1 w 8752"/>
              <a:gd name="T9" fmla="*/ 0 h 1134"/>
              <a:gd name="T10" fmla="*/ 1 w 8752"/>
              <a:gd name="T11" fmla="*/ 0 h 1134"/>
              <a:gd name="T12" fmla="*/ 0 w 8752"/>
              <a:gd name="T13" fmla="*/ 0 h 1134"/>
              <a:gd name="T14" fmla="*/ 0 w 8752"/>
              <a:gd name="T15" fmla="*/ 0 h 1134"/>
              <a:gd name="T16" fmla="*/ 0 w 8752"/>
              <a:gd name="T17" fmla="*/ 0 h 1134"/>
              <a:gd name="T18" fmla="*/ 0 w 8752"/>
              <a:gd name="T19" fmla="*/ 0 h 1134"/>
              <a:gd name="T20" fmla="*/ 0 w 8752"/>
              <a:gd name="T21" fmla="*/ 0 h 1134"/>
              <a:gd name="T22" fmla="*/ 0 w 8752"/>
              <a:gd name="T23" fmla="*/ 0 h 1134"/>
              <a:gd name="T24" fmla="*/ 0 w 8752"/>
              <a:gd name="T25" fmla="*/ 0 h 1134"/>
              <a:gd name="T26" fmla="*/ 0 w 8752"/>
              <a:gd name="T27" fmla="*/ 0 h 1134"/>
              <a:gd name="T28" fmla="*/ 0 w 8752"/>
              <a:gd name="T29" fmla="*/ 0 h 1134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8752"/>
              <a:gd name="T46" fmla="*/ 0 h 1134"/>
              <a:gd name="T47" fmla="*/ 8752 w 8752"/>
              <a:gd name="T48" fmla="*/ 1134 h 1134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8752" h="1134">
                <a:moveTo>
                  <a:pt x="0" y="188"/>
                </a:moveTo>
                <a:cubicBezTo>
                  <a:pt x="0" y="84"/>
                  <a:pt x="84" y="0"/>
                  <a:pt x="192" y="0"/>
                </a:cubicBezTo>
                <a:lnTo>
                  <a:pt x="8558" y="0"/>
                </a:lnTo>
                <a:cubicBezTo>
                  <a:pt x="8665" y="0"/>
                  <a:pt x="8752" y="84"/>
                  <a:pt x="8752" y="188"/>
                </a:cubicBezTo>
                <a:lnTo>
                  <a:pt x="8752" y="945"/>
                </a:lnTo>
                <a:cubicBezTo>
                  <a:pt x="8752" y="1050"/>
                  <a:pt x="8665" y="1134"/>
                  <a:pt x="8558" y="1134"/>
                </a:cubicBezTo>
                <a:lnTo>
                  <a:pt x="192" y="1134"/>
                </a:lnTo>
                <a:cubicBezTo>
                  <a:pt x="84" y="1134"/>
                  <a:pt x="0" y="1050"/>
                  <a:pt x="0" y="945"/>
                </a:cubicBezTo>
                <a:lnTo>
                  <a:pt x="0" y="188"/>
                </a:lnTo>
                <a:close/>
              </a:path>
            </a:pathLst>
          </a:custGeom>
          <a:solidFill>
            <a:srgbClr val="0070C0"/>
          </a:solidFill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41828" tIns="141828" rIns="141828" bIns="141828" anchor="ctr"/>
          <a:lstStyle/>
          <a:p>
            <a:pPr algn="ctr" defTabSz="1244600" eaLnBrk="1" hangingPunct="1">
              <a:lnSpc>
                <a:spcPct val="90000"/>
              </a:lnSpc>
              <a:spcAft>
                <a:spcPct val="35000"/>
              </a:spcAft>
              <a:buSzPct val="100000"/>
              <a:buFont typeface="Times New Roman" pitchFamily="18" charset="0"/>
              <a:buNone/>
            </a:pPr>
            <a:r>
              <a:rPr lang="zh-CN" altLang="en-US" sz="40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等线" pitchFamily="2" charset="-122"/>
              </a:rPr>
              <a:t>内存分布</a:t>
            </a:r>
            <a:endParaRPr lang="zh-CN" altLang="zh-CN" sz="4000">
              <a:solidFill>
                <a:srgbClr val="FFFFFF"/>
              </a:solidFill>
              <a:latin typeface="微软雅黑" pitchFamily="34" charset="-122"/>
              <a:ea typeface="微软雅黑" pitchFamily="34" charset="-122"/>
              <a:cs typeface="等线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779980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722479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内存分布状况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graphicFrame>
        <p:nvGraphicFramePr>
          <p:cNvPr id="33" name="Group 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5954733"/>
              </p:ext>
            </p:extLst>
          </p:nvPr>
        </p:nvGraphicFramePr>
        <p:xfrm>
          <a:off x="4854880" y="1202266"/>
          <a:ext cx="2826076" cy="5043397"/>
        </p:xfrm>
        <a:graphic>
          <a:graphicData uri="http://schemas.openxmlformats.org/drawingml/2006/table">
            <a:tbl>
              <a:tblPr/>
              <a:tblGrid>
                <a:gridCol w="28260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215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栈帧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1</a:t>
                      </a:r>
                      <a:endParaRPr kumimoji="0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90000" marR="90000" marT="46800" marB="46800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82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栈帧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2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90000" marR="90000" marT="46800" marB="46800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673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90000" marR="90000" marT="46800" marB="46800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4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堆</a:t>
                      </a: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空间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80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全局变量</a:t>
                      </a:r>
                    </a:p>
                  </a:txBody>
                  <a:tcPr marL="90000" marR="90000" marT="46800" marB="46800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4325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代码区</a:t>
                      </a:r>
                    </a:p>
                  </a:txBody>
                  <a:tcPr marL="90000" marR="90000" marT="46800" marB="46800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4" name="Line 22"/>
          <p:cNvSpPr>
            <a:spLocks noChangeShapeType="1"/>
          </p:cNvSpPr>
          <p:nvPr/>
        </p:nvSpPr>
        <p:spPr bwMode="auto">
          <a:xfrm flipV="1">
            <a:off x="6283052" y="3261080"/>
            <a:ext cx="0" cy="7200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5" name="Line 23"/>
          <p:cNvSpPr>
            <a:spLocks noChangeShapeType="1"/>
          </p:cNvSpPr>
          <p:nvPr/>
        </p:nvSpPr>
        <p:spPr bwMode="auto">
          <a:xfrm flipV="1">
            <a:off x="6283052" y="2484557"/>
            <a:ext cx="0" cy="7200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triangle" w="lg" len="med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6" name="Text Box 24"/>
          <p:cNvSpPr txBox="1">
            <a:spLocks noChangeArrowheads="1"/>
          </p:cNvSpPr>
          <p:nvPr/>
        </p:nvSpPr>
        <p:spPr bwMode="auto">
          <a:xfrm>
            <a:off x="3472096" y="5879945"/>
            <a:ext cx="13446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r>
              <a:rPr kumimoji="1" lang="zh-CN" altLang="en-US" sz="2800" b="1">
                <a:solidFill>
                  <a:schemeClr val="tx1"/>
                </a:solidFill>
                <a:ea typeface="宋体" pitchFamily="2" charset="-122"/>
              </a:rPr>
              <a:t>低地址 </a:t>
            </a:r>
          </a:p>
        </p:txBody>
      </p:sp>
      <p:sp>
        <p:nvSpPr>
          <p:cNvPr id="37" name="Text Box 25"/>
          <p:cNvSpPr txBox="1">
            <a:spLocks noChangeArrowheads="1"/>
          </p:cNvSpPr>
          <p:nvPr/>
        </p:nvSpPr>
        <p:spPr bwMode="auto">
          <a:xfrm>
            <a:off x="3472096" y="1095903"/>
            <a:ext cx="13446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r>
              <a:rPr kumimoji="1" lang="zh-CN" altLang="en-US" sz="2800" b="1">
                <a:solidFill>
                  <a:schemeClr val="tx1"/>
                </a:solidFill>
                <a:ea typeface="宋体" pitchFamily="2" charset="-122"/>
              </a:rPr>
              <a:t>高地址 </a:t>
            </a:r>
          </a:p>
        </p:txBody>
      </p:sp>
      <p:grpSp>
        <p:nvGrpSpPr>
          <p:cNvPr id="38" name="Group 22"/>
          <p:cNvGrpSpPr>
            <a:grpSpLocks/>
          </p:cNvGrpSpPr>
          <p:nvPr/>
        </p:nvGrpSpPr>
        <p:grpSpPr bwMode="auto">
          <a:xfrm>
            <a:off x="7739235" y="4776416"/>
            <a:ext cx="2552700" cy="723900"/>
            <a:chOff x="2735" y="3402"/>
            <a:chExt cx="1608" cy="456"/>
          </a:xfrm>
        </p:grpSpPr>
        <p:sp>
          <p:nvSpPr>
            <p:cNvPr id="39" name="Line 23"/>
            <p:cNvSpPr>
              <a:spLocks noChangeShapeType="1"/>
            </p:cNvSpPr>
            <p:nvPr/>
          </p:nvSpPr>
          <p:spPr bwMode="auto">
            <a:xfrm>
              <a:off x="2747" y="3402"/>
              <a:ext cx="2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40" name="Line 24"/>
            <p:cNvSpPr>
              <a:spLocks noChangeShapeType="1"/>
            </p:cNvSpPr>
            <p:nvPr/>
          </p:nvSpPr>
          <p:spPr bwMode="auto">
            <a:xfrm>
              <a:off x="2735" y="3858"/>
              <a:ext cx="2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41" name="Line 25"/>
            <p:cNvSpPr>
              <a:spLocks noChangeShapeType="1"/>
            </p:cNvSpPr>
            <p:nvPr/>
          </p:nvSpPr>
          <p:spPr bwMode="auto">
            <a:xfrm>
              <a:off x="2859" y="3402"/>
              <a:ext cx="0" cy="43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42" name="Rectangle 26"/>
            <p:cNvSpPr>
              <a:spLocks noChangeArrowheads="1"/>
            </p:cNvSpPr>
            <p:nvPr/>
          </p:nvSpPr>
          <p:spPr bwMode="auto">
            <a:xfrm>
              <a:off x="2877" y="3441"/>
              <a:ext cx="146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800" b="1">
                  <a:solidFill>
                    <a:schemeClr val="tx1"/>
                  </a:solidFill>
                  <a:ea typeface="宋体" pitchFamily="2" charset="-122"/>
                </a:rPr>
                <a:t>全局变量区域</a:t>
              </a:r>
            </a:p>
          </p:txBody>
        </p:sp>
      </p:grpSp>
      <p:grpSp>
        <p:nvGrpSpPr>
          <p:cNvPr id="44" name="Group 29"/>
          <p:cNvGrpSpPr>
            <a:grpSpLocks/>
          </p:cNvGrpSpPr>
          <p:nvPr/>
        </p:nvGrpSpPr>
        <p:grpSpPr bwMode="auto">
          <a:xfrm>
            <a:off x="7753420" y="1207857"/>
            <a:ext cx="2754312" cy="1838325"/>
            <a:chOff x="2753" y="2238"/>
            <a:chExt cx="1735" cy="1158"/>
          </a:xfrm>
        </p:grpSpPr>
        <p:sp>
          <p:nvSpPr>
            <p:cNvPr id="45" name="Line 30"/>
            <p:cNvSpPr>
              <a:spLocks noChangeShapeType="1"/>
            </p:cNvSpPr>
            <p:nvPr/>
          </p:nvSpPr>
          <p:spPr bwMode="auto">
            <a:xfrm>
              <a:off x="2753" y="2238"/>
              <a:ext cx="2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46" name="Line 31"/>
            <p:cNvSpPr>
              <a:spLocks noChangeShapeType="1"/>
            </p:cNvSpPr>
            <p:nvPr/>
          </p:nvSpPr>
          <p:spPr bwMode="auto">
            <a:xfrm>
              <a:off x="2865" y="2240"/>
              <a:ext cx="0" cy="11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7" name="Rectangle 32"/>
            <p:cNvSpPr>
              <a:spLocks noChangeArrowheads="1"/>
            </p:cNvSpPr>
            <p:nvPr/>
          </p:nvSpPr>
          <p:spPr bwMode="auto">
            <a:xfrm>
              <a:off x="2928" y="2655"/>
              <a:ext cx="34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800" b="1">
                  <a:solidFill>
                    <a:srgbClr val="0000FF"/>
                  </a:solidFill>
                  <a:ea typeface="宋体" pitchFamily="2" charset="-122"/>
                </a:rPr>
                <a:t>栈</a:t>
              </a:r>
            </a:p>
          </p:txBody>
        </p:sp>
        <p:sp>
          <p:nvSpPr>
            <p:cNvPr id="48" name="Rectangle 33"/>
            <p:cNvSpPr>
              <a:spLocks noChangeArrowheads="1"/>
            </p:cNvSpPr>
            <p:nvPr/>
          </p:nvSpPr>
          <p:spPr bwMode="auto">
            <a:xfrm>
              <a:off x="3472" y="2655"/>
              <a:ext cx="101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800" b="1">
                  <a:solidFill>
                    <a:schemeClr val="tx1"/>
                  </a:solidFill>
                  <a:ea typeface="宋体" pitchFamily="2" charset="-122"/>
                </a:rPr>
                <a:t>自动分配</a:t>
              </a:r>
            </a:p>
          </p:txBody>
        </p:sp>
      </p:grpSp>
      <p:grpSp>
        <p:nvGrpSpPr>
          <p:cNvPr id="49" name="Group 34"/>
          <p:cNvGrpSpPr>
            <a:grpSpLocks/>
          </p:cNvGrpSpPr>
          <p:nvPr/>
        </p:nvGrpSpPr>
        <p:grpSpPr bwMode="auto">
          <a:xfrm>
            <a:off x="7938089" y="3220883"/>
            <a:ext cx="2590800" cy="1531938"/>
            <a:chOff x="2862" y="1285"/>
            <a:chExt cx="1632" cy="965"/>
          </a:xfrm>
        </p:grpSpPr>
        <p:sp>
          <p:nvSpPr>
            <p:cNvPr id="51" name="Line 36"/>
            <p:cNvSpPr>
              <a:spLocks noChangeShapeType="1"/>
            </p:cNvSpPr>
            <p:nvPr/>
          </p:nvSpPr>
          <p:spPr bwMode="auto">
            <a:xfrm>
              <a:off x="2862" y="1285"/>
              <a:ext cx="0" cy="96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non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2" name="Rectangle 37"/>
            <p:cNvSpPr>
              <a:spLocks noChangeArrowheads="1"/>
            </p:cNvSpPr>
            <p:nvPr/>
          </p:nvSpPr>
          <p:spPr bwMode="auto">
            <a:xfrm>
              <a:off x="2934" y="1482"/>
              <a:ext cx="34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800" b="1">
                  <a:solidFill>
                    <a:schemeClr val="tx1"/>
                  </a:solidFill>
                  <a:ea typeface="宋体" pitchFamily="2" charset="-122"/>
                </a:rPr>
                <a:t>堆</a:t>
              </a:r>
            </a:p>
          </p:txBody>
        </p:sp>
        <p:sp>
          <p:nvSpPr>
            <p:cNvPr id="53" name="Rectangle 38"/>
            <p:cNvSpPr>
              <a:spLocks noChangeArrowheads="1"/>
            </p:cNvSpPr>
            <p:nvPr/>
          </p:nvSpPr>
          <p:spPr bwMode="auto">
            <a:xfrm>
              <a:off x="3478" y="1482"/>
              <a:ext cx="101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800" b="1">
                  <a:solidFill>
                    <a:schemeClr val="tx1"/>
                  </a:solidFill>
                  <a:ea typeface="宋体" pitchFamily="2" charset="-122"/>
                </a:rPr>
                <a:t>动态分配</a:t>
              </a:r>
            </a:p>
          </p:txBody>
        </p:sp>
      </p:grpSp>
      <p:sp>
        <p:nvSpPr>
          <p:cNvPr id="54" name="Text Box 21"/>
          <p:cNvSpPr txBox="1">
            <a:spLocks noChangeArrowheads="1"/>
          </p:cNvSpPr>
          <p:nvPr/>
        </p:nvSpPr>
        <p:spPr bwMode="auto">
          <a:xfrm>
            <a:off x="1991851" y="2099355"/>
            <a:ext cx="793750" cy="309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4000" b="1">
                <a:solidFill>
                  <a:schemeClr val="tx1"/>
                </a:solidFill>
                <a:ea typeface="宋体" pitchFamily="2" charset="-122"/>
              </a:rPr>
              <a:t>内存分布状况</a:t>
            </a:r>
          </a:p>
        </p:txBody>
      </p:sp>
    </p:spTree>
    <p:extLst>
      <p:ext uri="{BB962C8B-B14F-4D97-AF65-F5344CB8AC3E}">
        <p14:creationId xmlns:p14="http://schemas.microsoft.com/office/powerpoint/2010/main" val="217181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722479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函数调用的实现过程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1590502" y="2079569"/>
            <a:ext cx="8775469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457200" indent="-457200" defTabSz="288925" eaLnBrk="1" hangingPunct="1">
              <a:spcBef>
                <a:spcPct val="50000"/>
              </a:spcBef>
              <a:tabLst>
                <a:tab pos="0" algn="l"/>
              </a:tabLst>
            </a:pPr>
            <a:r>
              <a:rPr kumimoji="1" lang="zh-CN" altLang="en-US" sz="3600" b="1">
                <a:solidFill>
                  <a:schemeClr val="tx1"/>
                </a:solidFill>
                <a:ea typeface="黑体" pitchFamily="49" charset="-122"/>
              </a:rPr>
              <a:t>控制流：程序当前执行位置的流向；</a:t>
            </a:r>
          </a:p>
          <a:p>
            <a:pPr marL="457200" indent="-457200" defTabSz="288925" eaLnBrk="1" hangingPunct="1">
              <a:spcBef>
                <a:spcPct val="50000"/>
              </a:spcBef>
              <a:tabLst>
                <a:tab pos="0" algn="l"/>
              </a:tabLst>
            </a:pPr>
            <a:r>
              <a:rPr kumimoji="1" lang="zh-CN" altLang="en-US" sz="3600" b="1">
                <a:solidFill>
                  <a:schemeClr val="tx1"/>
                </a:solidFill>
                <a:ea typeface="黑体" pitchFamily="49" charset="-122"/>
              </a:rPr>
              <a:t>数据流：函数调用发生及结束时，数据在</a:t>
            </a:r>
          </a:p>
          <a:p>
            <a:pPr marL="457200" indent="-457200" defTabSz="288925" eaLnBrk="1" hangingPunct="1">
              <a:spcBef>
                <a:spcPct val="50000"/>
              </a:spcBef>
              <a:tabLst>
                <a:tab pos="0" algn="l"/>
              </a:tabLst>
            </a:pPr>
            <a:r>
              <a:rPr kumimoji="1" lang="zh-CN" altLang="en-US" sz="3600" b="1">
                <a:solidFill>
                  <a:schemeClr val="tx1"/>
                </a:solidFill>
                <a:ea typeface="黑体" pitchFamily="49" charset="-122"/>
              </a:rPr>
              <a:t>	 	 			      函数之间流转的过程。</a:t>
            </a:r>
          </a:p>
        </p:txBody>
      </p:sp>
    </p:spTree>
    <p:extLst>
      <p:ext uri="{BB962C8B-B14F-4D97-AF65-F5344CB8AC3E}">
        <p14:creationId xmlns:p14="http://schemas.microsoft.com/office/powerpoint/2010/main" val="32526015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722479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函数调用过程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285102" y="1611283"/>
            <a:ext cx="9188940" cy="4278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457200" indent="-457200" eaLnBrk="1" hangingPunct="1">
              <a:spcBef>
                <a:spcPct val="60000"/>
              </a:spcBef>
              <a:buClr>
                <a:srgbClr val="FFFF66"/>
              </a:buClr>
              <a:buFont typeface="Wingdings" pitchFamily="2" charset="2"/>
              <a:buNone/>
            </a:pPr>
            <a:r>
              <a:rPr kumimoji="1" lang="zh-CN" altLang="en-US" sz="3200" b="1">
                <a:solidFill>
                  <a:schemeClr val="tx1"/>
                </a:solidFill>
                <a:ea typeface="黑体" pitchFamily="49" charset="-122"/>
              </a:rPr>
              <a:t>当一个函数被调用时：</a:t>
            </a:r>
          </a:p>
          <a:p>
            <a:pPr marL="457200" indent="-457200" eaLnBrk="1" hangingPunct="1">
              <a:spcBef>
                <a:spcPct val="70000"/>
              </a:spcBef>
              <a:buClr>
                <a:schemeClr val="tx1"/>
              </a:buClr>
              <a:buFont typeface="Wingdings" pitchFamily="2" charset="2"/>
              <a:buAutoNum type="arabicPeriod"/>
            </a:pPr>
            <a:r>
              <a:rPr kumimoji="1" lang="zh-CN" altLang="en-US" sz="3200" b="1">
                <a:solidFill>
                  <a:schemeClr val="tx1"/>
                </a:solidFill>
                <a:ea typeface="宋体" pitchFamily="2" charset="-122"/>
              </a:rPr>
              <a:t>在内存的栈空间当中为其分配一个栈帧，用来存放该函数的形参和局部变量；</a:t>
            </a:r>
          </a:p>
          <a:p>
            <a:pPr marL="457200" indent="-457200" eaLnBrk="1" hangingPunct="1">
              <a:spcBef>
                <a:spcPct val="60000"/>
              </a:spcBef>
              <a:buClr>
                <a:schemeClr val="tx1"/>
              </a:buClr>
              <a:buFont typeface="Wingdings" pitchFamily="2" charset="2"/>
              <a:buAutoNum type="arabicPeriod"/>
            </a:pPr>
            <a:r>
              <a:rPr kumimoji="1" lang="zh-CN" altLang="en-US" sz="3200" b="1">
                <a:solidFill>
                  <a:schemeClr val="tx1"/>
                </a:solidFill>
                <a:ea typeface="宋体" pitchFamily="2" charset="-122"/>
              </a:rPr>
              <a:t>把实参的值复制到相应的形参变量；</a:t>
            </a:r>
          </a:p>
          <a:p>
            <a:pPr marL="457200" indent="-457200" eaLnBrk="1" hangingPunct="1">
              <a:spcBef>
                <a:spcPct val="60000"/>
              </a:spcBef>
              <a:buClr>
                <a:schemeClr val="tx1"/>
              </a:buClr>
              <a:buFont typeface="Wingdings" pitchFamily="2" charset="2"/>
              <a:buAutoNum type="arabicPeriod"/>
            </a:pPr>
            <a:r>
              <a:rPr kumimoji="1" lang="zh-CN" altLang="en-US" sz="3200" b="1">
                <a:solidFill>
                  <a:schemeClr val="tx1"/>
                </a:solidFill>
                <a:ea typeface="宋体" pitchFamily="2" charset="-122"/>
              </a:rPr>
              <a:t>控制转移到该函数的起始位置，并执行该函数；</a:t>
            </a:r>
          </a:p>
          <a:p>
            <a:pPr marL="457200" indent="-457200" eaLnBrk="1" hangingPunct="1">
              <a:spcBef>
                <a:spcPct val="60000"/>
              </a:spcBef>
              <a:buClr>
                <a:schemeClr val="tx1"/>
              </a:buClr>
              <a:buFont typeface="Wingdings" pitchFamily="2" charset="2"/>
              <a:buAutoNum type="arabicPeriod"/>
            </a:pPr>
            <a:r>
              <a:rPr kumimoji="1" lang="zh-CN" altLang="en-US" sz="3200" b="1">
                <a:solidFill>
                  <a:schemeClr val="tx1"/>
                </a:solidFill>
                <a:ea typeface="宋体" pitchFamily="2" charset="-122"/>
              </a:rPr>
              <a:t>控制流和返回值返回到函数调用点，栈帧释放。</a:t>
            </a:r>
          </a:p>
        </p:txBody>
      </p:sp>
    </p:spTree>
    <p:extLst>
      <p:ext uri="{BB962C8B-B14F-4D97-AF65-F5344CB8AC3E}">
        <p14:creationId xmlns:p14="http://schemas.microsoft.com/office/powerpoint/2010/main" val="2175634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722479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控制流的变化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1561684" y="1595728"/>
            <a:ext cx="3856038" cy="4185761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 eaLnBrk="1" hangingPunct="1"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def  main( ):</a:t>
            </a:r>
          </a:p>
          <a:p>
            <a:pPr eaLnBrk="1" hangingPunct="1">
              <a:spcBef>
                <a:spcPct val="5000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y  =  6.0;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x  =  Area( y / 3.0 )</a:t>
            </a:r>
          </a:p>
          <a:p>
            <a:pPr eaLnBrk="1" hangingPunct="1">
              <a:spcBef>
                <a:spcPct val="50000"/>
              </a:spcBef>
              <a:spcAft>
                <a:spcPct val="50000"/>
              </a:spcAft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...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z  =  3.4 * Area(7.88)</a:t>
            </a:r>
          </a:p>
          <a:p>
            <a:pPr eaLnBrk="1" hangingPunct="1">
              <a:spcBef>
                <a:spcPct val="50000"/>
              </a:spcBef>
              <a:spcAft>
                <a:spcPct val="50000"/>
              </a:spcAft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...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main( )</a:t>
            </a:r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6692484" y="1674627"/>
            <a:ext cx="3670300" cy="2505301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 eaLnBrk="1" hangingPunct="1">
              <a:buNone/>
            </a:pPr>
            <a:r>
              <a:rPr kumimoji="1" lang="en-US" altLang="zh-CN" sz="2800" b="1">
                <a:solidFill>
                  <a:srgbClr val="00B05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''' </a:t>
            </a:r>
            <a:r>
              <a:rPr kumimoji="1" lang="zh-CN" altLang="en-US" sz="2800" b="1">
                <a:solidFill>
                  <a:srgbClr val="00B05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给定半径，计算一个圆的面积 </a:t>
            </a:r>
            <a:r>
              <a:rPr kumimoji="1" lang="en-US" altLang="zh-CN" sz="2800" b="1">
                <a:solidFill>
                  <a:srgbClr val="00B05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'''</a:t>
            </a:r>
          </a:p>
          <a:p>
            <a:pPr eaLnBrk="1" hangingPunct="1"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def 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Area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(r) :</a:t>
            </a:r>
          </a:p>
          <a:p>
            <a:pPr eaLnBrk="1" hangingPunct="1"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s = </a:t>
            </a:r>
            <a:r>
              <a:rPr kumimoji="1" lang="en-US" altLang="zh-CN" sz="28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3.14 * r * r</a:t>
            </a:r>
            <a:endParaRPr kumimoji="1" lang="en-US" altLang="zh-CN" sz="2800" b="1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eaLnBrk="1" hangingPunct="1"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return(s)</a:t>
            </a:r>
          </a:p>
        </p:txBody>
      </p:sp>
      <p:sp>
        <p:nvSpPr>
          <p:cNvPr id="12" name="Line 12"/>
          <p:cNvSpPr>
            <a:spLocks noChangeShapeType="1"/>
          </p:cNvSpPr>
          <p:nvPr/>
        </p:nvSpPr>
        <p:spPr bwMode="auto">
          <a:xfrm>
            <a:off x="5503447" y="1819089"/>
            <a:ext cx="0" cy="120332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>
              <a:buNone/>
            </a:pPr>
            <a:endParaRPr lang="zh-CN" altLang="en-US"/>
          </a:p>
        </p:txBody>
      </p:sp>
      <p:sp>
        <p:nvSpPr>
          <p:cNvPr id="13" name="Line 13"/>
          <p:cNvSpPr>
            <a:spLocks noChangeShapeType="1"/>
          </p:cNvSpPr>
          <p:nvPr/>
        </p:nvSpPr>
        <p:spPr bwMode="auto">
          <a:xfrm>
            <a:off x="5503447" y="3022414"/>
            <a:ext cx="960437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>
              <a:buNone/>
            </a:pPr>
            <a:endParaRPr lang="zh-CN" altLang="en-US"/>
          </a:p>
        </p:txBody>
      </p:sp>
      <p:sp>
        <p:nvSpPr>
          <p:cNvPr id="14" name="Line 14"/>
          <p:cNvSpPr>
            <a:spLocks noChangeShapeType="1"/>
          </p:cNvSpPr>
          <p:nvPr/>
        </p:nvSpPr>
        <p:spPr bwMode="auto">
          <a:xfrm>
            <a:off x="6455947" y="3014477"/>
            <a:ext cx="7937" cy="97155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>
              <a:buNone/>
            </a:pPr>
            <a:endParaRPr lang="zh-CN" altLang="en-US"/>
          </a:p>
        </p:txBody>
      </p:sp>
      <p:sp>
        <p:nvSpPr>
          <p:cNvPr id="15" name="Line 15"/>
          <p:cNvSpPr>
            <a:spLocks noChangeShapeType="1"/>
          </p:cNvSpPr>
          <p:nvPr/>
        </p:nvSpPr>
        <p:spPr bwMode="auto">
          <a:xfrm flipH="1" flipV="1">
            <a:off x="5489159" y="3168464"/>
            <a:ext cx="960438" cy="78898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pPr>
              <a:buNone/>
            </a:pPr>
            <a:endParaRPr lang="zh-CN" altLang="en-US"/>
          </a:p>
        </p:txBody>
      </p:sp>
      <p:sp>
        <p:nvSpPr>
          <p:cNvPr id="16" name="Line 16"/>
          <p:cNvSpPr>
            <a:spLocks noChangeShapeType="1"/>
          </p:cNvSpPr>
          <p:nvPr/>
        </p:nvSpPr>
        <p:spPr bwMode="auto">
          <a:xfrm>
            <a:off x="5498684" y="3185927"/>
            <a:ext cx="0" cy="120332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>
              <a:buNone/>
            </a:pPr>
            <a:endParaRPr lang="zh-CN" altLang="en-US"/>
          </a:p>
        </p:txBody>
      </p:sp>
      <p:sp>
        <p:nvSpPr>
          <p:cNvPr id="17" name="Line 17"/>
          <p:cNvSpPr>
            <a:spLocks noChangeShapeType="1"/>
          </p:cNvSpPr>
          <p:nvPr/>
        </p:nvSpPr>
        <p:spPr bwMode="auto">
          <a:xfrm flipV="1">
            <a:off x="5503447" y="3022414"/>
            <a:ext cx="1189037" cy="1366838"/>
          </a:xfrm>
          <a:prstGeom prst="line">
            <a:avLst/>
          </a:prstGeom>
          <a:noFill/>
          <a:ln w="57150">
            <a:solidFill>
              <a:srgbClr val="FF00FF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pPr>
              <a:buNone/>
            </a:pPr>
            <a:endParaRPr lang="zh-CN" altLang="en-US"/>
          </a:p>
        </p:txBody>
      </p:sp>
      <p:sp>
        <p:nvSpPr>
          <p:cNvPr id="18" name="Line 18"/>
          <p:cNvSpPr>
            <a:spLocks noChangeShapeType="1"/>
          </p:cNvSpPr>
          <p:nvPr/>
        </p:nvSpPr>
        <p:spPr bwMode="auto">
          <a:xfrm>
            <a:off x="6630572" y="3124014"/>
            <a:ext cx="0" cy="971550"/>
          </a:xfrm>
          <a:prstGeom prst="line">
            <a:avLst/>
          </a:prstGeom>
          <a:noFill/>
          <a:ln w="57150">
            <a:solidFill>
              <a:srgbClr val="FF00FF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>
              <a:buNone/>
            </a:pPr>
            <a:endParaRPr lang="zh-CN" altLang="en-US"/>
          </a:p>
        </p:txBody>
      </p:sp>
      <p:sp>
        <p:nvSpPr>
          <p:cNvPr id="19" name="Line 19"/>
          <p:cNvSpPr>
            <a:spLocks noChangeShapeType="1"/>
          </p:cNvSpPr>
          <p:nvPr/>
        </p:nvSpPr>
        <p:spPr bwMode="auto">
          <a:xfrm flipH="1">
            <a:off x="5489159" y="4081277"/>
            <a:ext cx="1127125" cy="481012"/>
          </a:xfrm>
          <a:prstGeom prst="line">
            <a:avLst/>
          </a:prstGeom>
          <a:noFill/>
          <a:ln w="57150">
            <a:solidFill>
              <a:srgbClr val="FF00FF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pPr>
              <a:buNone/>
            </a:pPr>
            <a:endParaRPr lang="zh-CN" altLang="en-US"/>
          </a:p>
        </p:txBody>
      </p:sp>
      <p:sp>
        <p:nvSpPr>
          <p:cNvPr id="20" name="Line 20"/>
          <p:cNvSpPr>
            <a:spLocks noChangeShapeType="1"/>
          </p:cNvSpPr>
          <p:nvPr/>
        </p:nvSpPr>
        <p:spPr bwMode="auto">
          <a:xfrm>
            <a:off x="5508209" y="4552764"/>
            <a:ext cx="0" cy="633413"/>
          </a:xfrm>
          <a:prstGeom prst="line">
            <a:avLst/>
          </a:prstGeom>
          <a:noFill/>
          <a:ln w="57150">
            <a:solidFill>
              <a:srgbClr val="FF00FF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>
              <a:buNone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1224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722479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一个简单的例子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21" name="Rectangle 5"/>
          <p:cNvSpPr>
            <a:spLocks noChangeArrowheads="1"/>
          </p:cNvSpPr>
          <p:nvPr/>
        </p:nvSpPr>
        <p:spPr bwMode="auto">
          <a:xfrm>
            <a:off x="1368012" y="1085223"/>
            <a:ext cx="7866063" cy="310854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def Times2(value):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return(2 * value)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def main():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number = input()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number = int(number)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print(</a:t>
            </a:r>
            <a:r>
              <a:rPr kumimoji="1" lang="en-US" altLang="zh-CN" sz="28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Times2(number))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main()</a:t>
            </a:r>
          </a:p>
        </p:txBody>
      </p:sp>
      <p:sp>
        <p:nvSpPr>
          <p:cNvPr id="22" name="Line 6"/>
          <p:cNvSpPr>
            <a:spLocks noChangeShapeType="1"/>
          </p:cNvSpPr>
          <p:nvPr/>
        </p:nvSpPr>
        <p:spPr bwMode="auto">
          <a:xfrm>
            <a:off x="806413" y="3507966"/>
            <a:ext cx="140811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pSp>
        <p:nvGrpSpPr>
          <p:cNvPr id="23" name="Group 7"/>
          <p:cNvGrpSpPr>
            <a:grpSpLocks/>
          </p:cNvGrpSpPr>
          <p:nvPr/>
        </p:nvGrpSpPr>
        <p:grpSpPr bwMode="auto">
          <a:xfrm>
            <a:off x="1517409" y="4145271"/>
            <a:ext cx="3292475" cy="2112962"/>
            <a:chOff x="605" y="2610"/>
            <a:chExt cx="2074" cy="1331"/>
          </a:xfrm>
        </p:grpSpPr>
        <p:sp>
          <p:nvSpPr>
            <p:cNvPr id="24" name="Rectangle 8"/>
            <p:cNvSpPr>
              <a:spLocks noChangeArrowheads="1"/>
            </p:cNvSpPr>
            <p:nvPr/>
          </p:nvSpPr>
          <p:spPr bwMode="auto">
            <a:xfrm>
              <a:off x="713" y="2953"/>
              <a:ext cx="1966" cy="988"/>
            </a:xfrm>
            <a:prstGeom prst="rect">
              <a:avLst/>
            </a:prstGeom>
            <a:noFill/>
            <a:ln w="3810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25" name="Rectangle 9"/>
            <p:cNvSpPr>
              <a:spLocks noChangeArrowheads="1"/>
            </p:cNvSpPr>
            <p:nvPr/>
          </p:nvSpPr>
          <p:spPr bwMode="auto">
            <a:xfrm>
              <a:off x="605" y="2610"/>
              <a:ext cx="676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buNone/>
              </a:pPr>
              <a:r>
                <a:rPr kumimoji="1" lang="en-US" altLang="zh-CN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main</a:t>
              </a:r>
            </a:p>
          </p:txBody>
        </p:sp>
        <p:sp>
          <p:nvSpPr>
            <p:cNvPr id="26" name="Rectangle 10"/>
            <p:cNvSpPr>
              <a:spLocks noChangeArrowheads="1"/>
            </p:cNvSpPr>
            <p:nvPr/>
          </p:nvSpPr>
          <p:spPr bwMode="auto">
            <a:xfrm>
              <a:off x="940" y="3002"/>
              <a:ext cx="992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buNone/>
              </a:pPr>
              <a:r>
                <a:rPr kumimoji="1" lang="en-US" altLang="zh-CN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number</a:t>
              </a:r>
            </a:p>
          </p:txBody>
        </p:sp>
        <p:sp>
          <p:nvSpPr>
            <p:cNvPr id="27" name="Rectangle 11"/>
            <p:cNvSpPr>
              <a:spLocks noChangeArrowheads="1"/>
            </p:cNvSpPr>
            <p:nvPr/>
          </p:nvSpPr>
          <p:spPr bwMode="auto">
            <a:xfrm>
              <a:off x="1024" y="3367"/>
              <a:ext cx="646" cy="3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anchorCtr="1"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r>
                <a:rPr lang="en-US" altLang="zh-CN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3</a:t>
              </a:r>
            </a:p>
          </p:txBody>
        </p:sp>
        <p:sp>
          <p:nvSpPr>
            <p:cNvPr id="28" name="Line 12"/>
            <p:cNvSpPr>
              <a:spLocks noChangeShapeType="1"/>
            </p:cNvSpPr>
            <p:nvPr/>
          </p:nvSpPr>
          <p:spPr bwMode="auto">
            <a:xfrm>
              <a:off x="1024" y="3367"/>
              <a:ext cx="64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29" name="Line 13"/>
            <p:cNvSpPr>
              <a:spLocks noChangeShapeType="1"/>
            </p:cNvSpPr>
            <p:nvPr/>
          </p:nvSpPr>
          <p:spPr bwMode="auto">
            <a:xfrm>
              <a:off x="1024" y="3731"/>
              <a:ext cx="64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30" name="Line 14"/>
            <p:cNvSpPr>
              <a:spLocks noChangeShapeType="1"/>
            </p:cNvSpPr>
            <p:nvPr/>
          </p:nvSpPr>
          <p:spPr bwMode="auto">
            <a:xfrm>
              <a:off x="1024" y="3367"/>
              <a:ext cx="0" cy="364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31" name="Line 15"/>
            <p:cNvSpPr>
              <a:spLocks noChangeShapeType="1"/>
            </p:cNvSpPr>
            <p:nvPr/>
          </p:nvSpPr>
          <p:spPr bwMode="auto">
            <a:xfrm>
              <a:off x="1670" y="3367"/>
              <a:ext cx="0" cy="364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54409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722479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一个简单的例子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(2)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8" name="Line 5"/>
          <p:cNvSpPr>
            <a:spLocks noChangeShapeType="1"/>
          </p:cNvSpPr>
          <p:nvPr/>
        </p:nvSpPr>
        <p:spPr bwMode="auto">
          <a:xfrm>
            <a:off x="799200" y="3505200"/>
            <a:ext cx="140811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9" name="Rectangle 6"/>
          <p:cNvSpPr>
            <a:spLocks noChangeArrowheads="1"/>
          </p:cNvSpPr>
          <p:nvPr/>
        </p:nvSpPr>
        <p:spPr bwMode="auto">
          <a:xfrm>
            <a:off x="1688859" y="4687888"/>
            <a:ext cx="3121025" cy="1568450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endParaRPr lang="zh-CN" altLang="en-US">
              <a:ea typeface="宋体" pitchFamily="2" charset="-122"/>
            </a:endParaRPr>
          </a:p>
        </p:txBody>
      </p:sp>
      <p:sp>
        <p:nvSpPr>
          <p:cNvPr id="20" name="Rectangle 7"/>
          <p:cNvSpPr>
            <a:spLocks noChangeArrowheads="1"/>
          </p:cNvSpPr>
          <p:nvPr/>
        </p:nvSpPr>
        <p:spPr bwMode="auto">
          <a:xfrm>
            <a:off x="1517409" y="4143375"/>
            <a:ext cx="107273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buNone/>
            </a:pP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main</a:t>
            </a:r>
          </a:p>
        </p:txBody>
      </p:sp>
      <p:sp>
        <p:nvSpPr>
          <p:cNvPr id="32" name="Rectangle 8"/>
          <p:cNvSpPr>
            <a:spLocks noChangeArrowheads="1"/>
          </p:cNvSpPr>
          <p:nvPr/>
        </p:nvSpPr>
        <p:spPr bwMode="auto">
          <a:xfrm>
            <a:off x="2049221" y="4765675"/>
            <a:ext cx="157447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buNone/>
            </a:pP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number</a:t>
            </a:r>
          </a:p>
        </p:txBody>
      </p:sp>
      <p:sp>
        <p:nvSpPr>
          <p:cNvPr id="33" name="Rectangle 9"/>
          <p:cNvSpPr>
            <a:spLocks noChangeArrowheads="1"/>
          </p:cNvSpPr>
          <p:nvPr/>
        </p:nvSpPr>
        <p:spPr bwMode="auto">
          <a:xfrm>
            <a:off x="2182571" y="5345113"/>
            <a:ext cx="1025525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zh-CN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3</a:t>
            </a:r>
          </a:p>
        </p:txBody>
      </p:sp>
      <p:sp>
        <p:nvSpPr>
          <p:cNvPr id="34" name="Line 10"/>
          <p:cNvSpPr>
            <a:spLocks noChangeShapeType="1"/>
          </p:cNvSpPr>
          <p:nvPr/>
        </p:nvSpPr>
        <p:spPr bwMode="auto">
          <a:xfrm>
            <a:off x="2182571" y="5345113"/>
            <a:ext cx="1025525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35" name="Line 11"/>
          <p:cNvSpPr>
            <a:spLocks noChangeShapeType="1"/>
          </p:cNvSpPr>
          <p:nvPr/>
        </p:nvSpPr>
        <p:spPr bwMode="auto">
          <a:xfrm>
            <a:off x="2182571" y="5922963"/>
            <a:ext cx="1025525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36" name="Line 12"/>
          <p:cNvSpPr>
            <a:spLocks noChangeShapeType="1"/>
          </p:cNvSpPr>
          <p:nvPr/>
        </p:nvSpPr>
        <p:spPr bwMode="auto">
          <a:xfrm>
            <a:off x="2182571" y="5345113"/>
            <a:ext cx="0" cy="57785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37" name="Line 13"/>
          <p:cNvSpPr>
            <a:spLocks noChangeShapeType="1"/>
          </p:cNvSpPr>
          <p:nvPr/>
        </p:nvSpPr>
        <p:spPr bwMode="auto">
          <a:xfrm>
            <a:off x="3208096" y="5345113"/>
            <a:ext cx="0" cy="57785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38" name="Rectangle 14"/>
          <p:cNvSpPr>
            <a:spLocks noChangeArrowheads="1"/>
          </p:cNvSpPr>
          <p:nvPr/>
        </p:nvSpPr>
        <p:spPr bwMode="auto">
          <a:xfrm>
            <a:off x="4170121" y="5133310"/>
            <a:ext cx="3121025" cy="1568450"/>
          </a:xfrm>
          <a:prstGeom prst="rect">
            <a:avLst/>
          </a:prstGeom>
          <a:solidFill>
            <a:schemeClr val="bg1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endParaRPr lang="zh-CN" altLang="en-US">
              <a:ea typeface="宋体" pitchFamily="2" charset="-122"/>
            </a:endParaRPr>
          </a:p>
        </p:txBody>
      </p:sp>
      <p:sp>
        <p:nvSpPr>
          <p:cNvPr id="39" name="Rectangle 15"/>
          <p:cNvSpPr>
            <a:spLocks noChangeArrowheads="1"/>
          </p:cNvSpPr>
          <p:nvPr/>
        </p:nvSpPr>
        <p:spPr bwMode="auto">
          <a:xfrm>
            <a:off x="3998671" y="4588797"/>
            <a:ext cx="145482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buNone/>
            </a:pP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Times2</a:t>
            </a:r>
          </a:p>
        </p:txBody>
      </p:sp>
      <p:sp>
        <p:nvSpPr>
          <p:cNvPr id="40" name="Rectangle 16"/>
          <p:cNvSpPr>
            <a:spLocks noChangeArrowheads="1"/>
          </p:cNvSpPr>
          <p:nvPr/>
        </p:nvSpPr>
        <p:spPr bwMode="auto">
          <a:xfrm>
            <a:off x="4530484" y="5211097"/>
            <a:ext cx="1119217" cy="5847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buNone/>
            </a:pP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value</a:t>
            </a:r>
          </a:p>
        </p:txBody>
      </p:sp>
      <p:sp>
        <p:nvSpPr>
          <p:cNvPr id="41" name="Rectangle 17"/>
          <p:cNvSpPr>
            <a:spLocks noChangeArrowheads="1"/>
          </p:cNvSpPr>
          <p:nvPr/>
        </p:nvSpPr>
        <p:spPr bwMode="auto">
          <a:xfrm>
            <a:off x="4663834" y="5790535"/>
            <a:ext cx="1025525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endParaRPr lang="zh-CN" altLang="en-US" sz="2000" b="1">
              <a:solidFill>
                <a:srgbClr val="FFFFFF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42" name="Line 18"/>
          <p:cNvSpPr>
            <a:spLocks noChangeShapeType="1"/>
          </p:cNvSpPr>
          <p:nvPr/>
        </p:nvSpPr>
        <p:spPr bwMode="auto">
          <a:xfrm>
            <a:off x="4663834" y="5790535"/>
            <a:ext cx="1025525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43" name="Line 19"/>
          <p:cNvSpPr>
            <a:spLocks noChangeShapeType="1"/>
          </p:cNvSpPr>
          <p:nvPr/>
        </p:nvSpPr>
        <p:spPr bwMode="auto">
          <a:xfrm>
            <a:off x="4663834" y="6368385"/>
            <a:ext cx="1025525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44" name="Line 20"/>
          <p:cNvSpPr>
            <a:spLocks noChangeShapeType="1"/>
          </p:cNvSpPr>
          <p:nvPr/>
        </p:nvSpPr>
        <p:spPr bwMode="auto">
          <a:xfrm>
            <a:off x="4663834" y="5790535"/>
            <a:ext cx="0" cy="57785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45" name="Line 21"/>
          <p:cNvSpPr>
            <a:spLocks noChangeShapeType="1"/>
          </p:cNvSpPr>
          <p:nvPr/>
        </p:nvSpPr>
        <p:spPr bwMode="auto">
          <a:xfrm>
            <a:off x="5689359" y="5790535"/>
            <a:ext cx="0" cy="57785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46" name="Rectangle 22"/>
          <p:cNvSpPr>
            <a:spLocks noChangeArrowheads="1"/>
          </p:cNvSpPr>
          <p:nvPr/>
        </p:nvSpPr>
        <p:spPr bwMode="auto">
          <a:xfrm>
            <a:off x="7532519" y="5041436"/>
            <a:ext cx="4041427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pitchFamily="2" charset="-122"/>
              </a:rPr>
              <a:t>Times2</a:t>
            </a:r>
            <a:r>
              <a:rPr kumimoji="1" lang="zh-CN" altLang="en-US" sz="2800" b="1">
                <a:solidFill>
                  <a:schemeClr val="tx1"/>
                </a:solidFill>
                <a:ea typeface="宋体" pitchFamily="2" charset="-122"/>
              </a:rPr>
              <a:t>也得到一个栈帧</a:t>
            </a:r>
            <a:r>
              <a:rPr kumimoji="1" lang="en-US" altLang="zh-CN" sz="2800" b="1">
                <a:solidFill>
                  <a:schemeClr val="tx1"/>
                </a:solidFill>
                <a:ea typeface="宋体" pitchFamily="2" charset="-122"/>
              </a:rPr>
              <a:t>,</a:t>
            </a:r>
            <a:br>
              <a:rPr kumimoji="1" lang="en-US" altLang="zh-CN" sz="2800" b="1">
                <a:solidFill>
                  <a:schemeClr val="tx1"/>
                </a:solidFill>
                <a:ea typeface="宋体" pitchFamily="2" charset="-122"/>
              </a:rPr>
            </a:br>
            <a:r>
              <a:rPr kumimoji="1" lang="zh-CN" altLang="en-US" sz="2800" b="1">
                <a:solidFill>
                  <a:schemeClr val="tx1"/>
                </a:solidFill>
                <a:ea typeface="宋体" pitchFamily="2" charset="-122"/>
              </a:rPr>
              <a:t>它的参数看成局部变量</a:t>
            </a:r>
          </a:p>
        </p:txBody>
      </p:sp>
      <p:sp>
        <p:nvSpPr>
          <p:cNvPr id="47" name="Rectangle 5"/>
          <p:cNvSpPr>
            <a:spLocks noChangeArrowheads="1"/>
          </p:cNvSpPr>
          <p:nvPr/>
        </p:nvSpPr>
        <p:spPr bwMode="auto">
          <a:xfrm>
            <a:off x="1368000" y="1087200"/>
            <a:ext cx="7866063" cy="310854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def Times2(value):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return(2 * value)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def main():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number = input()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number = int(number)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print(</a:t>
            </a:r>
            <a:r>
              <a:rPr kumimoji="1" lang="en-US" altLang="zh-CN" sz="28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Times2(number))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main()</a:t>
            </a:r>
          </a:p>
        </p:txBody>
      </p:sp>
    </p:spTree>
    <p:extLst>
      <p:ext uri="{BB962C8B-B14F-4D97-AF65-F5344CB8AC3E}">
        <p14:creationId xmlns:p14="http://schemas.microsoft.com/office/powerpoint/2010/main" val="10310233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722479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一个简单的例子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(3)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9" name="Rectangle 6"/>
          <p:cNvSpPr>
            <a:spLocks noChangeArrowheads="1"/>
          </p:cNvSpPr>
          <p:nvPr/>
        </p:nvSpPr>
        <p:spPr bwMode="auto">
          <a:xfrm>
            <a:off x="1688859" y="4687888"/>
            <a:ext cx="3121025" cy="1568450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endParaRPr lang="zh-CN" altLang="en-US">
              <a:ea typeface="宋体" pitchFamily="2" charset="-122"/>
            </a:endParaRPr>
          </a:p>
        </p:txBody>
      </p:sp>
      <p:sp>
        <p:nvSpPr>
          <p:cNvPr id="20" name="Rectangle 7"/>
          <p:cNvSpPr>
            <a:spLocks noChangeArrowheads="1"/>
          </p:cNvSpPr>
          <p:nvPr/>
        </p:nvSpPr>
        <p:spPr bwMode="auto">
          <a:xfrm>
            <a:off x="1517409" y="4143375"/>
            <a:ext cx="107273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buNone/>
            </a:pP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main</a:t>
            </a:r>
          </a:p>
        </p:txBody>
      </p:sp>
      <p:sp>
        <p:nvSpPr>
          <p:cNvPr id="32" name="Rectangle 8"/>
          <p:cNvSpPr>
            <a:spLocks noChangeArrowheads="1"/>
          </p:cNvSpPr>
          <p:nvPr/>
        </p:nvSpPr>
        <p:spPr bwMode="auto">
          <a:xfrm>
            <a:off x="2049221" y="4765675"/>
            <a:ext cx="157447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buNone/>
            </a:pP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number</a:t>
            </a:r>
          </a:p>
        </p:txBody>
      </p:sp>
      <p:sp>
        <p:nvSpPr>
          <p:cNvPr id="33" name="Rectangle 9"/>
          <p:cNvSpPr>
            <a:spLocks noChangeArrowheads="1"/>
          </p:cNvSpPr>
          <p:nvPr/>
        </p:nvSpPr>
        <p:spPr bwMode="auto">
          <a:xfrm>
            <a:off x="2182571" y="5345113"/>
            <a:ext cx="1025525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zh-CN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3</a:t>
            </a:r>
          </a:p>
        </p:txBody>
      </p:sp>
      <p:sp>
        <p:nvSpPr>
          <p:cNvPr id="34" name="Line 10"/>
          <p:cNvSpPr>
            <a:spLocks noChangeShapeType="1"/>
          </p:cNvSpPr>
          <p:nvPr/>
        </p:nvSpPr>
        <p:spPr bwMode="auto">
          <a:xfrm>
            <a:off x="2182571" y="5345113"/>
            <a:ext cx="1025525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35" name="Line 11"/>
          <p:cNvSpPr>
            <a:spLocks noChangeShapeType="1"/>
          </p:cNvSpPr>
          <p:nvPr/>
        </p:nvSpPr>
        <p:spPr bwMode="auto">
          <a:xfrm>
            <a:off x="2182571" y="5922963"/>
            <a:ext cx="1025525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36" name="Line 12"/>
          <p:cNvSpPr>
            <a:spLocks noChangeShapeType="1"/>
          </p:cNvSpPr>
          <p:nvPr/>
        </p:nvSpPr>
        <p:spPr bwMode="auto">
          <a:xfrm>
            <a:off x="2182571" y="5345113"/>
            <a:ext cx="0" cy="57785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37" name="Line 13"/>
          <p:cNvSpPr>
            <a:spLocks noChangeShapeType="1"/>
          </p:cNvSpPr>
          <p:nvPr/>
        </p:nvSpPr>
        <p:spPr bwMode="auto">
          <a:xfrm>
            <a:off x="3208096" y="5345113"/>
            <a:ext cx="0" cy="57785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38" name="Rectangle 14"/>
          <p:cNvSpPr>
            <a:spLocks noChangeArrowheads="1"/>
          </p:cNvSpPr>
          <p:nvPr/>
        </p:nvSpPr>
        <p:spPr bwMode="auto">
          <a:xfrm>
            <a:off x="4170121" y="5133310"/>
            <a:ext cx="3121025" cy="1568450"/>
          </a:xfrm>
          <a:prstGeom prst="rect">
            <a:avLst/>
          </a:prstGeom>
          <a:solidFill>
            <a:schemeClr val="bg1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endParaRPr lang="zh-CN" altLang="en-US">
              <a:ea typeface="宋体" pitchFamily="2" charset="-122"/>
            </a:endParaRPr>
          </a:p>
        </p:txBody>
      </p:sp>
      <p:sp>
        <p:nvSpPr>
          <p:cNvPr id="39" name="Rectangle 15"/>
          <p:cNvSpPr>
            <a:spLocks noChangeArrowheads="1"/>
          </p:cNvSpPr>
          <p:nvPr/>
        </p:nvSpPr>
        <p:spPr bwMode="auto">
          <a:xfrm>
            <a:off x="3998671" y="4588797"/>
            <a:ext cx="145482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buNone/>
            </a:pP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Times2</a:t>
            </a:r>
          </a:p>
        </p:txBody>
      </p:sp>
      <p:sp>
        <p:nvSpPr>
          <p:cNvPr id="40" name="Rectangle 16"/>
          <p:cNvSpPr>
            <a:spLocks noChangeArrowheads="1"/>
          </p:cNvSpPr>
          <p:nvPr/>
        </p:nvSpPr>
        <p:spPr bwMode="auto">
          <a:xfrm>
            <a:off x="4530484" y="5211097"/>
            <a:ext cx="1119217" cy="5847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buNone/>
            </a:pP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value</a:t>
            </a:r>
          </a:p>
        </p:txBody>
      </p:sp>
      <p:sp>
        <p:nvSpPr>
          <p:cNvPr id="41" name="Rectangle 17"/>
          <p:cNvSpPr>
            <a:spLocks noChangeArrowheads="1"/>
          </p:cNvSpPr>
          <p:nvPr/>
        </p:nvSpPr>
        <p:spPr bwMode="auto">
          <a:xfrm>
            <a:off x="4663834" y="5790535"/>
            <a:ext cx="1025525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endParaRPr lang="zh-CN" altLang="en-US" sz="2000" b="1">
              <a:solidFill>
                <a:srgbClr val="FFFFFF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42" name="Line 18"/>
          <p:cNvSpPr>
            <a:spLocks noChangeShapeType="1"/>
          </p:cNvSpPr>
          <p:nvPr/>
        </p:nvSpPr>
        <p:spPr bwMode="auto">
          <a:xfrm>
            <a:off x="4663834" y="5790535"/>
            <a:ext cx="1025525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43" name="Line 19"/>
          <p:cNvSpPr>
            <a:spLocks noChangeShapeType="1"/>
          </p:cNvSpPr>
          <p:nvPr/>
        </p:nvSpPr>
        <p:spPr bwMode="auto">
          <a:xfrm>
            <a:off x="4663834" y="6368385"/>
            <a:ext cx="1025525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44" name="Line 20"/>
          <p:cNvSpPr>
            <a:spLocks noChangeShapeType="1"/>
          </p:cNvSpPr>
          <p:nvPr/>
        </p:nvSpPr>
        <p:spPr bwMode="auto">
          <a:xfrm>
            <a:off x="4663834" y="5790535"/>
            <a:ext cx="0" cy="57785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45" name="Line 21"/>
          <p:cNvSpPr>
            <a:spLocks noChangeShapeType="1"/>
          </p:cNvSpPr>
          <p:nvPr/>
        </p:nvSpPr>
        <p:spPr bwMode="auto">
          <a:xfrm>
            <a:off x="5689359" y="5790535"/>
            <a:ext cx="0" cy="57785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47" name="Rectangle 5"/>
          <p:cNvSpPr>
            <a:spLocks noChangeArrowheads="1"/>
          </p:cNvSpPr>
          <p:nvPr/>
        </p:nvSpPr>
        <p:spPr bwMode="auto">
          <a:xfrm>
            <a:off x="1368000" y="1087200"/>
            <a:ext cx="7866063" cy="310854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def Times2(value):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return(2 * value)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def main():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number = input()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number = int(number)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print(</a:t>
            </a:r>
            <a:r>
              <a:rPr kumimoji="1" lang="en-US" altLang="zh-CN" sz="28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Times2(number))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main()</a:t>
            </a:r>
          </a:p>
        </p:txBody>
      </p:sp>
      <p:sp>
        <p:nvSpPr>
          <p:cNvPr id="26" name="Line 5"/>
          <p:cNvSpPr>
            <a:spLocks noChangeShapeType="1"/>
          </p:cNvSpPr>
          <p:nvPr/>
        </p:nvSpPr>
        <p:spPr bwMode="auto">
          <a:xfrm>
            <a:off x="787623" y="1371600"/>
            <a:ext cx="640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7" name="Line 23"/>
          <p:cNvSpPr>
            <a:spLocks noChangeShapeType="1"/>
          </p:cNvSpPr>
          <p:nvPr/>
        </p:nvSpPr>
        <p:spPr bwMode="auto">
          <a:xfrm rot="21300000">
            <a:off x="2925982" y="5545138"/>
            <a:ext cx="1887538" cy="65405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28" name="Rectangle 24"/>
          <p:cNvSpPr>
            <a:spLocks noChangeArrowheads="1"/>
          </p:cNvSpPr>
          <p:nvPr/>
        </p:nvSpPr>
        <p:spPr bwMode="auto">
          <a:xfrm>
            <a:off x="4941936" y="5804737"/>
            <a:ext cx="38985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buNone/>
            </a:pPr>
            <a:r>
              <a:rPr lang="en-US" altLang="zh-CN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3</a:t>
            </a:r>
            <a:endParaRPr lang="zh-CN" altLang="en-US" sz="3200" b="1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29" name="Rectangle 22"/>
          <p:cNvSpPr>
            <a:spLocks noChangeArrowheads="1"/>
          </p:cNvSpPr>
          <p:nvPr/>
        </p:nvSpPr>
        <p:spPr bwMode="auto">
          <a:xfrm>
            <a:off x="7781839" y="4881184"/>
            <a:ext cx="3224212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None/>
            </a:pPr>
            <a:r>
              <a:rPr kumimoji="1" lang="zh-CN" altLang="en-US" sz="2800" b="1">
                <a:solidFill>
                  <a:schemeClr val="tx1"/>
                </a:solidFill>
                <a:ea typeface="宋体" pitchFamily="2" charset="-122"/>
              </a:rPr>
              <a:t>“值传递”</a:t>
            </a:r>
            <a:r>
              <a:rPr kumimoji="1" lang="en-US" altLang="zh-CN" sz="2800" b="1">
                <a:solidFill>
                  <a:schemeClr val="tx1"/>
                </a:solidFill>
                <a:ea typeface="宋体" pitchFamily="2" charset="-122"/>
              </a:rPr>
              <a:t>, </a:t>
            </a:r>
            <a:r>
              <a:rPr kumimoji="1" lang="zh-CN" altLang="en-US" sz="2800" b="1">
                <a:solidFill>
                  <a:schemeClr val="tx1"/>
                </a:solidFill>
                <a:ea typeface="宋体" pitchFamily="2" charset="-122"/>
              </a:rPr>
              <a:t>把实参的值传给形参。</a:t>
            </a:r>
          </a:p>
        </p:txBody>
      </p:sp>
    </p:spTree>
    <p:extLst>
      <p:ext uri="{BB962C8B-B14F-4D97-AF65-F5344CB8AC3E}">
        <p14:creationId xmlns:p14="http://schemas.microsoft.com/office/powerpoint/2010/main" val="950663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722479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一个简单的例子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(4)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7" name="Rectangle 5"/>
          <p:cNvSpPr>
            <a:spLocks noChangeArrowheads="1"/>
          </p:cNvSpPr>
          <p:nvPr/>
        </p:nvSpPr>
        <p:spPr bwMode="auto">
          <a:xfrm>
            <a:off x="1368000" y="1087200"/>
            <a:ext cx="7866063" cy="310854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def Times2(value):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return(2 * value)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def main():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number = input()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number = int(number)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print(</a:t>
            </a:r>
            <a:r>
              <a:rPr kumimoji="1" lang="en-US" altLang="zh-CN" sz="28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Times2(number))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main()</a:t>
            </a:r>
          </a:p>
        </p:txBody>
      </p:sp>
      <p:sp>
        <p:nvSpPr>
          <p:cNvPr id="26" name="Line 5"/>
          <p:cNvSpPr>
            <a:spLocks noChangeShapeType="1"/>
          </p:cNvSpPr>
          <p:nvPr/>
        </p:nvSpPr>
        <p:spPr bwMode="auto">
          <a:xfrm>
            <a:off x="787623" y="1770624"/>
            <a:ext cx="640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0" name="Rectangle 15"/>
          <p:cNvSpPr>
            <a:spLocks noChangeArrowheads="1"/>
          </p:cNvSpPr>
          <p:nvPr/>
        </p:nvSpPr>
        <p:spPr bwMode="auto">
          <a:xfrm>
            <a:off x="1705485" y="4687888"/>
            <a:ext cx="3121025" cy="1568450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endParaRPr lang="zh-CN" altLang="en-US">
              <a:ea typeface="宋体" pitchFamily="2" charset="-122"/>
            </a:endParaRPr>
          </a:p>
        </p:txBody>
      </p:sp>
      <p:sp>
        <p:nvSpPr>
          <p:cNvPr id="31" name="Rectangle 16"/>
          <p:cNvSpPr>
            <a:spLocks noChangeArrowheads="1"/>
          </p:cNvSpPr>
          <p:nvPr/>
        </p:nvSpPr>
        <p:spPr bwMode="auto">
          <a:xfrm>
            <a:off x="1534035" y="4143375"/>
            <a:ext cx="107273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buNone/>
            </a:pP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main</a:t>
            </a:r>
          </a:p>
        </p:txBody>
      </p:sp>
      <p:sp>
        <p:nvSpPr>
          <p:cNvPr id="46" name="Rectangle 17"/>
          <p:cNvSpPr>
            <a:spLocks noChangeArrowheads="1"/>
          </p:cNvSpPr>
          <p:nvPr/>
        </p:nvSpPr>
        <p:spPr bwMode="auto">
          <a:xfrm>
            <a:off x="2199197" y="5487988"/>
            <a:ext cx="1025525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zh-CN" sz="2000" b="1">
                <a:solidFill>
                  <a:srgbClr val="FFFFFF"/>
                </a:solidFill>
                <a:latin typeface="Tahoma" pitchFamily="34" charset="0"/>
                <a:ea typeface="宋体" pitchFamily="2" charset="-122"/>
              </a:rPr>
              <a:t>3</a:t>
            </a:r>
          </a:p>
        </p:txBody>
      </p:sp>
      <p:sp>
        <p:nvSpPr>
          <p:cNvPr id="48" name="Line 18"/>
          <p:cNvSpPr>
            <a:spLocks noChangeShapeType="1"/>
          </p:cNvSpPr>
          <p:nvPr/>
        </p:nvSpPr>
        <p:spPr bwMode="auto">
          <a:xfrm>
            <a:off x="2199197" y="5487988"/>
            <a:ext cx="1025525" cy="0"/>
          </a:xfrm>
          <a:prstGeom prst="line">
            <a:avLst/>
          </a:prstGeom>
          <a:noFill/>
          <a:ln w="28575" cap="sq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49" name="Line 19"/>
          <p:cNvSpPr>
            <a:spLocks noChangeShapeType="1"/>
          </p:cNvSpPr>
          <p:nvPr/>
        </p:nvSpPr>
        <p:spPr bwMode="auto">
          <a:xfrm>
            <a:off x="2199197" y="6065838"/>
            <a:ext cx="1025525" cy="0"/>
          </a:xfrm>
          <a:prstGeom prst="line">
            <a:avLst/>
          </a:prstGeom>
          <a:noFill/>
          <a:ln w="28575" cap="sq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50" name="Line 20"/>
          <p:cNvSpPr>
            <a:spLocks noChangeShapeType="1"/>
          </p:cNvSpPr>
          <p:nvPr/>
        </p:nvSpPr>
        <p:spPr bwMode="auto">
          <a:xfrm>
            <a:off x="2199197" y="5487988"/>
            <a:ext cx="0" cy="577850"/>
          </a:xfrm>
          <a:prstGeom prst="line">
            <a:avLst/>
          </a:prstGeom>
          <a:noFill/>
          <a:ln w="28575" cap="sq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51" name="Line 21"/>
          <p:cNvSpPr>
            <a:spLocks noChangeShapeType="1"/>
          </p:cNvSpPr>
          <p:nvPr/>
        </p:nvSpPr>
        <p:spPr bwMode="auto">
          <a:xfrm>
            <a:off x="3224722" y="5487988"/>
            <a:ext cx="0" cy="577850"/>
          </a:xfrm>
          <a:prstGeom prst="line">
            <a:avLst/>
          </a:prstGeom>
          <a:noFill/>
          <a:ln w="28575" cap="sq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52" name="Rectangle 22"/>
          <p:cNvSpPr>
            <a:spLocks noChangeArrowheads="1"/>
          </p:cNvSpPr>
          <p:nvPr/>
        </p:nvSpPr>
        <p:spPr bwMode="auto">
          <a:xfrm>
            <a:off x="5936444" y="4440476"/>
            <a:ext cx="4895051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None/>
            </a:pPr>
            <a:r>
              <a:rPr kumimoji="1" lang="zh-CN" altLang="en-US" sz="2800" b="1">
                <a:solidFill>
                  <a:schemeClr val="tx1"/>
                </a:solidFill>
                <a:ea typeface="宋体" pitchFamily="2" charset="-122"/>
              </a:rPr>
              <a:t>把</a:t>
            </a:r>
            <a:r>
              <a:rPr kumimoji="1" lang="en-US" altLang="zh-CN" sz="2800" b="1">
                <a:solidFill>
                  <a:schemeClr val="tx1"/>
                </a:solidFill>
                <a:ea typeface="宋体" pitchFamily="2" charset="-122"/>
              </a:rPr>
              <a:t>Times2</a:t>
            </a:r>
            <a:r>
              <a:rPr kumimoji="1" lang="zh-CN" altLang="en-US" sz="2800" b="1">
                <a:solidFill>
                  <a:schemeClr val="tx1"/>
                </a:solidFill>
                <a:ea typeface="宋体" pitchFamily="2" charset="-122"/>
              </a:rPr>
              <a:t>的栈帧叠在主函数的栈帧之上，说明在执行</a:t>
            </a:r>
            <a:r>
              <a:rPr kumimoji="1" lang="en-US" altLang="zh-CN" sz="2800" b="1">
                <a:solidFill>
                  <a:schemeClr val="tx1"/>
                </a:solidFill>
                <a:ea typeface="宋体" pitchFamily="2" charset="-122"/>
              </a:rPr>
              <a:t>Times2</a:t>
            </a:r>
            <a:r>
              <a:rPr kumimoji="1" lang="zh-CN" altLang="en-US" sz="2800" b="1">
                <a:solidFill>
                  <a:schemeClr val="tx1"/>
                </a:solidFill>
                <a:ea typeface="宋体" pitchFamily="2" charset="-122"/>
              </a:rPr>
              <a:t>函数时，</a:t>
            </a:r>
            <a:r>
              <a:rPr kumimoji="1" lang="zh-CN" altLang="en-US" sz="2800" b="1">
                <a:solidFill>
                  <a:srgbClr val="0000FF"/>
                </a:solidFill>
                <a:ea typeface="宋体" pitchFamily="2" charset="-122"/>
              </a:rPr>
              <a:t>主函数中的变量是</a:t>
            </a:r>
            <a:r>
              <a:rPr kumimoji="1" lang="zh-CN" altLang="en-US" sz="2800" b="1">
                <a:solidFill>
                  <a:srgbClr val="FF0000"/>
                </a:solidFill>
                <a:ea typeface="宋体" pitchFamily="2" charset="-122"/>
              </a:rPr>
              <a:t>不可见</a:t>
            </a:r>
            <a:r>
              <a:rPr kumimoji="1" lang="zh-CN" altLang="en-US" sz="2800" b="1">
                <a:solidFill>
                  <a:srgbClr val="0000FF"/>
                </a:solidFill>
                <a:ea typeface="宋体" pitchFamily="2" charset="-122"/>
              </a:rPr>
              <a:t>的</a:t>
            </a:r>
            <a:r>
              <a:rPr kumimoji="1" lang="zh-CN" altLang="en-US" sz="2800" b="1">
                <a:solidFill>
                  <a:schemeClr val="tx1"/>
                </a:solidFill>
                <a:ea typeface="宋体" pitchFamily="2" charset="-122"/>
              </a:rPr>
              <a:t>。</a:t>
            </a:r>
          </a:p>
        </p:txBody>
      </p:sp>
      <p:sp>
        <p:nvSpPr>
          <p:cNvPr id="53" name="Rectangle 23"/>
          <p:cNvSpPr>
            <a:spLocks noChangeArrowheads="1"/>
          </p:cNvSpPr>
          <p:nvPr/>
        </p:nvSpPr>
        <p:spPr bwMode="auto">
          <a:xfrm>
            <a:off x="2086485" y="5154613"/>
            <a:ext cx="3121025" cy="1568450"/>
          </a:xfrm>
          <a:prstGeom prst="rect">
            <a:avLst/>
          </a:prstGeom>
          <a:solidFill>
            <a:schemeClr val="bg1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endParaRPr lang="zh-CN" altLang="en-US">
              <a:ea typeface="宋体" pitchFamily="2" charset="-122"/>
            </a:endParaRPr>
          </a:p>
        </p:txBody>
      </p:sp>
      <p:sp>
        <p:nvSpPr>
          <p:cNvPr id="54" name="Rectangle 24"/>
          <p:cNvSpPr>
            <a:spLocks noChangeArrowheads="1"/>
          </p:cNvSpPr>
          <p:nvPr/>
        </p:nvSpPr>
        <p:spPr bwMode="auto">
          <a:xfrm>
            <a:off x="1972185" y="4610100"/>
            <a:ext cx="145482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buNone/>
            </a:pP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Times2</a:t>
            </a:r>
          </a:p>
        </p:txBody>
      </p:sp>
      <p:sp>
        <p:nvSpPr>
          <p:cNvPr id="55" name="Rectangle 25"/>
          <p:cNvSpPr>
            <a:spLocks noChangeArrowheads="1"/>
          </p:cNvSpPr>
          <p:nvPr/>
        </p:nvSpPr>
        <p:spPr bwMode="auto">
          <a:xfrm>
            <a:off x="2503997" y="5232400"/>
            <a:ext cx="1119217" cy="5847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buNone/>
            </a:pP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value</a:t>
            </a:r>
          </a:p>
        </p:txBody>
      </p:sp>
      <p:sp>
        <p:nvSpPr>
          <p:cNvPr id="56" name="Rectangle 26"/>
          <p:cNvSpPr>
            <a:spLocks noChangeArrowheads="1"/>
          </p:cNvSpPr>
          <p:nvPr/>
        </p:nvSpPr>
        <p:spPr bwMode="auto">
          <a:xfrm>
            <a:off x="2637347" y="5811838"/>
            <a:ext cx="1025525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zh-CN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3</a:t>
            </a:r>
          </a:p>
        </p:txBody>
      </p:sp>
      <p:sp>
        <p:nvSpPr>
          <p:cNvPr id="57" name="Line 27"/>
          <p:cNvSpPr>
            <a:spLocks noChangeShapeType="1"/>
          </p:cNvSpPr>
          <p:nvPr/>
        </p:nvSpPr>
        <p:spPr bwMode="auto">
          <a:xfrm>
            <a:off x="2637347" y="5811838"/>
            <a:ext cx="1025525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58" name="Line 28"/>
          <p:cNvSpPr>
            <a:spLocks noChangeShapeType="1"/>
          </p:cNvSpPr>
          <p:nvPr/>
        </p:nvSpPr>
        <p:spPr bwMode="auto">
          <a:xfrm>
            <a:off x="2637347" y="6389688"/>
            <a:ext cx="1025525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59" name="Line 29"/>
          <p:cNvSpPr>
            <a:spLocks noChangeShapeType="1"/>
          </p:cNvSpPr>
          <p:nvPr/>
        </p:nvSpPr>
        <p:spPr bwMode="auto">
          <a:xfrm>
            <a:off x="2637347" y="5811838"/>
            <a:ext cx="0" cy="57785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60" name="Line 30"/>
          <p:cNvSpPr>
            <a:spLocks noChangeShapeType="1"/>
          </p:cNvSpPr>
          <p:nvPr/>
        </p:nvSpPr>
        <p:spPr bwMode="auto">
          <a:xfrm>
            <a:off x="3662872" y="5811838"/>
            <a:ext cx="0" cy="57785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92913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722479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一个简单的例子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(5)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7" name="Rectangle 5"/>
          <p:cNvSpPr>
            <a:spLocks noChangeArrowheads="1"/>
          </p:cNvSpPr>
          <p:nvPr/>
        </p:nvSpPr>
        <p:spPr bwMode="auto">
          <a:xfrm>
            <a:off x="1368000" y="1087200"/>
            <a:ext cx="7866063" cy="310854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def Times2(value):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return(2 * value)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def main():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number = input()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number = int(number)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print(</a:t>
            </a:r>
            <a:r>
              <a:rPr kumimoji="1" lang="en-US" altLang="zh-CN" sz="28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Times2(number))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main()</a:t>
            </a:r>
          </a:p>
        </p:txBody>
      </p:sp>
      <p:sp>
        <p:nvSpPr>
          <p:cNvPr id="25" name="Line 49"/>
          <p:cNvSpPr>
            <a:spLocks noChangeShapeType="1"/>
          </p:cNvSpPr>
          <p:nvPr/>
        </p:nvSpPr>
        <p:spPr bwMode="auto">
          <a:xfrm>
            <a:off x="676119" y="3521826"/>
            <a:ext cx="140811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7" name="Line 59"/>
          <p:cNvSpPr>
            <a:spLocks noChangeShapeType="1"/>
          </p:cNvSpPr>
          <p:nvPr/>
        </p:nvSpPr>
        <p:spPr bwMode="auto">
          <a:xfrm>
            <a:off x="3731049" y="3750426"/>
            <a:ext cx="2590800" cy="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zh-CN" altLang="en-US"/>
          </a:p>
        </p:txBody>
      </p:sp>
      <p:sp>
        <p:nvSpPr>
          <p:cNvPr id="28" name="Rectangle 60"/>
          <p:cNvSpPr>
            <a:spLocks noChangeArrowheads="1"/>
          </p:cNvSpPr>
          <p:nvPr/>
        </p:nvSpPr>
        <p:spPr bwMode="auto">
          <a:xfrm>
            <a:off x="4739658" y="3699051"/>
            <a:ext cx="38985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buNone/>
            </a:pPr>
            <a:r>
              <a:rPr kumimoji="1" lang="en-US" altLang="zh-CN" sz="3200" b="1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6</a:t>
            </a:r>
          </a:p>
        </p:txBody>
      </p:sp>
      <p:grpSp>
        <p:nvGrpSpPr>
          <p:cNvPr id="32" name="Group 50"/>
          <p:cNvGrpSpPr>
            <a:grpSpLocks/>
          </p:cNvGrpSpPr>
          <p:nvPr/>
        </p:nvGrpSpPr>
        <p:grpSpPr bwMode="auto">
          <a:xfrm>
            <a:off x="1467531" y="4143375"/>
            <a:ext cx="3292475" cy="2112963"/>
            <a:chOff x="605" y="2610"/>
            <a:chExt cx="2074" cy="1331"/>
          </a:xfrm>
        </p:grpSpPr>
        <p:sp>
          <p:nvSpPr>
            <p:cNvPr id="33" name="Rectangle 51"/>
            <p:cNvSpPr>
              <a:spLocks noChangeArrowheads="1"/>
            </p:cNvSpPr>
            <p:nvPr/>
          </p:nvSpPr>
          <p:spPr bwMode="auto">
            <a:xfrm>
              <a:off x="713" y="2953"/>
              <a:ext cx="1966" cy="988"/>
            </a:xfrm>
            <a:prstGeom prst="rect">
              <a:avLst/>
            </a:prstGeom>
            <a:noFill/>
            <a:ln w="3810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4" name="Rectangle 52"/>
            <p:cNvSpPr>
              <a:spLocks noChangeArrowheads="1"/>
            </p:cNvSpPr>
            <p:nvPr/>
          </p:nvSpPr>
          <p:spPr bwMode="auto">
            <a:xfrm>
              <a:off x="605" y="2610"/>
              <a:ext cx="676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buNone/>
              </a:pPr>
              <a:r>
                <a:rPr kumimoji="1" lang="en-US" altLang="zh-CN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main</a:t>
              </a:r>
            </a:p>
          </p:txBody>
        </p:sp>
        <p:sp>
          <p:nvSpPr>
            <p:cNvPr id="35" name="Rectangle 53"/>
            <p:cNvSpPr>
              <a:spLocks noChangeArrowheads="1"/>
            </p:cNvSpPr>
            <p:nvPr/>
          </p:nvSpPr>
          <p:spPr bwMode="auto">
            <a:xfrm>
              <a:off x="940" y="3002"/>
              <a:ext cx="992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buNone/>
              </a:pPr>
              <a:r>
                <a:rPr kumimoji="1" lang="en-US" altLang="zh-CN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number</a:t>
              </a:r>
            </a:p>
          </p:txBody>
        </p:sp>
        <p:sp>
          <p:nvSpPr>
            <p:cNvPr id="36" name="Rectangle 54"/>
            <p:cNvSpPr>
              <a:spLocks noChangeArrowheads="1"/>
            </p:cNvSpPr>
            <p:nvPr/>
          </p:nvSpPr>
          <p:spPr bwMode="auto">
            <a:xfrm>
              <a:off x="1024" y="3367"/>
              <a:ext cx="646" cy="3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anchorCtr="1"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r>
                <a:rPr lang="en-US" altLang="zh-CN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3</a:t>
              </a:r>
            </a:p>
          </p:txBody>
        </p:sp>
        <p:sp>
          <p:nvSpPr>
            <p:cNvPr id="37" name="Line 55"/>
            <p:cNvSpPr>
              <a:spLocks noChangeShapeType="1"/>
            </p:cNvSpPr>
            <p:nvPr/>
          </p:nvSpPr>
          <p:spPr bwMode="auto">
            <a:xfrm>
              <a:off x="1024" y="3367"/>
              <a:ext cx="64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38" name="Line 56"/>
            <p:cNvSpPr>
              <a:spLocks noChangeShapeType="1"/>
            </p:cNvSpPr>
            <p:nvPr/>
          </p:nvSpPr>
          <p:spPr bwMode="auto">
            <a:xfrm>
              <a:off x="1024" y="3731"/>
              <a:ext cx="64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39" name="Line 57"/>
            <p:cNvSpPr>
              <a:spLocks noChangeShapeType="1"/>
            </p:cNvSpPr>
            <p:nvPr/>
          </p:nvSpPr>
          <p:spPr bwMode="auto">
            <a:xfrm>
              <a:off x="1024" y="3367"/>
              <a:ext cx="0" cy="364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40" name="Line 58"/>
            <p:cNvSpPr>
              <a:spLocks noChangeShapeType="1"/>
            </p:cNvSpPr>
            <p:nvPr/>
          </p:nvSpPr>
          <p:spPr bwMode="auto">
            <a:xfrm>
              <a:off x="1670" y="3367"/>
              <a:ext cx="0" cy="364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41" name="Rectangle 61"/>
          <p:cNvSpPr>
            <a:spLocks noChangeArrowheads="1"/>
          </p:cNvSpPr>
          <p:nvPr/>
        </p:nvSpPr>
        <p:spPr bwMode="auto">
          <a:xfrm>
            <a:off x="5169581" y="4656870"/>
            <a:ext cx="5927910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pitchFamily="2" charset="-122"/>
              </a:rPr>
              <a:t>Times2</a:t>
            </a:r>
            <a:r>
              <a:rPr kumimoji="1" lang="zh-CN" altLang="en-US" sz="2800" b="1">
                <a:solidFill>
                  <a:schemeClr val="tx1"/>
                </a:solidFill>
                <a:ea typeface="宋体" pitchFamily="2" charset="-122"/>
              </a:rPr>
              <a:t>函数的返回值被放在函数的调用位置上，然后，分配给</a:t>
            </a:r>
            <a:r>
              <a:rPr kumimoji="1" lang="en-US" altLang="zh-CN" sz="2800" b="1">
                <a:solidFill>
                  <a:schemeClr val="tx1"/>
                </a:solidFill>
                <a:ea typeface="宋体" pitchFamily="2" charset="-122"/>
              </a:rPr>
              <a:t>Times2</a:t>
            </a:r>
            <a:r>
              <a:rPr kumimoji="1" lang="zh-CN" altLang="en-US" sz="2800" b="1">
                <a:solidFill>
                  <a:schemeClr val="tx1"/>
                </a:solidFill>
                <a:ea typeface="宋体" pitchFamily="2" charset="-122"/>
              </a:rPr>
              <a:t>函</a:t>
            </a:r>
            <a:br>
              <a:rPr kumimoji="1" lang="zh-CN" altLang="en-US" sz="2800" b="1">
                <a:solidFill>
                  <a:schemeClr val="tx1"/>
                </a:solidFill>
                <a:ea typeface="宋体" pitchFamily="2" charset="-122"/>
              </a:rPr>
            </a:br>
            <a:r>
              <a:rPr kumimoji="1" lang="zh-CN" altLang="en-US" sz="2800" b="1">
                <a:solidFill>
                  <a:schemeClr val="tx1"/>
                </a:solidFill>
                <a:ea typeface="宋体" pitchFamily="2" charset="-122"/>
              </a:rPr>
              <a:t>数的堆栈区域被释放。</a:t>
            </a:r>
          </a:p>
        </p:txBody>
      </p:sp>
    </p:spTree>
    <p:extLst>
      <p:ext uri="{BB962C8B-B14F-4D97-AF65-F5344CB8AC3E}">
        <p14:creationId xmlns:p14="http://schemas.microsoft.com/office/powerpoint/2010/main" val="110410221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722479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另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一个例子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grpSp>
        <p:nvGrpSpPr>
          <p:cNvPr id="21" name="Group 19"/>
          <p:cNvGrpSpPr>
            <a:grpSpLocks/>
          </p:cNvGrpSpPr>
          <p:nvPr/>
        </p:nvGrpSpPr>
        <p:grpSpPr bwMode="auto">
          <a:xfrm>
            <a:off x="1862058" y="1144383"/>
            <a:ext cx="2876204" cy="5334000"/>
            <a:chOff x="528" y="528"/>
            <a:chExt cx="1440" cy="3360"/>
          </a:xfrm>
        </p:grpSpPr>
        <p:sp>
          <p:nvSpPr>
            <p:cNvPr id="22" name="Rectangle 9"/>
            <p:cNvSpPr>
              <a:spLocks noChangeArrowheads="1"/>
            </p:cNvSpPr>
            <p:nvPr/>
          </p:nvSpPr>
          <p:spPr bwMode="auto">
            <a:xfrm>
              <a:off x="528" y="528"/>
              <a:ext cx="1440" cy="336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None/>
              </a:pPr>
              <a:endParaRPr lang="en-US" altLang="en-US" sz="1800">
                <a:solidFill>
                  <a:schemeClr val="tx1"/>
                </a:solidFill>
                <a:latin typeface="Consolas" pitchFamily="49" charset="0"/>
                <a:ea typeface="Consolas" pitchFamily="49" charset="0"/>
                <a:cs typeface="Consolas" pitchFamily="49" charset="0"/>
              </a:endParaRPr>
            </a:p>
          </p:txBody>
        </p:sp>
        <p:sp>
          <p:nvSpPr>
            <p:cNvPr id="23" name="Text Box 10"/>
            <p:cNvSpPr txBox="1">
              <a:spLocks noChangeArrowheads="1"/>
            </p:cNvSpPr>
            <p:nvPr/>
          </p:nvSpPr>
          <p:spPr bwMode="auto">
            <a:xfrm>
              <a:off x="540" y="576"/>
              <a:ext cx="1392" cy="3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ts val="1200"/>
                </a:spcBef>
                <a:buNone/>
              </a:pPr>
              <a:r>
                <a:rPr lang="en-US" altLang="en-US" sz="2800" b="1">
                  <a:latin typeface="Consolas" pitchFamily="49" charset="0"/>
                  <a:ea typeface="Consolas" pitchFamily="49" charset="0"/>
                  <a:cs typeface="Consolas" pitchFamily="49" charset="0"/>
                </a:rPr>
                <a:t>def A(tmp):</a:t>
              </a:r>
            </a:p>
            <a:p>
              <a:pPr eaLnBrk="1" hangingPunct="1">
                <a:spcBef>
                  <a:spcPts val="1200"/>
                </a:spcBef>
                <a:buNone/>
              </a:pPr>
              <a:r>
                <a:rPr lang="en-US" altLang="en-US" sz="2800" b="1">
                  <a:latin typeface="Consolas" pitchFamily="49" charset="0"/>
                  <a:ea typeface="Consolas" pitchFamily="49" charset="0"/>
                  <a:cs typeface="Consolas" pitchFamily="49" charset="0"/>
                </a:rPr>
                <a:t>   if tmp&lt;2:</a:t>
              </a:r>
            </a:p>
            <a:p>
              <a:pPr eaLnBrk="1" hangingPunct="1">
                <a:spcBef>
                  <a:spcPts val="1200"/>
                </a:spcBef>
                <a:buNone/>
              </a:pPr>
              <a:r>
                <a:rPr lang="en-US" altLang="en-US" sz="2800" b="1">
                  <a:latin typeface="Consolas" pitchFamily="49" charset="0"/>
                  <a:ea typeface="Consolas" pitchFamily="49" charset="0"/>
                  <a:cs typeface="Consolas" pitchFamily="49" charset="0"/>
                </a:rPr>
                <a:t>      B()</a:t>
              </a:r>
            </a:p>
            <a:p>
              <a:pPr eaLnBrk="1" hangingPunct="1">
                <a:spcBef>
                  <a:spcPts val="1200"/>
                </a:spcBef>
                <a:buNone/>
              </a:pPr>
              <a:r>
                <a:rPr lang="en-US" altLang="en-US" sz="2800" b="1">
                  <a:latin typeface="Consolas" pitchFamily="49" charset="0"/>
                  <a:ea typeface="Consolas" pitchFamily="49" charset="0"/>
                  <a:cs typeface="Consolas" pitchFamily="49" charset="0"/>
                </a:rPr>
                <a:t>   print(tmp)</a:t>
              </a:r>
            </a:p>
            <a:p>
              <a:pPr eaLnBrk="1" hangingPunct="1">
                <a:spcBef>
                  <a:spcPts val="1200"/>
                </a:spcBef>
                <a:buNone/>
              </a:pPr>
              <a:r>
                <a:rPr lang="en-US" altLang="en-US" sz="2800" b="1">
                  <a:latin typeface="Consolas" pitchFamily="49" charset="0"/>
                  <a:ea typeface="Consolas" pitchFamily="49" charset="0"/>
                  <a:cs typeface="Consolas" pitchFamily="49" charset="0"/>
                </a:rPr>
                <a:t>def B():</a:t>
              </a:r>
            </a:p>
            <a:p>
              <a:pPr eaLnBrk="1" hangingPunct="1">
                <a:spcBef>
                  <a:spcPts val="1200"/>
                </a:spcBef>
                <a:buNone/>
              </a:pPr>
              <a:r>
                <a:rPr lang="en-US" altLang="en-US" sz="2800" b="1">
                  <a:latin typeface="Consolas" pitchFamily="49" charset="0"/>
                  <a:ea typeface="Consolas" pitchFamily="49" charset="0"/>
                  <a:cs typeface="Consolas" pitchFamily="49" charset="0"/>
                </a:rPr>
                <a:t>   C()</a:t>
              </a:r>
            </a:p>
            <a:p>
              <a:pPr eaLnBrk="1" hangingPunct="1">
                <a:spcBef>
                  <a:spcPts val="1200"/>
                </a:spcBef>
                <a:buNone/>
              </a:pPr>
              <a:r>
                <a:rPr lang="en-US" altLang="en-US" sz="2800" b="1">
                  <a:latin typeface="Consolas" pitchFamily="49" charset="0"/>
                  <a:ea typeface="Consolas" pitchFamily="49" charset="0"/>
                  <a:cs typeface="Consolas" pitchFamily="49" charset="0"/>
                </a:rPr>
                <a:t>def C():</a:t>
              </a:r>
            </a:p>
            <a:p>
              <a:pPr eaLnBrk="1" hangingPunct="1">
                <a:spcBef>
                  <a:spcPts val="1200"/>
                </a:spcBef>
                <a:buNone/>
              </a:pPr>
              <a:r>
                <a:rPr lang="en-US" altLang="en-US" sz="2800" b="1">
                  <a:latin typeface="Consolas" pitchFamily="49" charset="0"/>
                  <a:ea typeface="Consolas" pitchFamily="49" charset="0"/>
                  <a:cs typeface="Consolas" pitchFamily="49" charset="0"/>
                </a:rPr>
                <a:t>   A(2)</a:t>
              </a:r>
            </a:p>
            <a:p>
              <a:pPr eaLnBrk="1" hangingPunct="1">
                <a:spcBef>
                  <a:spcPts val="1200"/>
                </a:spcBef>
                <a:buNone/>
              </a:pPr>
              <a:r>
                <a:rPr lang="en-US" altLang="en-US" sz="2800" b="1">
                  <a:latin typeface="Consolas" pitchFamily="49" charset="0"/>
                  <a:ea typeface="Consolas" pitchFamily="49" charset="0"/>
                  <a:cs typeface="Consolas" pitchFamily="49" charset="0"/>
                </a:rPr>
                <a:t>A(1)</a:t>
              </a:r>
            </a:p>
          </p:txBody>
        </p:sp>
      </p:grpSp>
      <p:sp>
        <p:nvSpPr>
          <p:cNvPr id="50" name="Rectangle 5"/>
          <p:cNvSpPr>
            <a:spLocks noChangeArrowheads="1"/>
          </p:cNvSpPr>
          <p:nvPr/>
        </p:nvSpPr>
        <p:spPr bwMode="auto">
          <a:xfrm>
            <a:off x="7354044" y="3733800"/>
            <a:ext cx="2105840" cy="609600"/>
          </a:xfrm>
          <a:prstGeom prst="rect">
            <a:avLst/>
          </a:prstGeom>
          <a:solidFill>
            <a:srgbClr val="00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None/>
            </a:pPr>
            <a:r>
              <a:rPr lang="en-US" altLang="en-US" sz="2400" b="1">
                <a:solidFill>
                  <a:schemeClr val="tx1"/>
                </a:solidFill>
                <a:latin typeface="Consolas" pitchFamily="49" charset="0"/>
                <a:ea typeface="Consolas" pitchFamily="49" charset="0"/>
                <a:cs typeface="Consolas" pitchFamily="49" charset="0"/>
              </a:rPr>
              <a:t>A: tmp=2</a:t>
            </a:r>
          </a:p>
          <a:p>
            <a:pPr eaLnBrk="1" hangingPunct="1">
              <a:buNone/>
            </a:pPr>
            <a:r>
              <a:rPr lang="en-US" altLang="en-US" sz="2400" b="1">
                <a:solidFill>
                  <a:schemeClr val="tx1"/>
                </a:solidFill>
                <a:latin typeface="Consolas" pitchFamily="49" charset="0"/>
                <a:ea typeface="Consolas" pitchFamily="49" charset="0"/>
                <a:cs typeface="Consolas" pitchFamily="49" charset="0"/>
              </a:rPr>
              <a:t>   ret=C+1</a:t>
            </a:r>
          </a:p>
        </p:txBody>
      </p:sp>
      <p:sp>
        <p:nvSpPr>
          <p:cNvPr id="51" name="Line 15"/>
          <p:cNvSpPr>
            <a:spLocks noChangeShapeType="1"/>
          </p:cNvSpPr>
          <p:nvPr/>
        </p:nvSpPr>
        <p:spPr bwMode="auto">
          <a:xfrm>
            <a:off x="8206532" y="4384965"/>
            <a:ext cx="0" cy="5334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buNone/>
            </a:pPr>
            <a:endParaRPr lang="zh-CN" altLang="en-US"/>
          </a:p>
        </p:txBody>
      </p:sp>
      <p:sp>
        <p:nvSpPr>
          <p:cNvPr id="52" name="Text Box 16"/>
          <p:cNvSpPr txBox="1">
            <a:spLocks noChangeArrowheads="1"/>
          </p:cNvSpPr>
          <p:nvPr/>
        </p:nvSpPr>
        <p:spPr bwMode="auto">
          <a:xfrm>
            <a:off x="7347839" y="4894553"/>
            <a:ext cx="174278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buNone/>
            </a:pPr>
            <a:r>
              <a:rPr lang="en-US" altLang="en-US" b="1">
                <a:latin typeface="Gill Sans"/>
                <a:ea typeface="Gill Sans"/>
                <a:cs typeface="Gill Sans"/>
              </a:rPr>
              <a:t>Stack Growth</a:t>
            </a:r>
          </a:p>
        </p:txBody>
      </p:sp>
      <p:sp>
        <p:nvSpPr>
          <p:cNvPr id="53" name="Rectangle 8"/>
          <p:cNvSpPr>
            <a:spLocks noChangeArrowheads="1"/>
          </p:cNvSpPr>
          <p:nvPr/>
        </p:nvSpPr>
        <p:spPr bwMode="auto">
          <a:xfrm>
            <a:off x="7354044" y="1905000"/>
            <a:ext cx="2105840" cy="609600"/>
          </a:xfrm>
          <a:prstGeom prst="rect">
            <a:avLst/>
          </a:prstGeom>
          <a:solidFill>
            <a:srgbClr val="00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None/>
            </a:pPr>
            <a:r>
              <a:rPr lang="en-US" altLang="en-US" sz="2400" b="1">
                <a:solidFill>
                  <a:schemeClr val="tx1"/>
                </a:solidFill>
                <a:latin typeface="Consolas" pitchFamily="49" charset="0"/>
                <a:ea typeface="Consolas" pitchFamily="49" charset="0"/>
                <a:cs typeface="Consolas" pitchFamily="49" charset="0"/>
              </a:rPr>
              <a:t>A: tmp=1</a:t>
            </a:r>
          </a:p>
          <a:p>
            <a:pPr eaLnBrk="1" hangingPunct="1">
              <a:buNone/>
            </a:pPr>
            <a:r>
              <a:rPr lang="en-US" altLang="en-US" sz="2400" b="1">
                <a:solidFill>
                  <a:schemeClr val="tx1"/>
                </a:solidFill>
                <a:latin typeface="Consolas" pitchFamily="49" charset="0"/>
                <a:ea typeface="Consolas" pitchFamily="49" charset="0"/>
                <a:cs typeface="Consolas" pitchFamily="49" charset="0"/>
              </a:rPr>
              <a:t>   ret=exit</a:t>
            </a:r>
          </a:p>
        </p:txBody>
      </p:sp>
      <p:sp>
        <p:nvSpPr>
          <p:cNvPr id="54" name="Rectangle 7"/>
          <p:cNvSpPr>
            <a:spLocks noChangeArrowheads="1"/>
          </p:cNvSpPr>
          <p:nvPr/>
        </p:nvSpPr>
        <p:spPr bwMode="auto">
          <a:xfrm>
            <a:off x="7354044" y="2514600"/>
            <a:ext cx="2105840" cy="609600"/>
          </a:xfrm>
          <a:prstGeom prst="rect">
            <a:avLst/>
          </a:prstGeom>
          <a:solidFill>
            <a:srgbClr val="00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None/>
            </a:pPr>
            <a:r>
              <a:rPr lang="en-US" altLang="en-US" sz="2400" b="1">
                <a:solidFill>
                  <a:schemeClr val="tx1"/>
                </a:solidFill>
                <a:latin typeface="Consolas" pitchFamily="49" charset="0"/>
                <a:ea typeface="Consolas" pitchFamily="49" charset="0"/>
                <a:cs typeface="Consolas" pitchFamily="49" charset="0"/>
              </a:rPr>
              <a:t>B: ret=A+2</a:t>
            </a:r>
          </a:p>
        </p:txBody>
      </p:sp>
      <p:sp>
        <p:nvSpPr>
          <p:cNvPr id="55" name="Rectangle 6"/>
          <p:cNvSpPr>
            <a:spLocks noChangeArrowheads="1"/>
          </p:cNvSpPr>
          <p:nvPr/>
        </p:nvSpPr>
        <p:spPr bwMode="auto">
          <a:xfrm>
            <a:off x="7354044" y="3124200"/>
            <a:ext cx="2105840" cy="609600"/>
          </a:xfrm>
          <a:prstGeom prst="rect">
            <a:avLst/>
          </a:prstGeom>
          <a:solidFill>
            <a:srgbClr val="00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None/>
            </a:pPr>
            <a:r>
              <a:rPr lang="en-US" altLang="en-US" sz="2400" b="1">
                <a:solidFill>
                  <a:schemeClr val="tx1"/>
                </a:solidFill>
                <a:latin typeface="Consolas" pitchFamily="49" charset="0"/>
                <a:ea typeface="Consolas" pitchFamily="49" charset="0"/>
                <a:cs typeface="Consolas" pitchFamily="49" charset="0"/>
              </a:rPr>
              <a:t>C: ret=</a:t>
            </a:r>
            <a:r>
              <a:rPr lang="en-US" altLang="zh-CN" sz="2400" b="1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B</a:t>
            </a:r>
            <a:r>
              <a:rPr lang="en-US" altLang="en-US" sz="2400" b="1">
                <a:solidFill>
                  <a:schemeClr val="tx1"/>
                </a:solidFill>
                <a:latin typeface="Consolas" pitchFamily="49" charset="0"/>
                <a:ea typeface="Consolas" pitchFamily="49" charset="0"/>
                <a:cs typeface="Consolas" pitchFamily="49" charset="0"/>
              </a:rPr>
              <a:t>+1</a:t>
            </a:r>
          </a:p>
        </p:txBody>
      </p:sp>
      <p:grpSp>
        <p:nvGrpSpPr>
          <p:cNvPr id="56" name="Group 1"/>
          <p:cNvGrpSpPr>
            <a:grpSpLocks/>
          </p:cNvGrpSpPr>
          <p:nvPr/>
        </p:nvGrpSpPr>
        <p:grpSpPr bwMode="auto">
          <a:xfrm>
            <a:off x="5844332" y="2209800"/>
            <a:ext cx="1524000" cy="769441"/>
            <a:chOff x="3962400" y="1219200"/>
            <a:chExt cx="1524000" cy="769139"/>
          </a:xfrm>
        </p:grpSpPr>
        <p:sp>
          <p:nvSpPr>
            <p:cNvPr id="57" name="Text Box 12"/>
            <p:cNvSpPr txBox="1">
              <a:spLocks noChangeArrowheads="1"/>
            </p:cNvSpPr>
            <p:nvPr/>
          </p:nvSpPr>
          <p:spPr bwMode="auto">
            <a:xfrm>
              <a:off x="3962400" y="1219200"/>
              <a:ext cx="1093569" cy="7691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buNone/>
              </a:pPr>
              <a:r>
                <a:rPr lang="en-US" altLang="en-US" b="1">
                  <a:latin typeface="Gill Sans"/>
                  <a:ea typeface="Gill Sans"/>
                  <a:cs typeface="Gill Sans"/>
                </a:rPr>
                <a:t>Stack</a:t>
              </a:r>
            </a:p>
            <a:p>
              <a:pPr eaLnBrk="1" hangingPunct="1">
                <a:buNone/>
              </a:pPr>
              <a:r>
                <a:rPr lang="en-US" altLang="en-US" b="1">
                  <a:latin typeface="Gill Sans"/>
                  <a:ea typeface="Gill Sans"/>
                  <a:cs typeface="Gill Sans"/>
                </a:rPr>
                <a:t>Pointer</a:t>
              </a:r>
            </a:p>
          </p:txBody>
        </p:sp>
        <p:sp>
          <p:nvSpPr>
            <p:cNvPr id="58" name="Line 14"/>
            <p:cNvSpPr>
              <a:spLocks noChangeShapeType="1"/>
            </p:cNvSpPr>
            <p:nvPr/>
          </p:nvSpPr>
          <p:spPr bwMode="auto">
            <a:xfrm>
              <a:off x="4876800" y="1524000"/>
              <a:ext cx="6096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670846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047E-6 -4.40019E-6 L 2.29047E-6 0.09287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6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047E-6 0.09287 L 2.29047E-6 0.1818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4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047E-6 0.1818 L 2.29047E-6 0.27073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4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047E-6 0.1818 L 2.29047E-6 0.27073 " pathEditMode="relative" rAng="0" ptsTypes="AA">
                                      <p:cBhvr>
                                        <p:cTn id="43" dur="2000" spd="-100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4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047E-6 0.09287 L 2.29047E-6 0.19291 " pathEditMode="relative" rAng="0" ptsTypes="AA">
                                      <p:cBhvr>
                                        <p:cTn id="50" dur="2000" spd="-100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00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047E-6 -4.40019E-6 L 2.29047E-6 0.09287 " pathEditMode="relative" rAng="0" ptsTypes="AA">
                                      <p:cBhvr>
                                        <p:cTn id="57" dur="2000" spd="-100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6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0" grpId="1" animBg="1"/>
      <p:bldP spid="51" grpId="0" animBg="1"/>
      <p:bldP spid="51" grpId="1" animBg="1"/>
      <p:bldP spid="52" grpId="0"/>
      <p:bldP spid="52" grpId="1"/>
      <p:bldP spid="53" grpId="0" animBg="1"/>
      <p:bldP spid="54" grpId="0" animBg="1"/>
      <p:bldP spid="54" grpId="1" animBg="1"/>
      <p:bldP spid="55" grpId="0" animBg="1"/>
      <p:bldP spid="55" grpId="1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722479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函数与栈帧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21" name="Rectangle 3"/>
          <p:cNvSpPr>
            <a:spLocks noChangeArrowheads="1"/>
          </p:cNvSpPr>
          <p:nvPr/>
        </p:nvSpPr>
        <p:spPr bwMode="auto">
          <a:xfrm>
            <a:off x="1576040" y="1449268"/>
            <a:ext cx="9064249" cy="39826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457200" indent="-457200" eaLnBrk="1" hangingPunct="1">
              <a:spcBef>
                <a:spcPct val="60000"/>
              </a:spcBef>
              <a:buClr>
                <a:srgbClr val="FFFF66"/>
              </a:buClr>
              <a:buFont typeface="Wingdings" pitchFamily="2" charset="2"/>
              <a:buNone/>
            </a:pPr>
            <a:r>
              <a:rPr kumimoji="1" lang="zh-CN" altLang="en-US" sz="3200" b="1">
                <a:solidFill>
                  <a:schemeClr val="tx1"/>
                </a:solidFill>
                <a:ea typeface="黑体" pitchFamily="49" charset="-122"/>
              </a:rPr>
              <a:t>函数与栈帧：</a:t>
            </a:r>
          </a:p>
          <a:p>
            <a:pPr marL="457200" indent="-457200" eaLnBrk="1" hangingPunct="1">
              <a:spcBef>
                <a:spcPct val="70000"/>
              </a:spcBef>
              <a:buClr>
                <a:schemeClr val="tx1"/>
              </a:buClr>
              <a:buFont typeface="Wingdings" pitchFamily="2" charset="2"/>
              <a:buAutoNum type="arabicPeriod"/>
            </a:pPr>
            <a:r>
              <a:rPr kumimoji="1" lang="zh-CN" altLang="en-US" sz="3200" b="1">
                <a:solidFill>
                  <a:schemeClr val="tx1"/>
                </a:solidFill>
                <a:ea typeface="宋体" pitchFamily="2" charset="-122"/>
              </a:rPr>
              <a:t>若一个程序中定义了</a:t>
            </a:r>
            <a:r>
              <a:rPr kumimoji="1" lang="en-US" altLang="zh-CN" sz="3200" b="1">
                <a:solidFill>
                  <a:schemeClr val="tx1"/>
                </a:solidFill>
                <a:ea typeface="宋体" pitchFamily="2" charset="-122"/>
              </a:rPr>
              <a:t>10</a:t>
            </a:r>
            <a:r>
              <a:rPr kumimoji="1" lang="zh-CN" altLang="en-US" sz="3200" b="1">
                <a:solidFill>
                  <a:schemeClr val="tx1"/>
                </a:solidFill>
                <a:ea typeface="宋体" pitchFamily="2" charset="-122"/>
              </a:rPr>
              <a:t>个函数，是否栈中一定会有</a:t>
            </a:r>
            <a:r>
              <a:rPr kumimoji="1" lang="en-US" altLang="zh-CN" sz="3200" b="1">
                <a:solidFill>
                  <a:srgbClr val="0000FF"/>
                </a:solidFill>
                <a:ea typeface="宋体" pitchFamily="2" charset="-122"/>
              </a:rPr>
              <a:t>10</a:t>
            </a:r>
            <a:r>
              <a:rPr kumimoji="1" lang="zh-CN" altLang="en-US" sz="3200" b="1">
                <a:solidFill>
                  <a:schemeClr val="tx1"/>
                </a:solidFill>
                <a:ea typeface="宋体" pitchFamily="2" charset="-122"/>
              </a:rPr>
              <a:t>个栈帧？</a:t>
            </a:r>
          </a:p>
          <a:p>
            <a:pPr marL="457200" indent="-457200" eaLnBrk="1" hangingPunct="1">
              <a:spcBef>
                <a:spcPct val="60000"/>
              </a:spcBef>
              <a:buClr>
                <a:schemeClr val="tx1"/>
              </a:buClr>
              <a:buFont typeface="Wingdings" pitchFamily="2" charset="2"/>
              <a:buAutoNum type="arabicPeriod"/>
            </a:pPr>
            <a:r>
              <a:rPr kumimoji="1" lang="zh-CN" altLang="en-US" sz="3200" b="1">
                <a:solidFill>
                  <a:schemeClr val="tx1"/>
                </a:solidFill>
                <a:ea typeface="宋体" pitchFamily="2" charset="-122"/>
              </a:rPr>
              <a:t>若一个程序中定义了</a:t>
            </a:r>
            <a:r>
              <a:rPr kumimoji="1" lang="en-US" altLang="zh-CN" sz="3200" b="1">
                <a:solidFill>
                  <a:schemeClr val="tx1"/>
                </a:solidFill>
                <a:ea typeface="宋体" pitchFamily="2" charset="-122"/>
              </a:rPr>
              <a:t>1</a:t>
            </a:r>
            <a:r>
              <a:rPr kumimoji="1" lang="zh-CN" altLang="en-US" sz="3200" b="1">
                <a:solidFill>
                  <a:schemeClr val="tx1"/>
                </a:solidFill>
                <a:ea typeface="宋体" pitchFamily="2" charset="-122"/>
              </a:rPr>
              <a:t>个函数，是否栈中最多只会有</a:t>
            </a:r>
            <a:r>
              <a:rPr kumimoji="1" lang="en-US" altLang="zh-CN" sz="3200" b="1">
                <a:solidFill>
                  <a:schemeClr val="tx1"/>
                </a:solidFill>
                <a:ea typeface="宋体" pitchFamily="2" charset="-122"/>
              </a:rPr>
              <a:t>1</a:t>
            </a:r>
            <a:r>
              <a:rPr kumimoji="1" lang="zh-CN" altLang="en-US" sz="3200" b="1">
                <a:solidFill>
                  <a:schemeClr val="tx1"/>
                </a:solidFill>
                <a:ea typeface="宋体" pitchFamily="2" charset="-122"/>
              </a:rPr>
              <a:t>个栈帧？若不只</a:t>
            </a:r>
            <a:r>
              <a:rPr kumimoji="1" lang="en-US" altLang="zh-CN" sz="3200" b="1">
                <a:solidFill>
                  <a:schemeClr val="tx1"/>
                </a:solidFill>
                <a:ea typeface="宋体" pitchFamily="2" charset="-122"/>
              </a:rPr>
              <a:t>1</a:t>
            </a:r>
            <a:r>
              <a:rPr kumimoji="1" lang="zh-CN" altLang="en-US" sz="3200" b="1">
                <a:solidFill>
                  <a:schemeClr val="tx1"/>
                </a:solidFill>
                <a:ea typeface="宋体" pitchFamily="2" charset="-122"/>
              </a:rPr>
              <a:t>个，最多多少个？</a:t>
            </a:r>
          </a:p>
          <a:p>
            <a:pPr marL="457200" indent="-457200" eaLnBrk="1" hangingPunct="1">
              <a:spcBef>
                <a:spcPct val="60000"/>
              </a:spcBef>
              <a:buClr>
                <a:schemeClr val="tx1"/>
              </a:buClr>
              <a:buFont typeface="Wingdings" pitchFamily="2" charset="2"/>
              <a:buAutoNum type="arabicPeriod"/>
            </a:pPr>
            <a:r>
              <a:rPr kumimoji="1" lang="zh-CN" altLang="en-US" sz="3200" b="1">
                <a:solidFill>
                  <a:schemeClr val="tx1"/>
                </a:solidFill>
                <a:ea typeface="宋体" pitchFamily="2" charset="-122"/>
              </a:rPr>
              <a:t>栈帧的个数到底</a:t>
            </a:r>
            <a:r>
              <a:rPr kumimoji="1" lang="zh-CN" altLang="en-US" sz="3200" b="1">
                <a:solidFill>
                  <a:srgbClr val="0000FF"/>
                </a:solidFill>
                <a:ea typeface="宋体" pitchFamily="2" charset="-122"/>
              </a:rPr>
              <a:t>如何</a:t>
            </a:r>
            <a:r>
              <a:rPr kumimoji="1" lang="zh-CN" altLang="en-US" sz="3200" b="1">
                <a:solidFill>
                  <a:schemeClr val="tx1"/>
                </a:solidFill>
                <a:ea typeface="宋体" pitchFamily="2" charset="-122"/>
              </a:rPr>
              <a:t>确定？</a:t>
            </a:r>
          </a:p>
        </p:txBody>
      </p:sp>
    </p:spTree>
    <p:extLst>
      <p:ext uri="{BB962C8B-B14F-4D97-AF65-F5344CB8AC3E}">
        <p14:creationId xmlns:p14="http://schemas.microsoft.com/office/powerpoint/2010/main" val="328752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722479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某程序员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内容占位符 2" descr="Rectangle: Click to edit Master text styles&#10;Second level&#10;Third level&#10;Fourth level&#10;Fifth level"/>
          <p:cNvSpPr txBox="1">
            <a:spLocks/>
          </p:cNvSpPr>
          <p:nvPr/>
        </p:nvSpPr>
        <p:spPr>
          <a:xfrm>
            <a:off x="820206" y="1155462"/>
            <a:ext cx="6248400" cy="49530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ct val="0"/>
              </a:spcBef>
              <a:buSzPct val="80000"/>
              <a:buFont typeface="Wingdings" pitchFamily="2" charset="2"/>
              <a:buNone/>
            </a:pPr>
            <a:r>
              <a:rPr lang="zh-CN" altLang="en-US" sz="3600" b="1">
                <a:latin typeface="楷体" pitchFamily="49" charset="-122"/>
                <a:ea typeface="楷体" pitchFamily="49" charset="-122"/>
              </a:rPr>
              <a:t>    某程序员，年四十有余。始从文，连考三年而不中。遂习武，练武场上发一矢，中鼓吏，逐之出。后学</a:t>
            </a:r>
            <a:r>
              <a:rPr lang="en-US" altLang="zh-CN" sz="3600" b="1">
                <a:latin typeface="楷体" pitchFamily="49" charset="-122"/>
                <a:ea typeface="楷体" pitchFamily="49" charset="-122"/>
              </a:rPr>
              <a:t>IT</a:t>
            </a:r>
            <a:r>
              <a:rPr lang="zh-CN" altLang="en-US" sz="3600" b="1">
                <a:latin typeface="楷体" pitchFamily="49" charset="-122"/>
                <a:ea typeface="楷体" pitchFamily="49" charset="-122"/>
              </a:rPr>
              <a:t>，定义一函数，用之，栈溢出。改学医，自撰一良方，服之，卒。</a:t>
            </a:r>
          </a:p>
        </p:txBody>
      </p:sp>
      <p:pic>
        <p:nvPicPr>
          <p:cNvPr id="9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7181" y="1438091"/>
            <a:ext cx="3032744" cy="42959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95981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722479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5.4 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函数与设计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3088178" y="2160905"/>
            <a:ext cx="6553200" cy="228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457200" indent="-457200" defTabSz="288925" eaLnBrk="1" hangingPunct="1">
              <a:spcBef>
                <a:spcPct val="50000"/>
              </a:spcBef>
              <a:tabLst>
                <a:tab pos="0" algn="l"/>
              </a:tabLst>
            </a:pPr>
            <a:r>
              <a:rPr kumimoji="1" lang="zh-CN" altLang="en-US" sz="3600" b="1">
                <a:solidFill>
                  <a:schemeClr val="tx1"/>
                </a:solidFill>
                <a:ea typeface="黑体" pitchFamily="49" charset="-122"/>
              </a:rPr>
              <a:t>如何设计一栋简易的房子？</a:t>
            </a:r>
          </a:p>
          <a:p>
            <a:pPr marL="457200" indent="-457200" defTabSz="288925" eaLnBrk="1" hangingPunct="1">
              <a:spcBef>
                <a:spcPct val="50000"/>
              </a:spcBef>
              <a:tabLst>
                <a:tab pos="0" algn="l"/>
              </a:tabLst>
            </a:pPr>
            <a:r>
              <a:rPr kumimoji="1" lang="zh-CN" altLang="en-US" sz="3600" b="1">
                <a:solidFill>
                  <a:schemeClr val="tx1"/>
                </a:solidFill>
                <a:ea typeface="黑体" pitchFamily="49" charset="-122"/>
              </a:rPr>
              <a:t>输入：一张白纸</a:t>
            </a:r>
          </a:p>
          <a:p>
            <a:pPr marL="457200" indent="-457200" defTabSz="288925" eaLnBrk="1" hangingPunct="1">
              <a:spcBef>
                <a:spcPct val="50000"/>
              </a:spcBef>
              <a:tabLst>
                <a:tab pos="0" algn="l"/>
              </a:tabLst>
            </a:pPr>
            <a:r>
              <a:rPr kumimoji="1" lang="zh-CN" altLang="en-US" sz="3600" b="1">
                <a:solidFill>
                  <a:schemeClr val="tx1"/>
                </a:solidFill>
                <a:ea typeface="黑体" pitchFamily="49" charset="-122"/>
              </a:rPr>
              <a:t>输出：一张图纸</a:t>
            </a:r>
          </a:p>
        </p:txBody>
      </p:sp>
    </p:spTree>
    <p:extLst>
      <p:ext uri="{BB962C8B-B14F-4D97-AF65-F5344CB8AC3E}">
        <p14:creationId xmlns:p14="http://schemas.microsoft.com/office/powerpoint/2010/main" val="208993834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722479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房子样式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AutoShape 3"/>
          <p:cNvSpPr>
            <a:spLocks noChangeArrowheads="1"/>
          </p:cNvSpPr>
          <p:nvPr/>
        </p:nvSpPr>
        <p:spPr bwMode="auto">
          <a:xfrm>
            <a:off x="1964619" y="1905000"/>
            <a:ext cx="3657600" cy="1143000"/>
          </a:xfrm>
          <a:prstGeom prst="triangle">
            <a:avLst>
              <a:gd name="adj" fmla="val 50000"/>
            </a:avLst>
          </a:prstGeom>
          <a:solidFill>
            <a:srgbClr val="00FFFF"/>
          </a:solidFill>
          <a:ln w="508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eaLnBrk="1" hangingPunct="1"/>
            <a:endParaRPr lang="zh-CN" altLang="en-US">
              <a:ea typeface="宋体" pitchFamily="2" charset="-122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2421819" y="3048000"/>
            <a:ext cx="2667000" cy="2133600"/>
          </a:xfrm>
          <a:prstGeom prst="rect">
            <a:avLst/>
          </a:prstGeom>
          <a:solidFill>
            <a:srgbClr val="00FFFF"/>
          </a:solidFill>
          <a:ln w="508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eaLnBrk="1" hangingPunct="1"/>
            <a:endParaRPr lang="zh-CN" altLang="en-US">
              <a:ea typeface="宋体" pitchFamily="2" charset="-122"/>
            </a:endParaRPr>
          </a:p>
        </p:txBody>
      </p:sp>
      <p:grpSp>
        <p:nvGrpSpPr>
          <p:cNvPr id="12" name="Group 13"/>
          <p:cNvGrpSpPr>
            <a:grpSpLocks/>
          </p:cNvGrpSpPr>
          <p:nvPr/>
        </p:nvGrpSpPr>
        <p:grpSpPr bwMode="auto">
          <a:xfrm>
            <a:off x="3031419" y="4114800"/>
            <a:ext cx="685800" cy="1066800"/>
            <a:chOff x="1056" y="2592"/>
            <a:chExt cx="432" cy="672"/>
          </a:xfrm>
        </p:grpSpPr>
        <p:sp>
          <p:nvSpPr>
            <p:cNvPr id="13" name="Rectangle 5"/>
            <p:cNvSpPr>
              <a:spLocks noChangeArrowheads="1"/>
            </p:cNvSpPr>
            <p:nvPr/>
          </p:nvSpPr>
          <p:spPr bwMode="auto">
            <a:xfrm>
              <a:off x="1056" y="2592"/>
              <a:ext cx="432" cy="672"/>
            </a:xfrm>
            <a:prstGeom prst="rect">
              <a:avLst/>
            </a:prstGeom>
            <a:solidFill>
              <a:schemeClr val="accent1"/>
            </a:solidFill>
            <a:ln w="508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1" hangingPunct="1"/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4" name="Oval 6"/>
            <p:cNvSpPr>
              <a:spLocks noChangeArrowheads="1"/>
            </p:cNvSpPr>
            <p:nvPr/>
          </p:nvSpPr>
          <p:spPr bwMode="auto">
            <a:xfrm>
              <a:off x="1344" y="2880"/>
              <a:ext cx="48" cy="48"/>
            </a:xfrm>
            <a:prstGeom prst="ellipse">
              <a:avLst/>
            </a:prstGeom>
            <a:solidFill>
              <a:schemeClr val="tx1"/>
            </a:solidFill>
            <a:ln w="508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1" hangingPunct="1"/>
              <a:endParaRPr lang="zh-CN" altLang="en-US">
                <a:ea typeface="宋体" pitchFamily="2" charset="-122"/>
              </a:endParaRPr>
            </a:p>
          </p:txBody>
        </p:sp>
      </p:grpSp>
      <p:grpSp>
        <p:nvGrpSpPr>
          <p:cNvPr id="15" name="Group 10"/>
          <p:cNvGrpSpPr>
            <a:grpSpLocks/>
          </p:cNvGrpSpPr>
          <p:nvPr/>
        </p:nvGrpSpPr>
        <p:grpSpPr bwMode="auto">
          <a:xfrm>
            <a:off x="4174419" y="3886200"/>
            <a:ext cx="609600" cy="533400"/>
            <a:chOff x="1776" y="2448"/>
            <a:chExt cx="384" cy="336"/>
          </a:xfrm>
        </p:grpSpPr>
        <p:sp>
          <p:nvSpPr>
            <p:cNvPr id="16" name="Rectangle 7"/>
            <p:cNvSpPr>
              <a:spLocks noChangeArrowheads="1"/>
            </p:cNvSpPr>
            <p:nvPr/>
          </p:nvSpPr>
          <p:spPr bwMode="auto">
            <a:xfrm>
              <a:off x="1776" y="2448"/>
              <a:ext cx="384" cy="336"/>
            </a:xfrm>
            <a:prstGeom prst="rect">
              <a:avLst/>
            </a:prstGeom>
            <a:solidFill>
              <a:schemeClr val="bg1"/>
            </a:solidFill>
            <a:ln w="317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1" hangingPunct="1"/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7" name="Line 8"/>
            <p:cNvSpPr>
              <a:spLocks noChangeShapeType="1"/>
            </p:cNvSpPr>
            <p:nvPr/>
          </p:nvSpPr>
          <p:spPr bwMode="auto">
            <a:xfrm>
              <a:off x="1776" y="2602"/>
              <a:ext cx="3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8" name="Line 9"/>
            <p:cNvSpPr>
              <a:spLocks noChangeShapeType="1"/>
            </p:cNvSpPr>
            <p:nvPr/>
          </p:nvSpPr>
          <p:spPr bwMode="auto">
            <a:xfrm>
              <a:off x="1968" y="2448"/>
              <a:ext cx="0" cy="336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19" name="Group 25"/>
          <p:cNvGrpSpPr>
            <a:grpSpLocks/>
          </p:cNvGrpSpPr>
          <p:nvPr/>
        </p:nvGrpSpPr>
        <p:grpSpPr bwMode="auto">
          <a:xfrm>
            <a:off x="6535251" y="1905000"/>
            <a:ext cx="3886200" cy="3276600"/>
            <a:chOff x="2928" y="1200"/>
            <a:chExt cx="2448" cy="2064"/>
          </a:xfrm>
        </p:grpSpPr>
        <p:sp>
          <p:nvSpPr>
            <p:cNvPr id="20" name="AutoShape 11"/>
            <p:cNvSpPr>
              <a:spLocks noChangeArrowheads="1"/>
            </p:cNvSpPr>
            <p:nvPr/>
          </p:nvSpPr>
          <p:spPr bwMode="auto">
            <a:xfrm>
              <a:off x="2928" y="1200"/>
              <a:ext cx="2448" cy="720"/>
            </a:xfrm>
            <a:prstGeom prst="triangle">
              <a:avLst>
                <a:gd name="adj" fmla="val 50000"/>
              </a:avLst>
            </a:prstGeom>
            <a:solidFill>
              <a:srgbClr val="FFCC00"/>
            </a:solidFill>
            <a:ln w="508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1" hangingPunct="1"/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21" name="Rectangle 12"/>
            <p:cNvSpPr>
              <a:spLocks noChangeArrowheads="1"/>
            </p:cNvSpPr>
            <p:nvPr/>
          </p:nvSpPr>
          <p:spPr bwMode="auto">
            <a:xfrm>
              <a:off x="3264" y="1920"/>
              <a:ext cx="1824" cy="1344"/>
            </a:xfrm>
            <a:prstGeom prst="rect">
              <a:avLst/>
            </a:prstGeom>
            <a:solidFill>
              <a:srgbClr val="FFCC00"/>
            </a:solidFill>
            <a:ln w="508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1" hangingPunct="1"/>
              <a:endParaRPr lang="zh-CN" altLang="en-US">
                <a:ea typeface="宋体" pitchFamily="2" charset="-122"/>
              </a:endParaRPr>
            </a:p>
          </p:txBody>
        </p:sp>
        <p:grpSp>
          <p:nvGrpSpPr>
            <p:cNvPr id="22" name="Group 14"/>
            <p:cNvGrpSpPr>
              <a:grpSpLocks/>
            </p:cNvGrpSpPr>
            <p:nvPr/>
          </p:nvGrpSpPr>
          <p:grpSpPr bwMode="auto">
            <a:xfrm>
              <a:off x="3984" y="2592"/>
              <a:ext cx="432" cy="672"/>
              <a:chOff x="1056" y="2592"/>
              <a:chExt cx="432" cy="672"/>
            </a:xfrm>
          </p:grpSpPr>
          <p:sp>
            <p:nvSpPr>
              <p:cNvPr id="31" name="Rectangle 15"/>
              <p:cNvSpPr>
                <a:spLocks noChangeArrowheads="1"/>
              </p:cNvSpPr>
              <p:nvPr/>
            </p:nvSpPr>
            <p:spPr bwMode="auto">
              <a:xfrm>
                <a:off x="1056" y="2592"/>
                <a:ext cx="432" cy="672"/>
              </a:xfrm>
              <a:prstGeom prst="rect">
                <a:avLst/>
              </a:prstGeom>
              <a:solidFill>
                <a:schemeClr val="accent1"/>
              </a:solidFill>
              <a:ln w="508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32" name="Oval 16"/>
              <p:cNvSpPr>
                <a:spLocks noChangeArrowheads="1"/>
              </p:cNvSpPr>
              <p:nvPr/>
            </p:nvSpPr>
            <p:spPr bwMode="auto">
              <a:xfrm>
                <a:off x="1344" y="2880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508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>
                  <a:ea typeface="宋体" pitchFamily="2" charset="-122"/>
                </a:endParaRPr>
              </a:p>
            </p:txBody>
          </p:sp>
        </p:grpSp>
        <p:grpSp>
          <p:nvGrpSpPr>
            <p:cNvPr id="23" name="Group 17"/>
            <p:cNvGrpSpPr>
              <a:grpSpLocks/>
            </p:cNvGrpSpPr>
            <p:nvPr/>
          </p:nvGrpSpPr>
          <p:grpSpPr bwMode="auto">
            <a:xfrm>
              <a:off x="3408" y="2448"/>
              <a:ext cx="384" cy="336"/>
              <a:chOff x="1776" y="2448"/>
              <a:chExt cx="384" cy="336"/>
            </a:xfrm>
          </p:grpSpPr>
          <p:sp>
            <p:nvSpPr>
              <p:cNvPr id="28" name="Rectangle 18"/>
              <p:cNvSpPr>
                <a:spLocks noChangeArrowheads="1"/>
              </p:cNvSpPr>
              <p:nvPr/>
            </p:nvSpPr>
            <p:spPr bwMode="auto">
              <a:xfrm>
                <a:off x="1776" y="2448"/>
                <a:ext cx="384" cy="336"/>
              </a:xfrm>
              <a:prstGeom prst="rect">
                <a:avLst/>
              </a:prstGeom>
              <a:solidFill>
                <a:schemeClr val="bg1"/>
              </a:solidFill>
              <a:ln w="317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29" name="Line 19"/>
              <p:cNvSpPr>
                <a:spLocks noChangeShapeType="1"/>
              </p:cNvSpPr>
              <p:nvPr/>
            </p:nvSpPr>
            <p:spPr bwMode="auto">
              <a:xfrm>
                <a:off x="1776" y="2602"/>
                <a:ext cx="38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0" name="Line 20"/>
              <p:cNvSpPr>
                <a:spLocks noChangeShapeType="1"/>
              </p:cNvSpPr>
              <p:nvPr/>
            </p:nvSpPr>
            <p:spPr bwMode="auto">
              <a:xfrm>
                <a:off x="1968" y="2448"/>
                <a:ext cx="0" cy="336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24" name="Group 21"/>
            <p:cNvGrpSpPr>
              <a:grpSpLocks/>
            </p:cNvGrpSpPr>
            <p:nvPr/>
          </p:nvGrpSpPr>
          <p:grpSpPr bwMode="auto">
            <a:xfrm>
              <a:off x="4560" y="2448"/>
              <a:ext cx="384" cy="336"/>
              <a:chOff x="1776" y="2448"/>
              <a:chExt cx="384" cy="336"/>
            </a:xfrm>
          </p:grpSpPr>
          <p:sp>
            <p:nvSpPr>
              <p:cNvPr id="25" name="Rectangle 22"/>
              <p:cNvSpPr>
                <a:spLocks noChangeArrowheads="1"/>
              </p:cNvSpPr>
              <p:nvPr/>
            </p:nvSpPr>
            <p:spPr bwMode="auto">
              <a:xfrm>
                <a:off x="1776" y="2448"/>
                <a:ext cx="384" cy="336"/>
              </a:xfrm>
              <a:prstGeom prst="rect">
                <a:avLst/>
              </a:prstGeom>
              <a:solidFill>
                <a:schemeClr val="bg1"/>
              </a:solidFill>
              <a:ln w="317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26" name="Line 23"/>
              <p:cNvSpPr>
                <a:spLocks noChangeShapeType="1"/>
              </p:cNvSpPr>
              <p:nvPr/>
            </p:nvSpPr>
            <p:spPr bwMode="auto">
              <a:xfrm>
                <a:off x="1776" y="2602"/>
                <a:ext cx="38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7" name="Line 24"/>
              <p:cNvSpPr>
                <a:spLocks noChangeShapeType="1"/>
              </p:cNvSpPr>
              <p:nvPr/>
            </p:nvSpPr>
            <p:spPr bwMode="auto">
              <a:xfrm>
                <a:off x="1968" y="2448"/>
                <a:ext cx="0" cy="336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0767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722479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伪代码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1775588" y="1188714"/>
            <a:ext cx="8158162" cy="496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457200" indent="-457200" eaLnBrk="1" hangingPunct="1">
              <a:spcBef>
                <a:spcPct val="7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draw_house(</a:t>
            </a:r>
            <a:r>
              <a:rPr kumimoji="1" lang="en-US" altLang="zh-CN" sz="2800" b="1">
                <a:solidFill>
                  <a:srgbClr val="0000FF"/>
                </a:solidFill>
                <a:latin typeface="Courier New" pitchFamily="49" charset="0"/>
                <a:ea typeface="宋体" pitchFamily="2" charset="-122"/>
              </a:rPr>
              <a:t>color</a:t>
            </a: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, </a:t>
            </a:r>
            <a:r>
              <a:rPr kumimoji="1" lang="en-US" altLang="zh-CN" sz="2800" b="1">
                <a:solidFill>
                  <a:srgbClr val="FF6600"/>
                </a:solidFill>
                <a:latin typeface="Courier New" pitchFamily="49" charset="0"/>
                <a:ea typeface="宋体" pitchFamily="2" charset="-122"/>
              </a:rPr>
              <a:t>num_windows</a:t>
            </a: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)</a:t>
            </a:r>
            <a:r>
              <a:rPr kumimoji="1" lang="zh-CN" altLang="en-US" sz="2800" b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</a:t>
            </a:r>
          </a:p>
          <a:p>
            <a:pPr marL="457200" indent="-457200" eaLnBrk="1" hangingPunct="1">
              <a:spcBef>
                <a:spcPct val="6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  draw body as a </a:t>
            </a:r>
            <a:r>
              <a:rPr kumimoji="1" lang="en-US" altLang="zh-CN" sz="2800" b="1">
                <a:solidFill>
                  <a:srgbClr val="0000FF"/>
                </a:solidFill>
                <a:latin typeface="Courier New" pitchFamily="49" charset="0"/>
                <a:ea typeface="宋体" pitchFamily="2" charset="-122"/>
              </a:rPr>
              <a:t>colored</a:t>
            </a: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rectangle</a:t>
            </a:r>
            <a:endParaRPr kumimoji="1" lang="zh-CN" altLang="en-US" sz="2800" b="1">
              <a:solidFill>
                <a:schemeClr val="tx1"/>
              </a:solidFill>
              <a:latin typeface="Courier New" pitchFamily="49" charset="0"/>
              <a:ea typeface="宋体" pitchFamily="2" charset="-122"/>
            </a:endParaRPr>
          </a:p>
          <a:p>
            <a:pPr marL="457200" indent="-457200" eaLnBrk="1" hangingPunct="1">
              <a:spcBef>
                <a:spcPct val="1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  draw roof as a </a:t>
            </a:r>
            <a:r>
              <a:rPr kumimoji="1" lang="en-US" altLang="zh-CN" sz="2800" b="1">
                <a:solidFill>
                  <a:srgbClr val="0000FF"/>
                </a:solidFill>
                <a:latin typeface="Courier New" pitchFamily="49" charset="0"/>
                <a:ea typeface="宋体" pitchFamily="2" charset="-122"/>
              </a:rPr>
              <a:t>colored</a:t>
            </a: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triangle</a:t>
            </a:r>
            <a:endParaRPr kumimoji="1" lang="zh-CN" altLang="en-US" sz="2800" b="1">
              <a:solidFill>
                <a:schemeClr val="tx1"/>
              </a:solidFill>
              <a:latin typeface="Courier New" pitchFamily="49" charset="0"/>
              <a:ea typeface="宋体" pitchFamily="2" charset="-122"/>
            </a:endParaRPr>
          </a:p>
          <a:p>
            <a:pPr marL="457200" indent="-457200" eaLnBrk="1" hangingPunct="1">
              <a:spcBef>
                <a:spcPct val="1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  if </a:t>
            </a:r>
            <a:r>
              <a:rPr kumimoji="1" lang="en-US" altLang="zh-CN" sz="2800" b="1">
                <a:solidFill>
                  <a:srgbClr val="FF6600"/>
                </a:solidFill>
                <a:latin typeface="Courier New" pitchFamily="49" charset="0"/>
                <a:ea typeface="宋体" pitchFamily="2" charset="-122"/>
              </a:rPr>
              <a:t>num_windows</a:t>
            </a: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is one</a:t>
            </a:r>
            <a:endParaRPr kumimoji="1" lang="zh-CN" altLang="en-US" sz="2800" b="1">
              <a:solidFill>
                <a:schemeClr val="tx1"/>
              </a:solidFill>
              <a:latin typeface="Courier New" pitchFamily="49" charset="0"/>
              <a:ea typeface="宋体" pitchFamily="2" charset="-122"/>
            </a:endParaRPr>
          </a:p>
          <a:p>
            <a:pPr marL="457200" indent="-457200" eaLnBrk="1" hangingPunct="1">
              <a:spcBef>
                <a:spcPct val="1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      draw door</a:t>
            </a:r>
          </a:p>
          <a:p>
            <a:pPr marL="457200" indent="-457200" eaLnBrk="1" hangingPunct="1">
              <a:spcBef>
                <a:spcPct val="1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      draw window</a:t>
            </a:r>
          </a:p>
          <a:p>
            <a:pPr marL="457200" indent="-457200" eaLnBrk="1" hangingPunct="1">
              <a:spcBef>
                <a:spcPct val="1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  if </a:t>
            </a:r>
            <a:r>
              <a:rPr kumimoji="1" lang="en-US" altLang="zh-CN" sz="2800" b="1">
                <a:solidFill>
                  <a:srgbClr val="FF6600"/>
                </a:solidFill>
                <a:latin typeface="Courier New" pitchFamily="49" charset="0"/>
                <a:ea typeface="宋体" pitchFamily="2" charset="-122"/>
              </a:rPr>
              <a:t>num_windows</a:t>
            </a: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is two</a:t>
            </a:r>
          </a:p>
          <a:p>
            <a:pPr marL="457200" indent="-457200" eaLnBrk="1" hangingPunct="1">
              <a:spcBef>
                <a:spcPct val="1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      </a:t>
            </a: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draw door</a:t>
            </a:r>
          </a:p>
          <a:p>
            <a:pPr marL="457200" indent="-457200" eaLnBrk="1" hangingPunct="1">
              <a:spcBef>
                <a:spcPct val="1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      </a:t>
            </a: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draw window</a:t>
            </a:r>
          </a:p>
          <a:p>
            <a:pPr marL="457200" indent="-457200" eaLnBrk="1" hangingPunct="1">
              <a:spcBef>
                <a:spcPct val="1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      draw window</a:t>
            </a:r>
            <a:endParaRPr kumimoji="1" lang="zh-CN" altLang="en-US" sz="2800" b="1">
              <a:solidFill>
                <a:schemeClr val="tx1"/>
              </a:solidFill>
              <a:latin typeface="Courier New" pitchFamily="49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7885086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722479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函数分解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4094040" y="1935471"/>
            <a:ext cx="1828800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/>
            <a:r>
              <a:rPr lang="en-US" altLang="zh-CN" sz="2400" b="1">
                <a:solidFill>
                  <a:schemeClr val="tx1"/>
                </a:solidFill>
                <a:ea typeface="宋体" pitchFamily="2" charset="-122"/>
              </a:rPr>
              <a:t>Draw House</a:t>
            </a:r>
          </a:p>
        </p:txBody>
      </p:sp>
      <p:grpSp>
        <p:nvGrpSpPr>
          <p:cNvPr id="11" name="Group 25"/>
          <p:cNvGrpSpPr>
            <a:grpSpLocks/>
          </p:cNvGrpSpPr>
          <p:nvPr/>
        </p:nvGrpSpPr>
        <p:grpSpPr bwMode="auto">
          <a:xfrm>
            <a:off x="893640" y="2545071"/>
            <a:ext cx="3429000" cy="1447800"/>
            <a:chOff x="144" y="1488"/>
            <a:chExt cx="2160" cy="912"/>
          </a:xfrm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44" y="2016"/>
              <a:ext cx="1056" cy="38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1" hangingPunct="1"/>
              <a:r>
                <a:rPr lang="en-US" altLang="zh-CN" sz="2400" b="1">
                  <a:solidFill>
                    <a:schemeClr val="tx1"/>
                  </a:solidFill>
                  <a:ea typeface="宋体" pitchFamily="2" charset="-122"/>
                </a:rPr>
                <a:t>Draw Body</a:t>
              </a:r>
            </a:p>
          </p:txBody>
        </p:sp>
        <p:sp>
          <p:nvSpPr>
            <p:cNvPr id="13" name="Line 15"/>
            <p:cNvSpPr>
              <a:spLocks noChangeShapeType="1"/>
            </p:cNvSpPr>
            <p:nvPr/>
          </p:nvSpPr>
          <p:spPr bwMode="auto">
            <a:xfrm flipH="1">
              <a:off x="672" y="1488"/>
              <a:ext cx="1632" cy="528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14" name="Group 26"/>
          <p:cNvGrpSpPr>
            <a:grpSpLocks/>
          </p:cNvGrpSpPr>
          <p:nvPr/>
        </p:nvGrpSpPr>
        <p:grpSpPr bwMode="auto">
          <a:xfrm>
            <a:off x="969840" y="3992871"/>
            <a:ext cx="1524000" cy="1447800"/>
            <a:chOff x="192" y="2400"/>
            <a:chExt cx="960" cy="912"/>
          </a:xfrm>
        </p:grpSpPr>
        <p:sp>
          <p:nvSpPr>
            <p:cNvPr id="15" name="Rectangle 9"/>
            <p:cNvSpPr>
              <a:spLocks noChangeArrowheads="1"/>
            </p:cNvSpPr>
            <p:nvPr/>
          </p:nvSpPr>
          <p:spPr bwMode="auto">
            <a:xfrm>
              <a:off x="192" y="2928"/>
              <a:ext cx="960" cy="38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1" hangingPunct="1"/>
              <a:r>
                <a:rPr lang="en-US" altLang="zh-CN" sz="2400" b="1">
                  <a:solidFill>
                    <a:schemeClr val="tx1"/>
                  </a:solidFill>
                  <a:ea typeface="宋体" pitchFamily="2" charset="-122"/>
                </a:rPr>
                <a:t>Rectangle</a:t>
              </a:r>
            </a:p>
          </p:txBody>
        </p:sp>
        <p:sp>
          <p:nvSpPr>
            <p:cNvPr id="16" name="Line 16"/>
            <p:cNvSpPr>
              <a:spLocks noChangeShapeType="1"/>
            </p:cNvSpPr>
            <p:nvPr/>
          </p:nvSpPr>
          <p:spPr bwMode="auto">
            <a:xfrm>
              <a:off x="672" y="2400"/>
              <a:ext cx="0" cy="528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17" name="Group 28"/>
          <p:cNvGrpSpPr>
            <a:grpSpLocks/>
          </p:cNvGrpSpPr>
          <p:nvPr/>
        </p:nvGrpSpPr>
        <p:grpSpPr bwMode="auto">
          <a:xfrm>
            <a:off x="2798640" y="3992871"/>
            <a:ext cx="1371600" cy="1447800"/>
            <a:chOff x="1344" y="2400"/>
            <a:chExt cx="864" cy="912"/>
          </a:xfrm>
        </p:grpSpPr>
        <p:sp>
          <p:nvSpPr>
            <p:cNvPr id="18" name="Rectangle 10"/>
            <p:cNvSpPr>
              <a:spLocks noChangeArrowheads="1"/>
            </p:cNvSpPr>
            <p:nvPr/>
          </p:nvSpPr>
          <p:spPr bwMode="auto">
            <a:xfrm>
              <a:off x="1344" y="2928"/>
              <a:ext cx="864" cy="38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1" hangingPunct="1"/>
              <a:r>
                <a:rPr lang="en-US" altLang="zh-CN" sz="2400" b="1">
                  <a:solidFill>
                    <a:schemeClr val="tx1"/>
                  </a:solidFill>
                  <a:ea typeface="宋体" pitchFamily="2" charset="-122"/>
                </a:rPr>
                <a:t>Triangle</a:t>
              </a:r>
            </a:p>
          </p:txBody>
        </p:sp>
        <p:sp>
          <p:nvSpPr>
            <p:cNvPr id="19" name="Line 17"/>
            <p:cNvSpPr>
              <a:spLocks noChangeShapeType="1"/>
            </p:cNvSpPr>
            <p:nvPr/>
          </p:nvSpPr>
          <p:spPr bwMode="auto">
            <a:xfrm flipH="1">
              <a:off x="1776" y="2400"/>
              <a:ext cx="192" cy="528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20" name="Group 27"/>
          <p:cNvGrpSpPr>
            <a:grpSpLocks/>
          </p:cNvGrpSpPr>
          <p:nvPr/>
        </p:nvGrpSpPr>
        <p:grpSpPr bwMode="auto">
          <a:xfrm>
            <a:off x="2951040" y="2545071"/>
            <a:ext cx="1905000" cy="1447800"/>
            <a:chOff x="1440" y="1488"/>
            <a:chExt cx="1200" cy="912"/>
          </a:xfrm>
        </p:grpSpPr>
        <p:sp>
          <p:nvSpPr>
            <p:cNvPr id="21" name="Rectangle 6"/>
            <p:cNvSpPr>
              <a:spLocks noChangeArrowheads="1"/>
            </p:cNvSpPr>
            <p:nvPr/>
          </p:nvSpPr>
          <p:spPr bwMode="auto">
            <a:xfrm>
              <a:off x="1440" y="2016"/>
              <a:ext cx="1056" cy="38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1" hangingPunct="1"/>
              <a:r>
                <a:rPr lang="en-US" altLang="zh-CN" sz="2400" b="1">
                  <a:solidFill>
                    <a:schemeClr val="tx1"/>
                  </a:solidFill>
                  <a:ea typeface="宋体" pitchFamily="2" charset="-122"/>
                </a:rPr>
                <a:t>Draw Roof</a:t>
              </a:r>
            </a:p>
          </p:txBody>
        </p:sp>
        <p:sp>
          <p:nvSpPr>
            <p:cNvPr id="22" name="Line 18"/>
            <p:cNvSpPr>
              <a:spLocks noChangeShapeType="1"/>
            </p:cNvSpPr>
            <p:nvPr/>
          </p:nvSpPr>
          <p:spPr bwMode="auto">
            <a:xfrm flipH="1">
              <a:off x="1968" y="1488"/>
              <a:ext cx="672" cy="528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23" name="Group 29"/>
          <p:cNvGrpSpPr>
            <a:grpSpLocks/>
          </p:cNvGrpSpPr>
          <p:nvPr/>
        </p:nvGrpSpPr>
        <p:grpSpPr bwMode="auto">
          <a:xfrm>
            <a:off x="5084640" y="2545071"/>
            <a:ext cx="1676400" cy="1447800"/>
            <a:chOff x="2784" y="1488"/>
            <a:chExt cx="1056" cy="912"/>
          </a:xfrm>
        </p:grpSpPr>
        <p:sp>
          <p:nvSpPr>
            <p:cNvPr id="24" name="Rectangle 7"/>
            <p:cNvSpPr>
              <a:spLocks noChangeArrowheads="1"/>
            </p:cNvSpPr>
            <p:nvPr/>
          </p:nvSpPr>
          <p:spPr bwMode="auto">
            <a:xfrm>
              <a:off x="2784" y="2016"/>
              <a:ext cx="1056" cy="38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1" hangingPunct="1"/>
              <a:r>
                <a:rPr lang="en-US" altLang="zh-CN" sz="2400" b="1">
                  <a:solidFill>
                    <a:schemeClr val="tx1"/>
                  </a:solidFill>
                  <a:ea typeface="宋体" pitchFamily="2" charset="-122"/>
                </a:rPr>
                <a:t>Draw Door</a:t>
              </a:r>
            </a:p>
          </p:txBody>
        </p:sp>
        <p:sp>
          <p:nvSpPr>
            <p:cNvPr id="25" name="Line 19"/>
            <p:cNvSpPr>
              <a:spLocks noChangeShapeType="1"/>
            </p:cNvSpPr>
            <p:nvPr/>
          </p:nvSpPr>
          <p:spPr bwMode="auto">
            <a:xfrm>
              <a:off x="2880" y="1488"/>
              <a:ext cx="432" cy="528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26" name="Group 32"/>
          <p:cNvGrpSpPr>
            <a:grpSpLocks/>
          </p:cNvGrpSpPr>
          <p:nvPr/>
        </p:nvGrpSpPr>
        <p:grpSpPr bwMode="auto">
          <a:xfrm>
            <a:off x="5770440" y="2545071"/>
            <a:ext cx="3733800" cy="1447800"/>
            <a:chOff x="3216" y="1488"/>
            <a:chExt cx="2352" cy="912"/>
          </a:xfrm>
        </p:grpSpPr>
        <p:sp>
          <p:nvSpPr>
            <p:cNvPr id="27" name="Rectangle 8"/>
            <p:cNvSpPr>
              <a:spLocks noChangeArrowheads="1"/>
            </p:cNvSpPr>
            <p:nvPr/>
          </p:nvSpPr>
          <p:spPr bwMode="auto">
            <a:xfrm>
              <a:off x="4224" y="2016"/>
              <a:ext cx="1344" cy="38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1" hangingPunct="1"/>
              <a:r>
                <a:rPr lang="en-US" altLang="zh-CN" sz="2400" b="1">
                  <a:solidFill>
                    <a:schemeClr val="tx1"/>
                  </a:solidFill>
                  <a:ea typeface="宋体" pitchFamily="2" charset="-122"/>
                </a:rPr>
                <a:t>Draw Window</a:t>
              </a:r>
            </a:p>
          </p:txBody>
        </p:sp>
        <p:sp>
          <p:nvSpPr>
            <p:cNvPr id="28" name="Line 20"/>
            <p:cNvSpPr>
              <a:spLocks noChangeShapeType="1"/>
            </p:cNvSpPr>
            <p:nvPr/>
          </p:nvSpPr>
          <p:spPr bwMode="auto">
            <a:xfrm>
              <a:off x="3216" y="1488"/>
              <a:ext cx="1632" cy="528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29" name="Group 30"/>
          <p:cNvGrpSpPr>
            <a:grpSpLocks/>
          </p:cNvGrpSpPr>
          <p:nvPr/>
        </p:nvGrpSpPr>
        <p:grpSpPr bwMode="auto">
          <a:xfrm>
            <a:off x="4398840" y="3992871"/>
            <a:ext cx="1524000" cy="1447800"/>
            <a:chOff x="2352" y="2400"/>
            <a:chExt cx="960" cy="912"/>
          </a:xfrm>
        </p:grpSpPr>
        <p:sp>
          <p:nvSpPr>
            <p:cNvPr id="30" name="Rectangle 11"/>
            <p:cNvSpPr>
              <a:spLocks noChangeArrowheads="1"/>
            </p:cNvSpPr>
            <p:nvPr/>
          </p:nvSpPr>
          <p:spPr bwMode="auto">
            <a:xfrm>
              <a:off x="2352" y="2928"/>
              <a:ext cx="960" cy="38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1" hangingPunct="1"/>
              <a:r>
                <a:rPr lang="en-US" altLang="zh-CN" sz="2400" b="1">
                  <a:solidFill>
                    <a:schemeClr val="tx1"/>
                  </a:solidFill>
                  <a:ea typeface="宋体" pitchFamily="2" charset="-122"/>
                </a:rPr>
                <a:t>Rectangle</a:t>
              </a:r>
            </a:p>
          </p:txBody>
        </p:sp>
        <p:sp>
          <p:nvSpPr>
            <p:cNvPr id="31" name="Line 21"/>
            <p:cNvSpPr>
              <a:spLocks noChangeShapeType="1"/>
            </p:cNvSpPr>
            <p:nvPr/>
          </p:nvSpPr>
          <p:spPr bwMode="auto">
            <a:xfrm flipH="1">
              <a:off x="2832" y="2400"/>
              <a:ext cx="432" cy="528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32" name="Group 31"/>
          <p:cNvGrpSpPr>
            <a:grpSpLocks/>
          </p:cNvGrpSpPr>
          <p:nvPr/>
        </p:nvGrpSpPr>
        <p:grpSpPr bwMode="auto">
          <a:xfrm>
            <a:off x="5999040" y="3992871"/>
            <a:ext cx="1066800" cy="1447800"/>
            <a:chOff x="3360" y="2400"/>
            <a:chExt cx="672" cy="912"/>
          </a:xfrm>
        </p:grpSpPr>
        <p:sp>
          <p:nvSpPr>
            <p:cNvPr id="33" name="Rectangle 13"/>
            <p:cNvSpPr>
              <a:spLocks noChangeArrowheads="1"/>
            </p:cNvSpPr>
            <p:nvPr/>
          </p:nvSpPr>
          <p:spPr bwMode="auto">
            <a:xfrm>
              <a:off x="3408" y="2928"/>
              <a:ext cx="624" cy="38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1" hangingPunct="1"/>
              <a:r>
                <a:rPr lang="en-US" altLang="zh-CN" sz="2400" b="1">
                  <a:solidFill>
                    <a:schemeClr val="tx1"/>
                  </a:solidFill>
                  <a:ea typeface="宋体" pitchFamily="2" charset="-122"/>
                </a:rPr>
                <a:t>Circle</a:t>
              </a:r>
            </a:p>
          </p:txBody>
        </p:sp>
        <p:sp>
          <p:nvSpPr>
            <p:cNvPr id="34" name="Line 22"/>
            <p:cNvSpPr>
              <a:spLocks noChangeShapeType="1"/>
            </p:cNvSpPr>
            <p:nvPr/>
          </p:nvSpPr>
          <p:spPr bwMode="auto">
            <a:xfrm>
              <a:off x="3360" y="2400"/>
              <a:ext cx="384" cy="528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35" name="Group 33"/>
          <p:cNvGrpSpPr>
            <a:grpSpLocks/>
          </p:cNvGrpSpPr>
          <p:nvPr/>
        </p:nvGrpSpPr>
        <p:grpSpPr bwMode="auto">
          <a:xfrm>
            <a:off x="7294440" y="3992871"/>
            <a:ext cx="1447800" cy="1447800"/>
            <a:chOff x="4176" y="2400"/>
            <a:chExt cx="912" cy="912"/>
          </a:xfrm>
        </p:grpSpPr>
        <p:sp>
          <p:nvSpPr>
            <p:cNvPr id="36" name="Rectangle 12"/>
            <p:cNvSpPr>
              <a:spLocks noChangeArrowheads="1"/>
            </p:cNvSpPr>
            <p:nvPr/>
          </p:nvSpPr>
          <p:spPr bwMode="auto">
            <a:xfrm>
              <a:off x="4176" y="2928"/>
              <a:ext cx="912" cy="38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1" hangingPunct="1"/>
              <a:r>
                <a:rPr lang="en-US" altLang="zh-CN" sz="2400" b="1">
                  <a:solidFill>
                    <a:schemeClr val="tx1"/>
                  </a:solidFill>
                  <a:ea typeface="宋体" pitchFamily="2" charset="-122"/>
                </a:rPr>
                <a:t>Rectangle</a:t>
              </a:r>
            </a:p>
          </p:txBody>
        </p:sp>
        <p:sp>
          <p:nvSpPr>
            <p:cNvPr id="37" name="Line 23"/>
            <p:cNvSpPr>
              <a:spLocks noChangeShapeType="1"/>
            </p:cNvSpPr>
            <p:nvPr/>
          </p:nvSpPr>
          <p:spPr bwMode="auto">
            <a:xfrm flipH="1">
              <a:off x="4608" y="2400"/>
              <a:ext cx="240" cy="528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38" name="Group 34"/>
          <p:cNvGrpSpPr>
            <a:grpSpLocks/>
          </p:cNvGrpSpPr>
          <p:nvPr/>
        </p:nvGrpSpPr>
        <p:grpSpPr bwMode="auto">
          <a:xfrm>
            <a:off x="8666040" y="3992871"/>
            <a:ext cx="990600" cy="1447800"/>
            <a:chOff x="5040" y="2400"/>
            <a:chExt cx="624" cy="912"/>
          </a:xfrm>
        </p:grpSpPr>
        <p:sp>
          <p:nvSpPr>
            <p:cNvPr id="39" name="Rectangle 14"/>
            <p:cNvSpPr>
              <a:spLocks noChangeArrowheads="1"/>
            </p:cNvSpPr>
            <p:nvPr/>
          </p:nvSpPr>
          <p:spPr bwMode="auto">
            <a:xfrm>
              <a:off x="5184" y="2928"/>
              <a:ext cx="480" cy="38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1" hangingPunct="1"/>
              <a:r>
                <a:rPr lang="en-US" altLang="zh-CN" sz="2400" b="1">
                  <a:solidFill>
                    <a:schemeClr val="tx1"/>
                  </a:solidFill>
                  <a:ea typeface="宋体" pitchFamily="2" charset="-122"/>
                </a:rPr>
                <a:t>Line</a:t>
              </a:r>
            </a:p>
          </p:txBody>
        </p:sp>
        <p:sp>
          <p:nvSpPr>
            <p:cNvPr id="40" name="Line 24"/>
            <p:cNvSpPr>
              <a:spLocks noChangeShapeType="1"/>
            </p:cNvSpPr>
            <p:nvPr/>
          </p:nvSpPr>
          <p:spPr bwMode="auto">
            <a:xfrm>
              <a:off x="5040" y="2400"/>
              <a:ext cx="384" cy="528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pic>
        <p:nvPicPr>
          <p:cNvPr id="41" name="Picture 44" descr="未命名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2450" y="1455414"/>
            <a:ext cx="1781175" cy="163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43240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722479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函数</a:t>
            </a: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调用关系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2" name="Rectangle 3"/>
          <p:cNvSpPr>
            <a:spLocks noChangeArrowheads="1"/>
          </p:cNvSpPr>
          <p:nvPr/>
        </p:nvSpPr>
        <p:spPr bwMode="auto">
          <a:xfrm>
            <a:off x="4825533" y="1730433"/>
            <a:ext cx="1828800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/>
            <a:r>
              <a:rPr lang="en-US" altLang="zh-CN" sz="2400" b="1">
                <a:solidFill>
                  <a:schemeClr val="tx1"/>
                </a:solidFill>
                <a:ea typeface="宋体" pitchFamily="2" charset="-122"/>
              </a:rPr>
              <a:t>Draw House</a:t>
            </a:r>
          </a:p>
        </p:txBody>
      </p:sp>
      <p:sp>
        <p:nvSpPr>
          <p:cNvPr id="43" name="Rectangle 4"/>
          <p:cNvSpPr>
            <a:spLocks noChangeArrowheads="1"/>
          </p:cNvSpPr>
          <p:nvPr/>
        </p:nvSpPr>
        <p:spPr bwMode="auto">
          <a:xfrm>
            <a:off x="3682533" y="3178233"/>
            <a:ext cx="1676400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/>
            <a:r>
              <a:rPr lang="en-US" altLang="zh-CN" sz="2400" b="1">
                <a:solidFill>
                  <a:schemeClr val="tx1"/>
                </a:solidFill>
                <a:ea typeface="宋体" pitchFamily="2" charset="-122"/>
              </a:rPr>
              <a:t>Draw Body</a:t>
            </a:r>
          </a:p>
        </p:txBody>
      </p:sp>
      <p:sp>
        <p:nvSpPr>
          <p:cNvPr id="44" name="Rectangle 5"/>
          <p:cNvSpPr>
            <a:spLocks noChangeArrowheads="1"/>
          </p:cNvSpPr>
          <p:nvPr/>
        </p:nvSpPr>
        <p:spPr bwMode="auto">
          <a:xfrm>
            <a:off x="1777533" y="3178233"/>
            <a:ext cx="1676400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/>
            <a:r>
              <a:rPr lang="en-US" altLang="zh-CN" sz="2400" b="1">
                <a:solidFill>
                  <a:schemeClr val="tx1"/>
                </a:solidFill>
                <a:ea typeface="宋体" pitchFamily="2" charset="-122"/>
              </a:rPr>
              <a:t>Draw Roof</a:t>
            </a:r>
          </a:p>
        </p:txBody>
      </p:sp>
      <p:sp>
        <p:nvSpPr>
          <p:cNvPr id="45" name="Rectangle 6"/>
          <p:cNvSpPr>
            <a:spLocks noChangeArrowheads="1"/>
          </p:cNvSpPr>
          <p:nvPr/>
        </p:nvSpPr>
        <p:spPr bwMode="auto">
          <a:xfrm>
            <a:off x="5816133" y="3178233"/>
            <a:ext cx="1676400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/>
            <a:r>
              <a:rPr lang="en-US" altLang="zh-CN" sz="2400" b="1">
                <a:solidFill>
                  <a:schemeClr val="tx1"/>
                </a:solidFill>
                <a:ea typeface="宋体" pitchFamily="2" charset="-122"/>
              </a:rPr>
              <a:t>Draw Door</a:t>
            </a:r>
          </a:p>
        </p:txBody>
      </p:sp>
      <p:sp>
        <p:nvSpPr>
          <p:cNvPr id="46" name="Rectangle 7"/>
          <p:cNvSpPr>
            <a:spLocks noChangeArrowheads="1"/>
          </p:cNvSpPr>
          <p:nvPr/>
        </p:nvSpPr>
        <p:spPr bwMode="auto">
          <a:xfrm>
            <a:off x="8102133" y="3178233"/>
            <a:ext cx="2133600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/>
            <a:r>
              <a:rPr lang="en-US" altLang="zh-CN" sz="2400" b="1">
                <a:solidFill>
                  <a:schemeClr val="tx1"/>
                </a:solidFill>
                <a:ea typeface="宋体" pitchFamily="2" charset="-122"/>
              </a:rPr>
              <a:t>Draw Window</a:t>
            </a:r>
          </a:p>
        </p:txBody>
      </p:sp>
      <p:sp>
        <p:nvSpPr>
          <p:cNvPr id="47" name="Rectangle 9"/>
          <p:cNvSpPr>
            <a:spLocks noChangeArrowheads="1"/>
          </p:cNvSpPr>
          <p:nvPr/>
        </p:nvSpPr>
        <p:spPr bwMode="auto">
          <a:xfrm>
            <a:off x="1929933" y="4626033"/>
            <a:ext cx="1371600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/>
            <a:r>
              <a:rPr lang="en-US" altLang="zh-CN" sz="2400" b="1">
                <a:solidFill>
                  <a:schemeClr val="tx1"/>
                </a:solidFill>
                <a:ea typeface="宋体" pitchFamily="2" charset="-122"/>
              </a:rPr>
              <a:t>Triangle</a:t>
            </a:r>
          </a:p>
        </p:txBody>
      </p:sp>
      <p:sp>
        <p:nvSpPr>
          <p:cNvPr id="48" name="Rectangle 10"/>
          <p:cNvSpPr>
            <a:spLocks noChangeArrowheads="1"/>
          </p:cNvSpPr>
          <p:nvPr/>
        </p:nvSpPr>
        <p:spPr bwMode="auto">
          <a:xfrm>
            <a:off x="5130333" y="4626033"/>
            <a:ext cx="1524000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/>
            <a:r>
              <a:rPr lang="en-US" altLang="zh-CN" sz="2400" b="1">
                <a:solidFill>
                  <a:schemeClr val="tx1"/>
                </a:solidFill>
                <a:ea typeface="宋体" pitchFamily="2" charset="-122"/>
              </a:rPr>
              <a:t>Rectangle</a:t>
            </a:r>
          </a:p>
        </p:txBody>
      </p:sp>
      <p:sp>
        <p:nvSpPr>
          <p:cNvPr id="49" name="Rectangle 12"/>
          <p:cNvSpPr>
            <a:spLocks noChangeArrowheads="1"/>
          </p:cNvSpPr>
          <p:nvPr/>
        </p:nvSpPr>
        <p:spPr bwMode="auto">
          <a:xfrm>
            <a:off x="7416333" y="4626033"/>
            <a:ext cx="990600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/>
            <a:r>
              <a:rPr lang="en-US" altLang="zh-CN" sz="2400" b="1">
                <a:solidFill>
                  <a:schemeClr val="tx1"/>
                </a:solidFill>
                <a:ea typeface="宋体" pitchFamily="2" charset="-122"/>
              </a:rPr>
              <a:t>Circle</a:t>
            </a:r>
          </a:p>
        </p:txBody>
      </p:sp>
      <p:sp>
        <p:nvSpPr>
          <p:cNvPr id="50" name="Rectangle 13"/>
          <p:cNvSpPr>
            <a:spLocks noChangeArrowheads="1"/>
          </p:cNvSpPr>
          <p:nvPr/>
        </p:nvSpPr>
        <p:spPr bwMode="auto">
          <a:xfrm>
            <a:off x="9016533" y="4626033"/>
            <a:ext cx="762000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/>
            <a:r>
              <a:rPr lang="en-US" altLang="zh-CN" sz="2400" b="1">
                <a:solidFill>
                  <a:schemeClr val="tx1"/>
                </a:solidFill>
                <a:ea typeface="宋体" pitchFamily="2" charset="-122"/>
              </a:rPr>
              <a:t>Line</a:t>
            </a:r>
          </a:p>
        </p:txBody>
      </p:sp>
      <p:sp>
        <p:nvSpPr>
          <p:cNvPr id="51" name="Line 14"/>
          <p:cNvSpPr>
            <a:spLocks noChangeShapeType="1"/>
          </p:cNvSpPr>
          <p:nvPr/>
        </p:nvSpPr>
        <p:spPr bwMode="auto">
          <a:xfrm flipH="1">
            <a:off x="2463333" y="2340033"/>
            <a:ext cx="2590800" cy="8382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2" name="Line 15"/>
          <p:cNvSpPr>
            <a:spLocks noChangeShapeType="1"/>
          </p:cNvSpPr>
          <p:nvPr/>
        </p:nvSpPr>
        <p:spPr bwMode="auto">
          <a:xfrm>
            <a:off x="4292133" y="3787833"/>
            <a:ext cx="1600200" cy="7620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3" name="Line 16"/>
          <p:cNvSpPr>
            <a:spLocks noChangeShapeType="1"/>
          </p:cNvSpPr>
          <p:nvPr/>
        </p:nvSpPr>
        <p:spPr bwMode="auto">
          <a:xfrm flipH="1">
            <a:off x="2615733" y="3787833"/>
            <a:ext cx="0" cy="8382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4" name="Line 17"/>
          <p:cNvSpPr>
            <a:spLocks noChangeShapeType="1"/>
          </p:cNvSpPr>
          <p:nvPr/>
        </p:nvSpPr>
        <p:spPr bwMode="auto">
          <a:xfrm flipH="1">
            <a:off x="4520733" y="2340033"/>
            <a:ext cx="1066800" cy="8382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5" name="Line 18"/>
          <p:cNvSpPr>
            <a:spLocks noChangeShapeType="1"/>
          </p:cNvSpPr>
          <p:nvPr/>
        </p:nvSpPr>
        <p:spPr bwMode="auto">
          <a:xfrm>
            <a:off x="5968533" y="2340033"/>
            <a:ext cx="685800" cy="8382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6" name="Line 19"/>
          <p:cNvSpPr>
            <a:spLocks noChangeShapeType="1"/>
          </p:cNvSpPr>
          <p:nvPr/>
        </p:nvSpPr>
        <p:spPr bwMode="auto">
          <a:xfrm>
            <a:off x="6501933" y="2340033"/>
            <a:ext cx="2590800" cy="8382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7" name="Line 20"/>
          <p:cNvSpPr>
            <a:spLocks noChangeShapeType="1"/>
          </p:cNvSpPr>
          <p:nvPr/>
        </p:nvSpPr>
        <p:spPr bwMode="auto">
          <a:xfrm flipH="1">
            <a:off x="5892333" y="3787833"/>
            <a:ext cx="685800" cy="8382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8" name="Line 21"/>
          <p:cNvSpPr>
            <a:spLocks noChangeShapeType="1"/>
          </p:cNvSpPr>
          <p:nvPr/>
        </p:nvSpPr>
        <p:spPr bwMode="auto">
          <a:xfrm>
            <a:off x="6730533" y="3787833"/>
            <a:ext cx="1143000" cy="8382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9" name="Line 22"/>
          <p:cNvSpPr>
            <a:spLocks noChangeShapeType="1"/>
          </p:cNvSpPr>
          <p:nvPr/>
        </p:nvSpPr>
        <p:spPr bwMode="auto">
          <a:xfrm flipH="1">
            <a:off x="6044733" y="3787833"/>
            <a:ext cx="3048000" cy="7620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0" name="Line 23"/>
          <p:cNvSpPr>
            <a:spLocks noChangeShapeType="1"/>
          </p:cNvSpPr>
          <p:nvPr/>
        </p:nvSpPr>
        <p:spPr bwMode="auto">
          <a:xfrm>
            <a:off x="9397533" y="3787833"/>
            <a:ext cx="0" cy="8382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041468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722479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分析、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设计与编程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Rectangle 2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>
          <a:xfrm>
            <a:off x="2236121" y="1382683"/>
            <a:ext cx="7922029" cy="42672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0850" indent="-450850">
              <a:lnSpc>
                <a:spcPct val="90000"/>
              </a:lnSpc>
              <a:spcBef>
                <a:spcPct val="50000"/>
              </a:spcBef>
              <a:buClr>
                <a:schemeClr val="tx1"/>
              </a:buClr>
              <a:buSzPct val="90000"/>
              <a:buFont typeface="Wingdings 2" pitchFamily="18" charset="2"/>
              <a:buChar char="ö"/>
            </a:pPr>
            <a:r>
              <a:rPr lang="zh-CN" altLang="en-US" sz="3600" b="1">
                <a:ea typeface="宋体" pitchFamily="2" charset="-122"/>
              </a:rPr>
              <a:t>分析问题</a:t>
            </a:r>
          </a:p>
          <a:p>
            <a:pPr marL="450850" indent="-450850">
              <a:lnSpc>
                <a:spcPct val="90000"/>
              </a:lnSpc>
              <a:spcBef>
                <a:spcPct val="50000"/>
              </a:spcBef>
              <a:buClr>
                <a:schemeClr val="tx1"/>
              </a:buClr>
              <a:buSzPct val="90000"/>
              <a:buFont typeface="Wingdings 2" pitchFamily="18" charset="2"/>
              <a:buChar char="ö"/>
            </a:pPr>
            <a:r>
              <a:rPr lang="zh-CN" altLang="en-US" sz="3600" b="1">
                <a:ea typeface="宋体" pitchFamily="2" charset="-122"/>
              </a:rPr>
              <a:t>设计一个</a:t>
            </a:r>
            <a:r>
              <a:rPr lang="zh-CN" altLang="en-US" sz="3600" b="1">
                <a:latin typeface="Times New Roman" pitchFamily="18" charset="0"/>
                <a:ea typeface="宋体" pitchFamily="2" charset="-122"/>
              </a:rPr>
              <a:t>“</a:t>
            </a:r>
            <a:r>
              <a:rPr lang="en-US" altLang="zh-CN" sz="3600" b="1">
                <a:latin typeface="Times New Roman" pitchFamily="18" charset="0"/>
                <a:ea typeface="宋体" pitchFamily="2" charset="-122"/>
              </a:rPr>
              <a:t>big-picture”</a:t>
            </a:r>
            <a:r>
              <a:rPr lang="zh-CN" altLang="en-US" sz="3600" b="1">
                <a:latin typeface="Times New Roman" pitchFamily="18" charset="0"/>
                <a:ea typeface="宋体" pitchFamily="2" charset="-122"/>
              </a:rPr>
              <a:t>解决方案</a:t>
            </a:r>
          </a:p>
          <a:p>
            <a:pPr marL="982663" lvl="1" indent="-352425">
              <a:lnSpc>
                <a:spcPct val="90000"/>
              </a:lnSpc>
              <a:spcBef>
                <a:spcPct val="50000"/>
              </a:spcBef>
              <a:buSzPct val="80000"/>
              <a:buFont typeface="Wingdings" pitchFamily="2" charset="2"/>
              <a:buChar char="J"/>
            </a:pPr>
            <a:r>
              <a:rPr lang="zh-CN" altLang="en-US" sz="3200" b="1">
                <a:ea typeface="楷体_GB2312" pitchFamily="49" charset="-122"/>
              </a:rPr>
              <a:t>功能分解、相互关系。</a:t>
            </a:r>
          </a:p>
          <a:p>
            <a:pPr marL="450850" indent="-450850">
              <a:lnSpc>
                <a:spcPct val="90000"/>
              </a:lnSpc>
              <a:spcBef>
                <a:spcPct val="50000"/>
              </a:spcBef>
              <a:buClr>
                <a:schemeClr val="tx1"/>
              </a:buClr>
              <a:buSzPct val="90000"/>
              <a:buFont typeface="Wingdings 2" pitchFamily="18" charset="2"/>
              <a:buChar char="ö"/>
            </a:pPr>
            <a:r>
              <a:rPr lang="zh-CN" altLang="en-US" sz="3600" b="1">
                <a:ea typeface="宋体" pitchFamily="2" charset="-122"/>
              </a:rPr>
              <a:t>设计各个函数</a:t>
            </a:r>
          </a:p>
          <a:p>
            <a:pPr marL="982663" lvl="1" indent="-352425">
              <a:lnSpc>
                <a:spcPct val="90000"/>
              </a:lnSpc>
              <a:spcBef>
                <a:spcPct val="40000"/>
              </a:spcBef>
              <a:buSzPct val="80000"/>
              <a:buFont typeface="Wingdings" pitchFamily="2" charset="2"/>
              <a:buChar char="J"/>
            </a:pPr>
            <a:r>
              <a:rPr lang="zh-CN" altLang="en-US" sz="3200" b="1">
                <a:ea typeface="楷体_GB2312" pitchFamily="49" charset="-122"/>
              </a:rPr>
              <a:t>基于现有的函数</a:t>
            </a:r>
          </a:p>
          <a:p>
            <a:pPr marL="450850" indent="-450850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SzPct val="90000"/>
              <a:buFont typeface="Wingdings 2" pitchFamily="18" charset="2"/>
              <a:buChar char="ö"/>
            </a:pPr>
            <a:r>
              <a:rPr lang="zh-CN" altLang="en-US" sz="3600" b="1">
                <a:ea typeface="宋体" pitchFamily="2" charset="-122"/>
              </a:rPr>
              <a:t>编程实现</a:t>
            </a:r>
          </a:p>
        </p:txBody>
      </p:sp>
    </p:spTree>
    <p:extLst>
      <p:ext uri="{BB962C8B-B14F-4D97-AF65-F5344CB8AC3E}">
        <p14:creationId xmlns:p14="http://schemas.microsoft.com/office/powerpoint/2010/main" val="409513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722479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例题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1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：质数对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1229251" y="1604357"/>
            <a:ext cx="9427665" cy="42411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defTabSz="850900" eaLnBrk="1" hangingPunct="1">
              <a:spcBef>
                <a:spcPct val="50000"/>
              </a:spcBef>
              <a:buClr>
                <a:srgbClr val="FFFF66"/>
              </a:buClr>
              <a:buFont typeface="Wingdings" pitchFamily="2" charset="2"/>
              <a:buNone/>
            </a:pPr>
            <a:r>
              <a:rPr kumimoji="1" lang="zh-CN" altLang="en-US" sz="3600" b="1">
                <a:solidFill>
                  <a:schemeClr val="tx1"/>
                </a:solidFill>
                <a:ea typeface="宋体" pitchFamily="2" charset="-122"/>
              </a:rPr>
              <a:t>问题描述：</a:t>
            </a:r>
          </a:p>
          <a:p>
            <a:pPr defTabSz="850900" eaLnBrk="1" hangingPunct="1">
              <a:spcBef>
                <a:spcPct val="50000"/>
              </a:spcBef>
              <a:buClr>
                <a:srgbClr val="FFFF66"/>
              </a:buClr>
            </a:pPr>
            <a:r>
              <a:rPr kumimoji="1" lang="zh-CN" altLang="en-US" b="1">
                <a:solidFill>
                  <a:schemeClr val="tx1"/>
                </a:solidFill>
                <a:ea typeface="宋体" pitchFamily="2" charset="-122"/>
              </a:rPr>
              <a:t>     </a:t>
            </a:r>
            <a:r>
              <a:rPr kumimoji="1" lang="zh-CN" altLang="en-US" sz="3200" b="1">
                <a:solidFill>
                  <a:schemeClr val="tx1"/>
                </a:solidFill>
                <a:ea typeface="宋体" pitchFamily="2" charset="-122"/>
              </a:rPr>
              <a:t>一个加密算法需要用到一对质数，符合要求的质数对必须满足：</a:t>
            </a:r>
          </a:p>
          <a:p>
            <a:pPr marL="850900" lvl="1" indent="-371475" defTabSz="850900" eaLnBrk="1" hangingPunct="1"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Char char="l"/>
            </a:pPr>
            <a:r>
              <a:rPr kumimoji="1" lang="zh-CN" altLang="en-US" sz="3200" b="1">
                <a:solidFill>
                  <a:schemeClr val="tx1"/>
                </a:solidFill>
                <a:ea typeface="宋体" pitchFamily="2" charset="-122"/>
              </a:rPr>
              <a:t>两个数不相同，且都是质数；</a:t>
            </a:r>
          </a:p>
          <a:p>
            <a:pPr marL="850900" lvl="1" indent="-371475" defTabSz="850900" eaLnBrk="1" hangingPunct="1">
              <a:buClr>
                <a:schemeClr val="tx1"/>
              </a:buClr>
              <a:buSzPct val="80000"/>
              <a:buFont typeface="Wingdings" pitchFamily="2" charset="2"/>
              <a:buChar char="l"/>
            </a:pPr>
            <a:r>
              <a:rPr kumimoji="1" lang="zh-CN" altLang="en-US" sz="3200" b="1">
                <a:solidFill>
                  <a:schemeClr val="tx1"/>
                </a:solidFill>
                <a:ea typeface="宋体" pitchFamily="2" charset="-122"/>
              </a:rPr>
              <a:t>在这两个质数之间没有其他质数。</a:t>
            </a:r>
          </a:p>
          <a:p>
            <a:pPr defTabSz="850900" eaLnBrk="1" hangingPunct="1">
              <a:spcBef>
                <a:spcPct val="60000"/>
              </a:spcBef>
              <a:buClr>
                <a:srgbClr val="FFFF66"/>
              </a:buClr>
            </a:pPr>
            <a:r>
              <a:rPr kumimoji="1" lang="zh-CN" altLang="en-US" sz="3200" b="1">
                <a:solidFill>
                  <a:schemeClr val="tx1"/>
                </a:solidFill>
                <a:ea typeface="宋体" pitchFamily="2" charset="-122"/>
              </a:rPr>
              <a:t>       编写一个程序，输入任意两个正整数，判断它们是否是有效的质数对。  </a:t>
            </a:r>
          </a:p>
        </p:txBody>
      </p:sp>
    </p:spTree>
    <p:extLst>
      <p:ext uri="{BB962C8B-B14F-4D97-AF65-F5344CB8AC3E}">
        <p14:creationId xmlns:p14="http://schemas.microsoft.com/office/powerpoint/2010/main" val="11057486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722479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举例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graphicFrame>
        <p:nvGraphicFramePr>
          <p:cNvPr id="8" name="Group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6440795"/>
              </p:ext>
            </p:extLst>
          </p:nvPr>
        </p:nvGraphicFramePr>
        <p:xfrm>
          <a:off x="2213956" y="1695798"/>
          <a:ext cx="7086600" cy="4183064"/>
        </p:xfrm>
        <a:graphic>
          <a:graphicData uri="http://schemas.openxmlformats.org/drawingml/2006/table">
            <a:tbl>
              <a:tblPr/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985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整数</a:t>
                      </a: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整数</a:t>
                      </a: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是否有效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原因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17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无效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15</a:t>
                      </a:r>
                      <a:r>
                        <a:rPr kumimoji="0" lang="zh-CN" alt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不是质数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78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19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无效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17</a:t>
                      </a:r>
                      <a:r>
                        <a:rPr kumimoji="0" lang="zh-CN" alt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是质数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19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有效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78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29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有效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31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无效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两个数相同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075616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722479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问题分析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386146" y="1687485"/>
            <a:ext cx="9470276" cy="3693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936625" lvl="1" indent="-457200" defTabSz="850900" eaLnBrk="1" hangingPunct="1">
              <a:spcBef>
                <a:spcPct val="50000"/>
              </a:spcBef>
              <a:buClr>
                <a:schemeClr val="tx1"/>
              </a:buClr>
              <a:buFont typeface="Wingdings" pitchFamily="2" charset="2"/>
              <a:buAutoNum type="arabicPeriod"/>
            </a:pPr>
            <a:r>
              <a:rPr kumimoji="1" lang="zh-CN" altLang="en-US" sz="3600" b="1">
                <a:solidFill>
                  <a:schemeClr val="tx1"/>
                </a:solidFill>
                <a:ea typeface="宋体" pitchFamily="2" charset="-122"/>
              </a:rPr>
              <a:t>需要定义</a:t>
            </a:r>
            <a:r>
              <a:rPr kumimoji="1" lang="zh-CN" altLang="en-US" sz="3600" b="1">
                <a:solidFill>
                  <a:srgbClr val="0000FF"/>
                </a:solidFill>
                <a:ea typeface="宋体" pitchFamily="2" charset="-122"/>
              </a:rPr>
              <a:t>几个</a:t>
            </a:r>
            <a:r>
              <a:rPr kumimoji="1" lang="zh-CN" altLang="en-US" sz="3600" b="1">
                <a:solidFill>
                  <a:schemeClr val="tx1"/>
                </a:solidFill>
                <a:ea typeface="宋体" pitchFamily="2" charset="-122"/>
              </a:rPr>
              <a:t>函数？</a:t>
            </a:r>
          </a:p>
          <a:p>
            <a:pPr marL="936625" lvl="1" indent="-457200" defTabSz="850900" eaLnBrk="1" hangingPunct="1">
              <a:spcBef>
                <a:spcPct val="50000"/>
              </a:spcBef>
              <a:buClr>
                <a:schemeClr val="tx1"/>
              </a:buClr>
              <a:buFont typeface="Wingdings" pitchFamily="2" charset="2"/>
              <a:buAutoNum type="arabicPeriod"/>
            </a:pPr>
            <a:r>
              <a:rPr kumimoji="1" lang="zh-CN" altLang="en-US" sz="3600" b="1">
                <a:solidFill>
                  <a:schemeClr val="tx1"/>
                </a:solidFill>
                <a:ea typeface="宋体" pitchFamily="2" charset="-122"/>
              </a:rPr>
              <a:t>函数</a:t>
            </a:r>
            <a:r>
              <a:rPr kumimoji="1" lang="zh-CN" altLang="en-US" sz="3600" b="1">
                <a:solidFill>
                  <a:srgbClr val="0000FF"/>
                </a:solidFill>
                <a:ea typeface="宋体" pitchFamily="2" charset="-122"/>
              </a:rPr>
              <a:t>原型</a:t>
            </a:r>
            <a:r>
              <a:rPr kumimoji="1" lang="zh-CN" altLang="en-US" sz="3600" b="1">
                <a:solidFill>
                  <a:schemeClr val="tx1"/>
                </a:solidFill>
                <a:ea typeface="宋体" pitchFamily="2" charset="-122"/>
              </a:rPr>
              <a:t>是什么？</a:t>
            </a:r>
          </a:p>
          <a:p>
            <a:pPr marL="936625" lvl="1" indent="-457200" defTabSz="850900" eaLnBrk="1" hangingPunct="1">
              <a:spcBef>
                <a:spcPct val="50000"/>
              </a:spcBef>
              <a:buClr>
                <a:schemeClr val="tx1"/>
              </a:buClr>
              <a:buFont typeface="Wingdings" pitchFamily="2" charset="2"/>
              <a:buAutoNum type="arabicPeriod"/>
            </a:pPr>
            <a:r>
              <a:rPr kumimoji="1" lang="zh-CN" altLang="en-US" sz="3600" b="1">
                <a:solidFill>
                  <a:schemeClr val="tx1"/>
                </a:solidFill>
                <a:ea typeface="宋体" pitchFamily="2" charset="-122"/>
              </a:rPr>
              <a:t>质数函数</a:t>
            </a:r>
            <a:r>
              <a:rPr kumimoji="1" lang="zh-CN" altLang="en-US" sz="3600" b="1">
                <a:solidFill>
                  <a:srgbClr val="0000FF"/>
                </a:solidFill>
                <a:ea typeface="宋体" pitchFamily="2" charset="-122"/>
              </a:rPr>
              <a:t>如何</a:t>
            </a:r>
            <a:r>
              <a:rPr kumimoji="1" lang="zh-CN" altLang="en-US" sz="3600" b="1">
                <a:solidFill>
                  <a:schemeClr val="tx1"/>
                </a:solidFill>
                <a:ea typeface="宋体" pitchFamily="2" charset="-122"/>
              </a:rPr>
              <a:t>实现？</a:t>
            </a:r>
          </a:p>
          <a:p>
            <a:pPr marL="936625" lvl="1" indent="-457200" defTabSz="850900" eaLnBrk="1" hangingPunct="1">
              <a:spcBef>
                <a:spcPct val="50000"/>
              </a:spcBef>
              <a:buClr>
                <a:schemeClr val="tx1"/>
              </a:buClr>
              <a:buFont typeface="Wingdings" pitchFamily="2" charset="2"/>
              <a:buAutoNum type="arabicPeriod"/>
            </a:pPr>
            <a:r>
              <a:rPr kumimoji="1" lang="zh-CN" altLang="en-US" sz="3600" b="1">
                <a:solidFill>
                  <a:schemeClr val="tx1"/>
                </a:solidFill>
                <a:ea typeface="宋体" pitchFamily="2" charset="-122"/>
              </a:rPr>
              <a:t>如何判断一对整数是否有效？需要做哪些</a:t>
            </a:r>
            <a:r>
              <a:rPr kumimoji="1" lang="zh-CN" altLang="en-US" sz="3600" b="1">
                <a:solidFill>
                  <a:srgbClr val="0000FF"/>
                </a:solidFill>
                <a:ea typeface="宋体" pitchFamily="2" charset="-122"/>
              </a:rPr>
              <a:t>事情</a:t>
            </a:r>
            <a:r>
              <a:rPr kumimoji="1" lang="zh-CN" altLang="en-US" sz="3600" b="1">
                <a:solidFill>
                  <a:schemeClr val="tx1"/>
                </a:solidFill>
                <a:ea typeface="宋体" pitchFamily="2" charset="-122"/>
              </a:rPr>
              <a:t>？</a:t>
            </a:r>
          </a:p>
        </p:txBody>
      </p:sp>
    </p:spTree>
    <p:extLst>
      <p:ext uri="{BB962C8B-B14F-4D97-AF65-F5344CB8AC3E}">
        <p14:creationId xmlns:p14="http://schemas.microsoft.com/office/powerpoint/2010/main" val="1734251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722479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参考代码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1321731" y="809096"/>
            <a:ext cx="9534698" cy="600164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eaLnBrk="1" hangingPunct="1"/>
            <a:r>
              <a:rPr kumimoji="1" lang="en-US" altLang="zh-CN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num1 = int(input())</a:t>
            </a:r>
          </a:p>
          <a:p>
            <a:pPr eaLnBrk="1" hangingPunct="1"/>
            <a:r>
              <a:rPr kumimoji="1" lang="en-US" altLang="zh-CN" sz="24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num2 = int(input())</a:t>
            </a:r>
          </a:p>
          <a:p>
            <a:r>
              <a:rPr kumimoji="1" lang="en-US" altLang="zh-CN" sz="24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result = 1</a:t>
            </a:r>
            <a:endParaRPr kumimoji="1" lang="en-US" altLang="zh-CN" sz="2400" b="1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eaLnBrk="1" hangingPunct="1"/>
            <a:r>
              <a:rPr kumimoji="1" lang="en-US" altLang="zh-CN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if num1==num2 or IsPrime(num1)==False or IsPrime(num2)==False:</a:t>
            </a:r>
          </a:p>
          <a:p>
            <a:pPr eaLnBrk="1" hangingPunct="1"/>
            <a:r>
              <a:rPr kumimoji="1" lang="en-US" altLang="zh-CN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result = 0</a:t>
            </a:r>
          </a:p>
          <a:p>
            <a:pPr eaLnBrk="1" hangingPunct="1"/>
            <a:r>
              <a:rPr kumimoji="1" lang="en-US" altLang="zh-CN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else:</a:t>
            </a:r>
          </a:p>
          <a:p>
            <a:pPr eaLnBrk="1" hangingPunct="1"/>
            <a:r>
              <a:rPr kumimoji="1" lang="en-US" altLang="zh-CN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if num1 &gt; num2:</a:t>
            </a:r>
          </a:p>
          <a:p>
            <a:pPr eaLnBrk="1" hangingPunct="1"/>
            <a:r>
              <a:rPr kumimoji="1" lang="en-US" altLang="zh-CN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        (num1, num2) = (num2, num1)</a:t>
            </a:r>
          </a:p>
          <a:p>
            <a:r>
              <a:rPr kumimoji="1" lang="en-US" altLang="zh-CN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for i in range(</a:t>
            </a:r>
            <a:r>
              <a:rPr kumimoji="1" lang="en-US" altLang="zh-CN" sz="24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num1+1, num2):</a:t>
            </a:r>
          </a:p>
          <a:p>
            <a:r>
              <a:rPr kumimoji="1" lang="en-US" altLang="zh-CN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        if IsPrime(i):</a:t>
            </a:r>
          </a:p>
          <a:p>
            <a:r>
              <a:rPr kumimoji="1" lang="en-US" altLang="zh-CN" sz="24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                result = 0</a:t>
            </a:r>
          </a:p>
          <a:p>
            <a:r>
              <a:rPr kumimoji="1" lang="en-US" altLang="zh-CN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                break</a:t>
            </a:r>
          </a:p>
          <a:p>
            <a:r>
              <a:rPr kumimoji="1" lang="en-US" altLang="zh-CN" sz="24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if result == 1:</a:t>
            </a:r>
          </a:p>
          <a:p>
            <a:r>
              <a:rPr kumimoji="1" lang="en-US" altLang="zh-CN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print(</a:t>
            </a:r>
            <a:r>
              <a:rPr kumimoji="1" lang="en-US" altLang="zh-CN" sz="24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"Yes")</a:t>
            </a:r>
          </a:p>
          <a:p>
            <a:r>
              <a:rPr kumimoji="1" lang="en-US" altLang="zh-CN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else:</a:t>
            </a:r>
          </a:p>
          <a:p>
            <a:r>
              <a:rPr kumimoji="1" lang="en-US" altLang="zh-CN" sz="24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 print("No")</a:t>
            </a:r>
            <a:endParaRPr kumimoji="1" lang="en-US" altLang="zh-CN" sz="2400" b="1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2319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722479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判断质数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811877" y="2025536"/>
            <a:ext cx="10401993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3600" b="1">
                <a:solidFill>
                  <a:schemeClr val="tx1"/>
                </a:solidFill>
                <a:ea typeface="宋体" pitchFamily="2" charset="-122"/>
              </a:rPr>
              <a:t>        判断整数</a:t>
            </a:r>
            <a:r>
              <a:rPr kumimoji="1" lang="en-US" altLang="zh-CN" sz="3600" b="1">
                <a:solidFill>
                  <a:schemeClr val="tx1"/>
                </a:solidFill>
                <a:ea typeface="宋体" pitchFamily="2" charset="-122"/>
              </a:rPr>
              <a:t>m</a:t>
            </a:r>
            <a:r>
              <a:rPr kumimoji="1" lang="zh-CN" altLang="en-US" sz="3600" b="1">
                <a:solidFill>
                  <a:schemeClr val="tx1"/>
                </a:solidFill>
                <a:ea typeface="宋体" pitchFamily="2" charset="-122"/>
              </a:rPr>
              <a:t>是否为质数的方法：让 </a:t>
            </a:r>
            <a:r>
              <a:rPr kumimoji="1" lang="en-US" altLang="zh-CN" sz="3600" b="1">
                <a:solidFill>
                  <a:schemeClr val="tx1"/>
                </a:solidFill>
                <a:ea typeface="宋体" pitchFamily="2" charset="-122"/>
              </a:rPr>
              <a:t>m </a:t>
            </a:r>
            <a:r>
              <a:rPr kumimoji="1" lang="zh-CN" altLang="en-US" sz="3600" b="1">
                <a:solidFill>
                  <a:schemeClr val="tx1"/>
                </a:solidFill>
                <a:ea typeface="宋体" pitchFamily="2" charset="-122"/>
              </a:rPr>
              <a:t>被 </a:t>
            </a:r>
            <a:r>
              <a:rPr kumimoji="1" lang="en-US" altLang="zh-CN" sz="3600" b="1">
                <a:solidFill>
                  <a:schemeClr val="tx1"/>
                </a:solidFill>
                <a:ea typeface="宋体" pitchFamily="2" charset="-122"/>
              </a:rPr>
              <a:t>2</a:t>
            </a:r>
            <a:r>
              <a:rPr kumimoji="1" lang="zh-CN" altLang="en-US" sz="3600" b="1">
                <a:solidFill>
                  <a:schemeClr val="tx1"/>
                </a:solidFill>
                <a:ea typeface="宋体" pitchFamily="2" charset="-122"/>
              </a:rPr>
              <a:t>到</a:t>
            </a:r>
            <a:endParaRPr kumimoji="1" lang="en-US" altLang="zh-CN" sz="3600" b="1">
              <a:solidFill>
                <a:schemeClr val="tx1"/>
              </a:solidFill>
              <a:ea typeface="宋体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3600" b="1">
                <a:solidFill>
                  <a:schemeClr val="tx1"/>
                </a:solidFill>
                <a:ea typeface="宋体" pitchFamily="2" charset="-122"/>
              </a:rPr>
              <a:t>       除，若 </a:t>
            </a:r>
            <a:r>
              <a:rPr kumimoji="1" lang="en-US" altLang="zh-CN" sz="3600" b="1">
                <a:solidFill>
                  <a:schemeClr val="tx1"/>
                </a:solidFill>
                <a:ea typeface="宋体" pitchFamily="2" charset="-122"/>
              </a:rPr>
              <a:t>m </a:t>
            </a:r>
            <a:r>
              <a:rPr kumimoji="1" lang="zh-CN" altLang="en-US" sz="3600" b="1">
                <a:solidFill>
                  <a:schemeClr val="tx1"/>
                </a:solidFill>
                <a:ea typeface="宋体" pitchFamily="2" charset="-122"/>
              </a:rPr>
              <a:t>能被其中任何一个数整除，则说明</a:t>
            </a:r>
            <a:endParaRPr kumimoji="1" lang="en-US" altLang="zh-CN" sz="3600" b="1">
              <a:solidFill>
                <a:schemeClr val="tx1"/>
              </a:solidFill>
              <a:ea typeface="宋体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3600" b="1">
                <a:solidFill>
                  <a:schemeClr val="tx1"/>
                </a:solidFill>
                <a:ea typeface="宋体" pitchFamily="2" charset="-122"/>
              </a:rPr>
              <a:t>它不是一个质数；否则的话，说明它是一个质数。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3495113"/>
              </p:ext>
            </p:extLst>
          </p:nvPr>
        </p:nvGraphicFramePr>
        <p:xfrm>
          <a:off x="720435" y="2837408"/>
          <a:ext cx="858982" cy="7029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" name="Equation" r:id="rId3" imgW="205925" imgH="159926" progId="Equation.3">
                  <p:embed/>
                </p:oleObj>
              </mc:Choice>
              <mc:Fallback>
                <p:oleObj name="Equation" r:id="rId3" imgW="205925" imgH="159926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435" y="2837408"/>
                        <a:ext cx="858982" cy="7029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2224087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722479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判断质数的函数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1886992" y="1335554"/>
            <a:ext cx="8021782" cy="4770537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eaLnBrk="1" hangingPunct="1"/>
            <a:r>
              <a:rPr kumimoji="1" lang="en-US" altLang="zh-CN" sz="3200" b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import math</a:t>
            </a:r>
          </a:p>
          <a:p>
            <a:pPr eaLnBrk="1" hangingPunct="1"/>
            <a:r>
              <a:rPr kumimoji="1" lang="en-US" altLang="zh-CN" sz="3200" b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def IsPrime(m):</a:t>
            </a:r>
          </a:p>
          <a:p>
            <a:pPr eaLnBrk="1" hangingPunct="1"/>
            <a:r>
              <a:rPr kumimoji="1" lang="en-US" altLang="zh-CN" sz="3200" b="1">
                <a:latin typeface="Courier New" pitchFamily="49" charset="0"/>
                <a:ea typeface="宋体" pitchFamily="2" charset="-122"/>
              </a:rPr>
              <a:t>    result = True</a:t>
            </a:r>
            <a:endParaRPr kumimoji="1" lang="en-US" altLang="zh-CN" sz="3200" b="1">
              <a:solidFill>
                <a:schemeClr val="tx1"/>
              </a:solidFill>
              <a:latin typeface="Courier New" pitchFamily="49" charset="0"/>
              <a:ea typeface="宋体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3200" b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  sq = int(math.sqrt(m))</a:t>
            </a:r>
          </a:p>
          <a:p>
            <a:pPr eaLnBrk="1" hangingPunct="1"/>
            <a:r>
              <a:rPr kumimoji="1" lang="en-US" altLang="zh-CN" sz="3200" b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  for j in range(2, sq+1):</a:t>
            </a:r>
          </a:p>
          <a:p>
            <a:pPr eaLnBrk="1" hangingPunct="1"/>
            <a:r>
              <a:rPr kumimoji="1" lang="en-US" altLang="zh-CN" sz="3200" b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      if (m % j == 0)</a:t>
            </a:r>
            <a:r>
              <a:rPr kumimoji="1" lang="en-US" altLang="zh-CN" sz="3200" b="1">
                <a:latin typeface="Courier New" pitchFamily="49" charset="0"/>
                <a:ea typeface="宋体" pitchFamily="2" charset="-122"/>
              </a:rPr>
              <a:t>:</a:t>
            </a:r>
          </a:p>
          <a:p>
            <a:pPr eaLnBrk="1" hangingPunct="1"/>
            <a:r>
              <a:rPr kumimoji="1" lang="en-US" altLang="zh-CN" sz="3200" b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          result = False</a:t>
            </a:r>
          </a:p>
          <a:p>
            <a:pPr eaLnBrk="1" hangingPunct="1"/>
            <a:r>
              <a:rPr kumimoji="1" lang="en-US" altLang="zh-CN" sz="3200" b="1">
                <a:latin typeface="Courier New" pitchFamily="49" charset="0"/>
                <a:ea typeface="宋体" pitchFamily="2" charset="-122"/>
              </a:rPr>
              <a:t>        </a:t>
            </a:r>
            <a:r>
              <a:rPr kumimoji="1" lang="en-US" altLang="zh-CN" sz="3200" b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  break</a:t>
            </a:r>
          </a:p>
          <a:p>
            <a:pPr eaLnBrk="1" hangingPunct="1"/>
            <a:r>
              <a:rPr kumimoji="1" lang="en-US" altLang="zh-CN" sz="3200" b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  return(result)</a:t>
            </a:r>
          </a:p>
        </p:txBody>
      </p:sp>
    </p:spTree>
    <p:extLst>
      <p:ext uri="{BB962C8B-B14F-4D97-AF65-F5344CB8AC3E}">
        <p14:creationId xmlns:p14="http://schemas.microsoft.com/office/powerpoint/2010/main" val="63484348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722479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例题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2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：</a:t>
            </a: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循环右移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146120" y="1393768"/>
            <a:ext cx="9652109" cy="4395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defTabSz="850900" eaLnBrk="1" hangingPunct="1">
              <a:spcBef>
                <a:spcPct val="50000"/>
              </a:spcBef>
              <a:buClr>
                <a:srgbClr val="FFFF66"/>
              </a:buClr>
              <a:buFont typeface="Wingdings" pitchFamily="2" charset="2"/>
              <a:buNone/>
            </a:pPr>
            <a:r>
              <a:rPr kumimoji="1" lang="zh-CN" altLang="en-US" sz="3600" b="1">
                <a:solidFill>
                  <a:srgbClr val="0000FF"/>
                </a:solidFill>
                <a:ea typeface="宋体" charset="-122"/>
              </a:rPr>
              <a:t>问题描述：</a:t>
            </a:r>
          </a:p>
          <a:p>
            <a:pPr defTabSz="850900" eaLnBrk="1" hangingPunct="1">
              <a:spcBef>
                <a:spcPct val="50000"/>
              </a:spcBef>
              <a:buClr>
                <a:srgbClr val="FFFF66"/>
              </a:buClr>
            </a:pPr>
            <a:r>
              <a:rPr kumimoji="1" lang="zh-CN" altLang="en-US" sz="2800" b="1">
                <a:solidFill>
                  <a:schemeClr val="tx1"/>
                </a:solidFill>
                <a:ea typeface="宋体" charset="-122"/>
              </a:rPr>
              <a:t>        编写一个程序，读入一组整数（不超过</a:t>
            </a:r>
            <a:r>
              <a:rPr kumimoji="1" lang="en-US" altLang="zh-CN" sz="2800" b="1">
                <a:solidFill>
                  <a:schemeClr val="tx1"/>
                </a:solidFill>
                <a:ea typeface="宋体" charset="-122"/>
              </a:rPr>
              <a:t>20</a:t>
            </a:r>
            <a:r>
              <a:rPr kumimoji="1" lang="zh-CN" altLang="en-US" sz="2800" b="1">
                <a:solidFill>
                  <a:schemeClr val="tx1"/>
                </a:solidFill>
                <a:ea typeface="宋体" charset="-122"/>
              </a:rPr>
              <a:t>个），当用户输入</a:t>
            </a:r>
            <a:r>
              <a:rPr kumimoji="1" lang="en-US" altLang="zh-CN" sz="2800" b="1">
                <a:solidFill>
                  <a:schemeClr val="tx1"/>
                </a:solidFill>
                <a:ea typeface="宋体" charset="-122"/>
              </a:rPr>
              <a:t>0</a:t>
            </a:r>
            <a:r>
              <a:rPr kumimoji="1" lang="zh-CN" altLang="en-US" sz="2800" b="1">
                <a:solidFill>
                  <a:schemeClr val="tx1"/>
                </a:solidFill>
                <a:ea typeface="宋体" charset="-122"/>
              </a:rPr>
              <a:t>时，表示输入结束。接下来再输入一个正整数</a:t>
            </a:r>
            <a:r>
              <a:rPr kumimoji="1" lang="en-US" altLang="zh-CN" sz="2800" b="1">
                <a:solidFill>
                  <a:schemeClr val="tx1"/>
                </a:solidFill>
                <a:ea typeface="宋体" charset="-122"/>
              </a:rPr>
              <a:t>M</a:t>
            </a:r>
            <a:r>
              <a:rPr kumimoji="1" lang="zh-CN" altLang="en-US" sz="2800" b="1">
                <a:solidFill>
                  <a:schemeClr val="tx1"/>
                </a:solidFill>
                <a:ea typeface="宋体" charset="-122"/>
              </a:rPr>
              <a:t>，然后程序将把这组整数循环右移</a:t>
            </a:r>
            <a:r>
              <a:rPr kumimoji="1" lang="en-US" altLang="zh-CN" sz="2800" b="1">
                <a:solidFill>
                  <a:schemeClr val="tx1"/>
                </a:solidFill>
                <a:ea typeface="宋体" charset="-122"/>
              </a:rPr>
              <a:t>M</a:t>
            </a:r>
            <a:r>
              <a:rPr kumimoji="1" lang="zh-CN" altLang="en-US" sz="2800" b="1">
                <a:solidFill>
                  <a:schemeClr val="tx1"/>
                </a:solidFill>
                <a:ea typeface="宋体" charset="-122"/>
              </a:rPr>
              <a:t>次，然后把循环右移的结果打印出来。</a:t>
            </a:r>
          </a:p>
          <a:p>
            <a:pPr defTabSz="850900">
              <a:spcBef>
                <a:spcPct val="20000"/>
              </a:spcBef>
              <a:buClr>
                <a:srgbClr val="FFFF66"/>
              </a:buClr>
            </a:pPr>
            <a:r>
              <a:rPr kumimoji="1" lang="zh-CN" altLang="en-US" sz="2800" b="1">
                <a:solidFill>
                  <a:schemeClr val="tx1"/>
                </a:solidFill>
                <a:ea typeface="宋体" charset="-122"/>
              </a:rPr>
              <a:t>        所谓循环右移，就是把每个数组元素往右移动一格，然后把最右边的那个元素移回到最左边。例如，对于一组整数“</a:t>
            </a:r>
            <a:r>
              <a:rPr kumimoji="1" lang="en-US" altLang="zh-CN" sz="2800" b="1">
                <a:solidFill>
                  <a:schemeClr val="tx1"/>
                </a:solidFill>
                <a:ea typeface="宋体" charset="-122"/>
              </a:rPr>
              <a:t>100 400 200 300</a:t>
            </a:r>
            <a:r>
              <a:rPr kumimoji="1" lang="zh-CN" altLang="en-US" sz="2800" b="1">
                <a:solidFill>
                  <a:schemeClr val="tx1"/>
                </a:solidFill>
                <a:ea typeface="宋体" charset="-122"/>
              </a:rPr>
              <a:t>”，把它循环右移一次的结果是“</a:t>
            </a:r>
            <a:r>
              <a:rPr kumimoji="1" lang="en-US" altLang="zh-CN" sz="2800" b="1">
                <a:solidFill>
                  <a:schemeClr val="tx1"/>
                </a:solidFill>
                <a:ea typeface="宋体" charset="-122"/>
              </a:rPr>
              <a:t>300 100 400 200</a:t>
            </a:r>
            <a:r>
              <a:rPr kumimoji="1" lang="zh-CN" altLang="en-US" sz="2800" b="1">
                <a:ea typeface="宋体" charset="-122"/>
              </a:rPr>
              <a:t> ”</a:t>
            </a:r>
            <a:r>
              <a:rPr kumimoji="1" lang="zh-CN" altLang="en-US" sz="2800" b="1">
                <a:solidFill>
                  <a:schemeClr val="tx1"/>
                </a:solidFill>
                <a:ea typeface="宋体" charset="-122"/>
              </a:rPr>
              <a:t>；把它循环右移两次的结果是“</a:t>
            </a:r>
            <a:r>
              <a:rPr kumimoji="1" lang="en-US" altLang="zh-CN" sz="2800" b="1">
                <a:solidFill>
                  <a:schemeClr val="tx1"/>
                </a:solidFill>
                <a:ea typeface="宋体" charset="-122"/>
              </a:rPr>
              <a:t>200 300 100 400</a:t>
            </a:r>
            <a:r>
              <a:rPr kumimoji="1" lang="zh-CN" altLang="en-US" sz="2800" b="1">
                <a:ea typeface="宋体" charset="-122"/>
              </a:rPr>
              <a:t> ”</a:t>
            </a:r>
            <a:r>
              <a:rPr kumimoji="1" lang="zh-CN" altLang="en-US" sz="2800" b="1">
                <a:solidFill>
                  <a:schemeClr val="tx1"/>
                </a:solidFill>
                <a:ea typeface="宋体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18933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722479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问题分析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2184169" y="1970117"/>
            <a:ext cx="8224838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936625" lvl="1" indent="-457200" defTabSz="850900" eaLnBrk="1" hangingPunct="1">
              <a:spcBef>
                <a:spcPct val="50000"/>
              </a:spcBef>
              <a:buClr>
                <a:schemeClr val="tx1"/>
              </a:buClr>
              <a:buFont typeface="Wingdings" pitchFamily="2" charset="2"/>
              <a:buAutoNum type="arabicPeriod"/>
            </a:pPr>
            <a:r>
              <a:rPr kumimoji="1" lang="zh-CN" altLang="en-US" sz="3600" b="1">
                <a:solidFill>
                  <a:schemeClr val="tx1"/>
                </a:solidFill>
                <a:ea typeface="宋体" charset="-122"/>
              </a:rPr>
              <a:t>如何循环右移</a:t>
            </a:r>
            <a:r>
              <a:rPr kumimoji="1" lang="en-US" altLang="zh-CN" sz="3600" b="1">
                <a:solidFill>
                  <a:srgbClr val="0000FF"/>
                </a:solidFill>
                <a:ea typeface="宋体" charset="-122"/>
              </a:rPr>
              <a:t>M</a:t>
            </a:r>
            <a:r>
              <a:rPr kumimoji="1" lang="zh-CN" altLang="en-US" sz="3600" b="1">
                <a:solidFill>
                  <a:schemeClr val="tx1"/>
                </a:solidFill>
                <a:ea typeface="宋体" charset="-122"/>
              </a:rPr>
              <a:t>位？</a:t>
            </a:r>
          </a:p>
          <a:p>
            <a:pPr marL="936625" lvl="1" indent="-457200" defTabSz="850900" eaLnBrk="1" hangingPunct="1">
              <a:spcBef>
                <a:spcPct val="50000"/>
              </a:spcBef>
              <a:buClr>
                <a:schemeClr val="tx1"/>
              </a:buClr>
              <a:buFont typeface="Wingdings" pitchFamily="2" charset="2"/>
              <a:buAutoNum type="arabicPeriod"/>
            </a:pPr>
            <a:r>
              <a:rPr kumimoji="1" lang="zh-CN" altLang="en-US" sz="3600" b="1">
                <a:solidFill>
                  <a:schemeClr val="tx1"/>
                </a:solidFill>
                <a:ea typeface="宋体" charset="-122"/>
              </a:rPr>
              <a:t>能否进行问题</a:t>
            </a:r>
            <a:r>
              <a:rPr kumimoji="1" lang="zh-CN" altLang="en-US" sz="3600" b="1">
                <a:solidFill>
                  <a:srgbClr val="0000FF"/>
                </a:solidFill>
                <a:ea typeface="宋体" charset="-122"/>
              </a:rPr>
              <a:t>分解</a:t>
            </a:r>
            <a:r>
              <a:rPr kumimoji="1" lang="zh-CN" altLang="en-US" sz="3600" b="1">
                <a:solidFill>
                  <a:schemeClr val="tx1"/>
                </a:solidFill>
                <a:ea typeface="宋体" charset="-122"/>
              </a:rPr>
              <a:t>？</a:t>
            </a:r>
          </a:p>
          <a:p>
            <a:pPr marL="936625" lvl="1" indent="-457200" defTabSz="850900" eaLnBrk="1" hangingPunct="1">
              <a:spcBef>
                <a:spcPct val="50000"/>
              </a:spcBef>
              <a:buClr>
                <a:schemeClr val="tx1"/>
              </a:buClr>
              <a:buFont typeface="Wingdings" pitchFamily="2" charset="2"/>
              <a:buAutoNum type="arabicPeriod"/>
            </a:pPr>
            <a:r>
              <a:rPr kumimoji="1" lang="zh-CN" altLang="en-US" sz="3600" b="1">
                <a:solidFill>
                  <a:schemeClr val="tx1"/>
                </a:solidFill>
                <a:ea typeface="宋体" charset="-122"/>
              </a:rPr>
              <a:t>如何循环右移</a:t>
            </a:r>
            <a:r>
              <a:rPr kumimoji="1" lang="en-US" altLang="zh-CN" sz="3600" b="1">
                <a:solidFill>
                  <a:srgbClr val="0000FF"/>
                </a:solidFill>
                <a:ea typeface="宋体" charset="-122"/>
              </a:rPr>
              <a:t>1</a:t>
            </a:r>
            <a:r>
              <a:rPr kumimoji="1" lang="zh-CN" altLang="en-US" sz="3600" b="1">
                <a:solidFill>
                  <a:schemeClr val="tx1"/>
                </a:solidFill>
                <a:ea typeface="宋体" charset="-122"/>
              </a:rPr>
              <a:t>位？</a:t>
            </a:r>
          </a:p>
        </p:txBody>
      </p:sp>
    </p:spTree>
    <p:extLst>
      <p:ext uri="{BB962C8B-B14F-4D97-AF65-F5344CB8AC3E}">
        <p14:creationId xmlns:p14="http://schemas.microsoft.com/office/powerpoint/2010/main" val="3833132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722479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右移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1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位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1471643" y="1368083"/>
            <a:ext cx="803433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defTabSz="850900" eaLnBrk="1" hangingPunct="1">
              <a:spcBef>
                <a:spcPct val="50000"/>
              </a:spcBef>
              <a:buClr>
                <a:srgbClr val="FFFF66"/>
              </a:buClr>
              <a:buFont typeface="Wingdings" pitchFamily="2" charset="2"/>
              <a:buNone/>
            </a:pPr>
            <a:r>
              <a:rPr kumimoji="1" lang="zh-CN" altLang="en-US" sz="3600" b="1">
                <a:solidFill>
                  <a:schemeClr val="tx1"/>
                </a:solidFill>
                <a:ea typeface="宋体" charset="-122"/>
              </a:rPr>
              <a:t>如何将每个数组元素循环右移</a:t>
            </a:r>
            <a:r>
              <a:rPr kumimoji="1" lang="en-US" altLang="zh-CN" sz="3600" b="1">
                <a:solidFill>
                  <a:schemeClr val="tx1"/>
                </a:solidFill>
                <a:ea typeface="宋体" charset="-122"/>
              </a:rPr>
              <a:t>1</a:t>
            </a:r>
            <a:r>
              <a:rPr kumimoji="1" lang="zh-CN" altLang="en-US" sz="3600" b="1">
                <a:solidFill>
                  <a:schemeClr val="tx1"/>
                </a:solidFill>
                <a:ea typeface="宋体" charset="-122"/>
              </a:rPr>
              <a:t>位？</a:t>
            </a:r>
          </a:p>
        </p:txBody>
      </p:sp>
      <p:graphicFrame>
        <p:nvGraphicFramePr>
          <p:cNvPr id="9" name="Group 2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87382546"/>
              </p:ext>
            </p:extLst>
          </p:nvPr>
        </p:nvGraphicFramePr>
        <p:xfrm>
          <a:off x="2260050" y="2358683"/>
          <a:ext cx="1390650" cy="3352801"/>
        </p:xfrm>
        <a:graphic>
          <a:graphicData uri="http://schemas.openxmlformats.org/drawingml/2006/table">
            <a:tbl>
              <a:tblPr/>
              <a:tblGrid>
                <a:gridCol w="1390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699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15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99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…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99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15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 Box 19"/>
          <p:cNvSpPr txBox="1">
            <a:spLocks noChangeArrowheads="1"/>
          </p:cNvSpPr>
          <p:nvPr/>
        </p:nvSpPr>
        <p:spPr bwMode="auto">
          <a:xfrm>
            <a:off x="1517100" y="2493621"/>
            <a:ext cx="738188" cy="312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chemeClr val="tx1"/>
                </a:solidFill>
                <a:ea typeface="宋体" charset="-122"/>
              </a:rPr>
              <a:t>   0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chemeClr val="tx1"/>
                </a:solidFill>
                <a:ea typeface="宋体" charset="-122"/>
              </a:rPr>
              <a:t>   1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chemeClr val="tx1"/>
                </a:solidFill>
                <a:ea typeface="宋体" charset="-122"/>
              </a:rPr>
              <a:t>  ...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CN" sz="2800" b="1">
                <a:solidFill>
                  <a:schemeClr val="tx1"/>
                </a:solidFill>
                <a:ea typeface="宋体" charset="-122"/>
              </a:rPr>
              <a:t>N-2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chemeClr val="tx1"/>
                </a:solidFill>
                <a:ea typeface="宋体" charset="-122"/>
              </a:rPr>
              <a:t>N-1</a:t>
            </a:r>
          </a:p>
        </p:txBody>
      </p:sp>
      <p:sp>
        <p:nvSpPr>
          <p:cNvPr id="13" name="Rectangle 20"/>
          <p:cNvSpPr>
            <a:spLocks noChangeArrowheads="1"/>
          </p:cNvSpPr>
          <p:nvPr/>
        </p:nvSpPr>
        <p:spPr bwMode="auto">
          <a:xfrm>
            <a:off x="4214585" y="2461205"/>
            <a:ext cx="6458959" cy="236988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eaLnBrk="1" hangingPunct="1"/>
            <a:r>
              <a:rPr kumimoji="1"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temp = a[N-1]</a:t>
            </a:r>
          </a:p>
          <a:p>
            <a:pPr eaLnBrk="1" hangingPunct="1"/>
            <a:r>
              <a:rPr kumimoji="1"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for                     :</a:t>
            </a:r>
          </a:p>
          <a:p>
            <a:pPr eaLnBrk="1" hangingPunct="1">
              <a:spcBef>
                <a:spcPts val="1200"/>
              </a:spcBef>
            </a:pPr>
            <a:r>
              <a:rPr kumimoji="1"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    a[k] = a[k-1]</a:t>
            </a:r>
            <a:endParaRPr kumimoji="1" lang="en-US" altLang="zh-CN" sz="3200" b="1">
              <a:latin typeface="Courier New" pitchFamily="49" charset="0"/>
              <a:ea typeface="宋体" charset="-122"/>
            </a:endParaRPr>
          </a:p>
          <a:p>
            <a:pPr eaLnBrk="1" hangingPunct="1">
              <a:spcBef>
                <a:spcPts val="1200"/>
              </a:spcBef>
            </a:pPr>
            <a:r>
              <a:rPr kumimoji="1"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a[0] = temp</a:t>
            </a:r>
          </a:p>
        </p:txBody>
      </p:sp>
      <p:sp>
        <p:nvSpPr>
          <p:cNvPr id="14" name="Rectangle 23"/>
          <p:cNvSpPr>
            <a:spLocks noChangeArrowheads="1"/>
          </p:cNvSpPr>
          <p:nvPr/>
        </p:nvSpPr>
        <p:spPr bwMode="auto">
          <a:xfrm>
            <a:off x="5070505" y="2960721"/>
            <a:ext cx="512191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sz="3200" b="1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k in range(N-1,0,-1)</a:t>
            </a:r>
            <a:endParaRPr kumimoji="1" lang="zh-CN" altLang="en-US" sz="3200" b="1">
              <a:solidFill>
                <a:srgbClr val="0000FF"/>
              </a:solidFill>
              <a:latin typeface="Courier New" pitchFamily="49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26658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722479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4800" noProof="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参考代码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392209" y="1102816"/>
            <a:ext cx="5085874" cy="5262979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eaLnBrk="1" hangingPunct="1"/>
            <a:r>
              <a:rPr kumimoji="1" lang="en-US" altLang="zh-CN" sz="2800" b="1">
                <a:latin typeface="Courier New" pitchFamily="49" charset="0"/>
                <a:ea typeface="宋体" charset="-122"/>
              </a:rPr>
              <a:t>a</a:t>
            </a: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 = []</a:t>
            </a:r>
          </a:p>
          <a:p>
            <a:pPr eaLnBrk="1" hangingPunct="1"/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while True:</a:t>
            </a:r>
          </a:p>
          <a:p>
            <a:pPr eaLnBrk="1" hangingPunct="1"/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    e = int(input())</a:t>
            </a:r>
          </a:p>
          <a:p>
            <a:pPr eaLnBrk="1" hangingPunct="1"/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    if e == 0:</a:t>
            </a:r>
          </a:p>
          <a:p>
            <a:pPr eaLnBrk="1" hangingPunct="1"/>
            <a:r>
              <a:rPr kumimoji="1" lang="en-US" altLang="zh-CN" sz="2800" b="1">
                <a:latin typeface="Courier New" pitchFamily="49" charset="0"/>
                <a:ea typeface="宋体" charset="-122"/>
              </a:rPr>
              <a:t>    </a:t>
            </a: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    break</a:t>
            </a:r>
          </a:p>
          <a:p>
            <a:pPr eaLnBrk="1" hangingPunct="1"/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    else:</a:t>
            </a:r>
          </a:p>
          <a:p>
            <a:pPr eaLnBrk="1" hangingPunct="1"/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        a.append(e)</a:t>
            </a:r>
          </a:p>
          <a:p>
            <a:pPr eaLnBrk="1" hangingPunct="1"/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M = int(input())</a:t>
            </a:r>
          </a:p>
          <a:p>
            <a:pPr eaLnBrk="1" hangingPunct="1"/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for i in range(M):</a:t>
            </a:r>
          </a:p>
          <a:p>
            <a:pPr eaLnBrk="1" hangingPunct="1"/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    </a:t>
            </a:r>
            <a:r>
              <a:rPr kumimoji="1" lang="en-US" altLang="zh-CN" sz="2800" b="1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shift(a)</a:t>
            </a:r>
          </a:p>
          <a:p>
            <a:pPr eaLnBrk="1" hangingPunct="1"/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for i in range(len(a)):</a:t>
            </a:r>
          </a:p>
          <a:p>
            <a:pPr eaLnBrk="1" hangingPunct="1"/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    print(a[i])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5594465" y="1107248"/>
            <a:ext cx="6392488" cy="3062377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ts val="600"/>
              </a:spcBef>
            </a:pPr>
            <a:r>
              <a:rPr kumimoji="1" lang="en-US" altLang="zh-CN" sz="2800" b="1">
                <a:latin typeface="Courier New" pitchFamily="49" charset="0"/>
                <a:ea typeface="宋体" charset="-122"/>
              </a:rPr>
              <a:t>def </a:t>
            </a: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shift(a):</a:t>
            </a:r>
          </a:p>
          <a:p>
            <a:pPr eaLnBrk="1" hangingPunct="1">
              <a:spcBef>
                <a:spcPts val="600"/>
              </a:spcBef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    N = len(a)</a:t>
            </a:r>
          </a:p>
          <a:p>
            <a:pPr eaLnBrk="1" hangingPunct="1">
              <a:spcBef>
                <a:spcPts val="600"/>
              </a:spcBef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    temp = a[N-1]</a:t>
            </a:r>
          </a:p>
          <a:p>
            <a:pPr eaLnBrk="1" hangingPunct="1">
              <a:spcBef>
                <a:spcPts val="600"/>
              </a:spcBef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    for k in range(N-1,0,-1):</a:t>
            </a:r>
          </a:p>
          <a:p>
            <a:pPr eaLnBrk="1" hangingPunct="1">
              <a:spcBef>
                <a:spcPts val="600"/>
              </a:spcBef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        a[k] = a[k-1]</a:t>
            </a:r>
          </a:p>
          <a:p>
            <a:pPr eaLnBrk="1" hangingPunct="1">
              <a:spcBef>
                <a:spcPts val="600"/>
              </a:spcBef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    a[0] = temp</a:t>
            </a:r>
          </a:p>
        </p:txBody>
      </p:sp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5605544" y="4386317"/>
            <a:ext cx="6392488" cy="2046714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ts val="600"/>
              </a:spcBef>
            </a:pPr>
            <a:r>
              <a:rPr kumimoji="1" lang="en-US" altLang="zh-CN" sz="2800" b="1">
                <a:latin typeface="Courier New" pitchFamily="49" charset="0"/>
                <a:ea typeface="宋体" charset="-122"/>
              </a:rPr>
              <a:t>def </a:t>
            </a: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shift(a):</a:t>
            </a:r>
          </a:p>
          <a:p>
            <a:pPr eaLnBrk="1" hangingPunct="1">
              <a:spcBef>
                <a:spcPts val="600"/>
              </a:spcBef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    N = len(a)</a:t>
            </a:r>
          </a:p>
          <a:p>
            <a:pPr eaLnBrk="1" hangingPunct="1">
              <a:spcBef>
                <a:spcPts val="600"/>
              </a:spcBef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    x = a.pop(N-1)</a:t>
            </a:r>
          </a:p>
          <a:p>
            <a:pPr eaLnBrk="1" hangingPunct="1">
              <a:spcBef>
                <a:spcPts val="600"/>
              </a:spcBef>
            </a:pPr>
            <a:r>
              <a:rPr kumimoji="1" lang="en-US" altLang="zh-CN" sz="2800" b="1">
                <a:latin typeface="Courier New" pitchFamily="49" charset="0"/>
                <a:ea typeface="宋体" charset="-122"/>
              </a:rPr>
              <a:t>    a.insert(0, x)</a:t>
            </a:r>
            <a:endParaRPr kumimoji="1" lang="en-US" altLang="zh-CN" sz="2800" b="1">
              <a:solidFill>
                <a:schemeClr val="tx1"/>
              </a:solidFill>
              <a:latin typeface="Courier New" pitchFamily="49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79864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54190" y="49109"/>
            <a:ext cx="5994422" cy="6127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9331" y="355496"/>
            <a:ext cx="6464704" cy="60565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1683" y="3491345"/>
            <a:ext cx="1370696" cy="1370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434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f2660095-1412-4de3-82c3-8cc48b93c150"/>
  <p:tag name="COMMONDATA" val="eyJoZGlkIjoiNWRkODIxNmNlMWQwOGQ5ZWM2NDdjYjliN2MxOTE4YTk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1_Office 主题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A550DE"/>
      </a:accent1>
      <a:accent2>
        <a:srgbClr val="81308C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1F497D"/>
    </a:dk2>
    <a:lt2>
      <a:srgbClr val="EEECE1"/>
    </a:lt2>
    <a:accent1>
      <a:srgbClr val="A550DE"/>
    </a:accent1>
    <a:accent2>
      <a:srgbClr val="81308C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4776</TotalTime>
  <Words>3133</Words>
  <Application>Microsoft Office PowerPoint</Application>
  <PresentationFormat>宽屏</PresentationFormat>
  <Paragraphs>538</Paragraphs>
  <Slides>61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61</vt:i4>
      </vt:variant>
    </vt:vector>
  </HeadingPairs>
  <TitlesOfParts>
    <vt:vector size="83" baseType="lpstr">
      <vt:lpstr>Gill Sans</vt:lpstr>
      <vt:lpstr>等线</vt:lpstr>
      <vt:lpstr>方正舒体</vt:lpstr>
      <vt:lpstr>黑体</vt:lpstr>
      <vt:lpstr>楷体</vt:lpstr>
      <vt:lpstr>楷体_GB2312</vt:lpstr>
      <vt:lpstr>隶书</vt:lpstr>
      <vt:lpstr>宋体</vt:lpstr>
      <vt:lpstr>微软雅黑</vt:lpstr>
      <vt:lpstr>Arial</vt:lpstr>
      <vt:lpstr>Arial Black</vt:lpstr>
      <vt:lpstr>Calibri</vt:lpstr>
      <vt:lpstr>Consolas</vt:lpstr>
      <vt:lpstr>Courier New</vt:lpstr>
      <vt:lpstr>Segoe UI</vt:lpstr>
      <vt:lpstr>Segoe UI Semilight</vt:lpstr>
      <vt:lpstr>Tahoma</vt:lpstr>
      <vt:lpstr>Times New Roman</vt:lpstr>
      <vt:lpstr>Wingdings</vt:lpstr>
      <vt:lpstr>Wingdings 2</vt:lpstr>
      <vt:lpstr>1_Office 主题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ASUS</dc:creator>
  <cp:lastModifiedBy>CWJ</cp:lastModifiedBy>
  <cp:revision>457</cp:revision>
  <dcterms:created xsi:type="dcterms:W3CDTF">2020-07-27T01:08:00Z</dcterms:created>
  <dcterms:modified xsi:type="dcterms:W3CDTF">2025-09-16T05:01:49Z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F2ED8728BD3849908EBCAD75A285C632_13</vt:lpwstr>
  </property>
  <property fmtid="{D5CDD505-2E9C-101B-9397-08002B2CF9AE}" pid="3" name="KSOProductBuildVer">
    <vt:lpwstr>2052-11.1.0.14309</vt:lpwstr>
  </property>
</Properties>
</file>